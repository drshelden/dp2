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7" r:id="rId3"/>
    <p:sldId id="287" r:id="rId4"/>
    <p:sldId id="316" r:id="rId5"/>
    <p:sldId id="343" r:id="rId6"/>
    <p:sldId id="337" r:id="rId7"/>
    <p:sldId id="296" r:id="rId8"/>
    <p:sldId id="288" r:id="rId9"/>
    <p:sldId id="289" r:id="rId10"/>
    <p:sldId id="329" r:id="rId11"/>
    <p:sldId id="342" r:id="rId12"/>
    <p:sldId id="281" r:id="rId13"/>
    <p:sldId id="336" r:id="rId14"/>
    <p:sldId id="330" r:id="rId15"/>
    <p:sldId id="331" r:id="rId16"/>
    <p:sldId id="334" r:id="rId17"/>
    <p:sldId id="339" r:id="rId18"/>
    <p:sldId id="341" r:id="rId19"/>
    <p:sldId id="335" r:id="rId20"/>
    <p:sldId id="338" r:id="rId21"/>
    <p:sldId id="344" r:id="rId22"/>
    <p:sldId id="34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4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EEC6-6EB1-0BA5-2BE0-BD259C0BB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D22AA-DF88-A9B1-90E8-25DB354BD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E7F5F-F832-5995-F295-A27977EB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FB75C-F8AF-8B81-C695-CA6AC98F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584AE-AB41-0A80-1AA0-5FA836A7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92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B8D5F-4EB0-F620-2BF6-5B44E0B5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25BE9-F226-3DEF-59D8-DE5EB04B9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C9EFC-00AA-A290-AE1D-B92602D3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AC30F-060C-AC79-8DDD-2DE98963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6AF4E-CE8B-6526-0FCF-4917C95A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9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93D6C-A3CA-3224-3722-FE241217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EDD4B-9BD2-EA23-54D8-98BF2E8B6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906E2-1914-0802-84A5-6798CDAEF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3854D-D2ED-CFEC-AFF3-A5DA4C7C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59FDB-5D0D-C551-147C-B45264BB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5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AAFC-3000-8435-CA62-884EC1148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69DA5-C6E3-A2E2-D8D0-05E94B158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30784-9662-422E-3ACF-B7EDEA931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8F893-58F1-7805-D70C-F5F34F985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E29D5-99B3-FC11-61B7-E70FDE861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5C53F-A802-5C44-B6A7-937356CA5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5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3602-6989-7756-CE4D-00C262D2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44AC5-1169-A78D-2988-86EBE07FE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11594-0192-4B7B-E7FD-9C95F3117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3A00FF-3347-E924-0507-DCB7BA89A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7F9CE-8ED6-BA68-499C-87A68A12E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7E2E9-AE2D-0A0E-5741-B2A2C6BF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4FE7CB-7C7B-71A2-0582-64A70E6A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56FAC-137E-5220-77C2-5793D38E9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4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A2E3-BEA1-520C-365D-3F0B2884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9FDCEC-CB56-A981-F690-C6ACECCF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4AE5F-DA60-4C39-F294-2D098C6C7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4C205-66AA-DBFB-6F14-61CFCD07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8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6965D-48D7-F8AC-3A1E-75FBFF75F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B8A4AE-B2D8-A1E8-F5F4-45D5084C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2A06D-1878-ECF5-ED56-50E8E342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9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E0A4-F80A-BECE-0492-1004D40A9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337EE-F8C3-05FA-C3A8-964ACD821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64BE4-A5EE-7D2D-996A-4644BD1F5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290BA-0E94-D00F-BA71-AD1A9DC15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61214-F34C-0D5E-DC56-094AF678C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EF039-F653-D57C-CE9E-9AF9D675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63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C4566-B1C2-467A-DAF4-FF07F5895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85F945-83E1-03F9-8BF0-27CAED50C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BCF49-333F-929E-12CE-0806B7484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B7FC9-079B-846B-82BD-E456E270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F3287-A32F-838C-11C5-788D04B95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5DF51-AEC3-7E3A-20F2-82423630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8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9A8F-B9FB-54EE-EF19-2DB4C673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85AA2-88FB-0B2D-A920-1F3A059D7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8C7A-EBA7-B2D5-9353-E4396A2A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4F68-CA65-48E0-5D89-C67ACC030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92F26-5640-AD65-A200-5377D935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25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1B7E5-F058-5486-0A2A-4388F0A6D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94323-3456-E862-A301-C21FFCD31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C096E-0414-7AF4-61BB-6252DCE7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1F7E6-7AB1-B2C6-D5E3-18D0E849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DA893-A387-0E61-0398-F8F806FB2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1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17157B-5CB8-470A-60B7-A7DBFDCD0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A84F8-F795-1D33-05AF-3E3C57C6D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84265-045C-00B4-DC5E-02C61C7A5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C7FF1-2989-456F-8CD9-061F5D4C1D5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30D87-930C-003E-5302-89DFAF41A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7C5CF-A376-6676-A296-E38295413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5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rhino3d.com/api/rhinocommon/?version=8.x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rhino3d.com/api/rhinocommon/rhino.docobjects.objectattribute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rhino3d.com/api/rhinocommon/rhino.docobjects.objectattributes" TargetMode="External"/><Relationship Id="rId2" Type="http://schemas.openxmlformats.org/officeDocument/2006/relationships/hyperlink" Target="https://www.w3schools.com/python/python_oop.asp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CE67-024A-4639-E02E-DFEA409C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735"/>
          </a:xfrm>
        </p:spPr>
        <p:txBody>
          <a:bodyPr/>
          <a:lstStyle/>
          <a:p>
            <a:r>
              <a:rPr lang="en-US" dirty="0"/>
              <a:t>Design Programming 2 – Class 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48D96-004F-6DE9-F64C-3762EAB4D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501110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266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CE67-024A-4639-E02E-DFEA409C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735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DDA15-3CA0-1363-6A19-FA5FCFCDA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4" y="909286"/>
            <a:ext cx="11936491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88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CE67-024A-4639-E02E-DFEA409C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735"/>
          </a:xfrm>
        </p:spPr>
        <p:txBody>
          <a:bodyPr/>
          <a:lstStyle/>
          <a:p>
            <a:r>
              <a:rPr lang="en-US" dirty="0"/>
              <a:t>Today – 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48D96-004F-6DE9-F64C-3762EAB4D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5011103"/>
          </a:xfrm>
        </p:spPr>
        <p:txBody>
          <a:bodyPr>
            <a:normAutofit/>
          </a:bodyPr>
          <a:lstStyle/>
          <a:p>
            <a:r>
              <a:rPr lang="en-US" dirty="0"/>
              <a:t>Object oriented programming</a:t>
            </a:r>
          </a:p>
          <a:p>
            <a:r>
              <a:rPr lang="en-US" dirty="0"/>
              <a:t>The “Rhino Common” object library</a:t>
            </a:r>
          </a:p>
          <a:p>
            <a:r>
              <a:rPr lang="en-US" dirty="0"/>
              <a:t>Basic geometric objects (points, lines, planes)</a:t>
            </a:r>
          </a:p>
          <a:p>
            <a:r>
              <a:rPr lang="en-US" dirty="0"/>
              <a:t>Rhino class, views, etc.</a:t>
            </a:r>
          </a:p>
          <a:p>
            <a:r>
              <a:rPr lang="en-US" dirty="0"/>
              <a:t>Next week:</a:t>
            </a:r>
          </a:p>
          <a:p>
            <a:pPr lvl="1"/>
            <a:r>
              <a:rPr lang="en-US" dirty="0"/>
              <a:t>Linear algebra and transformations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15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188" y="241744"/>
            <a:ext cx="3910185" cy="682248"/>
          </a:xfrm>
          <a:prstGeom prst="rect">
            <a:avLst/>
          </a:prstGeom>
        </p:spPr>
        <p:txBody>
          <a:bodyPr vert="horz" wrap="square" lIns="0" tIns="5090" rIns="0" bIns="0" rtlCol="0" anchor="ctr">
            <a:spAutoFit/>
          </a:bodyPr>
          <a:lstStyle/>
          <a:p>
            <a:pPr marL="5358" algn="ctr">
              <a:lnSpc>
                <a:spcPct val="100000"/>
              </a:lnSpc>
              <a:spcBef>
                <a:spcPts val="40"/>
              </a:spcBef>
            </a:pPr>
            <a:r>
              <a:rPr spc="-2" dirty="0"/>
              <a:t>Basic</a:t>
            </a:r>
            <a:r>
              <a:rPr lang="en-US" spc="-2" dirty="0"/>
              <a:t> constructs</a:t>
            </a:r>
            <a:r>
              <a:rPr spc="-32" dirty="0"/>
              <a:t> </a:t>
            </a:r>
            <a:endParaRPr spc="-27" dirty="0"/>
          </a:p>
        </p:txBody>
      </p:sp>
      <p:sp>
        <p:nvSpPr>
          <p:cNvPr id="3" name="object 3"/>
          <p:cNvSpPr txBox="1"/>
          <p:nvPr/>
        </p:nvSpPr>
        <p:spPr>
          <a:xfrm>
            <a:off x="593606" y="870022"/>
            <a:ext cx="8361208" cy="5698828"/>
          </a:xfrm>
          <a:prstGeom prst="rect">
            <a:avLst/>
          </a:prstGeom>
        </p:spPr>
        <p:txBody>
          <a:bodyPr vert="horz" wrap="square" lIns="0" tIns="5358" rIns="0" bIns="0" rtlCol="0">
            <a:spAutoFit/>
          </a:bodyPr>
          <a:lstStyle/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2800" dirty="0">
                <a:latin typeface="Calibri"/>
                <a:cs typeface="Calibri"/>
              </a:rPr>
              <a:t>Procedural Programming</a:t>
            </a: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2000" dirty="0">
                <a:solidFill>
                  <a:srgbClr val="006FC0"/>
                </a:solidFill>
                <a:latin typeface="Calibri"/>
                <a:cs typeface="Calibri"/>
              </a:rPr>
              <a:t>There are </a:t>
            </a:r>
            <a:r>
              <a:rPr lang="en-US" sz="2000" b="1" u="sng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lang="en-US" sz="2000" dirty="0">
                <a:solidFill>
                  <a:srgbClr val="006FC0"/>
                </a:solidFill>
                <a:latin typeface="Calibri"/>
                <a:cs typeface="Calibri"/>
              </a:rPr>
              <a:t> and </a:t>
            </a:r>
            <a:r>
              <a:rPr lang="en-US" sz="2000" b="1" u="sng" dirty="0">
                <a:solidFill>
                  <a:srgbClr val="006FC0"/>
                </a:solidFill>
                <a:latin typeface="Calibri"/>
                <a:cs typeface="Calibri"/>
              </a:rPr>
              <a:t>operations</a:t>
            </a:r>
            <a:r>
              <a:rPr lang="en-US" sz="2000" dirty="0">
                <a:solidFill>
                  <a:srgbClr val="006FC0"/>
                </a:solidFill>
                <a:latin typeface="Calibri"/>
                <a:cs typeface="Calibri"/>
              </a:rPr>
              <a:t> on data.</a:t>
            </a: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2000" b="1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endParaRPr lang="en-US" sz="2800" b="1" dirty="0">
              <a:latin typeface="Calibri"/>
              <a:cs typeface="Calibri"/>
            </a:endParaRPr>
          </a:p>
          <a:p>
            <a:pPr marL="144670" indent="-144670">
              <a:spcBef>
                <a:spcPts val="23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FC0"/>
                </a:solidFill>
                <a:cs typeface="Calibri"/>
              </a:rPr>
              <a:t>All data are of a type</a:t>
            </a:r>
          </a:p>
          <a:p>
            <a:pPr marL="144670" indent="-144670">
              <a:spcBef>
                <a:spcPts val="23"/>
              </a:spcBef>
              <a:buFont typeface="Arial" panose="020B0604020202020204" pitchFamily="34" charset="0"/>
              <a:buChar char="•"/>
            </a:pPr>
            <a:endParaRPr lang="en-US" sz="2000" spc="-2" dirty="0">
              <a:latin typeface="Calibri"/>
              <a:cs typeface="Calibri"/>
            </a:endParaRPr>
          </a:p>
          <a:p>
            <a:pPr marL="5358">
              <a:tabLst>
                <a:tab pos="519739" algn="l"/>
              </a:tabLst>
            </a:pPr>
            <a:r>
              <a:rPr lang="en-US" sz="2000" dirty="0">
                <a:latin typeface="Calibri"/>
                <a:cs typeface="Calibri"/>
              </a:rPr>
              <a:t>A = 5</a:t>
            </a:r>
            <a:r>
              <a:rPr sz="2000" spc="-2" dirty="0">
                <a:latin typeface="Calibri"/>
                <a:cs typeface="Calibri"/>
              </a:rPr>
              <a:t>	</a:t>
            </a:r>
            <a:r>
              <a:rPr sz="2000" spc="-2" dirty="0">
                <a:solidFill>
                  <a:srgbClr val="767070"/>
                </a:solidFill>
                <a:latin typeface="Calibri"/>
                <a:cs typeface="Calibri"/>
              </a:rPr>
              <a:t>//</a:t>
            </a:r>
            <a:r>
              <a:rPr lang="en-US" sz="2000" spc="-2" dirty="0">
                <a:solidFill>
                  <a:srgbClr val="767070"/>
                </a:solidFill>
                <a:latin typeface="Calibri"/>
                <a:cs typeface="Calibri"/>
              </a:rPr>
              <a:t> a variable</a:t>
            </a:r>
          </a:p>
          <a:p>
            <a:pPr marL="5358">
              <a:tabLst>
                <a:tab pos="519739" algn="l"/>
              </a:tabLst>
            </a:pPr>
            <a:r>
              <a:rPr lang="en-US" sz="2000" spc="-2" dirty="0">
                <a:solidFill>
                  <a:srgbClr val="767070"/>
                </a:solidFill>
                <a:latin typeface="Calibri"/>
                <a:cs typeface="Calibri"/>
              </a:rPr>
              <a:t>B = 5.0</a:t>
            </a:r>
          </a:p>
          <a:p>
            <a:pPr marL="5358">
              <a:tabLst>
                <a:tab pos="519739" algn="l"/>
              </a:tabLst>
            </a:pPr>
            <a:r>
              <a:rPr lang="en-US" sz="2000" spc="-2" dirty="0">
                <a:solidFill>
                  <a:srgbClr val="767070"/>
                </a:solidFill>
                <a:latin typeface="Calibri"/>
                <a:cs typeface="Calibri"/>
              </a:rPr>
              <a:t>B =  “Hi”</a:t>
            </a:r>
          </a:p>
          <a:p>
            <a:pPr marL="5358">
              <a:tabLst>
                <a:tab pos="519739" algn="l"/>
              </a:tabLst>
            </a:pPr>
            <a:endParaRPr sz="2400" dirty="0">
              <a:latin typeface="Calibri"/>
              <a:cs typeface="Calibri"/>
            </a:endParaRP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2000" b="1" dirty="0">
                <a:solidFill>
                  <a:srgbClr val="006FC0"/>
                </a:solidFill>
                <a:latin typeface="Calibri"/>
                <a:cs typeface="Calibri"/>
              </a:rPr>
              <a:t>Operations </a:t>
            </a:r>
          </a:p>
          <a:p>
            <a:pPr marL="150028" marR="239241" indent="-144670">
              <a:lnSpc>
                <a:spcPct val="119300"/>
              </a:lnSpc>
              <a:spcBef>
                <a:spcPts val="2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FC0"/>
                </a:solidFill>
                <a:latin typeface="Calibri"/>
                <a:cs typeface="Calibri"/>
              </a:rPr>
              <a:t>take 1 or more data as inputs </a:t>
            </a:r>
          </a:p>
          <a:p>
            <a:pPr marL="150028" marR="239241" indent="-144670">
              <a:lnSpc>
                <a:spcPct val="119300"/>
              </a:lnSpc>
              <a:spcBef>
                <a:spcPts val="2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FC0"/>
                </a:solidFill>
                <a:latin typeface="Calibri"/>
                <a:cs typeface="Calibri"/>
              </a:rPr>
              <a:t>do something internally</a:t>
            </a:r>
          </a:p>
          <a:p>
            <a:pPr marL="150028" marR="239241" indent="-144670">
              <a:lnSpc>
                <a:spcPct val="119300"/>
              </a:lnSpc>
              <a:spcBef>
                <a:spcPts val="2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6FC0"/>
                </a:solidFill>
                <a:latin typeface="Calibri"/>
                <a:cs typeface="Calibri"/>
              </a:rPr>
              <a:t>return data as output</a:t>
            </a:r>
            <a:endParaRPr lang="en-US" sz="2000" spc="-4" dirty="0">
              <a:latin typeface="Calibri"/>
              <a:cs typeface="Calibri"/>
            </a:endParaRP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2000" spc="-6" dirty="0">
                <a:cs typeface="Calibri"/>
              </a:rPr>
              <a:t>add(a, 6)</a:t>
            </a:r>
            <a:r>
              <a:rPr lang="en-US" sz="2000" dirty="0">
                <a:cs typeface="Calibri"/>
              </a:rPr>
              <a:t>		</a:t>
            </a:r>
            <a:r>
              <a:rPr lang="en-US" sz="2000" spc="-2" dirty="0">
                <a:solidFill>
                  <a:srgbClr val="767070"/>
                </a:solidFill>
                <a:cs typeface="Calibri"/>
              </a:rPr>
              <a:t>// </a:t>
            </a:r>
            <a:r>
              <a:rPr lang="en-US" sz="2000" dirty="0">
                <a:solidFill>
                  <a:srgbClr val="767070"/>
                </a:solidFill>
                <a:cs typeface="Calibri"/>
              </a:rPr>
              <a:t>add two numbers, returns a number</a:t>
            </a: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2000" dirty="0">
                <a:solidFill>
                  <a:srgbClr val="767070"/>
                </a:solidFill>
                <a:cs typeface="Calibri"/>
              </a:rPr>
              <a:t>5 + 6</a:t>
            </a: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endParaRPr lang="en-US" sz="2000" dirty="0">
              <a:solidFill>
                <a:srgbClr val="76707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455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94BB6-8075-9753-F337-F7A35E190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89D553-9CF8-4A51-5E6F-275E86044A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188" y="241744"/>
            <a:ext cx="3910185" cy="682248"/>
          </a:xfrm>
          <a:prstGeom prst="rect">
            <a:avLst/>
          </a:prstGeom>
        </p:spPr>
        <p:txBody>
          <a:bodyPr vert="horz" wrap="square" lIns="0" tIns="5090" rIns="0" bIns="0" rtlCol="0" anchor="ctr">
            <a:spAutoFit/>
          </a:bodyPr>
          <a:lstStyle/>
          <a:p>
            <a:pPr marL="5358" algn="ctr">
              <a:lnSpc>
                <a:spcPct val="100000"/>
              </a:lnSpc>
              <a:spcBef>
                <a:spcPts val="40"/>
              </a:spcBef>
            </a:pPr>
            <a:r>
              <a:rPr spc="-2" dirty="0"/>
              <a:t>Basic</a:t>
            </a:r>
            <a:r>
              <a:rPr lang="en-US" spc="-2" dirty="0"/>
              <a:t> constructs</a:t>
            </a:r>
            <a:r>
              <a:rPr spc="-32" dirty="0"/>
              <a:t> </a:t>
            </a:r>
            <a:endParaRPr spc="-27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94B1CC3-96A3-7B6C-698E-5C35808331B7}"/>
              </a:ext>
            </a:extLst>
          </p:cNvPr>
          <p:cNvSpPr txBox="1"/>
          <p:nvPr/>
        </p:nvSpPr>
        <p:spPr>
          <a:xfrm>
            <a:off x="593606" y="870023"/>
            <a:ext cx="4765794" cy="3518103"/>
          </a:xfrm>
          <a:prstGeom prst="rect">
            <a:avLst/>
          </a:prstGeom>
        </p:spPr>
        <p:txBody>
          <a:bodyPr vert="horz" wrap="square" lIns="0" tIns="5358" rIns="0" bIns="0" rtlCol="0">
            <a:spAutoFit/>
          </a:bodyPr>
          <a:lstStyle/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dirty="0">
                <a:latin typeface="Calibri"/>
                <a:cs typeface="Calibri"/>
              </a:rPr>
              <a:t>Procedural Programming</a:t>
            </a: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1400" dirty="0">
                <a:solidFill>
                  <a:srgbClr val="006FC0"/>
                </a:solidFill>
                <a:latin typeface="Calibri"/>
                <a:cs typeface="Calibri"/>
              </a:rPr>
              <a:t>There are </a:t>
            </a:r>
            <a:r>
              <a:rPr lang="en-US" sz="1400" b="1" u="sng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lang="en-US" sz="1400" dirty="0">
                <a:solidFill>
                  <a:srgbClr val="006FC0"/>
                </a:solidFill>
                <a:latin typeface="Calibri"/>
                <a:cs typeface="Calibri"/>
              </a:rPr>
              <a:t> and </a:t>
            </a:r>
            <a:r>
              <a:rPr lang="en-US" sz="1400" b="1" u="sng" dirty="0">
                <a:solidFill>
                  <a:srgbClr val="006FC0"/>
                </a:solidFill>
                <a:latin typeface="Calibri"/>
                <a:cs typeface="Calibri"/>
              </a:rPr>
              <a:t>operations</a:t>
            </a:r>
            <a:r>
              <a:rPr lang="en-US" sz="1400" dirty="0">
                <a:solidFill>
                  <a:srgbClr val="006FC0"/>
                </a:solidFill>
                <a:latin typeface="Calibri"/>
                <a:cs typeface="Calibri"/>
              </a:rPr>
              <a:t> on data.</a:t>
            </a: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1400" b="1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endParaRPr lang="en-US" b="1" dirty="0">
              <a:latin typeface="Calibri"/>
              <a:cs typeface="Calibri"/>
            </a:endParaRPr>
          </a:p>
          <a:p>
            <a:pPr marL="144670" indent="-144670">
              <a:spcBef>
                <a:spcPts val="23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6FC0"/>
                </a:solidFill>
                <a:cs typeface="Calibri"/>
              </a:rPr>
              <a:t>All data are of a type</a:t>
            </a:r>
          </a:p>
          <a:p>
            <a:pPr marL="144670" indent="-144670">
              <a:spcBef>
                <a:spcPts val="23"/>
              </a:spcBef>
              <a:buFont typeface="Arial" panose="020B0604020202020204" pitchFamily="34" charset="0"/>
              <a:buChar char="•"/>
            </a:pPr>
            <a:endParaRPr lang="en-US" sz="1400" spc="-2" dirty="0">
              <a:latin typeface="Calibri"/>
              <a:cs typeface="Calibri"/>
            </a:endParaRPr>
          </a:p>
          <a:p>
            <a:pPr marL="5358">
              <a:tabLst>
                <a:tab pos="519739" algn="l"/>
              </a:tabLst>
            </a:pPr>
            <a:r>
              <a:rPr lang="en-US" sz="1400" dirty="0" err="1">
                <a:latin typeface="Calibri"/>
                <a:cs typeface="Calibri"/>
              </a:rPr>
              <a:t>int</a:t>
            </a:r>
            <a:r>
              <a:rPr lang="en-US" sz="1400" dirty="0">
                <a:latin typeface="Calibri"/>
                <a:cs typeface="Calibri"/>
              </a:rPr>
              <a:t> a;</a:t>
            </a:r>
            <a:r>
              <a:rPr sz="1400" spc="-2" dirty="0">
                <a:latin typeface="Calibri"/>
                <a:cs typeface="Calibri"/>
              </a:rPr>
              <a:t>	</a:t>
            </a:r>
            <a:r>
              <a:rPr sz="1400" spc="-2" dirty="0">
                <a:solidFill>
                  <a:srgbClr val="767070"/>
                </a:solidFill>
                <a:latin typeface="Calibri"/>
                <a:cs typeface="Calibri"/>
              </a:rPr>
              <a:t>//</a:t>
            </a:r>
            <a:r>
              <a:rPr lang="en-US" sz="1400" spc="-2" dirty="0">
                <a:solidFill>
                  <a:srgbClr val="767070"/>
                </a:solidFill>
                <a:latin typeface="Calibri"/>
                <a:cs typeface="Calibri"/>
              </a:rPr>
              <a:t> a variable</a:t>
            </a:r>
            <a:endParaRPr sz="1400" dirty="0">
              <a:latin typeface="Calibri"/>
              <a:cs typeface="Calibri"/>
            </a:endParaRPr>
          </a:p>
          <a:p>
            <a:pPr>
              <a:spcBef>
                <a:spcPts val="13"/>
              </a:spcBef>
            </a:pPr>
            <a:endParaRPr sz="1600" dirty="0">
              <a:latin typeface="Calibri"/>
              <a:cs typeface="Calibri"/>
            </a:endParaRP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1400" b="1" dirty="0">
                <a:solidFill>
                  <a:srgbClr val="006FC0"/>
                </a:solidFill>
                <a:latin typeface="Calibri"/>
                <a:cs typeface="Calibri"/>
              </a:rPr>
              <a:t>Operations </a:t>
            </a:r>
          </a:p>
          <a:p>
            <a:pPr marL="150028" marR="239241" indent="-144670">
              <a:lnSpc>
                <a:spcPct val="119300"/>
              </a:lnSpc>
              <a:spcBef>
                <a:spcPts val="2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6FC0"/>
                </a:solidFill>
                <a:latin typeface="Calibri"/>
                <a:cs typeface="Calibri"/>
              </a:rPr>
              <a:t>take 1 or more data as inputs </a:t>
            </a:r>
          </a:p>
          <a:p>
            <a:pPr marL="150028" marR="239241" indent="-144670">
              <a:lnSpc>
                <a:spcPct val="119300"/>
              </a:lnSpc>
              <a:spcBef>
                <a:spcPts val="2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6FC0"/>
                </a:solidFill>
                <a:latin typeface="Calibri"/>
                <a:cs typeface="Calibri"/>
              </a:rPr>
              <a:t>do something internally</a:t>
            </a:r>
          </a:p>
          <a:p>
            <a:pPr marL="150028" marR="239241" indent="-144670">
              <a:lnSpc>
                <a:spcPct val="119300"/>
              </a:lnSpc>
              <a:spcBef>
                <a:spcPts val="2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6FC0"/>
                </a:solidFill>
                <a:latin typeface="Calibri"/>
                <a:cs typeface="Calibri"/>
              </a:rPr>
              <a:t>return data as output</a:t>
            </a:r>
            <a:endParaRPr lang="en-US" sz="1400" spc="-4" dirty="0">
              <a:latin typeface="Calibri"/>
              <a:cs typeface="Calibri"/>
            </a:endParaRP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1400" spc="-6" dirty="0">
                <a:cs typeface="Calibri"/>
              </a:rPr>
              <a:t>add(a, 6)</a:t>
            </a:r>
            <a:r>
              <a:rPr lang="en-US" sz="1400" dirty="0">
                <a:cs typeface="Calibri"/>
              </a:rPr>
              <a:t>; 		</a:t>
            </a:r>
            <a:r>
              <a:rPr lang="en-US" sz="1400" spc="-2" dirty="0">
                <a:solidFill>
                  <a:srgbClr val="767070"/>
                </a:solidFill>
                <a:cs typeface="Calibri"/>
              </a:rPr>
              <a:t>// </a:t>
            </a:r>
            <a:r>
              <a:rPr lang="en-US" sz="1400" dirty="0">
                <a:solidFill>
                  <a:srgbClr val="767070"/>
                </a:solidFill>
                <a:cs typeface="Calibri"/>
              </a:rPr>
              <a:t>add two numbers, returns a number</a:t>
            </a: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endParaRPr lang="en-US" sz="1400" dirty="0">
              <a:solidFill>
                <a:srgbClr val="767070"/>
              </a:solidFill>
              <a:cs typeface="Calibri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F0EE154-D4E4-AE59-DC9B-2B26FCF5CBA8}"/>
              </a:ext>
            </a:extLst>
          </p:cNvPr>
          <p:cNvSpPr txBox="1"/>
          <p:nvPr/>
        </p:nvSpPr>
        <p:spPr>
          <a:xfrm>
            <a:off x="6505456" y="908196"/>
            <a:ext cx="4210169" cy="3983615"/>
          </a:xfrm>
          <a:prstGeom prst="rect">
            <a:avLst/>
          </a:prstGeom>
        </p:spPr>
        <p:txBody>
          <a:bodyPr vert="horz" wrap="square" lIns="0" tIns="5358" rIns="0" bIns="0" rtlCol="0">
            <a:spAutoFit/>
          </a:bodyPr>
          <a:lstStyle/>
          <a:p>
            <a:pPr marL="5358" marR="239241">
              <a:lnSpc>
                <a:spcPct val="119300"/>
              </a:lnSpc>
              <a:spcBef>
                <a:spcPts val="2"/>
              </a:spcBef>
            </a:pPr>
            <a:endParaRPr lang="en-US" sz="1400" dirty="0">
              <a:solidFill>
                <a:srgbClr val="767070"/>
              </a:solidFill>
              <a:cs typeface="Calibri"/>
            </a:endParaRP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1600" dirty="0">
                <a:latin typeface="Calibri"/>
                <a:cs typeface="Calibri"/>
              </a:rPr>
              <a:t>Versus</a:t>
            </a:r>
            <a:r>
              <a:rPr lang="en-US" sz="1600" b="1" dirty="0">
                <a:latin typeface="Calibri"/>
                <a:cs typeface="Calibri"/>
              </a:rPr>
              <a:t> Object Oriented Programming</a:t>
            </a: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1600" dirty="0">
                <a:latin typeface="Calibri"/>
                <a:cs typeface="Calibri"/>
              </a:rPr>
              <a:t>Packages variables and functions into the concept of an “object”</a:t>
            </a: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1600" dirty="0">
                <a:latin typeface="Calibri"/>
                <a:cs typeface="Calibri"/>
              </a:rPr>
              <a:t>Person sally = new Person();</a:t>
            </a: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1600" dirty="0">
                <a:latin typeface="Calibri"/>
                <a:cs typeface="Calibri"/>
              </a:rPr>
              <a:t>Car </a:t>
            </a:r>
            <a:r>
              <a:rPr lang="en-US" sz="1600" dirty="0" err="1">
                <a:latin typeface="Calibri"/>
                <a:cs typeface="Calibri"/>
              </a:rPr>
              <a:t>sallysCar</a:t>
            </a:r>
            <a:r>
              <a:rPr lang="en-US" sz="1600" dirty="0">
                <a:latin typeface="Calibri"/>
                <a:cs typeface="Calibri"/>
              </a:rPr>
              <a:t> = new Car(sally);</a:t>
            </a: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endParaRPr lang="en-US" sz="1600" dirty="0">
              <a:latin typeface="Calibri"/>
              <a:cs typeface="Calibri"/>
            </a:endParaRP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1600" dirty="0" err="1">
                <a:latin typeface="Calibri"/>
                <a:cs typeface="Calibri"/>
              </a:rPr>
              <a:t>Sally.drive</a:t>
            </a:r>
            <a:r>
              <a:rPr lang="en-US" sz="1600" dirty="0">
                <a:latin typeface="Calibri"/>
                <a:cs typeface="Calibri"/>
              </a:rPr>
              <a:t>() -&gt; </a:t>
            </a:r>
            <a:r>
              <a:rPr lang="en-US" sz="1600" dirty="0" err="1">
                <a:latin typeface="Calibri"/>
                <a:cs typeface="Calibri"/>
              </a:rPr>
              <a:t>sallysCar.drive</a:t>
            </a:r>
            <a:r>
              <a:rPr lang="en-US" sz="1600" dirty="0">
                <a:latin typeface="Calibri"/>
                <a:cs typeface="Calibri"/>
              </a:rPr>
              <a:t>();</a:t>
            </a: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endParaRPr lang="en-US" sz="1600" dirty="0">
              <a:latin typeface="Calibri"/>
              <a:cs typeface="Calibri"/>
            </a:endParaRP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1600" dirty="0">
                <a:latin typeface="Calibri"/>
                <a:cs typeface="Calibri"/>
              </a:rPr>
              <a:t>------------------------------------------------------------</a:t>
            </a: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1600" dirty="0" err="1">
                <a:latin typeface="Calibri"/>
                <a:cs typeface="Calibri"/>
              </a:rPr>
              <a:t>BuildingElement</a:t>
            </a:r>
            <a:r>
              <a:rPr lang="en-US" sz="1600" dirty="0">
                <a:latin typeface="Calibri"/>
                <a:cs typeface="Calibri"/>
              </a:rPr>
              <a:t> </a:t>
            </a:r>
            <a:r>
              <a:rPr lang="en-US" sz="1600" dirty="0" err="1">
                <a:latin typeface="Calibri"/>
                <a:cs typeface="Calibri"/>
              </a:rPr>
              <a:t>myElement</a:t>
            </a:r>
            <a:r>
              <a:rPr lang="en-US" sz="1600" dirty="0">
                <a:latin typeface="Calibri"/>
                <a:cs typeface="Calibri"/>
              </a:rPr>
              <a:t>;</a:t>
            </a: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1600" dirty="0" err="1">
                <a:latin typeface="Calibri"/>
                <a:cs typeface="Calibri"/>
              </a:rPr>
              <a:t>myElement.draw</a:t>
            </a:r>
            <a:r>
              <a:rPr lang="en-US" sz="1600" dirty="0">
                <a:latin typeface="Calibri"/>
                <a:cs typeface="Calibri"/>
              </a:rPr>
              <a:t>();</a:t>
            </a: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1600" dirty="0" err="1">
                <a:latin typeface="Calibri"/>
                <a:cs typeface="Calibri"/>
              </a:rPr>
              <a:t>myElement.delete</a:t>
            </a:r>
            <a:r>
              <a:rPr lang="en-US" sz="1600" dirty="0">
                <a:latin typeface="Calibri"/>
                <a:cs typeface="Calibri"/>
              </a:rPr>
              <a:t>();</a:t>
            </a:r>
            <a:endParaRPr lang="en-US" sz="2000" dirty="0">
              <a:latin typeface="Calibri"/>
              <a:cs typeface="Calibri"/>
            </a:endParaRP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endParaRPr lang="en-US" sz="1400" dirty="0">
              <a:solidFill>
                <a:srgbClr val="76707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221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8154-7A84-CA69-0CED-02A2BF2F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DB199A-6594-D7E8-0B0E-DB2B0B0385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188" y="241744"/>
            <a:ext cx="3910185" cy="682248"/>
          </a:xfrm>
          <a:prstGeom prst="rect">
            <a:avLst/>
          </a:prstGeom>
        </p:spPr>
        <p:txBody>
          <a:bodyPr vert="horz" wrap="square" lIns="0" tIns="5090" rIns="0" bIns="0" rtlCol="0" anchor="ctr">
            <a:spAutoFit/>
          </a:bodyPr>
          <a:lstStyle/>
          <a:p>
            <a:pPr marL="5358" algn="ctr">
              <a:lnSpc>
                <a:spcPct val="100000"/>
              </a:lnSpc>
              <a:spcBef>
                <a:spcPts val="40"/>
              </a:spcBef>
            </a:pPr>
            <a:r>
              <a:rPr spc="-2" dirty="0"/>
              <a:t>Basic</a:t>
            </a:r>
            <a:r>
              <a:rPr lang="en-US" spc="-2" dirty="0"/>
              <a:t> constructs</a:t>
            </a:r>
            <a:r>
              <a:rPr spc="-32" dirty="0"/>
              <a:t> </a:t>
            </a:r>
            <a:endParaRPr spc="-27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9FEA437-E0FE-2612-856B-4F8A7CAE5B88}"/>
              </a:ext>
            </a:extLst>
          </p:cNvPr>
          <p:cNvSpPr txBox="1"/>
          <p:nvPr/>
        </p:nvSpPr>
        <p:spPr>
          <a:xfrm>
            <a:off x="593606" y="870023"/>
            <a:ext cx="4765794" cy="2752124"/>
          </a:xfrm>
          <a:prstGeom prst="rect">
            <a:avLst/>
          </a:prstGeom>
        </p:spPr>
        <p:txBody>
          <a:bodyPr vert="horz" wrap="square" lIns="0" tIns="5358" rIns="0" bIns="0" rtlCol="0">
            <a:spAutoFit/>
          </a:bodyPr>
          <a:lstStyle/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1519" dirty="0">
                <a:latin typeface="Calibri"/>
                <a:cs typeface="Calibri"/>
              </a:rPr>
              <a:t>Procedural Programming</a:t>
            </a: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1181" dirty="0">
                <a:solidFill>
                  <a:srgbClr val="006FC0"/>
                </a:solidFill>
                <a:latin typeface="Calibri"/>
                <a:cs typeface="Calibri"/>
              </a:rPr>
              <a:t>There are </a:t>
            </a:r>
            <a:r>
              <a:rPr lang="en-US" sz="1181" b="1" u="sng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lang="en-US" sz="1181" dirty="0">
                <a:solidFill>
                  <a:srgbClr val="006FC0"/>
                </a:solidFill>
                <a:latin typeface="Calibri"/>
                <a:cs typeface="Calibri"/>
              </a:rPr>
              <a:t> and </a:t>
            </a:r>
            <a:r>
              <a:rPr lang="en-US" sz="1181" b="1" u="sng" dirty="0">
                <a:solidFill>
                  <a:srgbClr val="006FC0"/>
                </a:solidFill>
                <a:latin typeface="Calibri"/>
                <a:cs typeface="Calibri"/>
              </a:rPr>
              <a:t>operations</a:t>
            </a:r>
            <a:r>
              <a:rPr lang="en-US" sz="1181" dirty="0">
                <a:solidFill>
                  <a:srgbClr val="006FC0"/>
                </a:solidFill>
                <a:latin typeface="Calibri"/>
                <a:cs typeface="Calibri"/>
              </a:rPr>
              <a:t> on data.</a:t>
            </a: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1181" b="1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endParaRPr lang="en-US" sz="1519" b="1" dirty="0">
              <a:latin typeface="Calibri"/>
              <a:cs typeface="Calibri"/>
            </a:endParaRPr>
          </a:p>
          <a:p>
            <a:pPr marL="144670" indent="-144670">
              <a:spcBef>
                <a:spcPts val="23"/>
              </a:spcBef>
              <a:buFont typeface="Arial" panose="020B0604020202020204" pitchFamily="34" charset="0"/>
              <a:buChar char="•"/>
            </a:pPr>
            <a:r>
              <a:rPr lang="en-US" sz="1181" dirty="0">
                <a:solidFill>
                  <a:srgbClr val="006FC0"/>
                </a:solidFill>
                <a:cs typeface="Calibri"/>
              </a:rPr>
              <a:t>All data are of a type</a:t>
            </a:r>
          </a:p>
          <a:p>
            <a:pPr marL="144670" indent="-144670">
              <a:spcBef>
                <a:spcPts val="23"/>
              </a:spcBef>
              <a:buFont typeface="Arial" panose="020B0604020202020204" pitchFamily="34" charset="0"/>
              <a:buChar char="•"/>
            </a:pPr>
            <a:endParaRPr lang="en-US" sz="1181" spc="-2" dirty="0">
              <a:latin typeface="Calibri"/>
              <a:cs typeface="Calibri"/>
            </a:endParaRPr>
          </a:p>
          <a:p>
            <a:pPr marL="5358">
              <a:tabLst>
                <a:tab pos="519739" algn="l"/>
              </a:tabLst>
            </a:pPr>
            <a:r>
              <a:rPr lang="en-US" sz="1181" dirty="0" err="1">
                <a:latin typeface="Calibri"/>
                <a:cs typeface="Calibri"/>
              </a:rPr>
              <a:t>int</a:t>
            </a:r>
            <a:r>
              <a:rPr lang="en-US" sz="1181" dirty="0">
                <a:latin typeface="Calibri"/>
                <a:cs typeface="Calibri"/>
              </a:rPr>
              <a:t> a;</a:t>
            </a:r>
            <a:r>
              <a:rPr sz="1181" spc="-2" dirty="0">
                <a:latin typeface="Calibri"/>
                <a:cs typeface="Calibri"/>
              </a:rPr>
              <a:t>	</a:t>
            </a:r>
            <a:r>
              <a:rPr sz="1181" spc="-2" dirty="0">
                <a:solidFill>
                  <a:srgbClr val="767070"/>
                </a:solidFill>
                <a:latin typeface="Calibri"/>
                <a:cs typeface="Calibri"/>
              </a:rPr>
              <a:t>//</a:t>
            </a:r>
            <a:r>
              <a:rPr lang="en-US" sz="1181" spc="-2" dirty="0">
                <a:solidFill>
                  <a:srgbClr val="767070"/>
                </a:solidFill>
                <a:latin typeface="Calibri"/>
                <a:cs typeface="Calibri"/>
              </a:rPr>
              <a:t> a variable</a:t>
            </a:r>
            <a:endParaRPr sz="1181" dirty="0">
              <a:latin typeface="Calibri"/>
              <a:cs typeface="Calibri"/>
            </a:endParaRPr>
          </a:p>
          <a:p>
            <a:pPr>
              <a:spcBef>
                <a:spcPts val="13"/>
              </a:spcBef>
            </a:pPr>
            <a:endParaRPr sz="1350" dirty="0">
              <a:latin typeface="Calibri"/>
              <a:cs typeface="Calibri"/>
            </a:endParaRP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1181" b="1" dirty="0">
                <a:solidFill>
                  <a:srgbClr val="006FC0"/>
                </a:solidFill>
                <a:latin typeface="Calibri"/>
                <a:cs typeface="Calibri"/>
              </a:rPr>
              <a:t>Operations </a:t>
            </a:r>
          </a:p>
          <a:p>
            <a:pPr marL="150028" marR="239241" indent="-144670">
              <a:lnSpc>
                <a:spcPct val="119300"/>
              </a:lnSpc>
              <a:spcBef>
                <a:spcPts val="2"/>
              </a:spcBef>
              <a:buFont typeface="Arial" panose="020B0604020202020204" pitchFamily="34" charset="0"/>
              <a:buChar char="•"/>
            </a:pPr>
            <a:r>
              <a:rPr lang="en-US" sz="1181" dirty="0">
                <a:solidFill>
                  <a:srgbClr val="006FC0"/>
                </a:solidFill>
                <a:latin typeface="Calibri"/>
                <a:cs typeface="Calibri"/>
              </a:rPr>
              <a:t>take 1 or more data as inputs </a:t>
            </a:r>
          </a:p>
          <a:p>
            <a:pPr marL="150028" marR="239241" indent="-144670">
              <a:lnSpc>
                <a:spcPct val="119300"/>
              </a:lnSpc>
              <a:spcBef>
                <a:spcPts val="2"/>
              </a:spcBef>
              <a:buFont typeface="Arial" panose="020B0604020202020204" pitchFamily="34" charset="0"/>
              <a:buChar char="•"/>
            </a:pPr>
            <a:r>
              <a:rPr lang="en-US" sz="1181" dirty="0">
                <a:solidFill>
                  <a:srgbClr val="006FC0"/>
                </a:solidFill>
                <a:latin typeface="Calibri"/>
                <a:cs typeface="Calibri"/>
              </a:rPr>
              <a:t>do something internally</a:t>
            </a:r>
          </a:p>
          <a:p>
            <a:pPr marL="150028" marR="239241" indent="-144670">
              <a:lnSpc>
                <a:spcPct val="119300"/>
              </a:lnSpc>
              <a:spcBef>
                <a:spcPts val="2"/>
              </a:spcBef>
              <a:buFont typeface="Arial" panose="020B0604020202020204" pitchFamily="34" charset="0"/>
              <a:buChar char="•"/>
            </a:pPr>
            <a:r>
              <a:rPr lang="en-US" sz="1181" dirty="0">
                <a:solidFill>
                  <a:srgbClr val="006FC0"/>
                </a:solidFill>
                <a:latin typeface="Calibri"/>
                <a:cs typeface="Calibri"/>
              </a:rPr>
              <a:t>return data as output</a:t>
            </a:r>
            <a:endParaRPr lang="en-US" sz="1181" spc="-4" dirty="0">
              <a:latin typeface="Calibri"/>
              <a:cs typeface="Calibri"/>
            </a:endParaRP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r>
              <a:rPr lang="en-US" sz="1181" spc="-6" dirty="0">
                <a:cs typeface="Calibri"/>
              </a:rPr>
              <a:t>add(a, 6)</a:t>
            </a:r>
            <a:r>
              <a:rPr lang="en-US" sz="1181" dirty="0">
                <a:cs typeface="Calibri"/>
              </a:rPr>
              <a:t>; 		</a:t>
            </a:r>
            <a:r>
              <a:rPr lang="en-US" sz="1181" spc="-2" dirty="0">
                <a:solidFill>
                  <a:srgbClr val="767070"/>
                </a:solidFill>
                <a:cs typeface="Calibri"/>
              </a:rPr>
              <a:t>// </a:t>
            </a:r>
            <a:r>
              <a:rPr lang="en-US" sz="1181" dirty="0">
                <a:solidFill>
                  <a:srgbClr val="767070"/>
                </a:solidFill>
                <a:cs typeface="Calibri"/>
              </a:rPr>
              <a:t>add two numbers, returns a number</a:t>
            </a: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endParaRPr lang="en-US" sz="1181" dirty="0">
              <a:solidFill>
                <a:srgbClr val="767070"/>
              </a:solidFill>
              <a:cs typeface="Calibri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873A8E3-CD18-AF5B-305A-D5411B01BC54}"/>
              </a:ext>
            </a:extLst>
          </p:cNvPr>
          <p:cNvSpPr txBox="1"/>
          <p:nvPr/>
        </p:nvSpPr>
        <p:spPr>
          <a:xfrm>
            <a:off x="5382054" y="870096"/>
            <a:ext cx="6216340" cy="3241040"/>
          </a:xfrm>
          <a:prstGeom prst="rect">
            <a:avLst/>
          </a:prstGeom>
        </p:spPr>
        <p:txBody>
          <a:bodyPr vert="horz" wrap="square" lIns="0" tIns="5358" rIns="0" bIns="0" rtlCol="0">
            <a:spAutoFit/>
          </a:bodyPr>
          <a:lstStyle/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1519" dirty="0">
                <a:latin typeface="Calibri"/>
                <a:cs typeface="Calibri"/>
              </a:rPr>
              <a:t>Versus</a:t>
            </a:r>
            <a:r>
              <a:rPr lang="en-US" sz="1519" b="1" dirty="0">
                <a:latin typeface="Calibri"/>
                <a:cs typeface="Calibri"/>
              </a:rPr>
              <a:t> Object Oriented Programming</a:t>
            </a: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1519" dirty="0">
                <a:solidFill>
                  <a:srgbClr val="006FC0"/>
                </a:solidFill>
                <a:cs typeface="Calibri"/>
              </a:rPr>
              <a:t>There are object </a:t>
            </a:r>
            <a:r>
              <a:rPr lang="en-US" sz="1519" b="1" u="sng" dirty="0">
                <a:solidFill>
                  <a:srgbClr val="006FC0"/>
                </a:solidFill>
                <a:cs typeface="Calibri"/>
              </a:rPr>
              <a:t>classes</a:t>
            </a:r>
            <a:r>
              <a:rPr lang="en-US" sz="1519" dirty="0">
                <a:solidFill>
                  <a:srgbClr val="006FC0"/>
                </a:solidFill>
                <a:cs typeface="Calibri"/>
              </a:rPr>
              <a:t> and </a:t>
            </a:r>
            <a:r>
              <a:rPr lang="en-US" sz="1519" b="1" u="sng" dirty="0">
                <a:solidFill>
                  <a:srgbClr val="006FC0"/>
                </a:solidFill>
                <a:cs typeface="Calibri"/>
              </a:rPr>
              <a:t>instances</a:t>
            </a:r>
            <a:endParaRPr lang="en-US" sz="1519" dirty="0">
              <a:solidFill>
                <a:srgbClr val="006FC0"/>
              </a:solidFill>
              <a:cs typeface="Calibri"/>
            </a:endParaRP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endParaRPr lang="en-US" sz="1519" dirty="0">
              <a:solidFill>
                <a:srgbClr val="006FC0"/>
              </a:solidFill>
              <a:cs typeface="Calibri"/>
            </a:endParaRPr>
          </a:p>
          <a:p>
            <a:pPr marL="5358" marR="455441" indent="-5358">
              <a:spcBef>
                <a:spcPts val="42"/>
              </a:spcBef>
              <a:tabLst>
                <a:tab pos="519739" algn="l"/>
              </a:tabLst>
            </a:pPr>
            <a:r>
              <a:rPr lang="en-US" sz="1181" dirty="0" err="1">
                <a:latin typeface="Calibri"/>
                <a:cs typeface="Calibri"/>
              </a:rPr>
              <a:t>MySpecialInteger</a:t>
            </a:r>
            <a:r>
              <a:rPr lang="en-US" sz="1181" dirty="0">
                <a:latin typeface="Calibri"/>
                <a:cs typeface="Calibri"/>
              </a:rPr>
              <a:t> a;</a:t>
            </a:r>
            <a:r>
              <a:rPr lang="en-US" sz="1181" spc="-2" dirty="0">
                <a:solidFill>
                  <a:srgbClr val="767070"/>
                </a:solidFill>
                <a:latin typeface="Calibri"/>
                <a:cs typeface="Calibri"/>
              </a:rPr>
              <a:t>	// a is an instance of the </a:t>
            </a:r>
          </a:p>
          <a:p>
            <a:pPr marL="5358" marR="455441" indent="-5358">
              <a:spcBef>
                <a:spcPts val="42"/>
              </a:spcBef>
              <a:tabLst>
                <a:tab pos="519739" algn="l"/>
              </a:tabLst>
            </a:pPr>
            <a:r>
              <a:rPr lang="en-US" sz="1181" spc="-2" dirty="0">
                <a:solidFill>
                  <a:srgbClr val="767070"/>
                </a:solidFill>
                <a:latin typeface="Calibri"/>
                <a:cs typeface="Calibri"/>
              </a:rPr>
              <a:t>							// </a:t>
            </a:r>
            <a:r>
              <a:rPr lang="en-US" sz="1181" spc="-2" dirty="0" err="1">
                <a:solidFill>
                  <a:srgbClr val="767070"/>
                </a:solidFill>
                <a:latin typeface="Calibri"/>
                <a:cs typeface="Calibri"/>
              </a:rPr>
              <a:t>MySpecialInteger</a:t>
            </a:r>
            <a:r>
              <a:rPr lang="en-US" sz="1181" spc="-2" dirty="0">
                <a:solidFill>
                  <a:srgbClr val="767070"/>
                </a:solidFill>
                <a:latin typeface="Calibri"/>
                <a:cs typeface="Calibri"/>
              </a:rPr>
              <a:t> class</a:t>
            </a:r>
          </a:p>
          <a:p>
            <a:pPr marL="5358" marR="455441" indent="-5358">
              <a:spcBef>
                <a:spcPts val="42"/>
              </a:spcBef>
              <a:tabLst>
                <a:tab pos="519739" algn="l"/>
              </a:tabLst>
            </a:pPr>
            <a:r>
              <a:rPr lang="en-US" sz="1181" dirty="0">
                <a:solidFill>
                  <a:srgbClr val="006FC0"/>
                </a:solidFill>
                <a:cs typeface="Calibri"/>
              </a:rPr>
              <a:t>There are object </a:t>
            </a:r>
            <a:r>
              <a:rPr lang="en-US" sz="1181" b="1" u="sng" dirty="0">
                <a:solidFill>
                  <a:srgbClr val="006FC0"/>
                </a:solidFill>
                <a:cs typeface="Calibri"/>
              </a:rPr>
              <a:t>state</a:t>
            </a:r>
            <a:r>
              <a:rPr lang="en-US" sz="1181" dirty="0">
                <a:solidFill>
                  <a:srgbClr val="006FC0"/>
                </a:solidFill>
                <a:cs typeface="Calibri"/>
              </a:rPr>
              <a:t> valuables and </a:t>
            </a:r>
            <a:r>
              <a:rPr lang="en-US" sz="1181" b="1" u="sng" dirty="0">
                <a:solidFill>
                  <a:srgbClr val="006FC0"/>
                </a:solidFill>
                <a:cs typeface="Calibri"/>
              </a:rPr>
              <a:t>methods</a:t>
            </a:r>
            <a:endParaRPr lang="en-US" sz="1181" spc="-2" dirty="0">
              <a:solidFill>
                <a:srgbClr val="767070"/>
              </a:solidFill>
              <a:latin typeface="Calibri"/>
              <a:cs typeface="Calibri"/>
            </a:endParaRPr>
          </a:p>
          <a:p>
            <a:pPr marL="5358" marR="455441" indent="-5358">
              <a:spcBef>
                <a:spcPts val="42"/>
              </a:spcBef>
              <a:tabLst>
                <a:tab pos="519739" algn="l"/>
              </a:tabLst>
            </a:pPr>
            <a:r>
              <a:rPr lang="en-US" sz="1181" spc="-2" dirty="0" err="1">
                <a:latin typeface="Calibri"/>
                <a:cs typeface="Calibri"/>
              </a:rPr>
              <a:t>a.value</a:t>
            </a:r>
            <a:r>
              <a:rPr lang="en-US" sz="1181" spc="-2" dirty="0">
                <a:latin typeface="Calibri"/>
                <a:cs typeface="Calibri"/>
              </a:rPr>
              <a:t>;		</a:t>
            </a:r>
            <a:r>
              <a:rPr lang="en-US" sz="1181" spc="-2" dirty="0">
                <a:solidFill>
                  <a:srgbClr val="767070"/>
                </a:solidFill>
                <a:latin typeface="Calibri"/>
                <a:cs typeface="Calibri"/>
              </a:rPr>
              <a:t>	// returns the internal value of a</a:t>
            </a:r>
          </a:p>
          <a:p>
            <a:pPr marL="5358" marR="455441" indent="-5358">
              <a:spcBef>
                <a:spcPts val="42"/>
              </a:spcBef>
              <a:tabLst>
                <a:tab pos="519739" algn="l"/>
              </a:tabLst>
            </a:pPr>
            <a:endParaRPr lang="en-US" sz="1181" spc="-2" dirty="0">
              <a:solidFill>
                <a:srgbClr val="767070"/>
              </a:solidFill>
              <a:latin typeface="Calibri"/>
              <a:cs typeface="Calibri"/>
            </a:endParaRPr>
          </a:p>
          <a:p>
            <a:pPr marL="5358" marR="455441" indent="-5358">
              <a:spcBef>
                <a:spcPts val="42"/>
              </a:spcBef>
              <a:tabLst>
                <a:tab pos="519739" algn="l"/>
              </a:tabLst>
            </a:pPr>
            <a:r>
              <a:rPr lang="en-US" sz="1181" spc="-2" dirty="0" err="1">
                <a:latin typeface="Calibri"/>
                <a:cs typeface="Calibri"/>
              </a:rPr>
              <a:t>a.Add</a:t>
            </a:r>
            <a:r>
              <a:rPr lang="en-US" sz="1181" spc="-2" dirty="0">
                <a:latin typeface="Calibri"/>
                <a:cs typeface="Calibri"/>
              </a:rPr>
              <a:t>(b)	</a:t>
            </a:r>
            <a:r>
              <a:rPr lang="en-US" sz="1181" spc="-2" dirty="0">
                <a:solidFill>
                  <a:srgbClr val="767070"/>
                </a:solidFill>
                <a:latin typeface="Calibri"/>
                <a:cs typeface="Calibri"/>
              </a:rPr>
              <a:t>	// asks a to do something</a:t>
            </a: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endParaRPr lang="en-US" sz="1181" spc="-2" dirty="0">
              <a:solidFill>
                <a:srgbClr val="767070"/>
              </a:solidFill>
              <a:latin typeface="Calibri"/>
              <a:cs typeface="Calibri"/>
            </a:endParaRP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1181" spc="-2" dirty="0">
                <a:latin typeface="Calibri"/>
                <a:cs typeface="Calibri"/>
              </a:rPr>
              <a:t>Data and operations are packaged together.</a:t>
            </a: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r>
              <a:rPr lang="en-US" sz="1181" spc="-2" dirty="0">
                <a:latin typeface="Calibri"/>
                <a:cs typeface="Calibri"/>
              </a:rPr>
              <a:t>A dot (.) signals we are asking the object to do something, or “passing it a message”</a:t>
            </a:r>
            <a:endParaRPr lang="en-US" sz="1519" dirty="0">
              <a:cs typeface="Calibri"/>
            </a:endParaRPr>
          </a:p>
          <a:p>
            <a:pPr marL="5358" marR="455441" indent="-5358">
              <a:lnSpc>
                <a:spcPct val="119300"/>
              </a:lnSpc>
              <a:spcBef>
                <a:spcPts val="42"/>
              </a:spcBef>
            </a:pPr>
            <a:endParaRPr lang="en-US" sz="1519" dirty="0">
              <a:latin typeface="Calibri"/>
              <a:cs typeface="Calibri"/>
            </a:endParaRPr>
          </a:p>
          <a:p>
            <a:pPr marL="5358" marR="239241">
              <a:lnSpc>
                <a:spcPct val="119300"/>
              </a:lnSpc>
              <a:spcBef>
                <a:spcPts val="2"/>
              </a:spcBef>
            </a:pPr>
            <a:endParaRPr lang="en-US" sz="1181" dirty="0">
              <a:solidFill>
                <a:srgbClr val="76707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1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10013" y="385384"/>
            <a:ext cx="4371975" cy="920948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OOP Example: Animals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1737" y="1996168"/>
            <a:ext cx="938266" cy="7044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675" dirty="0">
                <a:solidFill>
                  <a:sysClr val="windowText" lastClr="000000"/>
                </a:solidFill>
              </a:rPr>
              <a:t>Abstract Class: </a:t>
            </a:r>
            <a:r>
              <a:rPr lang="en-US" sz="675" b="1" dirty="0">
                <a:solidFill>
                  <a:sysClr val="windowText" lastClr="000000"/>
                </a:solidFill>
              </a:rPr>
              <a:t>Animal</a:t>
            </a:r>
          </a:p>
          <a:p>
            <a:endParaRPr lang="en-US" sz="675" dirty="0">
              <a:solidFill>
                <a:sysClr val="windowText" lastClr="000000"/>
              </a:solidFill>
            </a:endParaRPr>
          </a:p>
          <a:p>
            <a:endParaRPr lang="en-US" sz="675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675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675" dirty="0">
              <a:solidFill>
                <a:sysClr val="windowText" lastClr="000000"/>
              </a:solidFill>
            </a:endParaRPr>
          </a:p>
          <a:p>
            <a:endParaRPr lang="en-US" sz="675" b="1" dirty="0">
              <a:solidFill>
                <a:sysClr val="windowText" lastClr="000000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641737" y="2988417"/>
            <a:ext cx="938266" cy="7044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675" dirty="0">
                <a:solidFill>
                  <a:sysClr val="windowText" lastClr="000000"/>
                </a:solidFill>
              </a:rPr>
              <a:t>Abstract Class: </a:t>
            </a:r>
            <a:r>
              <a:rPr lang="en-US" sz="675" b="1" dirty="0">
                <a:solidFill>
                  <a:sysClr val="windowText" lastClr="000000"/>
                </a:solidFill>
              </a:rPr>
              <a:t>Mammal</a:t>
            </a:r>
          </a:p>
          <a:p>
            <a:endParaRPr lang="en-US" sz="675" dirty="0">
              <a:solidFill>
                <a:sysClr val="windowText" lastClr="000000"/>
              </a:solidFill>
            </a:endParaRPr>
          </a:p>
          <a:p>
            <a:endParaRPr lang="en-US" sz="675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675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675" dirty="0">
              <a:solidFill>
                <a:sysClr val="windowText" lastClr="000000"/>
              </a:solidFill>
            </a:endParaRPr>
          </a:p>
          <a:p>
            <a:endParaRPr lang="en-US" sz="675" b="1" dirty="0">
              <a:solidFill>
                <a:sysClr val="windowText" lastClr="000000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641737" y="4007644"/>
            <a:ext cx="938266" cy="7044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675" dirty="0">
                <a:solidFill>
                  <a:sysClr val="windowText" lastClr="000000"/>
                </a:solidFill>
              </a:rPr>
              <a:t>Class: </a:t>
            </a:r>
            <a:r>
              <a:rPr lang="en-US" sz="675" b="1" dirty="0">
                <a:solidFill>
                  <a:sysClr val="windowText" lastClr="000000"/>
                </a:solidFill>
              </a:rPr>
              <a:t>Dog</a:t>
            </a:r>
          </a:p>
          <a:p>
            <a:endParaRPr lang="en-US" sz="675" dirty="0">
              <a:solidFill>
                <a:sysClr val="windowText" lastClr="000000"/>
              </a:solidFill>
            </a:endParaRPr>
          </a:p>
          <a:p>
            <a:endParaRPr lang="en-US" sz="675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675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675" dirty="0">
              <a:solidFill>
                <a:sysClr val="windowText" lastClr="000000"/>
              </a:solidFill>
            </a:endParaRPr>
          </a:p>
          <a:p>
            <a:endParaRPr lang="en-US" sz="675" b="1" dirty="0">
              <a:solidFill>
                <a:sysClr val="windowText" lastClr="000000"/>
              </a:solidFill>
            </a:endParaRPr>
          </a:p>
        </p:txBody>
      </p:sp>
      <p:cxnSp>
        <p:nvCxnSpPr>
          <p:cNvPr id="66" name="Straight Connector 65"/>
          <p:cNvCxnSpPr>
            <a:stCxn id="63" idx="0"/>
            <a:endCxn id="62" idx="2"/>
          </p:cNvCxnSpPr>
          <p:nvPr/>
        </p:nvCxnSpPr>
        <p:spPr>
          <a:xfrm flipV="1">
            <a:off x="5110870" y="2700574"/>
            <a:ext cx="0" cy="287843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5110870" y="3706312"/>
            <a:ext cx="0" cy="301332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147265" y="3779072"/>
            <a:ext cx="611065" cy="209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9" i="1" dirty="0" err="1"/>
              <a:t>SubclassOf</a:t>
            </a:r>
            <a:endParaRPr lang="en-US" sz="759" i="1" dirty="0"/>
          </a:p>
        </p:txBody>
      </p:sp>
      <p:sp>
        <p:nvSpPr>
          <p:cNvPr id="71" name="TextBox 70"/>
          <p:cNvSpPr txBox="1"/>
          <p:nvPr/>
        </p:nvSpPr>
        <p:spPr>
          <a:xfrm>
            <a:off x="5147265" y="2764302"/>
            <a:ext cx="611065" cy="209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9" i="1" dirty="0" err="1"/>
              <a:t>SubclassOf</a:t>
            </a:r>
            <a:endParaRPr lang="en-US" sz="759" i="1" dirty="0"/>
          </a:p>
        </p:txBody>
      </p:sp>
      <p:sp>
        <p:nvSpPr>
          <p:cNvPr id="78" name="Rectangle 77"/>
          <p:cNvSpPr/>
          <p:nvPr/>
        </p:nvSpPr>
        <p:spPr>
          <a:xfrm>
            <a:off x="5999559" y="4007644"/>
            <a:ext cx="938266" cy="7044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675" dirty="0">
                <a:solidFill>
                  <a:sysClr val="windowText" lastClr="000000"/>
                </a:solidFill>
              </a:rPr>
              <a:t>Class: </a:t>
            </a:r>
            <a:r>
              <a:rPr lang="en-US" sz="675" b="1" dirty="0">
                <a:solidFill>
                  <a:sysClr val="windowText" lastClr="000000"/>
                </a:solidFill>
              </a:rPr>
              <a:t>Human</a:t>
            </a:r>
          </a:p>
          <a:p>
            <a:endParaRPr lang="en-US" sz="675" dirty="0">
              <a:solidFill>
                <a:sysClr val="windowText" lastClr="000000"/>
              </a:solidFill>
            </a:endParaRPr>
          </a:p>
          <a:p>
            <a:endParaRPr lang="en-US" sz="675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675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675" dirty="0">
              <a:solidFill>
                <a:sysClr val="windowText" lastClr="000000"/>
              </a:solidFill>
            </a:endParaRPr>
          </a:p>
          <a:p>
            <a:endParaRPr lang="en-US" sz="675" b="1" dirty="0">
              <a:solidFill>
                <a:sysClr val="windowText" lastClr="000000"/>
              </a:solidFill>
            </a:endParaRPr>
          </a:p>
        </p:txBody>
      </p:sp>
      <p:cxnSp>
        <p:nvCxnSpPr>
          <p:cNvPr id="79" name="Straight Connector 78"/>
          <p:cNvCxnSpPr/>
          <p:nvPr/>
        </p:nvCxnSpPr>
        <p:spPr>
          <a:xfrm flipH="1" flipV="1">
            <a:off x="5324475" y="3706311"/>
            <a:ext cx="1144217" cy="301333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103654" y="3779072"/>
            <a:ext cx="611065" cy="209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9" i="1" dirty="0" err="1"/>
              <a:t>SubclassOf</a:t>
            </a:r>
            <a:endParaRPr lang="en-US" sz="759" i="1" dirty="0"/>
          </a:p>
        </p:txBody>
      </p:sp>
    </p:spTree>
    <p:extLst>
      <p:ext uri="{BB962C8B-B14F-4D97-AF65-F5344CB8AC3E}">
        <p14:creationId xmlns:p14="http://schemas.microsoft.com/office/powerpoint/2010/main" val="907341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598B-67A4-118C-5A1C-A69714D6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908324-BA1D-553E-7661-D6378278346B}"/>
              </a:ext>
            </a:extLst>
          </p:cNvPr>
          <p:cNvSpPr/>
          <p:nvPr/>
        </p:nvSpPr>
        <p:spPr>
          <a:xfrm>
            <a:off x="982362" y="1445741"/>
            <a:ext cx="1241854" cy="5189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Person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8EA48E-C63E-A09B-BB56-764E64F49A6F}"/>
              </a:ext>
            </a:extLst>
          </p:cNvPr>
          <p:cNvSpPr/>
          <p:nvPr/>
        </p:nvSpPr>
        <p:spPr>
          <a:xfrm>
            <a:off x="3144795" y="1171577"/>
            <a:ext cx="1241854" cy="1067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John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ysClr val="windowText" lastClr="000000"/>
              </a:solidFill>
            </a:endParaRPr>
          </a:p>
          <a:p>
            <a:r>
              <a:rPr lang="en-US" sz="1200" dirty="0">
                <a:solidFill>
                  <a:sysClr val="windowText" lastClr="000000"/>
                </a:solidFill>
              </a:rPr>
              <a:t>name: “John”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age:     36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6A751D-ED16-2BF0-D3F5-B820A69DB389}"/>
              </a:ext>
            </a:extLst>
          </p:cNvPr>
          <p:cNvCxnSpPr>
            <a:cxnSpLocks/>
            <a:stCxn id="9" idx="1"/>
            <a:endCxn id="7" idx="3"/>
          </p:cNvCxnSpPr>
          <p:nvPr/>
        </p:nvCxnSpPr>
        <p:spPr>
          <a:xfrm flipH="1">
            <a:off x="2224216" y="1705233"/>
            <a:ext cx="9205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0023B52-CFAC-6FDB-B448-DFE04CB73F56}"/>
              </a:ext>
            </a:extLst>
          </p:cNvPr>
          <p:cNvSpPr txBox="1"/>
          <p:nvPr/>
        </p:nvSpPr>
        <p:spPr>
          <a:xfrm>
            <a:off x="2313279" y="1440201"/>
            <a:ext cx="79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instance</a:t>
            </a:r>
          </a:p>
          <a:p>
            <a:pPr algn="ctr"/>
            <a:r>
              <a:rPr lang="en-US" sz="1400" dirty="0"/>
              <a:t>Of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EFBD0-CF8A-7E91-3E43-CC467DFA9418}"/>
              </a:ext>
            </a:extLst>
          </p:cNvPr>
          <p:cNvSpPr txBox="1"/>
          <p:nvPr/>
        </p:nvSpPr>
        <p:spPr>
          <a:xfrm>
            <a:off x="5377457" y="176168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#! python3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Person: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name, age):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 = name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.age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age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.children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__str__(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ret =  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 My Name is {self.name} and I'm a {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self.age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 year old {type(self).__name__}\n"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.children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.children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ret +=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"And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 have {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self.children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)} Children:\n"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child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.children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ret +=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(child)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#ret += str("A child!\n")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ret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addChild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achild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.children.append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achild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'''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class Teacher(Person):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pass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class Student(Person):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   pass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'''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patty = Person(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"Patty"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36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patty.addChild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"Bobby"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patty.addChild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"Sally"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patty.addChild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"Chucky"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(patty))</a:t>
            </a:r>
          </a:p>
        </p:txBody>
      </p:sp>
    </p:spTree>
    <p:extLst>
      <p:ext uri="{BB962C8B-B14F-4D97-AF65-F5344CB8AC3E}">
        <p14:creationId xmlns:p14="http://schemas.microsoft.com/office/powerpoint/2010/main" val="788254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598B-67A4-118C-5A1C-A69714D6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908324-BA1D-553E-7661-D6378278346B}"/>
              </a:ext>
            </a:extLst>
          </p:cNvPr>
          <p:cNvSpPr/>
          <p:nvPr/>
        </p:nvSpPr>
        <p:spPr>
          <a:xfrm>
            <a:off x="982362" y="1445741"/>
            <a:ext cx="1241854" cy="5189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Person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8EA48E-C63E-A09B-BB56-764E64F49A6F}"/>
              </a:ext>
            </a:extLst>
          </p:cNvPr>
          <p:cNvSpPr/>
          <p:nvPr/>
        </p:nvSpPr>
        <p:spPr>
          <a:xfrm>
            <a:off x="3144795" y="1171577"/>
            <a:ext cx="1241854" cy="1067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John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ysClr val="windowText" lastClr="000000"/>
              </a:solidFill>
            </a:endParaRPr>
          </a:p>
          <a:p>
            <a:r>
              <a:rPr lang="en-US" sz="1200" dirty="0">
                <a:solidFill>
                  <a:sysClr val="windowText" lastClr="000000"/>
                </a:solidFill>
              </a:rPr>
              <a:t>name: “John”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age:     36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6A751D-ED16-2BF0-D3F5-B820A69DB389}"/>
              </a:ext>
            </a:extLst>
          </p:cNvPr>
          <p:cNvCxnSpPr>
            <a:cxnSpLocks/>
            <a:stCxn id="9" idx="1"/>
            <a:endCxn id="7" idx="3"/>
          </p:cNvCxnSpPr>
          <p:nvPr/>
        </p:nvCxnSpPr>
        <p:spPr>
          <a:xfrm flipH="1">
            <a:off x="2224216" y="1705233"/>
            <a:ext cx="920579" cy="0"/>
          </a:xfrm>
          <a:prstGeom prst="straightConnector1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0023B52-CFAC-6FDB-B448-DFE04CB73F56}"/>
              </a:ext>
            </a:extLst>
          </p:cNvPr>
          <p:cNvSpPr txBox="1"/>
          <p:nvPr/>
        </p:nvSpPr>
        <p:spPr>
          <a:xfrm>
            <a:off x="2313279" y="1440201"/>
            <a:ext cx="79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instance</a:t>
            </a:r>
          </a:p>
          <a:p>
            <a:pPr algn="ctr"/>
            <a:r>
              <a:rPr lang="en-US" sz="1400" dirty="0"/>
              <a:t>Of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E4B9C3-E0CB-7353-1512-1E09F2A488EC}"/>
              </a:ext>
            </a:extLst>
          </p:cNvPr>
          <p:cNvSpPr/>
          <p:nvPr/>
        </p:nvSpPr>
        <p:spPr>
          <a:xfrm>
            <a:off x="982362" y="3237471"/>
            <a:ext cx="1241854" cy="5189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Teacher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4A025-6A74-4EAF-1CCA-AFC6C44747D1}"/>
              </a:ext>
            </a:extLst>
          </p:cNvPr>
          <p:cNvSpPr/>
          <p:nvPr/>
        </p:nvSpPr>
        <p:spPr>
          <a:xfrm>
            <a:off x="3144795" y="2963307"/>
            <a:ext cx="1241854" cy="1067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Sally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ysClr val="windowText" lastClr="000000"/>
              </a:solidFill>
            </a:endParaRPr>
          </a:p>
          <a:p>
            <a:r>
              <a:rPr lang="en-US" sz="1200" dirty="0">
                <a:solidFill>
                  <a:sysClr val="windowText" lastClr="000000"/>
                </a:solidFill>
              </a:rPr>
              <a:t>name: “Sally”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age:     25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subject: “Math”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515FF5F-3EBA-25BF-E018-599805C21EC4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>
            <a:off x="2224216" y="3496963"/>
            <a:ext cx="920579" cy="0"/>
          </a:xfrm>
          <a:prstGeom prst="straightConnector1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0ACE43A-DC80-AB1E-D763-D96CE1E67930}"/>
              </a:ext>
            </a:extLst>
          </p:cNvPr>
          <p:cNvSpPr txBox="1"/>
          <p:nvPr/>
        </p:nvSpPr>
        <p:spPr>
          <a:xfrm>
            <a:off x="2313279" y="3231931"/>
            <a:ext cx="79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instance</a:t>
            </a:r>
          </a:p>
          <a:p>
            <a:pPr algn="ctr"/>
            <a:r>
              <a:rPr lang="en-US" sz="1400" dirty="0"/>
              <a:t>Of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84A51C-720F-557B-AE6A-866A39591058}"/>
              </a:ext>
            </a:extLst>
          </p:cNvPr>
          <p:cNvCxnSpPr>
            <a:cxnSpLocks/>
          </p:cNvCxnSpPr>
          <p:nvPr/>
        </p:nvCxnSpPr>
        <p:spPr>
          <a:xfrm flipV="1">
            <a:off x="1640357" y="1963421"/>
            <a:ext cx="0" cy="1268510"/>
          </a:xfrm>
          <a:prstGeom prst="straightConnector1">
            <a:avLst/>
          </a:prstGeom>
          <a:noFill/>
          <a:ln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B7AAA1-E032-D15D-4D76-DB2EC0056091}"/>
              </a:ext>
            </a:extLst>
          </p:cNvPr>
          <p:cNvSpPr txBox="1"/>
          <p:nvPr/>
        </p:nvSpPr>
        <p:spPr>
          <a:xfrm rot="5400000">
            <a:off x="1269130" y="2320125"/>
            <a:ext cx="79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subclassof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2689EE8-717F-56DF-64F7-1BB23656A5DE}"/>
              </a:ext>
            </a:extLst>
          </p:cNvPr>
          <p:cNvSpPr/>
          <p:nvPr/>
        </p:nvSpPr>
        <p:spPr>
          <a:xfrm>
            <a:off x="982362" y="5295507"/>
            <a:ext cx="1241854" cy="5189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Student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8C72B1-C14A-6DBB-7C4B-7410FD6FC341}"/>
              </a:ext>
            </a:extLst>
          </p:cNvPr>
          <p:cNvSpPr/>
          <p:nvPr/>
        </p:nvSpPr>
        <p:spPr>
          <a:xfrm>
            <a:off x="3144795" y="5021343"/>
            <a:ext cx="1241854" cy="1067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Billy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ysClr val="windowText" lastClr="000000"/>
              </a:solidFill>
            </a:endParaRPr>
          </a:p>
          <a:p>
            <a:r>
              <a:rPr lang="en-US" sz="1200" dirty="0">
                <a:solidFill>
                  <a:sysClr val="windowText" lastClr="000000"/>
                </a:solidFill>
              </a:rPr>
              <a:t>name: “Billy”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age:     15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95CAF9-8BEA-EE09-B36F-25C2107DD8A4}"/>
              </a:ext>
            </a:extLst>
          </p:cNvPr>
          <p:cNvCxnSpPr>
            <a:cxnSpLocks/>
            <a:stCxn id="20" idx="1"/>
            <a:endCxn id="19" idx="3"/>
          </p:cNvCxnSpPr>
          <p:nvPr/>
        </p:nvCxnSpPr>
        <p:spPr>
          <a:xfrm flipH="1">
            <a:off x="2224216" y="5554999"/>
            <a:ext cx="920579" cy="0"/>
          </a:xfrm>
          <a:prstGeom prst="straightConnector1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06C18D-CD7B-226B-C524-5A69117B32A5}"/>
              </a:ext>
            </a:extLst>
          </p:cNvPr>
          <p:cNvSpPr txBox="1"/>
          <p:nvPr/>
        </p:nvSpPr>
        <p:spPr>
          <a:xfrm>
            <a:off x="2313279" y="5289967"/>
            <a:ext cx="79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instance</a:t>
            </a:r>
          </a:p>
          <a:p>
            <a:pPr algn="ctr"/>
            <a:r>
              <a:rPr lang="en-US" sz="1400" dirty="0"/>
              <a:t>Of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BDC008-30D3-05D1-3A02-A4A1674F12BC}"/>
              </a:ext>
            </a:extLst>
          </p:cNvPr>
          <p:cNvSpPr txBox="1"/>
          <p:nvPr/>
        </p:nvSpPr>
        <p:spPr>
          <a:xfrm rot="5400000">
            <a:off x="386403" y="4378161"/>
            <a:ext cx="79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subclassof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D96BE47-10EA-036C-54C6-438FBEB7D488}"/>
              </a:ext>
            </a:extLst>
          </p:cNvPr>
          <p:cNvCxnSpPr>
            <a:cxnSpLocks/>
            <a:stCxn id="19" idx="1"/>
            <a:endCxn id="7" idx="2"/>
          </p:cNvCxnSpPr>
          <p:nvPr/>
        </p:nvCxnSpPr>
        <p:spPr>
          <a:xfrm rot="10800000" flipH="1">
            <a:off x="982361" y="1964725"/>
            <a:ext cx="620927" cy="3590275"/>
          </a:xfrm>
          <a:prstGeom prst="curvedConnector4">
            <a:avLst>
              <a:gd name="adj1" fmla="val -36816"/>
              <a:gd name="adj2" fmla="val 75985"/>
            </a:avLst>
          </a:prstGeom>
          <a:noFill/>
          <a:ln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0DCF81-14FD-31AE-2D53-54471DEF9907}"/>
              </a:ext>
            </a:extLst>
          </p:cNvPr>
          <p:cNvSpPr/>
          <p:nvPr/>
        </p:nvSpPr>
        <p:spPr>
          <a:xfrm>
            <a:off x="6952763" y="1445741"/>
            <a:ext cx="1473515" cy="5189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RootClass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E48FAA-EBF7-CE8A-87DB-14D13363956B}"/>
              </a:ext>
            </a:extLst>
          </p:cNvPr>
          <p:cNvSpPr/>
          <p:nvPr/>
        </p:nvSpPr>
        <p:spPr>
          <a:xfrm>
            <a:off x="9346857" y="1171577"/>
            <a:ext cx="1241854" cy="1067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Instance1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ysClr val="windowText" lastClr="000000"/>
              </a:solidFill>
            </a:endParaRPr>
          </a:p>
          <a:p>
            <a:r>
              <a:rPr lang="en-US" sz="1200" dirty="0">
                <a:solidFill>
                  <a:sysClr val="windowText" lastClr="000000"/>
                </a:solidFill>
              </a:rPr>
              <a:t>name: “John”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age:     36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87BF9F-0590-9900-5FCA-5E7FCDD46972}"/>
              </a:ext>
            </a:extLst>
          </p:cNvPr>
          <p:cNvCxnSpPr>
            <a:cxnSpLocks/>
            <a:stCxn id="10" idx="1"/>
            <a:endCxn id="6" idx="3"/>
          </p:cNvCxnSpPr>
          <p:nvPr/>
        </p:nvCxnSpPr>
        <p:spPr>
          <a:xfrm flipH="1">
            <a:off x="8426278" y="1705233"/>
            <a:ext cx="920579" cy="0"/>
          </a:xfrm>
          <a:prstGeom prst="straightConnector1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9AEF314-D681-4836-A259-66DA1B2C258F}"/>
              </a:ext>
            </a:extLst>
          </p:cNvPr>
          <p:cNvSpPr txBox="1"/>
          <p:nvPr/>
        </p:nvSpPr>
        <p:spPr>
          <a:xfrm>
            <a:off x="8515341" y="1440201"/>
            <a:ext cx="79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instance</a:t>
            </a:r>
          </a:p>
          <a:p>
            <a:pPr algn="ctr"/>
            <a:r>
              <a:rPr lang="en-US" sz="1400" dirty="0"/>
              <a:t>Of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4329C7-188D-A211-73F7-980C83D14B69}"/>
              </a:ext>
            </a:extLst>
          </p:cNvPr>
          <p:cNvSpPr/>
          <p:nvPr/>
        </p:nvSpPr>
        <p:spPr>
          <a:xfrm>
            <a:off x="9346857" y="2963307"/>
            <a:ext cx="1241854" cy="1067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Instance01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ysClr val="windowText" lastClr="000000"/>
              </a:solidFill>
            </a:endParaRPr>
          </a:p>
          <a:p>
            <a:r>
              <a:rPr lang="en-US" sz="1200" dirty="0">
                <a:solidFill>
                  <a:sysClr val="windowText" lastClr="000000"/>
                </a:solidFill>
              </a:rPr>
              <a:t>name: “Sally”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age:     25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subject: “Math”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428D54-E3C4-4DCE-B11C-A0E9F1F61057}"/>
              </a:ext>
            </a:extLst>
          </p:cNvPr>
          <p:cNvCxnSpPr>
            <a:cxnSpLocks/>
            <a:stCxn id="25" idx="1"/>
            <a:endCxn id="18" idx="3"/>
          </p:cNvCxnSpPr>
          <p:nvPr/>
        </p:nvCxnSpPr>
        <p:spPr>
          <a:xfrm flipH="1">
            <a:off x="8426278" y="3496963"/>
            <a:ext cx="920579" cy="0"/>
          </a:xfrm>
          <a:prstGeom prst="straightConnector1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6A41697-B2D9-4E97-8C27-157B1BA59488}"/>
              </a:ext>
            </a:extLst>
          </p:cNvPr>
          <p:cNvSpPr txBox="1"/>
          <p:nvPr/>
        </p:nvSpPr>
        <p:spPr>
          <a:xfrm>
            <a:off x="8515341" y="3231931"/>
            <a:ext cx="79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instance</a:t>
            </a:r>
          </a:p>
          <a:p>
            <a:pPr algn="ctr"/>
            <a:r>
              <a:rPr lang="en-US" sz="1400" dirty="0"/>
              <a:t>Of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F250B7-0AF9-613F-653A-935F2A10EC4B}"/>
              </a:ext>
            </a:extLst>
          </p:cNvPr>
          <p:cNvCxnSpPr>
            <a:cxnSpLocks/>
          </p:cNvCxnSpPr>
          <p:nvPr/>
        </p:nvCxnSpPr>
        <p:spPr>
          <a:xfrm flipV="1">
            <a:off x="7842419" y="1963421"/>
            <a:ext cx="0" cy="1268510"/>
          </a:xfrm>
          <a:prstGeom prst="straightConnector1">
            <a:avLst/>
          </a:prstGeom>
          <a:noFill/>
          <a:ln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015A76-A150-B0EF-EAE3-5B515722103A}"/>
              </a:ext>
            </a:extLst>
          </p:cNvPr>
          <p:cNvSpPr txBox="1"/>
          <p:nvPr/>
        </p:nvSpPr>
        <p:spPr>
          <a:xfrm rot="5400000">
            <a:off x="7471192" y="2320125"/>
            <a:ext cx="79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subclassof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95F1CE3-7B10-99A4-7F85-C69F530C8317}"/>
              </a:ext>
            </a:extLst>
          </p:cNvPr>
          <p:cNvSpPr/>
          <p:nvPr/>
        </p:nvSpPr>
        <p:spPr>
          <a:xfrm>
            <a:off x="6952763" y="5295507"/>
            <a:ext cx="1473515" cy="5189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SubClass02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0ED68A-D69E-A430-5FF7-12766BE60F54}"/>
              </a:ext>
            </a:extLst>
          </p:cNvPr>
          <p:cNvSpPr/>
          <p:nvPr/>
        </p:nvSpPr>
        <p:spPr>
          <a:xfrm>
            <a:off x="9346857" y="5021343"/>
            <a:ext cx="1241854" cy="1067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Instance01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ysClr val="windowText" lastClr="000000"/>
              </a:solidFill>
            </a:endParaRPr>
          </a:p>
          <a:p>
            <a:r>
              <a:rPr lang="en-US" sz="1200" dirty="0">
                <a:solidFill>
                  <a:sysClr val="windowText" lastClr="000000"/>
                </a:solidFill>
              </a:rPr>
              <a:t>name: “Billy”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age:     15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C04746-8265-D921-6D24-1A9D26F7CD6C}"/>
              </a:ext>
            </a:extLst>
          </p:cNvPr>
          <p:cNvCxnSpPr>
            <a:cxnSpLocks/>
            <a:stCxn id="31" idx="1"/>
            <a:endCxn id="30" idx="3"/>
          </p:cNvCxnSpPr>
          <p:nvPr/>
        </p:nvCxnSpPr>
        <p:spPr>
          <a:xfrm flipH="1">
            <a:off x="8426278" y="5554999"/>
            <a:ext cx="920579" cy="0"/>
          </a:xfrm>
          <a:prstGeom prst="straightConnector1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FFFBDF4-D305-C9DE-8DC1-C5C5AA461D47}"/>
              </a:ext>
            </a:extLst>
          </p:cNvPr>
          <p:cNvSpPr txBox="1"/>
          <p:nvPr/>
        </p:nvSpPr>
        <p:spPr>
          <a:xfrm>
            <a:off x="8515341" y="5289967"/>
            <a:ext cx="79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instance</a:t>
            </a:r>
          </a:p>
          <a:p>
            <a:pPr algn="ctr"/>
            <a:r>
              <a:rPr lang="en-US" sz="1400" dirty="0"/>
              <a:t>Of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E1D377-5211-7DD6-44FA-B9C1373B54FF}"/>
              </a:ext>
            </a:extLst>
          </p:cNvPr>
          <p:cNvSpPr txBox="1"/>
          <p:nvPr/>
        </p:nvSpPr>
        <p:spPr>
          <a:xfrm rot="5400000">
            <a:off x="6324629" y="4150580"/>
            <a:ext cx="79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subclassof</a:t>
            </a:r>
          </a:p>
        </p:txBody>
      </p:sp>
      <p:cxnSp>
        <p:nvCxnSpPr>
          <p:cNvPr id="35" name="Straight Arrow Connector 23">
            <a:extLst>
              <a:ext uri="{FF2B5EF4-FFF2-40B4-BE49-F238E27FC236}">
                <a16:creationId xmlns:a16="http://schemas.microsoft.com/office/drawing/2014/main" id="{11431B26-F121-B980-6B88-C09C1A3DB155}"/>
              </a:ext>
            </a:extLst>
          </p:cNvPr>
          <p:cNvCxnSpPr>
            <a:cxnSpLocks/>
            <a:stCxn id="30" idx="1"/>
            <a:endCxn id="6" idx="2"/>
          </p:cNvCxnSpPr>
          <p:nvPr/>
        </p:nvCxnSpPr>
        <p:spPr>
          <a:xfrm rot="10800000" flipH="1">
            <a:off x="6952763" y="1964725"/>
            <a:ext cx="736758" cy="3590275"/>
          </a:xfrm>
          <a:prstGeom prst="curvedConnector4">
            <a:avLst>
              <a:gd name="adj1" fmla="val -31028"/>
              <a:gd name="adj2" fmla="val 72027"/>
            </a:avLst>
          </a:prstGeom>
          <a:noFill/>
          <a:ln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D3FA45-075E-A4F4-11E8-FDB9B595FCA9}"/>
              </a:ext>
            </a:extLst>
          </p:cNvPr>
          <p:cNvSpPr/>
          <p:nvPr/>
        </p:nvSpPr>
        <p:spPr>
          <a:xfrm>
            <a:off x="6952763" y="3237471"/>
            <a:ext cx="1473515" cy="518983"/>
          </a:xfrm>
          <a:prstGeom prst="roundRect">
            <a:avLst/>
          </a:prstGeom>
          <a:solidFill>
            <a:srgbClr val="FFFFFF">
              <a:alpha val="8784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SubClass01</a:t>
            </a:r>
          </a:p>
        </p:txBody>
      </p:sp>
    </p:spTree>
    <p:extLst>
      <p:ext uri="{BB962C8B-B14F-4D97-AF65-F5344CB8AC3E}">
        <p14:creationId xmlns:p14="http://schemas.microsoft.com/office/powerpoint/2010/main" val="2325174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598B-67A4-118C-5A1C-A69714D6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908324-BA1D-553E-7661-D6378278346B}"/>
              </a:ext>
            </a:extLst>
          </p:cNvPr>
          <p:cNvSpPr/>
          <p:nvPr/>
        </p:nvSpPr>
        <p:spPr>
          <a:xfrm>
            <a:off x="982362" y="1445741"/>
            <a:ext cx="1241854" cy="5189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Person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8EA48E-C63E-A09B-BB56-764E64F49A6F}"/>
              </a:ext>
            </a:extLst>
          </p:cNvPr>
          <p:cNvSpPr/>
          <p:nvPr/>
        </p:nvSpPr>
        <p:spPr>
          <a:xfrm>
            <a:off x="3144794" y="1171577"/>
            <a:ext cx="1661077" cy="1067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John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ysClr val="windowText" lastClr="000000"/>
              </a:solidFill>
            </a:endParaRPr>
          </a:p>
          <a:p>
            <a:r>
              <a:rPr lang="en-US" sz="1200" dirty="0">
                <a:solidFill>
                  <a:sysClr val="windowText" lastClr="000000"/>
                </a:solidFill>
              </a:rPr>
              <a:t>name: “John”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age:     36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children: [Billy, Mary]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6A751D-ED16-2BF0-D3F5-B820A69DB389}"/>
              </a:ext>
            </a:extLst>
          </p:cNvPr>
          <p:cNvCxnSpPr>
            <a:cxnSpLocks/>
            <a:stCxn id="9" idx="1"/>
            <a:endCxn id="7" idx="3"/>
          </p:cNvCxnSpPr>
          <p:nvPr/>
        </p:nvCxnSpPr>
        <p:spPr>
          <a:xfrm flipH="1">
            <a:off x="2224216" y="1705233"/>
            <a:ext cx="9205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0023B52-CFAC-6FDB-B448-DFE04CB73F56}"/>
              </a:ext>
            </a:extLst>
          </p:cNvPr>
          <p:cNvSpPr txBox="1"/>
          <p:nvPr/>
        </p:nvSpPr>
        <p:spPr>
          <a:xfrm>
            <a:off x="2313279" y="1440201"/>
            <a:ext cx="79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instance</a:t>
            </a:r>
          </a:p>
          <a:p>
            <a:pPr algn="ctr"/>
            <a:r>
              <a:rPr lang="en-US" sz="1400" dirty="0"/>
              <a:t>Of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2689EE8-717F-56DF-64F7-1BB23656A5DE}"/>
              </a:ext>
            </a:extLst>
          </p:cNvPr>
          <p:cNvSpPr/>
          <p:nvPr/>
        </p:nvSpPr>
        <p:spPr>
          <a:xfrm>
            <a:off x="982362" y="4807414"/>
            <a:ext cx="1241854" cy="5189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Student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8C72B1-C14A-6DBB-7C4B-7410FD6FC341}"/>
              </a:ext>
            </a:extLst>
          </p:cNvPr>
          <p:cNvSpPr/>
          <p:nvPr/>
        </p:nvSpPr>
        <p:spPr>
          <a:xfrm>
            <a:off x="3144795" y="4533250"/>
            <a:ext cx="1241854" cy="1067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ysClr val="windowText" lastClr="000000"/>
              </a:solidFill>
            </a:endParaRPr>
          </a:p>
          <a:p>
            <a:r>
              <a:rPr lang="en-US" sz="1200" dirty="0">
                <a:solidFill>
                  <a:sysClr val="windowText" lastClr="000000"/>
                </a:solidFill>
              </a:rPr>
              <a:t>name: “Mary”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age:     15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95CAF9-8BEA-EE09-B36F-25C2107DD8A4}"/>
              </a:ext>
            </a:extLst>
          </p:cNvPr>
          <p:cNvCxnSpPr>
            <a:cxnSpLocks/>
            <a:stCxn id="20" idx="1"/>
            <a:endCxn id="19" idx="3"/>
          </p:cNvCxnSpPr>
          <p:nvPr/>
        </p:nvCxnSpPr>
        <p:spPr>
          <a:xfrm flipH="1">
            <a:off x="2224216" y="5066906"/>
            <a:ext cx="9205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06C18D-CD7B-226B-C524-5A69117B32A5}"/>
              </a:ext>
            </a:extLst>
          </p:cNvPr>
          <p:cNvSpPr txBox="1"/>
          <p:nvPr/>
        </p:nvSpPr>
        <p:spPr>
          <a:xfrm>
            <a:off x="2313279" y="4801874"/>
            <a:ext cx="79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instance</a:t>
            </a:r>
          </a:p>
          <a:p>
            <a:pPr algn="ctr"/>
            <a:r>
              <a:rPr lang="en-US" sz="1400" dirty="0"/>
              <a:t>Of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BDC008-30D3-05D1-3A02-A4A1674F12BC}"/>
              </a:ext>
            </a:extLst>
          </p:cNvPr>
          <p:cNvSpPr txBox="1"/>
          <p:nvPr/>
        </p:nvSpPr>
        <p:spPr>
          <a:xfrm rot="5400000">
            <a:off x="386403" y="3890068"/>
            <a:ext cx="79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subclassof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D96BE47-10EA-036C-54C6-438FBEB7D488}"/>
              </a:ext>
            </a:extLst>
          </p:cNvPr>
          <p:cNvCxnSpPr>
            <a:cxnSpLocks/>
            <a:stCxn id="19" idx="1"/>
            <a:endCxn id="7" idx="2"/>
          </p:cNvCxnSpPr>
          <p:nvPr/>
        </p:nvCxnSpPr>
        <p:spPr>
          <a:xfrm rot="10800000" flipH="1">
            <a:off x="982361" y="1964724"/>
            <a:ext cx="620927" cy="3102182"/>
          </a:xfrm>
          <a:prstGeom prst="curvedConnector4">
            <a:avLst>
              <a:gd name="adj1" fmla="val -36816"/>
              <a:gd name="adj2" fmla="val 541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A3E2EBD-85C8-3CC7-BC88-07DA7A2EF93F}"/>
              </a:ext>
            </a:extLst>
          </p:cNvPr>
          <p:cNvSpPr/>
          <p:nvPr/>
        </p:nvSpPr>
        <p:spPr>
          <a:xfrm>
            <a:off x="3144795" y="3190470"/>
            <a:ext cx="1241854" cy="1067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u="sng" dirty="0">
                <a:solidFill>
                  <a:sysClr val="windowText" lastClr="000000"/>
                </a:solidFill>
              </a:rPr>
              <a:t>Billy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ysClr val="windowText" lastClr="000000"/>
              </a:solidFill>
            </a:endParaRPr>
          </a:p>
          <a:p>
            <a:r>
              <a:rPr lang="en-US" sz="1200" dirty="0">
                <a:solidFill>
                  <a:sysClr val="windowText" lastClr="000000"/>
                </a:solidFill>
              </a:rPr>
              <a:t>name: “Billy”</a:t>
            </a:r>
          </a:p>
          <a:p>
            <a:r>
              <a:rPr lang="en-US" sz="1200" dirty="0">
                <a:solidFill>
                  <a:sysClr val="windowText" lastClr="000000"/>
                </a:solidFill>
              </a:rPr>
              <a:t>age:     15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DA62E9-C3B9-DF7D-B070-CC9500AA5954}"/>
              </a:ext>
            </a:extLst>
          </p:cNvPr>
          <p:cNvCxnSpPr>
            <a:cxnSpLocks/>
            <a:stCxn id="17" idx="1"/>
            <a:endCxn id="19" idx="3"/>
          </p:cNvCxnSpPr>
          <p:nvPr/>
        </p:nvCxnSpPr>
        <p:spPr>
          <a:xfrm rot="10800000" flipV="1">
            <a:off x="2224217" y="3724126"/>
            <a:ext cx="920579" cy="1342780"/>
          </a:xfrm>
          <a:prstGeom prst="bentConnector3">
            <a:avLst>
              <a:gd name="adj1" fmla="val 828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F63BFD9-A0C0-F836-7A6D-753ACF51BD48}"/>
              </a:ext>
            </a:extLst>
          </p:cNvPr>
          <p:cNvSpPr txBox="1"/>
          <p:nvPr/>
        </p:nvSpPr>
        <p:spPr>
          <a:xfrm>
            <a:off x="2313279" y="3459094"/>
            <a:ext cx="794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instance</a:t>
            </a:r>
          </a:p>
          <a:p>
            <a:pPr algn="ctr"/>
            <a:r>
              <a:rPr lang="en-US" sz="1400" dirty="0"/>
              <a:t>Of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B95C47-99CF-55E1-6926-CCEFAD875E5E}"/>
              </a:ext>
            </a:extLst>
          </p:cNvPr>
          <p:cNvSpPr txBox="1"/>
          <p:nvPr/>
        </p:nvSpPr>
        <p:spPr>
          <a:xfrm rot="5400000">
            <a:off x="4327184" y="3564614"/>
            <a:ext cx="79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child</a:t>
            </a:r>
          </a:p>
          <a:p>
            <a:pPr algn="ctr"/>
            <a:r>
              <a:rPr lang="en-US" sz="1400" dirty="0"/>
              <a:t>of</a:t>
            </a:r>
          </a:p>
        </p:txBody>
      </p:sp>
      <p:cxnSp>
        <p:nvCxnSpPr>
          <p:cNvPr id="31" name="Straight Arrow Connector 23">
            <a:extLst>
              <a:ext uri="{FF2B5EF4-FFF2-40B4-BE49-F238E27FC236}">
                <a16:creationId xmlns:a16="http://schemas.microsoft.com/office/drawing/2014/main" id="{4202E0DE-8AA6-1FF1-3620-101D5ACA81AA}"/>
              </a:ext>
            </a:extLst>
          </p:cNvPr>
          <p:cNvCxnSpPr>
            <a:cxnSpLocks/>
            <a:stCxn id="17" idx="3"/>
            <a:endCxn id="9" idx="2"/>
          </p:cNvCxnSpPr>
          <p:nvPr/>
        </p:nvCxnSpPr>
        <p:spPr>
          <a:xfrm flipH="1" flipV="1">
            <a:off x="3975333" y="2238889"/>
            <a:ext cx="411316" cy="1485237"/>
          </a:xfrm>
          <a:prstGeom prst="curvedConnector4">
            <a:avLst>
              <a:gd name="adj1" fmla="val -55578"/>
              <a:gd name="adj2" fmla="val 679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23">
            <a:extLst>
              <a:ext uri="{FF2B5EF4-FFF2-40B4-BE49-F238E27FC236}">
                <a16:creationId xmlns:a16="http://schemas.microsoft.com/office/drawing/2014/main" id="{3C896AC4-D7AA-64C5-3716-46697A388838}"/>
              </a:ext>
            </a:extLst>
          </p:cNvPr>
          <p:cNvCxnSpPr>
            <a:cxnSpLocks/>
            <a:stCxn id="20" idx="3"/>
            <a:endCxn id="9" idx="2"/>
          </p:cNvCxnSpPr>
          <p:nvPr/>
        </p:nvCxnSpPr>
        <p:spPr>
          <a:xfrm flipH="1" flipV="1">
            <a:off x="3975333" y="2238889"/>
            <a:ext cx="411316" cy="2828017"/>
          </a:xfrm>
          <a:prstGeom prst="curvedConnector4">
            <a:avLst>
              <a:gd name="adj1" fmla="val -88624"/>
              <a:gd name="adj2" fmla="val 825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2C441BF-D051-98FF-B7DD-AFEF42A0F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1" y="768351"/>
            <a:ext cx="4082521" cy="541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66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15FAE-3E9E-6F33-447A-C5108461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F2CC7-D519-BC06-DBD9-8B7595B80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/>
          <a:lstStyle/>
          <a:p>
            <a:r>
              <a:rPr lang="en-US" dirty="0"/>
              <a:t>Classes vs. Dictionaries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27A840-FFCE-3C65-CA4C-B3EBBD62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027" y="1171576"/>
            <a:ext cx="3712822" cy="51968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D716A9-395E-BB6C-151B-9A7F522E2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07" y="998872"/>
            <a:ext cx="6319369" cy="568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57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ADDF3E-772A-7BA4-61DC-6F02DCDF9519}"/>
              </a:ext>
            </a:extLst>
          </p:cNvPr>
          <p:cNvSpPr/>
          <p:nvPr/>
        </p:nvSpPr>
        <p:spPr>
          <a:xfrm>
            <a:off x="3684373" y="2704071"/>
            <a:ext cx="2759676" cy="21830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373F-034D-F32C-90C0-D92609D32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rhinoscript</a:t>
            </a:r>
            <a:r>
              <a:rPr lang="en-US" dirty="0"/>
              <a:t> functions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1497F9-4D8E-8ABB-0754-05C26FDDC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36" y="1000898"/>
            <a:ext cx="1855321" cy="51905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C452F0-066F-1AA5-80E8-088176EF9ED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52563" y="885659"/>
            <a:ext cx="4418940" cy="278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07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38909E-FBB6-AE8F-1A7C-2C33D328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514"/>
          </a:xfrm>
        </p:spPr>
        <p:txBody>
          <a:bodyPr>
            <a:normAutofit fontScale="90000"/>
          </a:bodyPr>
          <a:lstStyle/>
          <a:p>
            <a:r>
              <a:rPr lang="en-US" dirty="0"/>
              <a:t>Interesting namespaces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539605-1A36-3E98-638B-AB9753634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67" y="982640"/>
            <a:ext cx="3242195" cy="5745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A1841C-1485-968C-7C91-21A09D985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422" y="982640"/>
            <a:ext cx="3497021" cy="256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027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373F-034D-F32C-90C0-D92609D32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380"/>
            <a:ext cx="10515600" cy="635772"/>
          </a:xfrm>
        </p:spPr>
        <p:txBody>
          <a:bodyPr>
            <a:normAutofit fontScale="90000"/>
          </a:bodyPr>
          <a:lstStyle/>
          <a:p>
            <a:r>
              <a:rPr lang="en-US" dirty="0"/>
              <a:t>Rhino common object 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0D256-07B7-88A6-2FA4-33D29E4C2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222" y="1129674"/>
            <a:ext cx="7138116" cy="55692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6C6D81-0270-7A9A-189E-27FE323C8549}"/>
              </a:ext>
            </a:extLst>
          </p:cNvPr>
          <p:cNvSpPr txBox="1"/>
          <p:nvPr/>
        </p:nvSpPr>
        <p:spPr>
          <a:xfrm>
            <a:off x="838200" y="7603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https://developer.rhino3d.com/api/rhinocommon/?version=8.x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4861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373F-034D-F32C-90C0-D92609D32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</p:spPr>
        <p:txBody>
          <a:bodyPr>
            <a:normAutofit fontScale="90000"/>
          </a:bodyPr>
          <a:lstStyle/>
          <a:p>
            <a:r>
              <a:rPr lang="en-US" dirty="0"/>
              <a:t>Rhino common: basic geometries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2D3EB8-79CC-1018-02E1-16BB774E9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21" y="1000898"/>
            <a:ext cx="6416987" cy="574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05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53521-DE76-0127-C63D-6A99D6BFE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DDA92-25AB-1DC5-7184-16AC23A00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749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AddObject</a:t>
            </a:r>
            <a:r>
              <a:rPr lang="en-US" dirty="0"/>
              <a:t> – 2 ways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9B8654-6B56-65D2-0263-E009849B6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13" y="852616"/>
            <a:ext cx="10724987" cy="58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0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5238-0376-88C1-39B3-9167A14D6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E30D5-C079-2B00-D931-DB30CBC18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749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AddObject</a:t>
            </a:r>
            <a:r>
              <a:rPr lang="en-US" dirty="0"/>
              <a:t> – 2 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83292-2F21-0462-D190-9A469FCA93A7}"/>
              </a:ext>
            </a:extLst>
          </p:cNvPr>
          <p:cNvSpPr txBox="1"/>
          <p:nvPr/>
        </p:nvSpPr>
        <p:spPr>
          <a:xfrm>
            <a:off x="781050" y="1484963"/>
            <a:ext cx="60960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#! python3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Rhino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rhinoscriptsyntax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scriptcontext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System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Guid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 = Rhino.Geometry.Point3d(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radius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AddCircle_common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Rhino.Geometry.Circle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(center, radius)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scriptcontext.doc.Objects.AddCircle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(c)!=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Guid.Empty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scriptcontext.doc.Views.Redraw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Rhino.Commands.Result.Success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Rhino.Commands.Result.Failure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AddCircle_rs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rs.AddCircle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(center, radius)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Guid.Empty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Rhino.Commands.Result.Success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Rhino.Commands.Result.Failure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AddCircle_common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   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AddCircle_rs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5ACEF6-F25E-429C-D77B-52D312E9B583}"/>
              </a:ext>
            </a:extLst>
          </p:cNvPr>
          <p:cNvSpPr txBox="1"/>
          <p:nvPr/>
        </p:nvSpPr>
        <p:spPr>
          <a:xfrm>
            <a:off x="781050" y="9841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AddCircle.01.RS vs Common.py</a:t>
            </a:r>
          </a:p>
        </p:txBody>
      </p:sp>
    </p:spTree>
    <p:extLst>
      <p:ext uri="{BB962C8B-B14F-4D97-AF65-F5344CB8AC3E}">
        <p14:creationId xmlns:p14="http://schemas.microsoft.com/office/powerpoint/2010/main" val="4132976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5890F-6007-D709-4A4F-1D3EA747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9332C-9038-4F9C-468B-737A274C6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749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AddObject</a:t>
            </a:r>
            <a:r>
              <a:rPr lang="en-US" dirty="0"/>
              <a:t> – 2 ways – speed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E3BF3-C3FF-EFCC-F022-DCDABA5A968B}"/>
              </a:ext>
            </a:extLst>
          </p:cNvPr>
          <p:cNvSpPr txBox="1"/>
          <p:nvPr/>
        </p:nvSpPr>
        <p:spPr>
          <a:xfrm>
            <a:off x="781050" y="9841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Comparison.RS vs Common.py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128DB-6B59-21FF-091A-3E7AD275D899}"/>
              </a:ext>
            </a:extLst>
          </p:cNvPr>
          <p:cNvSpPr txBox="1"/>
          <p:nvPr/>
        </p:nvSpPr>
        <p:spPr>
          <a:xfrm>
            <a:off x="666750" y="1353455"/>
            <a:ext cx="717232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#! python3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"""Testing pip install specific packages"""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r: 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numpy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rhinoscriptsyntax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scriptcontext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System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System.Collections.Generic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Rhino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random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math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time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xCount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yCount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zCount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xScale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yScale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zScale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rSphere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MakeSpheres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isCommon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redraw =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for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xCount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for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yCount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for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zCount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isCommon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sc.doc.Objects.AddSphere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Rhino.Geometry.Sphere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\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(Rhino.Geometry.Point3d(x *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xScale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xOffset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 *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yScale,z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zScale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rSphere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(redraw): 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sc.doc.Views.Redraw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       else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rs.AddSphere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((x *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xScale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xOffset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 *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yScale,z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zScale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rSphere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328922-8FB9-B4B5-4D99-565BEDB0FFBB}"/>
              </a:ext>
            </a:extLst>
          </p:cNvPr>
          <p:cNvSpPr txBox="1"/>
          <p:nvPr/>
        </p:nvSpPr>
        <p:spPr>
          <a:xfrm>
            <a:off x="5876925" y="1044321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xOffset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time0 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time.time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MakeSpheres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time1 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time.time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elapsedTime0 = time1 - time0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xOffset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xCount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xScale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MakeSpheres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time2 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time.time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elapsedTime1 = time2 - time1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xOffset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xCount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xScale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MakeSpheres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time3 =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time.time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elapsedTime2 = time3 - time2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"Times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common without redraw: {elapsedTime0}, common with redraw: </a:t>
            </a:r>
          </a:p>
          <a:p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	{elapsedTime1}, 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rhinoscript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{elapsedTime2}"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5777B-F6E3-1725-A37F-CC9821D78B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78" t="24243" r="4734" b="14350"/>
          <a:stretch/>
        </p:blipFill>
        <p:spPr>
          <a:xfrm>
            <a:off x="8277225" y="4502211"/>
            <a:ext cx="3543300" cy="23557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24A3E4-2A55-2C46-CC72-AAB3DC8ACA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880" b="-37148"/>
          <a:stretch/>
        </p:blipFill>
        <p:spPr>
          <a:xfrm>
            <a:off x="390525" y="6430444"/>
            <a:ext cx="5013325" cy="2656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4B01B4-6ED4-2F03-6A58-2438E0ED7E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745" b="-8202"/>
          <a:stretch/>
        </p:blipFill>
        <p:spPr>
          <a:xfrm>
            <a:off x="371475" y="6648445"/>
            <a:ext cx="7102475" cy="20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905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9D669-3CC3-18A1-691B-E953E7957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6DE4-F849-1943-79A9-96DB215A6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749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AddObject</a:t>
            </a:r>
            <a:r>
              <a:rPr lang="en-US" dirty="0"/>
              <a:t> with attributes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B325F-7A62-7A41-EDB0-0EE58A73AC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9" t="15822" r="26820"/>
          <a:stretch/>
        </p:blipFill>
        <p:spPr>
          <a:xfrm>
            <a:off x="892791" y="852616"/>
            <a:ext cx="5356585" cy="1992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EEE3D5-1FC9-DBFC-3927-8D13E2F71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974" y="852616"/>
            <a:ext cx="5936026" cy="59640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5B7898-BF59-31E1-9FAF-26648086C3BC}"/>
              </a:ext>
            </a:extLst>
          </p:cNvPr>
          <p:cNvSpPr txBox="1"/>
          <p:nvPr/>
        </p:nvSpPr>
        <p:spPr>
          <a:xfrm>
            <a:off x="6175419" y="146392"/>
            <a:ext cx="6097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https://developer.rhino3d.com/api/rhinocommon/rhino.docobjects.objectattributes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9243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059FE-63D2-DB19-477B-45F6F68F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6D7350-9CD5-7A0B-0C90-A874EDE0B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258064"/>
              </p:ext>
            </p:extLst>
          </p:nvPr>
        </p:nvGraphicFramePr>
        <p:xfrm>
          <a:off x="752376" y="180969"/>
          <a:ext cx="2232123" cy="6480558"/>
        </p:xfrm>
        <a:graphic>
          <a:graphicData uri="http://schemas.openxmlformats.org/drawingml/2006/table">
            <a:tbl>
              <a:tblPr/>
              <a:tblGrid>
                <a:gridCol w="2232123">
                  <a:extLst>
                    <a:ext uri="{9D8B030D-6E8A-4147-A177-3AD203B41FA5}">
                      <a16:colId xmlns:a16="http://schemas.microsoft.com/office/drawing/2014/main" val="714122773"/>
                    </a:ext>
                  </a:extLst>
                </a:gridCol>
              </a:tblGrid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SampleAddRadialDimension.py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258538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sng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SampleAddRenderMaterials.py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198229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sng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SampleAppearanceColors.py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096007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SampleArrayCrv.py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06940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SampleBlockLeader.py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128601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SampleBoxSpaceMorph.py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68227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SampleCircleRadius.py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658473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SampleCreateFromLoftRebuild.py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41192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SampleCurvature.py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076664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SampleCurveDirConduit.py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344710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SampleCurveDivideByCount.py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368199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sng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SampleDescribeObject.py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037722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sng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SampleDeselectObjects.py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644657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SampleDraftAngleCurves.py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9671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SampleDrawBrepEdges.py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384310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SampleDrawExtrudedCurves.py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509547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SampleDrawMeshConduit.py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762763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sng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SampleDumpInstanceDefinition.py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423953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SampleDupSeam.py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774731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SampleEditPoints.py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054010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SampleEtoCollapsibleDialog.py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73105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SampleEtoColorDropDown.py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121150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SampleEtoDialog.py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476292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SampleEtoListBoxDialog.py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684334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SampleEtoModelessForm.py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767337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SampleEtoPushPickButtonDialog.py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456384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SampleEtoRebuildCurve.py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64209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SampleEtoTabbedDialog.py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111349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SampleEtoViewCaptureDialog.py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062735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SampleEtoViewports.py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207981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sng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SampleEventHandler.py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490904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SampleExportCurvesAsJSON.py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636898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SampleExportStep.py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855236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SampleExportUTF8.py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419337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SampleFibonacciSphere.py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85680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SampleGardenPath.py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71247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SampleGetArc.py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136789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SampleGetLiteralString.py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4995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E55D63-FD26-0CF9-3649-0C741007F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643485"/>
              </p:ext>
            </p:extLst>
          </p:nvPr>
        </p:nvGraphicFramePr>
        <p:xfrm>
          <a:off x="3362226" y="180969"/>
          <a:ext cx="2829024" cy="6310017"/>
        </p:xfrm>
        <a:graphic>
          <a:graphicData uri="http://schemas.openxmlformats.org/drawingml/2006/table">
            <a:tbl>
              <a:tblPr/>
              <a:tblGrid>
                <a:gridCol w="2829024">
                  <a:extLst>
                    <a:ext uri="{9D8B030D-6E8A-4147-A177-3AD203B41FA5}">
                      <a16:colId xmlns:a16="http://schemas.microsoft.com/office/drawing/2014/main" val="714122773"/>
                    </a:ext>
                  </a:extLst>
                </a:gridCol>
              </a:tblGrid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SampleGetPolyline.py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448449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SampleGetSpecificObjectGrip.py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055488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SampleGridViewDialog.py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484735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SampleImportNamedViews.py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303160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SampleMake2dSnapshots.py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401529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SampleMirrorWithHistory.py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704735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SampleModifyInstanceDef.py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769939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SampleMouseCallback.py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101724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SampleMove.py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650704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SampleMoveBrepEdge.py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466954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SampleMultiplePointsConduit.py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122003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SampleNonRationalNurbsSurface.py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837615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SampleNurbsCurves.py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104364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SampleObjectDescription.py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764273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SampleParseTextFields.py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211758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SamplePlaneSurfaceHoleMaker.py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652892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SamplePointCloudColors.py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702326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SamplePointsOnSphere.py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357866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SampleQuadRemesh.py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342284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SampleRationalNurbsSurface.py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495186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SampleRebuildSrfDeviation.py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096901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SampleRibbonOffsetCurve.py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198460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SampleSerialization.py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038061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SampleSetCameraTarget.py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141402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SampleSetCPlaneToView.py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563524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SampleSetCurveWeight.py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734838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SampleSetDetailsToWireframe.py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602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SampleShowToolbarGroup.py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778070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SampleSphere.py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06470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SampleSphereStyles.py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87642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SampleSynchronizeRenderColors.py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628191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SampleTextBox.py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340587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SampleTextDot.py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852614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SampleTextDotConduit.py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536489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SampleTraverseBrepFace.py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625258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SampleUnroller.py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955463"/>
                  </a:ext>
                </a:extLst>
              </a:tr>
              <a:tr h="5801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SampleViewCaptureToFile.py</a:t>
                      </a:r>
                    </a:p>
                  </a:txBody>
                  <a:tcPr marL="2901" marR="2901" marT="29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88994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EBC0347-3016-E920-79ED-54B302BE9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117" y="680736"/>
            <a:ext cx="6000161" cy="58102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57A0E2-345D-D7E3-9D08-79916BB266DC}"/>
              </a:ext>
            </a:extLst>
          </p:cNvPr>
          <p:cNvSpPr txBox="1"/>
          <p:nvPr/>
        </p:nvSpPr>
        <p:spPr>
          <a:xfrm>
            <a:off x="5835650" y="120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https://github.com/mcneel/rhino-developer-samples</a:t>
            </a:r>
          </a:p>
        </p:txBody>
      </p:sp>
    </p:spTree>
    <p:extLst>
      <p:ext uri="{BB962C8B-B14F-4D97-AF65-F5344CB8AC3E}">
        <p14:creationId xmlns:p14="http://schemas.microsoft.com/office/powerpoint/2010/main" val="1580835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FDED-71B0-3BB3-A28A-61499FBD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6385-569A-0650-CFA0-DAB869290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8012"/>
          </a:xfrm>
        </p:spPr>
        <p:txBody>
          <a:bodyPr>
            <a:normAutofit fontScale="90000"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96875-E8F3-39FA-8414-A4681AB8B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788"/>
            <a:ext cx="10515600" cy="5275175"/>
          </a:xfrm>
        </p:spPr>
        <p:txBody>
          <a:bodyPr/>
          <a:lstStyle/>
          <a:p>
            <a:r>
              <a:rPr lang="en-US" dirty="0"/>
              <a:t>Review W3C Python </a:t>
            </a:r>
            <a:r>
              <a:rPr lang="en-US" dirty="0">
                <a:hlinkClick r:id="rId2"/>
              </a:rPr>
              <a:t>OOP section</a:t>
            </a:r>
            <a:endParaRPr lang="en-US" dirty="0"/>
          </a:p>
          <a:p>
            <a:r>
              <a:rPr lang="en-US" dirty="0"/>
              <a:t>Redo last week’s assignment using rhino common libraries, document differences, compare speed. (defer redraw until the end, remove all intermediate printing)</a:t>
            </a:r>
          </a:p>
          <a:p>
            <a:r>
              <a:rPr lang="en-US" dirty="0"/>
              <a:t>Look at the github </a:t>
            </a:r>
            <a:r>
              <a:rPr lang="en-US" dirty="0">
                <a:hlinkClick r:id="rId3"/>
              </a:rPr>
              <a:t>examples</a:t>
            </a:r>
            <a:r>
              <a:rPr lang="en-US" dirty="0"/>
              <a:t>.</a:t>
            </a:r>
          </a:p>
          <a:p>
            <a:r>
              <a:rPr lang="en-US" dirty="0"/>
              <a:t>Pursue 1 interesting “advanced capability” that </a:t>
            </a:r>
            <a:br>
              <a:rPr lang="en-US" dirty="0"/>
            </a:br>
            <a:r>
              <a:rPr lang="en-US" dirty="0"/>
              <a:t>maybe can’t be done with </a:t>
            </a:r>
            <a:r>
              <a:rPr lang="en-US" dirty="0" err="1"/>
              <a:t>rhinoscript</a:t>
            </a:r>
            <a:r>
              <a:rPr lang="en-US" dirty="0"/>
              <a:t> but can be done with </a:t>
            </a:r>
            <a:r>
              <a:rPr lang="en-US" dirty="0" err="1"/>
              <a:t>rhino.common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significant layer, view, controller, etc. customization.</a:t>
            </a:r>
          </a:p>
        </p:txBody>
      </p:sp>
    </p:spTree>
    <p:extLst>
      <p:ext uri="{BB962C8B-B14F-4D97-AF65-F5344CB8AC3E}">
        <p14:creationId xmlns:p14="http://schemas.microsoft.com/office/powerpoint/2010/main" val="911514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BA0A-41E3-2905-FBFD-5C16EA386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F27D5-8207-6E63-3D7B-803DE40C4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ED046E-3DC4-DCCC-DFAB-9245CC36B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111"/>
            <a:ext cx="12192000" cy="493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40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12259</TotalTime>
  <Words>1618</Words>
  <Application>Microsoft Office PowerPoint</Application>
  <PresentationFormat>Widescreen</PresentationFormat>
  <Paragraphs>367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 Narrow</vt:lpstr>
      <vt:lpstr>Arial</vt:lpstr>
      <vt:lpstr>Calibri</vt:lpstr>
      <vt:lpstr>Calibri Light</vt:lpstr>
      <vt:lpstr>Consolas</vt:lpstr>
      <vt:lpstr>Office Theme</vt:lpstr>
      <vt:lpstr>Design Programming 2 – Class 03</vt:lpstr>
      <vt:lpstr>Schedule</vt:lpstr>
      <vt:lpstr>Today – key concepts</vt:lpstr>
      <vt:lpstr>Basic constructs </vt:lpstr>
      <vt:lpstr>Basic constructs </vt:lpstr>
      <vt:lpstr>Basic constructs </vt:lpstr>
      <vt:lpstr>OOP Example: Animals</vt:lpstr>
      <vt:lpstr>Classes</vt:lpstr>
      <vt:lpstr>Classes</vt:lpstr>
      <vt:lpstr>Classes</vt:lpstr>
      <vt:lpstr>Classes vs. Dictionaries</vt:lpstr>
      <vt:lpstr>rhinoscript functions</vt:lpstr>
      <vt:lpstr>Interesting namespaces</vt:lpstr>
      <vt:lpstr>Rhino common object library</vt:lpstr>
      <vt:lpstr>Rhino common: basic geometries</vt:lpstr>
      <vt:lpstr>AddObject – 2 ways</vt:lpstr>
      <vt:lpstr>AddObject – 2 ways</vt:lpstr>
      <vt:lpstr>AddObject – 2 ways – speed test</vt:lpstr>
      <vt:lpstr>AddObject with attributes</vt:lpstr>
      <vt:lpstr>PowerPoint Presentation</vt:lpstr>
      <vt:lpstr>Assignment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Dennis R. Shelden</dc:creator>
  <cp:lastModifiedBy>Shelden, Dennis Robert</cp:lastModifiedBy>
  <cp:revision>24</cp:revision>
  <dcterms:created xsi:type="dcterms:W3CDTF">2024-01-16T00:17:19Z</dcterms:created>
  <dcterms:modified xsi:type="dcterms:W3CDTF">2026-01-27T21:55:08Z</dcterms:modified>
</cp:coreProperties>
</file>