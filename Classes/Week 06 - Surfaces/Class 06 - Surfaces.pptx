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834" r:id="rId2"/>
    <p:sldId id="738" r:id="rId3"/>
    <p:sldId id="739" r:id="rId4"/>
    <p:sldId id="740" r:id="rId5"/>
    <p:sldId id="741" r:id="rId6"/>
    <p:sldId id="742" r:id="rId7"/>
    <p:sldId id="743" r:id="rId8"/>
    <p:sldId id="835" r:id="rId9"/>
    <p:sldId id="745" r:id="rId10"/>
    <p:sldId id="746" r:id="rId11"/>
    <p:sldId id="747" r:id="rId12"/>
    <p:sldId id="748" r:id="rId13"/>
    <p:sldId id="749" r:id="rId14"/>
    <p:sldId id="836" r:id="rId15"/>
    <p:sldId id="751" r:id="rId16"/>
    <p:sldId id="837" r:id="rId17"/>
    <p:sldId id="838" r:id="rId18"/>
    <p:sldId id="839" r:id="rId19"/>
    <p:sldId id="645" r:id="rId20"/>
    <p:sldId id="646" r:id="rId21"/>
    <p:sldId id="840" r:id="rId22"/>
    <p:sldId id="841" r:id="rId23"/>
    <p:sldId id="842" r:id="rId24"/>
    <p:sldId id="756" r:id="rId25"/>
    <p:sldId id="843" r:id="rId26"/>
    <p:sldId id="662" r:id="rId27"/>
    <p:sldId id="664" r:id="rId28"/>
    <p:sldId id="681" r:id="rId29"/>
    <p:sldId id="682" r:id="rId30"/>
    <p:sldId id="665" r:id="rId31"/>
    <p:sldId id="668" r:id="rId32"/>
    <p:sldId id="666" r:id="rId33"/>
    <p:sldId id="667" r:id="rId34"/>
    <p:sldId id="686" r:id="rId35"/>
    <p:sldId id="687" r:id="rId36"/>
    <p:sldId id="683" r:id="rId37"/>
    <p:sldId id="684" r:id="rId38"/>
    <p:sldId id="585" r:id="rId39"/>
    <p:sldId id="737" r:id="rId40"/>
    <p:sldId id="753" r:id="rId41"/>
    <p:sldId id="754" r:id="rId42"/>
    <p:sldId id="757" r:id="rId43"/>
    <p:sldId id="744" r:id="rId44"/>
    <p:sldId id="761" r:id="rId45"/>
    <p:sldId id="763" r:id="rId46"/>
    <p:sldId id="833" r:id="rId47"/>
    <p:sldId id="771" r:id="rId48"/>
    <p:sldId id="773" r:id="rId49"/>
    <p:sldId id="817" r:id="rId50"/>
    <p:sldId id="818" r:id="rId51"/>
    <p:sldId id="786" r:id="rId52"/>
    <p:sldId id="770" r:id="rId53"/>
    <p:sldId id="787" r:id="rId54"/>
    <p:sldId id="750" r:id="rId55"/>
    <p:sldId id="789" r:id="rId56"/>
    <p:sldId id="814" r:id="rId57"/>
    <p:sldId id="778" r:id="rId58"/>
    <p:sldId id="816" r:id="rId59"/>
    <p:sldId id="791" r:id="rId60"/>
    <p:sldId id="783" r:id="rId61"/>
    <p:sldId id="796" r:id="rId62"/>
    <p:sldId id="798" r:id="rId63"/>
    <p:sldId id="752" r:id="rId64"/>
    <p:sldId id="797" r:id="rId65"/>
    <p:sldId id="804" r:id="rId66"/>
    <p:sldId id="808" r:id="rId67"/>
    <p:sldId id="832" r:id="rId68"/>
    <p:sldId id="799" r:id="rId69"/>
    <p:sldId id="812" r:id="rId70"/>
    <p:sldId id="800" r:id="rId71"/>
    <p:sldId id="802" r:id="rId72"/>
    <p:sldId id="813" r:id="rId73"/>
    <p:sldId id="820" r:id="rId74"/>
    <p:sldId id="830" r:id="rId75"/>
    <p:sldId id="831" r:id="rId7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565"/>
    <a:srgbClr val="008015"/>
    <a:srgbClr val="339933"/>
    <a:srgbClr val="FF0000"/>
    <a:srgbClr val="0A96B2"/>
    <a:srgbClr val="00CCFF"/>
    <a:srgbClr val="5A27D9"/>
    <a:srgbClr val="1529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2178" autoAdjust="0"/>
    <p:restoredTop sz="55786" autoAdjust="0"/>
  </p:normalViewPr>
  <p:slideViewPr>
    <p:cSldViewPr snapToGrid="0">
      <p:cViewPr varScale="1">
        <p:scale>
          <a:sx n="107" d="100"/>
          <a:sy n="107" d="100"/>
        </p:scale>
        <p:origin x="288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848"/>
    </p:cViewPr>
  </p:sorterViewPr>
  <p:gridSpacing cx="45720" cy="4572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80BB9AA-2410-63A7-4BB3-03249CE0459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1C95C9B-53BC-4824-6DC1-873C550BBC9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4ACE802-DA39-73F5-9FA3-E9F210B8B53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DA9A9EBD-599E-5F1C-2505-738DB1A5843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67AFFD94-5D43-B171-8B88-24741C8D707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66DDB5B8-4DCD-1980-EFA3-D198C822CB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46A9BE4-D9AB-409E-A61C-70780BC7C5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A9805C5-10C9-DC0C-A43F-6C098B5A2C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4B3467-E299-4789-A038-CA5988DD38F5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902146" name="Rectangle 2">
            <a:extLst>
              <a:ext uri="{FF2B5EF4-FFF2-40B4-BE49-F238E27FC236}">
                <a16:creationId xmlns:a16="http://schemas.microsoft.com/office/drawing/2014/main" id="{CCCD5E79-6E6F-3B40-08AC-7588455DCF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2147" name="Rectangle 3">
            <a:extLst>
              <a:ext uri="{FF2B5EF4-FFF2-40B4-BE49-F238E27FC236}">
                <a16:creationId xmlns:a16="http://schemas.microsoft.com/office/drawing/2014/main" id="{C80E70B9-8565-789F-D3A6-B2B9D0ACFA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AA21A29-66D7-4AB1-46FA-56DE690D36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3E63B1-ACCD-41F8-9265-F330D03D3590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04194" name="Rectangle 2">
            <a:extLst>
              <a:ext uri="{FF2B5EF4-FFF2-40B4-BE49-F238E27FC236}">
                <a16:creationId xmlns:a16="http://schemas.microsoft.com/office/drawing/2014/main" id="{7F42E151-EED0-890E-9B2C-849525288F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4195" name="Rectangle 3">
            <a:extLst>
              <a:ext uri="{FF2B5EF4-FFF2-40B4-BE49-F238E27FC236}">
                <a16:creationId xmlns:a16="http://schemas.microsoft.com/office/drawing/2014/main" id="{CD7A8E7A-179C-93D9-359F-301E07B11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CE29505-4CC6-4FB9-A115-26C08BA959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76B75A-953A-4BAC-A5F5-2E94B26B842C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906242" name="Rectangle 2">
            <a:extLst>
              <a:ext uri="{FF2B5EF4-FFF2-40B4-BE49-F238E27FC236}">
                <a16:creationId xmlns:a16="http://schemas.microsoft.com/office/drawing/2014/main" id="{70820550-29C4-5BEF-F63A-67B0C2E25E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6243" name="Rectangle 3">
            <a:extLst>
              <a:ext uri="{FF2B5EF4-FFF2-40B4-BE49-F238E27FC236}">
                <a16:creationId xmlns:a16="http://schemas.microsoft.com/office/drawing/2014/main" id="{054C8F75-19B2-7AAB-3627-C515BBFC1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3A41064-8273-43AC-2F9F-3A2A64CBB9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C83E6E-BDB3-4654-9B7F-EBCD78320A9D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908290" name="Rectangle 2">
            <a:extLst>
              <a:ext uri="{FF2B5EF4-FFF2-40B4-BE49-F238E27FC236}">
                <a16:creationId xmlns:a16="http://schemas.microsoft.com/office/drawing/2014/main" id="{322B9D39-9FD1-57C4-388D-2318F38817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>
            <a:extLst>
              <a:ext uri="{FF2B5EF4-FFF2-40B4-BE49-F238E27FC236}">
                <a16:creationId xmlns:a16="http://schemas.microsoft.com/office/drawing/2014/main" id="{D23D2C68-9AD3-C718-8BCA-C7888718C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A8AD5BF-E2ED-E128-3218-29473A26C6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AA75D7-AB3D-4016-998A-2782CA52C368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910338" name="Rectangle 2">
            <a:extLst>
              <a:ext uri="{FF2B5EF4-FFF2-40B4-BE49-F238E27FC236}">
                <a16:creationId xmlns:a16="http://schemas.microsoft.com/office/drawing/2014/main" id="{667F635D-F343-E82F-2EEA-2C4F3CB046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0339" name="Rectangle 3">
            <a:extLst>
              <a:ext uri="{FF2B5EF4-FFF2-40B4-BE49-F238E27FC236}">
                <a16:creationId xmlns:a16="http://schemas.microsoft.com/office/drawing/2014/main" id="{35F1074A-30AB-0BD9-59AB-51E3275B6A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756FE68-DA33-EB3F-698A-6F14EBCB66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4F0EAF-A5FB-424B-9741-CB107C54A68A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912386" name="Rectangle 2">
            <a:extLst>
              <a:ext uri="{FF2B5EF4-FFF2-40B4-BE49-F238E27FC236}">
                <a16:creationId xmlns:a16="http://schemas.microsoft.com/office/drawing/2014/main" id="{306E60DB-E408-AFF3-3897-897B5D2EF1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2387" name="Rectangle 3">
            <a:extLst>
              <a:ext uri="{FF2B5EF4-FFF2-40B4-BE49-F238E27FC236}">
                <a16:creationId xmlns:a16="http://schemas.microsoft.com/office/drawing/2014/main" id="{CB6D5757-6FAF-FDA2-C105-C54C954994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A753ECD-4789-0E3D-087B-0A6CEF18AC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D636E7-DD94-4684-A1C6-9BD35D2C693F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914434" name="Rectangle 2">
            <a:extLst>
              <a:ext uri="{FF2B5EF4-FFF2-40B4-BE49-F238E27FC236}">
                <a16:creationId xmlns:a16="http://schemas.microsoft.com/office/drawing/2014/main" id="{ADA2F9E2-263A-2319-5FEA-1CABD9E882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4435" name="Rectangle 3">
            <a:extLst>
              <a:ext uri="{FF2B5EF4-FFF2-40B4-BE49-F238E27FC236}">
                <a16:creationId xmlns:a16="http://schemas.microsoft.com/office/drawing/2014/main" id="{75BC781F-7295-3EB0-4D93-F94B9A501C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34197B6-F7A3-5D93-C58B-0634BE454B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3ABE35-EDC1-45C4-83B4-2EBEF5EB0D5C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916482" name="Rectangle 2">
            <a:extLst>
              <a:ext uri="{FF2B5EF4-FFF2-40B4-BE49-F238E27FC236}">
                <a16:creationId xmlns:a16="http://schemas.microsoft.com/office/drawing/2014/main" id="{6CA30809-6997-1AFC-EF04-C5D477E733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6483" name="Rectangle 3">
            <a:extLst>
              <a:ext uri="{FF2B5EF4-FFF2-40B4-BE49-F238E27FC236}">
                <a16:creationId xmlns:a16="http://schemas.microsoft.com/office/drawing/2014/main" id="{F2D63456-BF71-C2B4-9F5A-9B6ED8B43D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196E02A-74C8-C629-C130-5E36499387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41250A-C705-4A13-B98B-4B6A1DB8EB0F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918530" name="Rectangle 2">
            <a:extLst>
              <a:ext uri="{FF2B5EF4-FFF2-40B4-BE49-F238E27FC236}">
                <a16:creationId xmlns:a16="http://schemas.microsoft.com/office/drawing/2014/main" id="{56FB32C3-E45E-29FA-9FA1-C13B1F7B38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8531" name="Rectangle 3">
            <a:extLst>
              <a:ext uri="{FF2B5EF4-FFF2-40B4-BE49-F238E27FC236}">
                <a16:creationId xmlns:a16="http://schemas.microsoft.com/office/drawing/2014/main" id="{4DF5C54E-9BD3-FEE5-E3DD-301F0E8B04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A0D9416-B4A1-B632-C1EB-8837DDC0DA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5E8464-9DB4-4D9B-BE87-8AFEDB340FCD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920578" name="Rectangle 2">
            <a:extLst>
              <a:ext uri="{FF2B5EF4-FFF2-40B4-BE49-F238E27FC236}">
                <a16:creationId xmlns:a16="http://schemas.microsoft.com/office/drawing/2014/main" id="{2F63EDC5-10CD-36E9-70C7-9CCF0DE32C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0579" name="Rectangle 3">
            <a:extLst>
              <a:ext uri="{FF2B5EF4-FFF2-40B4-BE49-F238E27FC236}">
                <a16:creationId xmlns:a16="http://schemas.microsoft.com/office/drawing/2014/main" id="{5E0550B8-3883-CE56-DF6E-52794FB71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E9D146A-65CF-AF4E-8ED3-6BFC033802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E7C3D2-3B2A-4323-8086-65A4C3B615E7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922626" name="Rectangle 2">
            <a:extLst>
              <a:ext uri="{FF2B5EF4-FFF2-40B4-BE49-F238E27FC236}">
                <a16:creationId xmlns:a16="http://schemas.microsoft.com/office/drawing/2014/main" id="{EF2BBBFA-BC16-B076-D254-0287BD8265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627" name="Rectangle 3">
            <a:extLst>
              <a:ext uri="{FF2B5EF4-FFF2-40B4-BE49-F238E27FC236}">
                <a16:creationId xmlns:a16="http://schemas.microsoft.com/office/drawing/2014/main" id="{72231448-9B44-B0D4-E996-3CD5CA238F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DB6251E-81D3-4D73-712D-AF9E8836BA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3B84B8-E155-4655-8135-260579150F55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924674" name="Rectangle 2">
            <a:extLst>
              <a:ext uri="{FF2B5EF4-FFF2-40B4-BE49-F238E27FC236}">
                <a16:creationId xmlns:a16="http://schemas.microsoft.com/office/drawing/2014/main" id="{C6DCD9C7-10CF-89EF-F29A-BC333840B7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4675" name="Rectangle 3">
            <a:extLst>
              <a:ext uri="{FF2B5EF4-FFF2-40B4-BE49-F238E27FC236}">
                <a16:creationId xmlns:a16="http://schemas.microsoft.com/office/drawing/2014/main" id="{DECC4713-E041-6DB0-F39A-27C9185160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C9286C9-A030-4762-AF94-0A9A84A94C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42EE3D-36F8-4BF4-97E2-50BAD693454B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926722" name="Rectangle 2">
            <a:extLst>
              <a:ext uri="{FF2B5EF4-FFF2-40B4-BE49-F238E27FC236}">
                <a16:creationId xmlns:a16="http://schemas.microsoft.com/office/drawing/2014/main" id="{F1CA26AF-69EC-423C-C26B-FCB03D2DD1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6723" name="Rectangle 3">
            <a:extLst>
              <a:ext uri="{FF2B5EF4-FFF2-40B4-BE49-F238E27FC236}">
                <a16:creationId xmlns:a16="http://schemas.microsoft.com/office/drawing/2014/main" id="{95A15608-92EE-E360-F91B-CFFD84668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CF09296-7496-5527-9D30-EFB5B0929F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10C776-8C1F-4C2A-9CD2-543F85B1B981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928770" name="Rectangle 2">
            <a:extLst>
              <a:ext uri="{FF2B5EF4-FFF2-40B4-BE49-F238E27FC236}">
                <a16:creationId xmlns:a16="http://schemas.microsoft.com/office/drawing/2014/main" id="{4F3A4503-8824-137A-A24E-1C882665CF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8771" name="Rectangle 3">
            <a:extLst>
              <a:ext uri="{FF2B5EF4-FFF2-40B4-BE49-F238E27FC236}">
                <a16:creationId xmlns:a16="http://schemas.microsoft.com/office/drawing/2014/main" id="{38D78E96-B96D-C0DB-B0E1-A8D39C2648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342C89D-8CD1-3769-E214-94DF841BDE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75DB5F-5E0F-43C7-A543-D8A9ECD43ABD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930818" name="Rectangle 2">
            <a:extLst>
              <a:ext uri="{FF2B5EF4-FFF2-40B4-BE49-F238E27FC236}">
                <a16:creationId xmlns:a16="http://schemas.microsoft.com/office/drawing/2014/main" id="{D975A01F-2E66-FA8E-4B3F-4E5F480F7B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0819" name="Rectangle 3">
            <a:extLst>
              <a:ext uri="{FF2B5EF4-FFF2-40B4-BE49-F238E27FC236}">
                <a16:creationId xmlns:a16="http://schemas.microsoft.com/office/drawing/2014/main" id="{A4B8D8C3-75E1-50FE-FAEF-3F265DD6FF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C32BF55-DA6D-FF2A-33BB-E3949E2263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E40A2B-42DD-4855-854C-12A2655F2FA6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932866" name="Rectangle 2">
            <a:extLst>
              <a:ext uri="{FF2B5EF4-FFF2-40B4-BE49-F238E27FC236}">
                <a16:creationId xmlns:a16="http://schemas.microsoft.com/office/drawing/2014/main" id="{49F01D4D-C664-1C2E-9BF9-376D06344B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2867" name="Rectangle 3">
            <a:extLst>
              <a:ext uri="{FF2B5EF4-FFF2-40B4-BE49-F238E27FC236}">
                <a16:creationId xmlns:a16="http://schemas.microsoft.com/office/drawing/2014/main" id="{999CF84A-3A05-4FCE-40E8-A6103003A6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8DA247F-FD43-754E-6B95-E567B4DC88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6F4A3A-518D-42E5-A86F-F9F333071D71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934914" name="Rectangle 2">
            <a:extLst>
              <a:ext uri="{FF2B5EF4-FFF2-40B4-BE49-F238E27FC236}">
                <a16:creationId xmlns:a16="http://schemas.microsoft.com/office/drawing/2014/main" id="{AAAB157A-A47A-433C-2386-7F629124B8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4915" name="Rectangle 3">
            <a:extLst>
              <a:ext uri="{FF2B5EF4-FFF2-40B4-BE49-F238E27FC236}">
                <a16:creationId xmlns:a16="http://schemas.microsoft.com/office/drawing/2014/main" id="{AAD500AE-6243-8E5A-F5A6-D7C5A2D682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E12BE6C-0CB3-E644-92CA-C8329F029F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449F84-7FB8-4255-9D24-62D934B42295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936962" name="Rectangle 2">
            <a:extLst>
              <a:ext uri="{FF2B5EF4-FFF2-40B4-BE49-F238E27FC236}">
                <a16:creationId xmlns:a16="http://schemas.microsoft.com/office/drawing/2014/main" id="{241D88B8-3D97-9928-F911-48E7D3376D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6963" name="Rectangle 3">
            <a:extLst>
              <a:ext uri="{FF2B5EF4-FFF2-40B4-BE49-F238E27FC236}">
                <a16:creationId xmlns:a16="http://schemas.microsoft.com/office/drawing/2014/main" id="{F91C37A1-E23B-5E98-DEF9-09017B0BB6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0E78E2A-0D8F-34DE-E19A-EB0DC5E310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87B540-550D-49B1-A30F-212151B6BBBF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697346" name="Rectangle 2">
            <a:extLst>
              <a:ext uri="{FF2B5EF4-FFF2-40B4-BE49-F238E27FC236}">
                <a16:creationId xmlns:a16="http://schemas.microsoft.com/office/drawing/2014/main" id="{8B3AA506-3BF6-ACE5-7B20-1E32E4843E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7347" name="Rectangle 3">
            <a:extLst>
              <a:ext uri="{FF2B5EF4-FFF2-40B4-BE49-F238E27FC236}">
                <a16:creationId xmlns:a16="http://schemas.microsoft.com/office/drawing/2014/main" id="{B0A2898D-ADEA-C0A3-5BA7-031D5E32FA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925F27D-3E3F-7C60-0EDE-0055D5C3E0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7C88BC-2725-422F-A08B-32F522B73F7A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699394" name="Rectangle 2">
            <a:extLst>
              <a:ext uri="{FF2B5EF4-FFF2-40B4-BE49-F238E27FC236}">
                <a16:creationId xmlns:a16="http://schemas.microsoft.com/office/drawing/2014/main" id="{C00797FE-8750-58A9-B343-9B54D37424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9395" name="Rectangle 3">
            <a:extLst>
              <a:ext uri="{FF2B5EF4-FFF2-40B4-BE49-F238E27FC236}">
                <a16:creationId xmlns:a16="http://schemas.microsoft.com/office/drawing/2014/main" id="{54F5C227-FBC3-F709-2FD5-8D7BDBAD94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278DDC1-3F41-C836-9ECC-97E3A2B616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67060F-38F6-481E-BBFD-132AC68AA463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027074" name="Rectangle 2">
            <a:extLst>
              <a:ext uri="{FF2B5EF4-FFF2-40B4-BE49-F238E27FC236}">
                <a16:creationId xmlns:a16="http://schemas.microsoft.com/office/drawing/2014/main" id="{F4C6E28B-3754-D97F-BD79-3529CE8F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7075" name="Rectangle 3">
            <a:extLst>
              <a:ext uri="{FF2B5EF4-FFF2-40B4-BE49-F238E27FC236}">
                <a16:creationId xmlns:a16="http://schemas.microsoft.com/office/drawing/2014/main" id="{721E2802-371B-3ACA-5C9B-24CE598AF5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70D6E33-C716-31E6-497E-EC885CA0D2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F91365-B427-41D8-9992-F9F3EF1D166E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025026" name="Rectangle 2">
            <a:extLst>
              <a:ext uri="{FF2B5EF4-FFF2-40B4-BE49-F238E27FC236}">
                <a16:creationId xmlns:a16="http://schemas.microsoft.com/office/drawing/2014/main" id="{CD141CC7-B03B-ADD6-8DF5-2218A3FB8E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5027" name="Rectangle 3">
            <a:extLst>
              <a:ext uri="{FF2B5EF4-FFF2-40B4-BE49-F238E27FC236}">
                <a16:creationId xmlns:a16="http://schemas.microsoft.com/office/drawing/2014/main" id="{D78C9C37-35A9-E223-5F11-244FEA21FC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FDA28D2-EFA2-F485-6545-D11F9E4A51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C0F9CC-4BD7-4C96-8AF7-0112DA589137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939010" name="Rectangle 2">
            <a:extLst>
              <a:ext uri="{FF2B5EF4-FFF2-40B4-BE49-F238E27FC236}">
                <a16:creationId xmlns:a16="http://schemas.microsoft.com/office/drawing/2014/main" id="{E4DC5EA0-5E72-0114-3BB8-224BF32369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9011" name="Rectangle 3">
            <a:extLst>
              <a:ext uri="{FF2B5EF4-FFF2-40B4-BE49-F238E27FC236}">
                <a16:creationId xmlns:a16="http://schemas.microsoft.com/office/drawing/2014/main" id="{574CAC5E-089C-C408-B665-85ED9E83D7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1A1E5C2-3001-19B9-C7FA-B2B3EE3B0C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1FBB13-7575-417E-998B-1B63A4415B2D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941058" name="Rectangle 2">
            <a:extLst>
              <a:ext uri="{FF2B5EF4-FFF2-40B4-BE49-F238E27FC236}">
                <a16:creationId xmlns:a16="http://schemas.microsoft.com/office/drawing/2014/main" id="{4FFE9A59-9F15-8F68-F7C5-47965F74CA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1059" name="Rectangle 3">
            <a:extLst>
              <a:ext uri="{FF2B5EF4-FFF2-40B4-BE49-F238E27FC236}">
                <a16:creationId xmlns:a16="http://schemas.microsoft.com/office/drawing/2014/main" id="{BC4014E7-6A00-5430-778E-C4703422B0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F4EDFA8-344D-B1F1-06EA-D86D43DCB3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5C8F2E-4BF6-4B66-A8BD-F972D7C5A5DE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943106" name="Rectangle 2">
            <a:extLst>
              <a:ext uri="{FF2B5EF4-FFF2-40B4-BE49-F238E27FC236}">
                <a16:creationId xmlns:a16="http://schemas.microsoft.com/office/drawing/2014/main" id="{39C90C1E-5760-70EA-54E5-4CDA1928CE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3107" name="Rectangle 3">
            <a:extLst>
              <a:ext uri="{FF2B5EF4-FFF2-40B4-BE49-F238E27FC236}">
                <a16:creationId xmlns:a16="http://schemas.microsoft.com/office/drawing/2014/main" id="{887BB690-DB5C-9EB2-F11B-1F77BF1900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231374B-5AE4-1CEB-2D76-30F5ADF9CC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239DA0-4A95-4358-8E4E-4F6877AB06CF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735234" name="Rectangle 2">
            <a:extLst>
              <a:ext uri="{FF2B5EF4-FFF2-40B4-BE49-F238E27FC236}">
                <a16:creationId xmlns:a16="http://schemas.microsoft.com/office/drawing/2014/main" id="{D1A335D5-B99E-B9C9-4D47-E791EF0255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5235" name="Rectangle 3">
            <a:extLst>
              <a:ext uri="{FF2B5EF4-FFF2-40B4-BE49-F238E27FC236}">
                <a16:creationId xmlns:a16="http://schemas.microsoft.com/office/drawing/2014/main" id="{64C0C73F-BD26-AB3F-B0EF-F1D777C65B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646B58F-7CDD-D9F6-2E70-3DD3094EC0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BD7FB6-91C9-4125-8AFB-9F372F36699D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739330" name="Rectangle 2">
            <a:extLst>
              <a:ext uri="{FF2B5EF4-FFF2-40B4-BE49-F238E27FC236}">
                <a16:creationId xmlns:a16="http://schemas.microsoft.com/office/drawing/2014/main" id="{A6CC2233-125C-A474-B28A-6419A5F504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9331" name="Rectangle 3">
            <a:extLst>
              <a:ext uri="{FF2B5EF4-FFF2-40B4-BE49-F238E27FC236}">
                <a16:creationId xmlns:a16="http://schemas.microsoft.com/office/drawing/2014/main" id="{750EC2C6-914A-2904-6427-C6FAE62503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137A863-CFB2-E0E2-B1ED-82E6030407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BA97ED-8E9E-4B6E-AB61-FF2E68681FD3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775170" name="Rectangle 2">
            <a:extLst>
              <a:ext uri="{FF2B5EF4-FFF2-40B4-BE49-F238E27FC236}">
                <a16:creationId xmlns:a16="http://schemas.microsoft.com/office/drawing/2014/main" id="{9C636121-C4DE-8E1D-8B20-2328EAAF4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5171" name="Rectangle 3">
            <a:extLst>
              <a:ext uri="{FF2B5EF4-FFF2-40B4-BE49-F238E27FC236}">
                <a16:creationId xmlns:a16="http://schemas.microsoft.com/office/drawing/2014/main" id="{C6CE04A9-5E5A-F50E-C6EB-EF83A2D817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F657A56-1BC3-95D9-0A25-901780CAB5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72650F-AFEC-443F-B04E-02176E36A526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777218" name="Rectangle 2">
            <a:extLst>
              <a:ext uri="{FF2B5EF4-FFF2-40B4-BE49-F238E27FC236}">
                <a16:creationId xmlns:a16="http://schemas.microsoft.com/office/drawing/2014/main" id="{C39DDD88-2D98-BA53-AD50-F3C7ACA22E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7219" name="Rectangle 3">
            <a:extLst>
              <a:ext uri="{FF2B5EF4-FFF2-40B4-BE49-F238E27FC236}">
                <a16:creationId xmlns:a16="http://schemas.microsoft.com/office/drawing/2014/main" id="{B6B67DF0-8152-03CC-0035-723284FB67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176D62D-D7FC-3706-916C-36E5EF9212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0E4428-59DB-419A-B833-F879F75CBEDE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741378" name="Rectangle 2">
            <a:extLst>
              <a:ext uri="{FF2B5EF4-FFF2-40B4-BE49-F238E27FC236}">
                <a16:creationId xmlns:a16="http://schemas.microsoft.com/office/drawing/2014/main" id="{DB68A940-B7A7-4F80-891E-1CDE18C467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1379" name="Rectangle 3">
            <a:extLst>
              <a:ext uri="{FF2B5EF4-FFF2-40B4-BE49-F238E27FC236}">
                <a16:creationId xmlns:a16="http://schemas.microsoft.com/office/drawing/2014/main" id="{6244E605-5426-09D8-D997-B5059F8C7E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A8065CD-8B80-EF53-874F-E6603F6476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1B1B48-DDDB-4218-9EE1-A5575878BC97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747522" name="Rectangle 2">
            <a:extLst>
              <a:ext uri="{FF2B5EF4-FFF2-40B4-BE49-F238E27FC236}">
                <a16:creationId xmlns:a16="http://schemas.microsoft.com/office/drawing/2014/main" id="{4051AE8B-A7E9-E846-1237-82BF4F22D9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23" name="Rectangle 3">
            <a:extLst>
              <a:ext uri="{FF2B5EF4-FFF2-40B4-BE49-F238E27FC236}">
                <a16:creationId xmlns:a16="http://schemas.microsoft.com/office/drawing/2014/main" id="{0BB2D004-A9A8-8388-A6C8-6C9991A5E7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820C851-CEDB-4A61-5E49-31BAC5A310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59DD5D-D6F5-4CB0-A04F-8BA79FF65219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743426" name="Rectangle 2">
            <a:extLst>
              <a:ext uri="{FF2B5EF4-FFF2-40B4-BE49-F238E27FC236}">
                <a16:creationId xmlns:a16="http://schemas.microsoft.com/office/drawing/2014/main" id="{0C3A3743-7C62-48AE-C751-750EB9B244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3427" name="Rectangle 3">
            <a:extLst>
              <a:ext uri="{FF2B5EF4-FFF2-40B4-BE49-F238E27FC236}">
                <a16:creationId xmlns:a16="http://schemas.microsoft.com/office/drawing/2014/main" id="{B62743F4-A934-B056-A12D-EB5772DC0D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F7B6860-22C2-75AE-7ED6-2E25866453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73071A-C37A-4C90-BA16-88F6EDB2CCE3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745474" name="Rectangle 2">
            <a:extLst>
              <a:ext uri="{FF2B5EF4-FFF2-40B4-BE49-F238E27FC236}">
                <a16:creationId xmlns:a16="http://schemas.microsoft.com/office/drawing/2014/main" id="{E98E2F1A-AC95-52A5-44B5-4B2E362BDF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5475" name="Rectangle 3">
            <a:extLst>
              <a:ext uri="{FF2B5EF4-FFF2-40B4-BE49-F238E27FC236}">
                <a16:creationId xmlns:a16="http://schemas.microsoft.com/office/drawing/2014/main" id="{662978A2-15C6-E7CC-B308-DF86815558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79CE9D6-321F-3C29-0C0C-C381D1BEFC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3DC159-F5D0-4AA5-88E0-F0AD9DD9A533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789506" name="Rectangle 2">
            <a:extLst>
              <a:ext uri="{FF2B5EF4-FFF2-40B4-BE49-F238E27FC236}">
                <a16:creationId xmlns:a16="http://schemas.microsoft.com/office/drawing/2014/main" id="{5BBF5C82-A23F-C596-DEF5-25B117A83C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9507" name="Rectangle 3">
            <a:extLst>
              <a:ext uri="{FF2B5EF4-FFF2-40B4-BE49-F238E27FC236}">
                <a16:creationId xmlns:a16="http://schemas.microsoft.com/office/drawing/2014/main" id="{E5A5D03B-2694-6EE9-0166-3C521E6B9A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4DD9A4F-CA60-0CC9-7F63-D7DA17F9AD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FBC8A0-90C3-4015-86D1-53C61C14B7FB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791554" name="Rectangle 2">
            <a:extLst>
              <a:ext uri="{FF2B5EF4-FFF2-40B4-BE49-F238E27FC236}">
                <a16:creationId xmlns:a16="http://schemas.microsoft.com/office/drawing/2014/main" id="{5278B1AB-131D-D0B7-0A87-5958F3FDA9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1555" name="Rectangle 3">
            <a:extLst>
              <a:ext uri="{FF2B5EF4-FFF2-40B4-BE49-F238E27FC236}">
                <a16:creationId xmlns:a16="http://schemas.microsoft.com/office/drawing/2014/main" id="{92902BA0-FE8B-20B7-8442-018FBA62BD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DE95DCA-125B-81A9-B937-AF7549D17A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A8E54C-F701-49C2-B9BA-E2796B4313DB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780290" name="Rectangle 2">
            <a:extLst>
              <a:ext uri="{FF2B5EF4-FFF2-40B4-BE49-F238E27FC236}">
                <a16:creationId xmlns:a16="http://schemas.microsoft.com/office/drawing/2014/main" id="{7FCA2F67-18F6-8326-DDCF-8ED01E58B0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0291" name="Rectangle 3">
            <a:extLst>
              <a:ext uri="{FF2B5EF4-FFF2-40B4-BE49-F238E27FC236}">
                <a16:creationId xmlns:a16="http://schemas.microsoft.com/office/drawing/2014/main" id="{F294108A-387F-CB98-BB47-87C10AA7E8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9947629-E160-80A5-FF31-63DCC69B54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A3B710-BC9C-4E42-9735-DB5102A2E619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782338" name="Rectangle 2">
            <a:extLst>
              <a:ext uri="{FF2B5EF4-FFF2-40B4-BE49-F238E27FC236}">
                <a16:creationId xmlns:a16="http://schemas.microsoft.com/office/drawing/2014/main" id="{488CE477-C449-B60E-E2E0-AF759B4CBC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2339" name="Rectangle 3">
            <a:extLst>
              <a:ext uri="{FF2B5EF4-FFF2-40B4-BE49-F238E27FC236}">
                <a16:creationId xmlns:a16="http://schemas.microsoft.com/office/drawing/2014/main" id="{35E86C5F-10CA-39A6-AAA3-A450F18939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207540B-6A99-B903-5052-88099FB2DF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53C49B-A7E0-4CAF-ACEA-CCE253AE8EE2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583682" name="Rectangle 2">
            <a:extLst>
              <a:ext uri="{FF2B5EF4-FFF2-40B4-BE49-F238E27FC236}">
                <a16:creationId xmlns:a16="http://schemas.microsoft.com/office/drawing/2014/main" id="{886ABF41-1F77-1B6C-FDB1-2E4D2EDB9F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683" name="Rectangle 3">
            <a:extLst>
              <a:ext uri="{FF2B5EF4-FFF2-40B4-BE49-F238E27FC236}">
                <a16:creationId xmlns:a16="http://schemas.microsoft.com/office/drawing/2014/main" id="{F4ADC8EC-B257-02E6-D032-909CF57157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78E59135-FB9E-28CA-CA20-C84867967D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8FF5C46-9AFB-40B4-A725-F0D77CAF3A38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CDB8B61-0F81-7952-6616-95B9BECACE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90890343-68BB-3E76-AA7E-2004E4E90C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22354F9E-9F03-A2AE-1447-42A22A18CE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8526D4A-87A2-4847-9AF1-5FCE18B89A70}" type="slidenum">
              <a:rPr lang="en-US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29D31ED6-5FFE-17D2-F977-562F674300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230AF55C-EC65-A73C-950D-5C1CFB8F26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0FFC9DD3-2ECB-D59B-2B32-238ABDF592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2705A8B-2876-4C8A-B5A2-AE12A0AE4A79}" type="slidenum">
              <a:rPr lang="en-US" altLang="en-US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B9A0D7BA-0485-04CE-835A-AA3AFF9D57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2E61E96D-F703-5FC7-F178-18412C2B80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3EBAB648-988D-BF2D-E30A-BE119F4D3C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6138327-1F4E-45B4-9293-EC5DE0179992}" type="slidenum">
              <a:rPr lang="en-US" altLang="en-US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253DC00A-7ABC-F8C7-9362-545036289C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9241820-4BCA-268F-B17E-4DC2759CF9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C19876C0-566C-EA2E-F3A8-8835D03842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1ACBD95-3443-4358-8C5C-B261BD83D97A}" type="slidenum">
              <a:rPr lang="en-US" altLang="en-US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D4327E9-7B79-5A30-0B87-10D4318390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3FC800F-85BB-8A08-E4A2-80CD0CD561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CFA4407-8BA4-66B3-E791-A14C4827DA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692E3AF-617B-4D6C-8C03-AEB54933038C}" type="slidenum">
              <a:rPr lang="en-US" altLang="en-US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5180DC4-81E4-B697-901D-362C84D07E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9EC87F8A-FB33-9F67-3AB5-57D8445FD4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B63CFC51-074B-75E5-9568-287FB6EF04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B8A8042-3EE8-449E-B755-19C97738EB26}" type="slidenum">
              <a:rPr lang="en-US" altLang="en-US"/>
              <a:pPr>
                <a:spcBef>
                  <a:spcPct val="0"/>
                </a:spcBef>
              </a:pPr>
              <a:t>45</a:t>
            </a:fld>
            <a:endParaRPr lang="en-US" alt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6E93266-4157-A65A-6606-914F05636F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947D7A03-3E1A-0786-960B-AFA52D88B7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A62037F5-C1A2-A1D5-A78E-7D0F53A59F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7CDF3E1-4E60-4D1D-8B13-2430B0363AD2}" type="slidenum">
              <a:rPr lang="en-US" altLang="en-US"/>
              <a:pPr>
                <a:spcBef>
                  <a:spcPct val="0"/>
                </a:spcBef>
              </a:pPr>
              <a:t>46</a:t>
            </a:fld>
            <a:endParaRPr lang="en-US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6D906D7-4CEB-6DFF-2AF3-EEBC6CB6F4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D67CE8AE-E3E6-F993-C543-9CEA443AD3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A4D6F7C0-10E3-092F-1849-8C846D3DE7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7B66192-8523-4F25-8FCC-9CCDC7988D1E}" type="slidenum">
              <a:rPr lang="en-US" altLang="en-US"/>
              <a:pPr>
                <a:spcBef>
                  <a:spcPct val="0"/>
                </a:spcBef>
              </a:pPr>
              <a:t>47</a:t>
            </a:fld>
            <a:endParaRPr lang="en-US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870B794-2689-144F-F335-EAB0B9D2E8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4C2A3F35-B2B4-4B47-522A-B250C07F03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02E505AE-E032-0055-BB8F-02CBE384E1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CFEF7C-FF13-4322-888D-BB25EAB81EF7}" type="slidenum">
              <a:rPr lang="en-US" altLang="en-US"/>
              <a:pPr>
                <a:spcBef>
                  <a:spcPct val="0"/>
                </a:spcBef>
              </a:pPr>
              <a:t>48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47D178BD-2D4E-164C-FAAF-7EAFF64FBB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900F908-33B6-F675-33A8-79F5605125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F39DF56-7E4A-0BFE-4A54-C214AE4258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1698593-3F8D-4D9C-AA2F-5936DB595AE7}" type="slidenum">
              <a:rPr lang="en-US" altLang="en-US"/>
              <a:pPr>
                <a:spcBef>
                  <a:spcPct val="0"/>
                </a:spcBef>
              </a:pPr>
              <a:t>49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F174E1BF-BBC3-865E-9A58-2DA9543AFD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CED4D65D-8761-0B5F-3CA3-864C60F826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8D0AC1C1-DE02-893C-E6C6-430CE824D2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734517-659D-4187-A26A-9D33675A3068}" type="slidenum">
              <a:rPr lang="en-US" altLang="en-US"/>
              <a:pPr>
                <a:spcBef>
                  <a:spcPct val="0"/>
                </a:spcBef>
              </a:pPr>
              <a:t>50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A1AF3E7-2AE7-704F-72EC-AE4E6806A0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984EF744-25E8-CCDE-A42D-F2A351BA95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A268E430-B0C7-CED3-EBE6-1E7E6D0157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C980177-7E10-4E2F-A1E6-7B26F2D0CE12}" type="slidenum">
              <a:rPr lang="en-US" altLang="en-US"/>
              <a:pPr>
                <a:spcBef>
                  <a:spcPct val="0"/>
                </a:spcBef>
              </a:pPr>
              <a:t>51</a:t>
            </a:fld>
            <a:endParaRPr lang="en-US" alt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3C6080A5-2316-A7DF-FF18-18EECFBC63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E5634CA3-9DCD-EA44-E7AD-B8F22CB63D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F5ACE8CD-CD32-972E-2BEF-A60FB7822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8B84267-9E26-42F3-8C0A-1B805B850373}" type="slidenum">
              <a:rPr lang="en-US" altLang="en-US"/>
              <a:pPr>
                <a:spcBef>
                  <a:spcPct val="0"/>
                </a:spcBef>
              </a:pPr>
              <a:t>52</a:t>
            </a:fld>
            <a:endParaRPr lang="en-US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A8FC7FCD-F27D-10C5-6523-D70F33B3FE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AB2684E-9B9C-B841-4611-22E59651F7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4B47E1CF-9E4C-D580-9770-B3DC914171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A810B47-5DB8-4D89-9D2F-D8D6A695BA1F}" type="slidenum">
              <a:rPr lang="en-US" altLang="en-US"/>
              <a:pPr>
                <a:spcBef>
                  <a:spcPct val="0"/>
                </a:spcBef>
              </a:pPr>
              <a:t>53</a:t>
            </a:fld>
            <a:endParaRPr lang="en-US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F8A20412-913C-6F39-8C26-2099DC179C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79D8D917-F5B0-626D-3CCC-39BC2F8871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17A6A5B6-A257-09BE-88B6-34A86613FB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174A0B3-CFB6-424C-BA9A-2C2E7EA0B01C}" type="slidenum">
              <a:rPr lang="en-US" altLang="en-US"/>
              <a:pPr>
                <a:spcBef>
                  <a:spcPct val="0"/>
                </a:spcBef>
              </a:pPr>
              <a:t>54</a:t>
            </a:fld>
            <a:endParaRPr lang="en-US" altLang="en-US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38E53B27-DB87-F554-31FF-4D3F461530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12501C3B-EDC8-E6AC-F3A6-9C9EC2E280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89F64A33-38D0-3F70-90FD-16A81F9D81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58374DE-F37D-4324-AD9C-572627413D70}" type="slidenum">
              <a:rPr lang="en-US" altLang="en-US"/>
              <a:pPr>
                <a:spcBef>
                  <a:spcPct val="0"/>
                </a:spcBef>
              </a:pPr>
              <a:t>55</a:t>
            </a:fld>
            <a:endParaRPr lang="en-US" alt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917B2CD0-4072-FFCA-7054-68DEE80529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514E3404-B1CC-20C3-DCE5-C7C69255CC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6BDFD715-AF6C-1815-C28B-C59C4F1E98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ADC4AE3-3923-4014-97FA-642CE2E3DB92}" type="slidenum">
              <a:rPr lang="en-US" altLang="en-US"/>
              <a:pPr>
                <a:spcBef>
                  <a:spcPct val="0"/>
                </a:spcBef>
              </a:pPr>
              <a:t>56</a:t>
            </a:fld>
            <a:endParaRPr lang="en-US" altLang="en-US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206244B7-DFA9-6035-9940-D1F1685DC4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A12CDC98-EDE8-8734-5D2E-8D2029524B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BF81F27A-DA32-D3C4-E665-F9C431971B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0EF1074-C0BA-4115-B299-8825229B2DEE}" type="slidenum">
              <a:rPr lang="en-US" altLang="en-US"/>
              <a:pPr>
                <a:spcBef>
                  <a:spcPct val="0"/>
                </a:spcBef>
              </a:pPr>
              <a:t>57</a:t>
            </a:fld>
            <a:endParaRPr lang="en-US" altLang="en-US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B4EB1402-EC5C-522C-86B2-CF10E47858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240A8D9F-D34F-A924-E1AE-E62ACBFAA0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3036E0F4-7B6F-9B8B-4859-E88EA37418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C818FA1-949C-41A5-82F9-A774D9E2FF1D}" type="slidenum">
              <a:rPr lang="en-US" altLang="en-US"/>
              <a:pPr>
                <a:spcBef>
                  <a:spcPct val="0"/>
                </a:spcBef>
              </a:pPr>
              <a:t>58</a:t>
            </a:fld>
            <a:endParaRPr lang="en-US" altLang="en-US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C5BD13A7-857D-BF06-C838-F63C4A3880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0D86EF9A-1C37-5F68-8E18-20D7E3F43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5BC81A37-0317-122F-C326-40FEB3CC4F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D0DF1B-6C5E-4234-A22E-3A1C5FE250DC}" type="slidenum">
              <a:rPr lang="en-US" altLang="en-US"/>
              <a:pPr>
                <a:spcBef>
                  <a:spcPct val="0"/>
                </a:spcBef>
              </a:pPr>
              <a:t>59</a:t>
            </a:fld>
            <a:endParaRPr lang="en-US" altLang="en-US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96051C27-F4F1-74C4-3147-9765081D04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EF10E822-D343-AC80-4E34-DE4E95653E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DFE13263-26D7-260F-180C-B42169F748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868085-88D7-4D9F-B552-372B712D20AC}" type="slidenum">
              <a:rPr lang="en-US" altLang="en-US"/>
              <a:pPr>
                <a:spcBef>
                  <a:spcPct val="0"/>
                </a:spcBef>
              </a:pPr>
              <a:t>60</a:t>
            </a:fld>
            <a:endParaRPr lang="en-US" altLang="en-US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B21FC3E0-70B0-7D91-A4DE-2022F96EB1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1044A425-AE73-A19B-C2B1-1745F6EDB1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11B07937-AD0B-6798-A9C2-45506F6039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1DCB08F-2FA8-4C74-82F6-3D4C500CDA89}" type="slidenum">
              <a:rPr lang="en-US" altLang="en-US"/>
              <a:pPr>
                <a:spcBef>
                  <a:spcPct val="0"/>
                </a:spcBef>
              </a:pPr>
              <a:t>61</a:t>
            </a:fld>
            <a:endParaRPr lang="en-US" altLang="en-US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8B512A02-F808-4284-3941-D3CDF3AF11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44E07BF3-528D-B9A1-EB2E-66D2251EE2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A382256E-C0C2-97DB-0306-90DCEAFD98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C5AD436-3753-44DF-9E03-C09AB3D5F5F7}" type="slidenum">
              <a:rPr lang="en-US" altLang="en-US"/>
              <a:pPr>
                <a:spcBef>
                  <a:spcPct val="0"/>
                </a:spcBef>
              </a:pPr>
              <a:t>62</a:t>
            </a:fld>
            <a:endParaRPr lang="en-US" altLang="en-US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4775EAF8-E3A4-6C99-321D-A2AFBC7F25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EF8B2D1B-2844-5E42-1498-4A4C5CD4B1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3CDA144B-FAC5-9319-CC50-25658049C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30F87E2-15C1-4F3A-BF3D-38E23FF8D09D}" type="slidenum">
              <a:rPr lang="en-US" altLang="en-US"/>
              <a:pPr>
                <a:spcBef>
                  <a:spcPct val="0"/>
                </a:spcBef>
              </a:pPr>
              <a:t>63</a:t>
            </a:fld>
            <a:endParaRPr lang="en-US" altLang="en-US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C58A40C3-FBAF-02FB-BC74-F5A5B6DFFA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BA10A990-CE90-232E-2E44-C64EA3412F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C0D68E0F-E112-40C2-F24D-BD26B6A84C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85F7C73-7CCA-4766-877D-B9508527EAF9}" type="slidenum">
              <a:rPr lang="en-US" altLang="en-US"/>
              <a:pPr>
                <a:spcBef>
                  <a:spcPct val="0"/>
                </a:spcBef>
              </a:pPr>
              <a:t>64</a:t>
            </a:fld>
            <a:endParaRPr lang="en-US" altLang="en-US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F3F1984A-1C3D-1B37-0048-33BE127CEB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CF31CF80-BDB3-7FDD-4E66-D7D926BD1A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7378E0A2-CD6D-F11C-B05D-C6A5D31304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5535A6-6C7E-41C1-A33A-630AB655EB3C}" type="slidenum">
              <a:rPr lang="en-US" altLang="en-US"/>
              <a:pPr>
                <a:spcBef>
                  <a:spcPct val="0"/>
                </a:spcBef>
              </a:pPr>
              <a:t>65</a:t>
            </a:fld>
            <a:endParaRPr lang="en-US" altLang="en-US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D872E2DA-080D-A106-5AF4-E88501F43A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0B3A07AC-DFF9-F6D5-FF55-12471358D3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9F186D7E-67E8-5EE1-A582-E29261F51F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3F2FFEE-90C6-45CD-9DD0-80034BACCA3D}" type="slidenum">
              <a:rPr lang="en-US" altLang="en-US"/>
              <a:pPr>
                <a:spcBef>
                  <a:spcPct val="0"/>
                </a:spcBef>
              </a:pPr>
              <a:t>66</a:t>
            </a:fld>
            <a:endParaRPr lang="en-US" altLang="en-US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76CA26A1-60B2-A556-4B8B-0C41C7D99B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434962EC-AC97-0E52-A46C-F1EE86C72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3D3477C9-0C2C-9CC7-FBC9-238D045837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91F9314-CD51-4F00-9FB9-CAE2032F3952}" type="slidenum">
              <a:rPr lang="en-US" altLang="en-US"/>
              <a:pPr>
                <a:spcBef>
                  <a:spcPct val="0"/>
                </a:spcBef>
              </a:pPr>
              <a:t>67</a:t>
            </a:fld>
            <a:endParaRPr lang="en-US" altLang="en-US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093B61A7-A87A-2DDF-DCFA-180425E8A7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CA17DF26-BA7F-5043-2D8C-CB1F43787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7CF1CEA2-3D82-7DA6-AA26-51BC5EE696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69CABF8-AC96-410B-BED3-FEAFD7EFA87C}" type="slidenum">
              <a:rPr lang="en-US" altLang="en-US"/>
              <a:pPr>
                <a:spcBef>
                  <a:spcPct val="0"/>
                </a:spcBef>
              </a:pPr>
              <a:t>68</a:t>
            </a:fld>
            <a:endParaRPr lang="en-US" altLang="en-US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A028DCAD-8BF4-589E-EB01-FB95F22EAD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7228564E-B94D-2DFA-7B62-9AF8E44EFB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1CEF3CA3-543B-BF8D-C4BB-780DB2D4FF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A1BB0EB-51AF-4FDC-8DB7-E06D97E9D6B4}" type="slidenum">
              <a:rPr lang="en-US" altLang="en-US"/>
              <a:pPr>
                <a:spcBef>
                  <a:spcPct val="0"/>
                </a:spcBef>
              </a:pPr>
              <a:t>69</a:t>
            </a:fld>
            <a:endParaRPr lang="en-US" altLang="en-US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CD72873F-D69F-5135-5F24-39BCB2D7AD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B449A782-1686-1F1B-8244-8F6BA8D129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CB08B236-663F-9946-9BD6-477303D534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DCA3175-5BB1-4F3F-AFCC-100B1589E7A0}" type="slidenum">
              <a:rPr lang="en-US" altLang="en-US"/>
              <a:pPr>
                <a:spcBef>
                  <a:spcPct val="0"/>
                </a:spcBef>
              </a:pPr>
              <a:t>70</a:t>
            </a:fld>
            <a:endParaRPr lang="en-US" altLang="en-US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CAE67A6E-984F-634E-4B86-72BA78126E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4DEF4264-4434-33FA-ACCB-0F688E0DA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AEBB3168-D13E-9572-8F07-0105B43BE5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CB495A7-5134-42D4-8F59-A2F7F3DD565D}" type="slidenum">
              <a:rPr lang="en-US" altLang="en-US"/>
              <a:pPr>
                <a:spcBef>
                  <a:spcPct val="0"/>
                </a:spcBef>
              </a:pPr>
              <a:t>71</a:t>
            </a:fld>
            <a:endParaRPr lang="en-US" altLang="en-US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0CFC2222-7E7D-2B83-84C0-3EF9AD456F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064DC80E-0464-3205-3CC0-8A060BC09C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307FBA15-DE65-E904-8388-4349F6D0E6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2AE9671-DA13-4AEF-8150-C81354B46171}" type="slidenum">
              <a:rPr lang="en-US" altLang="en-US"/>
              <a:pPr>
                <a:spcBef>
                  <a:spcPct val="0"/>
                </a:spcBef>
              </a:pPr>
              <a:t>72</a:t>
            </a:fld>
            <a:endParaRPr lang="en-US" altLang="en-US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75247A33-188E-FCA8-1920-84B32CEAE1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87593108-A138-0E60-64C9-09C2691B50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B68A2FF8-C160-DD3C-966F-2CA37C9A88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54231A2-12F8-4B2C-A697-B8A509D3EB55}" type="slidenum">
              <a:rPr lang="en-US" altLang="en-US"/>
              <a:pPr>
                <a:spcBef>
                  <a:spcPct val="0"/>
                </a:spcBef>
              </a:pPr>
              <a:t>73</a:t>
            </a:fld>
            <a:endParaRPr lang="en-US" altLang="en-US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3CEA03AE-1C66-F915-9AC2-D038591EED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41DF33D0-FA6B-92EA-CA32-8858F8F721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5362A42A-23C3-AD81-0E29-862B420A6D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55A8E86-BC0C-43E2-91AC-4AA2520EC5FD}" type="slidenum">
              <a:rPr lang="en-US" altLang="en-US"/>
              <a:pPr>
                <a:spcBef>
                  <a:spcPct val="0"/>
                </a:spcBef>
              </a:pPr>
              <a:t>74</a:t>
            </a:fld>
            <a:endParaRPr lang="en-US" altLang="en-US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9FD559EB-BEAA-8FC9-6138-35397D8AFA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808E3476-AABE-519B-5BF1-83D1D15301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E713F29D-C314-5EE5-8E29-D1C0BBE38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8B63FAF-4D4F-4811-80ED-429E7DCA010B}" type="slidenum">
              <a:rPr lang="en-US" altLang="en-US"/>
              <a:pPr>
                <a:spcBef>
                  <a:spcPct val="0"/>
                </a:spcBef>
              </a:pPr>
              <a:t>75</a:t>
            </a:fld>
            <a:endParaRPr lang="en-US" altLang="en-U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EBB00C7-9FFB-2D85-F150-6A646DF4C7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D113B235-0277-036D-8502-FDCB24502C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89467C4-9DBA-DEBD-8F98-A016E9F73B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0921AC-2496-6C3C-5A50-42330B58EB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9CEA6E-8A54-9590-1CF0-6CC01C80C9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1915DB-6969-4434-BE8E-BA68DF42B9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5258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540BB44-615E-50EF-25EB-538DA1EE68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2DD348-0001-5993-0C61-8A8E01D137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B3D82C-99AD-12C7-B3F3-9569044C3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094B38-1695-47FD-880C-AFB116685D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9433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5B996D-1E33-3A65-7E6C-E3F2161961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D90B78-814F-3B6F-4F3B-C95E05E438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79BB68-C65D-97CD-A924-298DAEE7EA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CCD5FF-9C88-4FB6-856F-80A736DDEF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9468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14400"/>
            <a:ext cx="4038600" cy="5211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038600" cy="5211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0084E9-0F86-1F6B-6734-B7A16B30C8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ED68AA-B2A2-8902-3FF7-9A9846B5F7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96693C-5C1F-7AC3-D51F-4CCBF00C6D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529061-7148-491F-9F14-00F3C86033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8424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3CBB2F8-4FEE-BF0B-FE3C-28E02264EC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1751BD3-75AE-03EE-3F41-E1F2FCD7C1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10D06D1-2431-30A4-C176-8A4BE4E24C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D7E64-A20B-4133-A64F-55C9699F83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18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93F7CE7-281C-5EAA-149B-A7D58487F3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2C30CE-976C-DA24-BD6A-37CF7D76F6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703F343-AEC7-DA3B-E26D-55086C54F3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D49F36-8665-4253-8541-E3AFD0FC35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6733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DDF05F2-D5C2-022F-F3CB-4BBD4764B4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011CAF2-03CA-5DFB-1D31-E3FC2D928A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83D6ED9-74F6-BD1F-7507-D46DDF83E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9E4016-89C6-4DE8-B51D-5EF050C165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9076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76930-22D2-3DFC-3673-CFA0980EB8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EEC583-530A-98AD-7E5F-806598769D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D4A453-90C9-0C15-41B2-E5E09D851C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C8BADF-8689-4BFD-89B8-E5FE606757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6364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A23450-C387-A5B0-36C1-165A87ECE4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173714-7720-5247-EDC6-1BD8A360E8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DD3D83-4E0A-007F-B67F-3BF371C7A0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DACC3-B407-4C91-AE5E-2A5B73CDEA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3593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83579B-44B5-4664-15A3-950B61D12B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994EBF-4627-E4FA-6F79-D00679D78C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62A2415-A9E9-F7F1-0CBA-7E385654C0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E71965-21DB-4BE4-8261-B0E399FB2C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7911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BA64D27-4A98-3EC9-BD4D-283508536E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D79327-D35A-6D22-C091-584D1B926E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ED65C6-BAE9-8115-9219-61FFC8D43A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C2EEB-CBB0-40F7-B6A4-61C9A39D5D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9379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4038600" cy="521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038600" cy="521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C9260-1CC7-CC21-97D5-45EF07A962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5E2BFD-D9EE-137A-3D4D-909DE2C7A1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C6446F-74D9-D3F4-72E0-1C75D5CF44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06FB2-9B60-4EF0-98AC-B7B37626DF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5026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4038600" cy="521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914400"/>
            <a:ext cx="4038600" cy="2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595688"/>
            <a:ext cx="4038600" cy="2530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5FDE3A9-B82D-D1F7-A10C-621B659CD9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043262E-090E-84E1-EBC3-4B1D49C7E8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6283828-EDC0-A4A6-10C8-6AC2244361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BA7F31-411F-4061-95AD-51F73250B5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5932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F44110B-321F-B720-A237-F8F1820239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C0BA50D-F191-1E96-F358-7D9CDB11DF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14400"/>
            <a:ext cx="8229600" cy="521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C3BD6C1-DA40-ACE4-A626-141E6FC9D95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44DA0C2-6949-CB2D-98B5-DE0E4A80662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1085D84-6A04-3636-FA10-39F119C8E3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0C4BB35E-50D8-41DB-B907-430D96CEB9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.png"/><Relationship Id="rId7" Type="http://schemas.openxmlformats.org/officeDocument/2006/relationships/image" Target="../media/image4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9.wmf"/><Relationship Id="rId3" Type="http://schemas.openxmlformats.org/officeDocument/2006/relationships/image" Target="../media/image1.png"/><Relationship Id="rId7" Type="http://schemas.openxmlformats.org/officeDocument/2006/relationships/image" Target="../media/image4.wmf"/><Relationship Id="rId12" Type="http://schemas.openxmlformats.org/officeDocument/2006/relationships/oleObject" Target="../embeddings/oleObject7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8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12.bin"/><Relationship Id="rId3" Type="http://schemas.openxmlformats.org/officeDocument/2006/relationships/image" Target="../media/image1.png"/><Relationship Id="rId7" Type="http://schemas.openxmlformats.org/officeDocument/2006/relationships/image" Target="../media/image4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1.wmf"/><Relationship Id="rId2" Type="http://schemas.openxmlformats.org/officeDocument/2006/relationships/notesSlide" Target="../notesSlides/notesSlide28.xml"/><Relationship Id="rId16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5" Type="http://schemas.openxmlformats.org/officeDocument/2006/relationships/image" Target="../media/image10.wmf"/><Relationship Id="rId15" Type="http://schemas.openxmlformats.org/officeDocument/2006/relationships/image" Target="../media/image8.wmf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6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15.bin"/><Relationship Id="rId3" Type="http://schemas.openxmlformats.org/officeDocument/2006/relationships/image" Target="../media/image1.png"/><Relationship Id="rId21" Type="http://schemas.openxmlformats.org/officeDocument/2006/relationships/image" Target="../media/image11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2.wmf"/><Relationship Id="rId2" Type="http://schemas.openxmlformats.org/officeDocument/2006/relationships/notesSlide" Target="../notesSlides/notesSlide29.xml"/><Relationship Id="rId16" Type="http://schemas.openxmlformats.org/officeDocument/2006/relationships/oleObject" Target="../embeddings/oleObject14.bin"/><Relationship Id="rId20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5" Type="http://schemas.openxmlformats.org/officeDocument/2006/relationships/image" Target="../media/image10.wmf"/><Relationship Id="rId15" Type="http://schemas.openxmlformats.org/officeDocument/2006/relationships/image" Target="../media/image8.wmf"/><Relationship Id="rId23" Type="http://schemas.openxmlformats.org/officeDocument/2006/relationships/image" Target="../media/image9.wmf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13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7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11.wmf"/><Relationship Id="rId3" Type="http://schemas.openxmlformats.org/officeDocument/2006/relationships/image" Target="../media/image1.png"/><Relationship Id="rId7" Type="http://schemas.openxmlformats.org/officeDocument/2006/relationships/image" Target="../media/image8.wmf"/><Relationship Id="rId12" Type="http://schemas.openxmlformats.org/officeDocument/2006/relationships/oleObject" Target="../embeddings/oleObject19.bin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3.wmf"/><Relationship Id="rId5" Type="http://schemas.openxmlformats.org/officeDocument/2006/relationships/image" Target="../media/image7.w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2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1.png"/><Relationship Id="rId7" Type="http://schemas.openxmlformats.org/officeDocument/2006/relationships/image" Target="../media/image8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9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1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1.png"/><Relationship Id="rId7" Type="http://schemas.openxmlformats.org/officeDocument/2006/relationships/image" Target="../media/image8.wmf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13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16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11.wmf"/><Relationship Id="rId3" Type="http://schemas.openxmlformats.org/officeDocument/2006/relationships/image" Target="../media/image1.png"/><Relationship Id="rId7" Type="http://schemas.openxmlformats.org/officeDocument/2006/relationships/image" Target="../media/image8.wmf"/><Relationship Id="rId12" Type="http://schemas.openxmlformats.org/officeDocument/2006/relationships/oleObject" Target="../embeddings/oleObject30.bin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3.wmf"/><Relationship Id="rId5" Type="http://schemas.openxmlformats.org/officeDocument/2006/relationships/image" Target="../media/image7.w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31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oleObject" Target="../embeddings/oleObject32.bin"/><Relationship Id="rId7" Type="http://schemas.openxmlformats.org/officeDocument/2006/relationships/image" Target="../media/image18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1.png"/><Relationship Id="rId4" Type="http://schemas.openxmlformats.org/officeDocument/2006/relationships/image" Target="../media/image17.wmf"/><Relationship Id="rId9" Type="http://schemas.openxmlformats.org/officeDocument/2006/relationships/image" Target="../media/image19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1.png"/><Relationship Id="rId7" Type="http://schemas.openxmlformats.org/officeDocument/2006/relationships/image" Target="../media/image20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21.wmf"/><Relationship Id="rId5" Type="http://schemas.openxmlformats.org/officeDocument/2006/relationships/image" Target="../media/image19.w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17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11.wmf"/><Relationship Id="rId3" Type="http://schemas.openxmlformats.org/officeDocument/2006/relationships/image" Target="../media/image1.png"/><Relationship Id="rId7" Type="http://schemas.openxmlformats.org/officeDocument/2006/relationships/image" Target="../media/image8.wmf"/><Relationship Id="rId12" Type="http://schemas.openxmlformats.org/officeDocument/2006/relationships/oleObject" Target="../embeddings/oleObject40.bin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3.wmf"/><Relationship Id="rId5" Type="http://schemas.openxmlformats.org/officeDocument/2006/relationships/image" Target="../media/image7.w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41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11.wmf"/><Relationship Id="rId18" Type="http://schemas.openxmlformats.org/officeDocument/2006/relationships/image" Target="../media/image22.wmf"/><Relationship Id="rId3" Type="http://schemas.openxmlformats.org/officeDocument/2006/relationships/image" Target="../media/image1.png"/><Relationship Id="rId7" Type="http://schemas.openxmlformats.org/officeDocument/2006/relationships/image" Target="../media/image8.wmf"/><Relationship Id="rId12" Type="http://schemas.openxmlformats.org/officeDocument/2006/relationships/oleObject" Target="../embeddings/oleObject43.bin"/><Relationship Id="rId17" Type="http://schemas.openxmlformats.org/officeDocument/2006/relationships/oleObject" Target="../embeddings/oleObject45.bin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3.wmf"/><Relationship Id="rId5" Type="http://schemas.openxmlformats.org/officeDocument/2006/relationships/image" Target="../media/image7.w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44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4.png"/><Relationship Id="rId7" Type="http://schemas.openxmlformats.org/officeDocument/2006/relationships/image" Target="../media/image26.wmf"/><Relationship Id="rId12" Type="http://schemas.openxmlformats.org/officeDocument/2006/relationships/image" Target="../media/image28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6.bin"/><Relationship Id="rId11" Type="http://schemas.openxmlformats.org/officeDocument/2006/relationships/oleObject" Target="../embeddings/oleObject48.bin"/><Relationship Id="rId5" Type="http://schemas.openxmlformats.org/officeDocument/2006/relationships/image" Target="../media/image25.png"/><Relationship Id="rId10" Type="http://schemas.openxmlformats.org/officeDocument/2006/relationships/image" Target="../media/image27.wmf"/><Relationship Id="rId4" Type="http://schemas.openxmlformats.org/officeDocument/2006/relationships/image" Target="file:///C:\GT_LOCAL_DATA\academic\dissertation\math\mapping3d_1.tif" TargetMode="External"/><Relationship Id="rId9" Type="http://schemas.openxmlformats.org/officeDocument/2006/relationships/oleObject" Target="../embeddings/oleObject47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4.png"/><Relationship Id="rId7" Type="http://schemas.openxmlformats.org/officeDocument/2006/relationships/image" Target="../media/image26.wmf"/><Relationship Id="rId12" Type="http://schemas.openxmlformats.org/officeDocument/2006/relationships/image" Target="../media/image28.w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6.bin"/><Relationship Id="rId11" Type="http://schemas.openxmlformats.org/officeDocument/2006/relationships/oleObject" Target="../embeddings/oleObject50.bin"/><Relationship Id="rId5" Type="http://schemas.openxmlformats.org/officeDocument/2006/relationships/image" Target="../media/image25.png"/><Relationship Id="rId10" Type="http://schemas.openxmlformats.org/officeDocument/2006/relationships/image" Target="../media/image29.wmf"/><Relationship Id="rId4" Type="http://schemas.openxmlformats.org/officeDocument/2006/relationships/image" Target="file:///C:\GT_LOCAL_DATA\academic\dissertation\math\mapping3d_1.tif" TargetMode="External"/><Relationship Id="rId9" Type="http://schemas.openxmlformats.org/officeDocument/2006/relationships/oleObject" Target="../embeddings/oleObject49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4.png"/><Relationship Id="rId7" Type="http://schemas.openxmlformats.org/officeDocument/2006/relationships/image" Target="../media/image26.wmf"/><Relationship Id="rId12" Type="http://schemas.openxmlformats.org/officeDocument/2006/relationships/image" Target="../media/image28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6.bin"/><Relationship Id="rId11" Type="http://schemas.openxmlformats.org/officeDocument/2006/relationships/oleObject" Target="../embeddings/oleObject52.bin"/><Relationship Id="rId5" Type="http://schemas.openxmlformats.org/officeDocument/2006/relationships/image" Target="../media/image25.png"/><Relationship Id="rId10" Type="http://schemas.openxmlformats.org/officeDocument/2006/relationships/image" Target="../media/image29.wmf"/><Relationship Id="rId4" Type="http://schemas.openxmlformats.org/officeDocument/2006/relationships/image" Target="file:///C:\GT_LOCAL_DATA\academic\dissertation\math\mapping3d_1.tif" TargetMode="External"/><Relationship Id="rId9" Type="http://schemas.openxmlformats.org/officeDocument/2006/relationships/oleObject" Target="../embeddings/oleObject51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30.png"/><Relationship Id="rId18" Type="http://schemas.openxmlformats.org/officeDocument/2006/relationships/image" Target="../media/image32.wmf"/><Relationship Id="rId3" Type="http://schemas.openxmlformats.org/officeDocument/2006/relationships/image" Target="../media/image24.png"/><Relationship Id="rId7" Type="http://schemas.openxmlformats.org/officeDocument/2006/relationships/image" Target="../media/image26.wmf"/><Relationship Id="rId12" Type="http://schemas.openxmlformats.org/officeDocument/2006/relationships/image" Target="../media/image1.png"/><Relationship Id="rId17" Type="http://schemas.openxmlformats.org/officeDocument/2006/relationships/oleObject" Target="../embeddings/oleObject56.bin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31.w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28.wmf"/><Relationship Id="rId5" Type="http://schemas.openxmlformats.org/officeDocument/2006/relationships/image" Target="../media/image25.png"/><Relationship Id="rId15" Type="http://schemas.openxmlformats.org/officeDocument/2006/relationships/oleObject" Target="../embeddings/oleObject55.bin"/><Relationship Id="rId10" Type="http://schemas.openxmlformats.org/officeDocument/2006/relationships/oleObject" Target="../embeddings/oleObject54.bin"/><Relationship Id="rId19" Type="http://schemas.openxmlformats.org/officeDocument/2006/relationships/oleObject" Target="../embeddings/oleObject57.bin"/><Relationship Id="rId4" Type="http://schemas.openxmlformats.org/officeDocument/2006/relationships/image" Target="file:///C:\GT_LOCAL_DATA\academic\dissertation\math\mapping3d_1.tif" TargetMode="External"/><Relationship Id="rId9" Type="http://schemas.openxmlformats.org/officeDocument/2006/relationships/image" Target="../media/image29.wmf"/><Relationship Id="rId14" Type="http://schemas.openxmlformats.org/officeDocument/2006/relationships/image" Target="file:///C:\GT_LOCAL_DATA\academic\dissertation\math\mapping2d_1.tif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file:///C:\GT_LOCAL_DATA\academic\dissertation\math\mapping3d_1.tif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38.png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28.w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11" Type="http://schemas.openxmlformats.org/officeDocument/2006/relationships/oleObject" Target="../embeddings/oleObject60.bin"/><Relationship Id="rId5" Type="http://schemas.openxmlformats.org/officeDocument/2006/relationships/image" Target="file:///C:\GT_LOCAL_DATA\academic\dissertation\math\mapping3d_1.tif" TargetMode="External"/><Relationship Id="rId10" Type="http://schemas.openxmlformats.org/officeDocument/2006/relationships/image" Target="../media/image29.wmf"/><Relationship Id="rId4" Type="http://schemas.openxmlformats.org/officeDocument/2006/relationships/image" Target="../media/image24.png"/><Relationship Id="rId9" Type="http://schemas.openxmlformats.org/officeDocument/2006/relationships/oleObject" Target="../embeddings/oleObject59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wmf"/><Relationship Id="rId4" Type="http://schemas.openxmlformats.org/officeDocument/2006/relationships/oleObject" Target="../embeddings/oleObject61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png"/><Relationship Id="rId5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40.png"/><Relationship Id="rId7" Type="http://schemas.openxmlformats.org/officeDocument/2006/relationships/oleObject" Target="../embeddings/oleObject63.bin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wmf"/><Relationship Id="rId4" Type="http://schemas.openxmlformats.org/officeDocument/2006/relationships/oleObject" Target="../embeddings/oleObject62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oleObject" Target="../embeddings/oleObject64.bin"/><Relationship Id="rId7" Type="http://schemas.openxmlformats.org/officeDocument/2006/relationships/image" Target="../media/image44.w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40.png"/><Relationship Id="rId4" Type="http://schemas.openxmlformats.org/officeDocument/2006/relationships/image" Target="../media/image47.wmf"/><Relationship Id="rId9" Type="http://schemas.openxmlformats.org/officeDocument/2006/relationships/image" Target="../media/image4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56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3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43.png"/><Relationship Id="rId4" Type="http://schemas.openxmlformats.org/officeDocument/2006/relationships/image" Target="../media/image55.jpe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2.jpeg"/><Relationship Id="rId5" Type="http://schemas.openxmlformats.org/officeDocument/2006/relationships/image" Target="../media/image42.png"/><Relationship Id="rId4" Type="http://schemas.openxmlformats.org/officeDocument/2006/relationships/image" Target="../media/image61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43.png"/><Relationship Id="rId4" Type="http://schemas.openxmlformats.org/officeDocument/2006/relationships/image" Target="../media/image64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3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71.png"/><Relationship Id="rId7" Type="http://schemas.openxmlformats.org/officeDocument/2006/relationships/image" Target="../media/image72.wmf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5.bin"/><Relationship Id="rId5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7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7.png"/><Relationship Id="rId5" Type="http://schemas.openxmlformats.org/officeDocument/2006/relationships/image" Target="../media/image38.png"/><Relationship Id="rId4" Type="http://schemas.openxmlformats.org/officeDocument/2006/relationships/image" Target="../media/image43.png"/><Relationship Id="rId9" Type="http://schemas.openxmlformats.org/officeDocument/2006/relationships/image" Target="../media/image6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wmf"/><Relationship Id="rId4" Type="http://schemas.openxmlformats.org/officeDocument/2006/relationships/oleObject" Target="../embeddings/oleObject66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2" name="Rectangle 2">
            <a:extLst>
              <a:ext uri="{FF2B5EF4-FFF2-40B4-BE49-F238E27FC236}">
                <a16:creationId xmlns:a16="http://schemas.microsoft.com/office/drawing/2014/main" id="{78AB868B-8846-B7C1-75A6-2713A8C4D9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01123" name="Rectangle 3">
            <a:extLst>
              <a:ext uri="{FF2B5EF4-FFF2-40B4-BE49-F238E27FC236}">
                <a16:creationId xmlns:a16="http://schemas.microsoft.com/office/drawing/2014/main" id="{3A3F2C2B-6AF3-3626-F71A-92CEADD120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an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grpSp>
        <p:nvGrpSpPr>
          <p:cNvPr id="901124" name="Group 4">
            <a:extLst>
              <a:ext uri="{FF2B5EF4-FFF2-40B4-BE49-F238E27FC236}">
                <a16:creationId xmlns:a16="http://schemas.microsoft.com/office/drawing/2014/main" id="{14C0A12C-592E-3AF5-C5A2-9C4F694799C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4563" y="3382963"/>
            <a:ext cx="3292475" cy="3292475"/>
            <a:chOff x="1920" y="1968"/>
            <a:chExt cx="1056" cy="1056"/>
          </a:xfrm>
        </p:grpSpPr>
        <p:pic>
          <p:nvPicPr>
            <p:cNvPr id="901125" name="Picture 5">
              <a:extLst>
                <a:ext uri="{FF2B5EF4-FFF2-40B4-BE49-F238E27FC236}">
                  <a16:creationId xmlns:a16="http://schemas.microsoft.com/office/drawing/2014/main" id="{5D07ABA3-BCF8-B6F5-97F2-D44FC43561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01126" name="Freeform 6">
              <a:extLst>
                <a:ext uri="{FF2B5EF4-FFF2-40B4-BE49-F238E27FC236}">
                  <a16:creationId xmlns:a16="http://schemas.microsoft.com/office/drawing/2014/main" id="{1BBEDFBE-40B4-78D4-2D54-2CBB41A0558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01127" name="AutoShape 7">
            <a:extLst>
              <a:ext uri="{FF2B5EF4-FFF2-40B4-BE49-F238E27FC236}">
                <a16:creationId xmlns:a16="http://schemas.microsoft.com/office/drawing/2014/main" id="{CC2E073D-E589-AEA0-84CC-C406DC751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9363" y="3475038"/>
            <a:ext cx="2209800" cy="2819400"/>
          </a:xfrm>
          <a:prstGeom prst="wedgeRectCallout">
            <a:avLst>
              <a:gd name="adj1" fmla="val -100718"/>
              <a:gd name="adj2" fmla="val -692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 b="0"/>
              <a:t>“What is the curvature”?</a:t>
            </a:r>
            <a:endParaRPr lang="en-US" altLang="en-US" sz="1400" b="0" i="1"/>
          </a:p>
          <a:p>
            <a:endParaRPr lang="en-US" altLang="en-US" sz="1400" b="0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70" name="Rectangle 2">
            <a:extLst>
              <a:ext uri="{FF2B5EF4-FFF2-40B4-BE49-F238E27FC236}">
                <a16:creationId xmlns:a16="http://schemas.microsoft.com/office/drawing/2014/main" id="{C0796D50-B0FF-986B-8E31-6C9B34F95B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03171" name="Rectangle 3">
            <a:extLst>
              <a:ext uri="{FF2B5EF4-FFF2-40B4-BE49-F238E27FC236}">
                <a16:creationId xmlns:a16="http://schemas.microsoft.com/office/drawing/2014/main" id="{62C08B47-2988-598A-5DEE-86EA8FB6D9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an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pic>
        <p:nvPicPr>
          <p:cNvPr id="903172" name="Picture 4">
            <a:extLst>
              <a:ext uri="{FF2B5EF4-FFF2-40B4-BE49-F238E27FC236}">
                <a16:creationId xmlns:a16="http://schemas.microsoft.com/office/drawing/2014/main" id="{33B5227E-3856-B97D-FB79-72C771E92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382963"/>
            <a:ext cx="3292475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03173" name="Arc 5">
            <a:extLst>
              <a:ext uri="{FF2B5EF4-FFF2-40B4-BE49-F238E27FC236}">
                <a16:creationId xmlns:a16="http://schemas.microsoft.com/office/drawing/2014/main" id="{51BE9129-2DB4-05A0-9B61-0C77F22190B7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1371600" y="3816350"/>
            <a:ext cx="1928813" cy="1990725"/>
          </a:xfrm>
          <a:custGeom>
            <a:avLst/>
            <a:gdLst>
              <a:gd name="G0" fmla="+- 91 0 0"/>
              <a:gd name="G1" fmla="+- 21600 0 0"/>
              <a:gd name="G2" fmla="+- 21600 0 0"/>
              <a:gd name="T0" fmla="*/ 0 w 21691"/>
              <a:gd name="T1" fmla="*/ 0 h 21600"/>
              <a:gd name="T2" fmla="*/ 21691 w 21691"/>
              <a:gd name="T3" fmla="*/ 21600 h 21600"/>
              <a:gd name="T4" fmla="*/ 91 w 2169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91" h="21600" fill="none" extrusionOk="0">
                <a:moveTo>
                  <a:pt x="0" y="0"/>
                </a:moveTo>
                <a:cubicBezTo>
                  <a:pt x="30" y="0"/>
                  <a:pt x="60" y="0"/>
                  <a:pt x="91" y="0"/>
                </a:cubicBezTo>
                <a:cubicBezTo>
                  <a:pt x="12020" y="0"/>
                  <a:pt x="21691" y="9670"/>
                  <a:pt x="21691" y="21600"/>
                </a:cubicBezTo>
              </a:path>
              <a:path w="21691" h="21600" stroke="0" extrusionOk="0">
                <a:moveTo>
                  <a:pt x="0" y="0"/>
                </a:moveTo>
                <a:cubicBezTo>
                  <a:pt x="30" y="0"/>
                  <a:pt x="60" y="0"/>
                  <a:pt x="91" y="0"/>
                </a:cubicBezTo>
                <a:cubicBezTo>
                  <a:pt x="12020" y="0"/>
                  <a:pt x="21691" y="9670"/>
                  <a:pt x="21691" y="21600"/>
                </a:cubicBezTo>
                <a:lnTo>
                  <a:pt x="91" y="21600"/>
                </a:lnTo>
                <a:close/>
              </a:path>
            </a:pathLst>
          </a:custGeom>
          <a:noFill/>
          <a:ln w="28575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3174" name="Oval 6">
            <a:extLst>
              <a:ext uri="{FF2B5EF4-FFF2-40B4-BE49-F238E27FC236}">
                <a16:creationId xmlns:a16="http://schemas.microsoft.com/office/drawing/2014/main" id="{93C394A4-8322-14A0-D923-F4D3ED9BF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754688"/>
            <a:ext cx="90488" cy="904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3175" name="Line 7">
            <a:extLst>
              <a:ext uri="{FF2B5EF4-FFF2-40B4-BE49-F238E27FC236}">
                <a16:creationId xmlns:a16="http://schemas.microsoft.com/office/drawing/2014/main" id="{2044006C-88A8-F18B-5B1C-20D70968B3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2475" y="3840163"/>
            <a:ext cx="0" cy="19208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3176" name="AutoShape 8">
            <a:extLst>
              <a:ext uri="{FF2B5EF4-FFF2-40B4-BE49-F238E27FC236}">
                <a16:creationId xmlns:a16="http://schemas.microsoft.com/office/drawing/2014/main" id="{B9999213-C489-AA4D-9FBB-A116C3068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9363" y="3475038"/>
            <a:ext cx="3581400" cy="3232150"/>
          </a:xfrm>
          <a:prstGeom prst="wedgeRectCallout">
            <a:avLst>
              <a:gd name="adj1" fmla="val -94458"/>
              <a:gd name="adj2" fmla="val -3683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 b="0"/>
              <a:t>In the simple case of a circle, we can take a static view:</a:t>
            </a:r>
          </a:p>
          <a:p>
            <a:endParaRPr lang="en-US" altLang="en-US" sz="1600" b="0"/>
          </a:p>
          <a:p>
            <a:r>
              <a:rPr lang="en-US" altLang="en-US" sz="1600"/>
              <a:t>Curvature = 1/radius</a:t>
            </a:r>
          </a:p>
          <a:p>
            <a:endParaRPr lang="en-US" altLang="en-US" sz="1400" i="1"/>
          </a:p>
          <a:p>
            <a:endParaRPr lang="en-US" altLang="en-US" sz="1400"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218" name="Rectangle 2">
            <a:extLst>
              <a:ext uri="{FF2B5EF4-FFF2-40B4-BE49-F238E27FC236}">
                <a16:creationId xmlns:a16="http://schemas.microsoft.com/office/drawing/2014/main" id="{8BBF913C-B540-6C72-84A3-2B166746F3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05219" name="Rectangle 3">
            <a:extLst>
              <a:ext uri="{FF2B5EF4-FFF2-40B4-BE49-F238E27FC236}">
                <a16:creationId xmlns:a16="http://schemas.microsoft.com/office/drawing/2014/main" id="{36FE55FD-F006-74E9-A95E-815848ECE2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an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pic>
        <p:nvPicPr>
          <p:cNvPr id="905220" name="Picture 4">
            <a:extLst>
              <a:ext uri="{FF2B5EF4-FFF2-40B4-BE49-F238E27FC236}">
                <a16:creationId xmlns:a16="http://schemas.microsoft.com/office/drawing/2014/main" id="{BCDD9D52-5448-A012-D7ED-38C781DA2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382963"/>
            <a:ext cx="3292475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05221" name="AutoShape 5">
            <a:extLst>
              <a:ext uri="{FF2B5EF4-FFF2-40B4-BE49-F238E27FC236}">
                <a16:creationId xmlns:a16="http://schemas.microsoft.com/office/drawing/2014/main" id="{AF153288-6B93-AAA1-BDE9-2DA065F56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9363" y="3475038"/>
            <a:ext cx="3581400" cy="3232150"/>
          </a:xfrm>
          <a:prstGeom prst="wedgeRectCallout">
            <a:avLst>
              <a:gd name="adj1" fmla="val -94458"/>
              <a:gd name="adj2" fmla="val -3683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 b="0"/>
              <a:t>In the simple case of a circle, we can take a static view:</a:t>
            </a:r>
          </a:p>
          <a:p>
            <a:endParaRPr lang="en-US" altLang="en-US" sz="1600" b="0"/>
          </a:p>
          <a:p>
            <a:r>
              <a:rPr lang="en-US" altLang="en-US" sz="1600"/>
              <a:t>Curvature = 1/radius</a:t>
            </a:r>
          </a:p>
          <a:p>
            <a:endParaRPr lang="en-US" altLang="en-US" sz="1400" i="1"/>
          </a:p>
          <a:p>
            <a:r>
              <a:rPr lang="en-US" altLang="en-US" sz="1400" b="0" i="1"/>
              <a:t>Note:</a:t>
            </a:r>
          </a:p>
          <a:p>
            <a:pPr>
              <a:buFontTx/>
              <a:buChar char="•"/>
            </a:pPr>
            <a:r>
              <a:rPr lang="en-US" altLang="en-US" sz="1400" b="0"/>
              <a:t>Position varies</a:t>
            </a:r>
          </a:p>
          <a:p>
            <a:pPr>
              <a:buFontTx/>
              <a:buChar char="•"/>
            </a:pPr>
            <a:r>
              <a:rPr lang="en-US" altLang="en-US" sz="1400" b="0"/>
              <a:t>Direction varies</a:t>
            </a:r>
          </a:p>
          <a:p>
            <a:pPr>
              <a:buFontTx/>
              <a:buChar char="•"/>
            </a:pPr>
            <a:r>
              <a:rPr lang="en-US" altLang="en-US" sz="1400" b="0"/>
              <a:t>Direction to the center varies</a:t>
            </a:r>
          </a:p>
          <a:p>
            <a:endParaRPr lang="en-US" altLang="en-US" sz="1400" b="0"/>
          </a:p>
          <a:p>
            <a:endParaRPr lang="en-US" altLang="en-US" sz="1400" b="0"/>
          </a:p>
        </p:txBody>
      </p:sp>
      <p:sp>
        <p:nvSpPr>
          <p:cNvPr id="905222" name="Arc 6">
            <a:extLst>
              <a:ext uri="{FF2B5EF4-FFF2-40B4-BE49-F238E27FC236}">
                <a16:creationId xmlns:a16="http://schemas.microsoft.com/office/drawing/2014/main" id="{83D6C49A-CD8F-B190-7E61-345E93D3E01B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1371600" y="3816350"/>
            <a:ext cx="1928813" cy="1990725"/>
          </a:xfrm>
          <a:custGeom>
            <a:avLst/>
            <a:gdLst>
              <a:gd name="G0" fmla="+- 91 0 0"/>
              <a:gd name="G1" fmla="+- 21600 0 0"/>
              <a:gd name="G2" fmla="+- 21600 0 0"/>
              <a:gd name="T0" fmla="*/ 0 w 21691"/>
              <a:gd name="T1" fmla="*/ 0 h 21600"/>
              <a:gd name="T2" fmla="*/ 21691 w 21691"/>
              <a:gd name="T3" fmla="*/ 21600 h 21600"/>
              <a:gd name="T4" fmla="*/ 91 w 2169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91" h="21600" fill="none" extrusionOk="0">
                <a:moveTo>
                  <a:pt x="0" y="0"/>
                </a:moveTo>
                <a:cubicBezTo>
                  <a:pt x="30" y="0"/>
                  <a:pt x="60" y="0"/>
                  <a:pt x="91" y="0"/>
                </a:cubicBezTo>
                <a:cubicBezTo>
                  <a:pt x="12020" y="0"/>
                  <a:pt x="21691" y="9670"/>
                  <a:pt x="21691" y="21600"/>
                </a:cubicBezTo>
              </a:path>
              <a:path w="21691" h="21600" stroke="0" extrusionOk="0">
                <a:moveTo>
                  <a:pt x="0" y="0"/>
                </a:moveTo>
                <a:cubicBezTo>
                  <a:pt x="30" y="0"/>
                  <a:pt x="60" y="0"/>
                  <a:pt x="91" y="0"/>
                </a:cubicBezTo>
                <a:cubicBezTo>
                  <a:pt x="12020" y="0"/>
                  <a:pt x="21691" y="9670"/>
                  <a:pt x="21691" y="21600"/>
                </a:cubicBezTo>
                <a:lnTo>
                  <a:pt x="91" y="21600"/>
                </a:lnTo>
                <a:close/>
              </a:path>
            </a:pathLst>
          </a:custGeom>
          <a:noFill/>
          <a:ln w="28575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5223" name="Oval 7">
            <a:extLst>
              <a:ext uri="{FF2B5EF4-FFF2-40B4-BE49-F238E27FC236}">
                <a16:creationId xmlns:a16="http://schemas.microsoft.com/office/drawing/2014/main" id="{9ED01103-EFBE-C83C-CFFD-3699BC698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754688"/>
            <a:ext cx="90488" cy="904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5224" name="Line 8">
            <a:extLst>
              <a:ext uri="{FF2B5EF4-FFF2-40B4-BE49-F238E27FC236}">
                <a16:creationId xmlns:a16="http://schemas.microsoft.com/office/drawing/2014/main" id="{C8587919-9D71-4268-2EA9-1617AA2876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2475" y="3840163"/>
            <a:ext cx="0" cy="19208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6" name="Rectangle 2">
            <a:extLst>
              <a:ext uri="{FF2B5EF4-FFF2-40B4-BE49-F238E27FC236}">
                <a16:creationId xmlns:a16="http://schemas.microsoft.com/office/drawing/2014/main" id="{7A97410E-46ED-CA2B-7D0B-8A847959FF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07267" name="Rectangle 3">
            <a:extLst>
              <a:ext uri="{FF2B5EF4-FFF2-40B4-BE49-F238E27FC236}">
                <a16:creationId xmlns:a16="http://schemas.microsoft.com/office/drawing/2014/main" id="{8ADAE512-3760-134D-53D5-53B4A376B7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an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pic>
        <p:nvPicPr>
          <p:cNvPr id="907268" name="Picture 4">
            <a:extLst>
              <a:ext uri="{FF2B5EF4-FFF2-40B4-BE49-F238E27FC236}">
                <a16:creationId xmlns:a16="http://schemas.microsoft.com/office/drawing/2014/main" id="{E268D100-17D9-55DA-501E-240EA7F2B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382963"/>
            <a:ext cx="3292475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07269" name="AutoShape 5">
            <a:extLst>
              <a:ext uri="{FF2B5EF4-FFF2-40B4-BE49-F238E27FC236}">
                <a16:creationId xmlns:a16="http://schemas.microsoft.com/office/drawing/2014/main" id="{44AE3F28-857B-6B84-A208-49625E5DE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9363" y="3475038"/>
            <a:ext cx="3581400" cy="3232150"/>
          </a:xfrm>
          <a:prstGeom prst="wedgeRectCallout">
            <a:avLst>
              <a:gd name="adj1" fmla="val -94458"/>
              <a:gd name="adj2" fmla="val -3683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 b="0"/>
              <a:t>In the simple case of a circle, we can take a static view:</a:t>
            </a:r>
          </a:p>
          <a:p>
            <a:endParaRPr lang="en-US" altLang="en-US" sz="1600" b="0"/>
          </a:p>
          <a:p>
            <a:r>
              <a:rPr lang="en-US" altLang="en-US" sz="1600"/>
              <a:t>Curvature = 1/radius</a:t>
            </a:r>
          </a:p>
          <a:p>
            <a:endParaRPr lang="en-US" altLang="en-US" sz="1400" i="1"/>
          </a:p>
          <a:p>
            <a:r>
              <a:rPr lang="en-US" altLang="en-US" sz="1400" b="0" i="1"/>
              <a:t>Note:</a:t>
            </a:r>
          </a:p>
          <a:p>
            <a:pPr>
              <a:buFontTx/>
              <a:buChar char="•"/>
            </a:pPr>
            <a:r>
              <a:rPr lang="en-US" altLang="en-US" sz="1400" b="0"/>
              <a:t>Position varies</a:t>
            </a:r>
          </a:p>
          <a:p>
            <a:pPr>
              <a:buFontTx/>
              <a:buChar char="•"/>
            </a:pPr>
            <a:r>
              <a:rPr lang="en-US" altLang="en-US" sz="1400" b="0"/>
              <a:t>Direction varies</a:t>
            </a:r>
          </a:p>
          <a:p>
            <a:pPr>
              <a:buFontTx/>
              <a:buChar char="•"/>
            </a:pPr>
            <a:r>
              <a:rPr lang="en-US" altLang="en-US" sz="1400" b="0"/>
              <a:t>Direction to the center varies</a:t>
            </a:r>
          </a:p>
          <a:p>
            <a:endParaRPr lang="en-US" altLang="en-US" sz="1400" b="0"/>
          </a:p>
          <a:p>
            <a:r>
              <a:rPr lang="en-US" altLang="en-US" sz="1400" b="0"/>
              <a:t>The fact that the curvature is static indicates something “degenerate” about the shape</a:t>
            </a:r>
          </a:p>
          <a:p>
            <a:endParaRPr lang="en-US" altLang="en-US" sz="1400" b="0"/>
          </a:p>
        </p:txBody>
      </p:sp>
      <p:sp>
        <p:nvSpPr>
          <p:cNvPr id="907270" name="Arc 6">
            <a:extLst>
              <a:ext uri="{FF2B5EF4-FFF2-40B4-BE49-F238E27FC236}">
                <a16:creationId xmlns:a16="http://schemas.microsoft.com/office/drawing/2014/main" id="{ECEA1A29-0361-418C-6032-9F7F0DBDF4AE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1371600" y="3816350"/>
            <a:ext cx="1928813" cy="1990725"/>
          </a:xfrm>
          <a:custGeom>
            <a:avLst/>
            <a:gdLst>
              <a:gd name="G0" fmla="+- 91 0 0"/>
              <a:gd name="G1" fmla="+- 21600 0 0"/>
              <a:gd name="G2" fmla="+- 21600 0 0"/>
              <a:gd name="T0" fmla="*/ 0 w 21691"/>
              <a:gd name="T1" fmla="*/ 0 h 21600"/>
              <a:gd name="T2" fmla="*/ 21691 w 21691"/>
              <a:gd name="T3" fmla="*/ 21600 h 21600"/>
              <a:gd name="T4" fmla="*/ 91 w 2169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91" h="21600" fill="none" extrusionOk="0">
                <a:moveTo>
                  <a:pt x="0" y="0"/>
                </a:moveTo>
                <a:cubicBezTo>
                  <a:pt x="30" y="0"/>
                  <a:pt x="60" y="0"/>
                  <a:pt x="91" y="0"/>
                </a:cubicBezTo>
                <a:cubicBezTo>
                  <a:pt x="12020" y="0"/>
                  <a:pt x="21691" y="9670"/>
                  <a:pt x="21691" y="21600"/>
                </a:cubicBezTo>
              </a:path>
              <a:path w="21691" h="21600" stroke="0" extrusionOk="0">
                <a:moveTo>
                  <a:pt x="0" y="0"/>
                </a:moveTo>
                <a:cubicBezTo>
                  <a:pt x="30" y="0"/>
                  <a:pt x="60" y="0"/>
                  <a:pt x="91" y="0"/>
                </a:cubicBezTo>
                <a:cubicBezTo>
                  <a:pt x="12020" y="0"/>
                  <a:pt x="21691" y="9670"/>
                  <a:pt x="21691" y="21600"/>
                </a:cubicBezTo>
                <a:lnTo>
                  <a:pt x="91" y="21600"/>
                </a:lnTo>
                <a:close/>
              </a:path>
            </a:pathLst>
          </a:custGeom>
          <a:noFill/>
          <a:ln w="28575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7271" name="Oval 7">
            <a:extLst>
              <a:ext uri="{FF2B5EF4-FFF2-40B4-BE49-F238E27FC236}">
                <a16:creationId xmlns:a16="http://schemas.microsoft.com/office/drawing/2014/main" id="{0F6BDD34-26D3-91C1-75BA-4C49C502B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754688"/>
            <a:ext cx="90488" cy="904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7272" name="Line 8">
            <a:extLst>
              <a:ext uri="{FF2B5EF4-FFF2-40B4-BE49-F238E27FC236}">
                <a16:creationId xmlns:a16="http://schemas.microsoft.com/office/drawing/2014/main" id="{17531CE8-653B-FC63-ACD5-53BFF9E85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2475" y="3840163"/>
            <a:ext cx="0" cy="19208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314" name="Rectangle 2">
            <a:extLst>
              <a:ext uri="{FF2B5EF4-FFF2-40B4-BE49-F238E27FC236}">
                <a16:creationId xmlns:a16="http://schemas.microsoft.com/office/drawing/2014/main" id="{958E6514-CE2C-42B7-E0D9-67ADE6864A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09315" name="Rectangle 3">
            <a:extLst>
              <a:ext uri="{FF2B5EF4-FFF2-40B4-BE49-F238E27FC236}">
                <a16:creationId xmlns:a16="http://schemas.microsoft.com/office/drawing/2014/main" id="{8891A457-1DF3-DFE3-2F2F-7724E225A4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grpSp>
        <p:nvGrpSpPr>
          <p:cNvPr id="909316" name="Group 4">
            <a:extLst>
              <a:ext uri="{FF2B5EF4-FFF2-40B4-BE49-F238E27FC236}">
                <a16:creationId xmlns:a16="http://schemas.microsoft.com/office/drawing/2014/main" id="{CA031680-4128-6C3D-8C4E-4FEB75617FC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4563" y="3382963"/>
            <a:ext cx="3292475" cy="3292475"/>
            <a:chOff x="1920" y="1968"/>
            <a:chExt cx="1056" cy="1056"/>
          </a:xfrm>
        </p:grpSpPr>
        <p:pic>
          <p:nvPicPr>
            <p:cNvPr id="909317" name="Picture 5">
              <a:extLst>
                <a:ext uri="{FF2B5EF4-FFF2-40B4-BE49-F238E27FC236}">
                  <a16:creationId xmlns:a16="http://schemas.microsoft.com/office/drawing/2014/main" id="{BAF95423-1433-9397-8C93-87EDCB596D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09318" name="Freeform 6">
              <a:extLst>
                <a:ext uri="{FF2B5EF4-FFF2-40B4-BE49-F238E27FC236}">
                  <a16:creationId xmlns:a16="http://schemas.microsoft.com/office/drawing/2014/main" id="{849D5885-6183-0632-0217-6C37FD61212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09319" name="AutoShape 7">
            <a:extLst>
              <a:ext uri="{FF2B5EF4-FFF2-40B4-BE49-F238E27FC236}">
                <a16:creationId xmlns:a16="http://schemas.microsoft.com/office/drawing/2014/main" id="{6B7C5E8B-888A-0264-AB07-0B254DEC1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“When I move along the curve,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My position changes”</a:t>
            </a:r>
            <a:endParaRPr lang="en-US" altLang="en-US" sz="1400" b="0" i="1"/>
          </a:p>
          <a:p>
            <a:endParaRPr lang="en-US" altLang="en-US" sz="1400" b="0" i="1"/>
          </a:p>
        </p:txBody>
      </p:sp>
      <p:sp>
        <p:nvSpPr>
          <p:cNvPr id="909320" name="Oval 8">
            <a:extLst>
              <a:ext uri="{FF2B5EF4-FFF2-40B4-BE49-F238E27FC236}">
                <a16:creationId xmlns:a16="http://schemas.microsoft.com/office/drawing/2014/main" id="{6C7057EA-DDE6-DF8F-9015-FC6CAC43E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6629400"/>
            <a:ext cx="90487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62" name="Rectangle 2">
            <a:extLst>
              <a:ext uri="{FF2B5EF4-FFF2-40B4-BE49-F238E27FC236}">
                <a16:creationId xmlns:a16="http://schemas.microsoft.com/office/drawing/2014/main" id="{B9E1079E-3775-C784-BE5A-55802CBAEE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11363" name="Rectangle 3">
            <a:extLst>
              <a:ext uri="{FF2B5EF4-FFF2-40B4-BE49-F238E27FC236}">
                <a16:creationId xmlns:a16="http://schemas.microsoft.com/office/drawing/2014/main" id="{41DCB980-9336-930B-ECA5-8A370F078A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grpSp>
        <p:nvGrpSpPr>
          <p:cNvPr id="911364" name="Group 4">
            <a:extLst>
              <a:ext uri="{FF2B5EF4-FFF2-40B4-BE49-F238E27FC236}">
                <a16:creationId xmlns:a16="http://schemas.microsoft.com/office/drawing/2014/main" id="{DD9E02F9-3C25-34C8-B72B-66818403BC7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4563" y="3382963"/>
            <a:ext cx="3292475" cy="3292475"/>
            <a:chOff x="1920" y="1968"/>
            <a:chExt cx="1056" cy="1056"/>
          </a:xfrm>
        </p:grpSpPr>
        <p:pic>
          <p:nvPicPr>
            <p:cNvPr id="911365" name="Picture 5">
              <a:extLst>
                <a:ext uri="{FF2B5EF4-FFF2-40B4-BE49-F238E27FC236}">
                  <a16:creationId xmlns:a16="http://schemas.microsoft.com/office/drawing/2014/main" id="{B6477CCF-1EAF-2EC5-1A59-FDD37088BC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11366" name="Freeform 6">
              <a:extLst>
                <a:ext uri="{FF2B5EF4-FFF2-40B4-BE49-F238E27FC236}">
                  <a16:creationId xmlns:a16="http://schemas.microsoft.com/office/drawing/2014/main" id="{9D57B4AB-B478-0C1F-98F3-AA521B8DC39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11367" name="AutoShape 7">
            <a:extLst>
              <a:ext uri="{FF2B5EF4-FFF2-40B4-BE49-F238E27FC236}">
                <a16:creationId xmlns:a16="http://schemas.microsoft.com/office/drawing/2014/main" id="{5448FC64-4567-CA7A-080F-8FD370FE9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“When I move along the curve,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My position changes”</a:t>
            </a:r>
            <a:endParaRPr lang="en-US" altLang="en-US" sz="1400" b="0" i="1"/>
          </a:p>
          <a:p>
            <a:endParaRPr lang="en-US" altLang="en-US" sz="1400" b="0" i="1"/>
          </a:p>
        </p:txBody>
      </p:sp>
      <p:sp>
        <p:nvSpPr>
          <p:cNvPr id="911368" name="Oval 8">
            <a:extLst>
              <a:ext uri="{FF2B5EF4-FFF2-40B4-BE49-F238E27FC236}">
                <a16:creationId xmlns:a16="http://schemas.microsoft.com/office/drawing/2014/main" id="{5FDEA896-19A3-03C7-39C9-8F6E6B445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8150" y="6218238"/>
            <a:ext cx="90488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410" name="Rectangle 2">
            <a:extLst>
              <a:ext uri="{FF2B5EF4-FFF2-40B4-BE49-F238E27FC236}">
                <a16:creationId xmlns:a16="http://schemas.microsoft.com/office/drawing/2014/main" id="{1FA8A066-AD15-EEA2-54F1-D0863D498B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13411" name="Rectangle 3">
            <a:extLst>
              <a:ext uri="{FF2B5EF4-FFF2-40B4-BE49-F238E27FC236}">
                <a16:creationId xmlns:a16="http://schemas.microsoft.com/office/drawing/2014/main" id="{97AC8460-A0E7-48C9-5775-09DEF53DF5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grpSp>
        <p:nvGrpSpPr>
          <p:cNvPr id="913412" name="Group 4">
            <a:extLst>
              <a:ext uri="{FF2B5EF4-FFF2-40B4-BE49-F238E27FC236}">
                <a16:creationId xmlns:a16="http://schemas.microsoft.com/office/drawing/2014/main" id="{B289E5C8-9017-BBE2-BBA9-87784D7012E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4563" y="3382963"/>
            <a:ext cx="3292475" cy="3292475"/>
            <a:chOff x="1920" y="1968"/>
            <a:chExt cx="1056" cy="1056"/>
          </a:xfrm>
        </p:grpSpPr>
        <p:pic>
          <p:nvPicPr>
            <p:cNvPr id="913413" name="Picture 5">
              <a:extLst>
                <a:ext uri="{FF2B5EF4-FFF2-40B4-BE49-F238E27FC236}">
                  <a16:creationId xmlns:a16="http://schemas.microsoft.com/office/drawing/2014/main" id="{F715808E-1B4C-CDD2-4513-26403D18A4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13414" name="Freeform 6">
              <a:extLst>
                <a:ext uri="{FF2B5EF4-FFF2-40B4-BE49-F238E27FC236}">
                  <a16:creationId xmlns:a16="http://schemas.microsoft.com/office/drawing/2014/main" id="{5ABC5D65-3F0E-6C69-BAD5-A45D599BDB7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13415" name="AutoShape 7">
            <a:extLst>
              <a:ext uri="{FF2B5EF4-FFF2-40B4-BE49-F238E27FC236}">
                <a16:creationId xmlns:a16="http://schemas.microsoft.com/office/drawing/2014/main" id="{EA4B7BF8-ABE0-4156-E4F5-C06A6B985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“When I move along the curve,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My position changes”</a:t>
            </a:r>
            <a:endParaRPr lang="en-US" altLang="en-US" sz="1400" b="0" i="1"/>
          </a:p>
          <a:p>
            <a:endParaRPr lang="en-US" altLang="en-US" sz="1400" b="0" i="1"/>
          </a:p>
        </p:txBody>
      </p:sp>
      <p:sp>
        <p:nvSpPr>
          <p:cNvPr id="913416" name="Oval 8">
            <a:extLst>
              <a:ext uri="{FF2B5EF4-FFF2-40B4-BE49-F238E27FC236}">
                <a16:creationId xmlns:a16="http://schemas.microsoft.com/office/drawing/2014/main" id="{025B8765-039A-0D29-A17D-02B4CB91C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5943600"/>
            <a:ext cx="90488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458" name="Rectangle 2">
            <a:extLst>
              <a:ext uri="{FF2B5EF4-FFF2-40B4-BE49-F238E27FC236}">
                <a16:creationId xmlns:a16="http://schemas.microsoft.com/office/drawing/2014/main" id="{939A9E20-C445-53B2-B95D-2598A2F55E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15459" name="Rectangle 3">
            <a:extLst>
              <a:ext uri="{FF2B5EF4-FFF2-40B4-BE49-F238E27FC236}">
                <a16:creationId xmlns:a16="http://schemas.microsoft.com/office/drawing/2014/main" id="{C475C819-A712-8834-B4A4-74ECD0AC81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grpSp>
        <p:nvGrpSpPr>
          <p:cNvPr id="915460" name="Group 4">
            <a:extLst>
              <a:ext uri="{FF2B5EF4-FFF2-40B4-BE49-F238E27FC236}">
                <a16:creationId xmlns:a16="http://schemas.microsoft.com/office/drawing/2014/main" id="{99DE2959-5E6F-04FD-000D-DE0F819D5C6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4563" y="3382963"/>
            <a:ext cx="3292475" cy="3292475"/>
            <a:chOff x="1920" y="1968"/>
            <a:chExt cx="1056" cy="1056"/>
          </a:xfrm>
        </p:grpSpPr>
        <p:pic>
          <p:nvPicPr>
            <p:cNvPr id="915461" name="Picture 5">
              <a:extLst>
                <a:ext uri="{FF2B5EF4-FFF2-40B4-BE49-F238E27FC236}">
                  <a16:creationId xmlns:a16="http://schemas.microsoft.com/office/drawing/2014/main" id="{15DBEF36-A100-BAC8-0E7F-3CF4029CD8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15462" name="Freeform 6">
              <a:extLst>
                <a:ext uri="{FF2B5EF4-FFF2-40B4-BE49-F238E27FC236}">
                  <a16:creationId xmlns:a16="http://schemas.microsoft.com/office/drawing/2014/main" id="{7886B6B3-D2DC-F5FC-74A9-2244B7C8466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15463" name="AutoShape 7">
            <a:extLst>
              <a:ext uri="{FF2B5EF4-FFF2-40B4-BE49-F238E27FC236}">
                <a16:creationId xmlns:a16="http://schemas.microsoft.com/office/drawing/2014/main" id="{FC2D7760-4892-5D6D-E56A-C0E5E38E4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“When I move along the curve,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My position changes”</a:t>
            </a:r>
            <a:endParaRPr lang="en-US" altLang="en-US" sz="1400" b="0" i="1"/>
          </a:p>
          <a:p>
            <a:endParaRPr lang="en-US" altLang="en-US" sz="1400" b="0" i="1"/>
          </a:p>
        </p:txBody>
      </p:sp>
      <p:sp>
        <p:nvSpPr>
          <p:cNvPr id="915464" name="Oval 8">
            <a:extLst>
              <a:ext uri="{FF2B5EF4-FFF2-40B4-BE49-F238E27FC236}">
                <a16:creationId xmlns:a16="http://schemas.microsoft.com/office/drawing/2014/main" id="{696EA9F2-09DB-489D-4D89-7FD01E557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5668963"/>
            <a:ext cx="90488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506" name="Rectangle 2">
            <a:extLst>
              <a:ext uri="{FF2B5EF4-FFF2-40B4-BE49-F238E27FC236}">
                <a16:creationId xmlns:a16="http://schemas.microsoft.com/office/drawing/2014/main" id="{23EAE444-0256-439A-D45A-E22137A951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17507" name="Rectangle 3">
            <a:extLst>
              <a:ext uri="{FF2B5EF4-FFF2-40B4-BE49-F238E27FC236}">
                <a16:creationId xmlns:a16="http://schemas.microsoft.com/office/drawing/2014/main" id="{C767385F-2D04-CEDA-33FB-032F6955BA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grpSp>
        <p:nvGrpSpPr>
          <p:cNvPr id="917508" name="Group 4">
            <a:extLst>
              <a:ext uri="{FF2B5EF4-FFF2-40B4-BE49-F238E27FC236}">
                <a16:creationId xmlns:a16="http://schemas.microsoft.com/office/drawing/2014/main" id="{581329E5-DF4D-6A6C-A695-6E294EC6683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4563" y="3382963"/>
            <a:ext cx="3292475" cy="3292475"/>
            <a:chOff x="1920" y="1968"/>
            <a:chExt cx="1056" cy="1056"/>
          </a:xfrm>
        </p:grpSpPr>
        <p:pic>
          <p:nvPicPr>
            <p:cNvPr id="917509" name="Picture 5">
              <a:extLst>
                <a:ext uri="{FF2B5EF4-FFF2-40B4-BE49-F238E27FC236}">
                  <a16:creationId xmlns:a16="http://schemas.microsoft.com/office/drawing/2014/main" id="{85309866-1359-A36E-6B29-F4B413F87B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17510" name="Freeform 6">
              <a:extLst>
                <a:ext uri="{FF2B5EF4-FFF2-40B4-BE49-F238E27FC236}">
                  <a16:creationId xmlns:a16="http://schemas.microsoft.com/office/drawing/2014/main" id="{1521C1FF-0ED7-A115-A2BA-EAF1F02EF46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17511" name="AutoShape 7">
            <a:extLst>
              <a:ext uri="{FF2B5EF4-FFF2-40B4-BE49-F238E27FC236}">
                <a16:creationId xmlns:a16="http://schemas.microsoft.com/office/drawing/2014/main" id="{F9DA7F59-BD3B-2DA1-4D24-C9B6F0B35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“When I move along the curve,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My position changes”</a:t>
            </a:r>
            <a:endParaRPr lang="en-US" altLang="en-US" sz="1400" b="0" i="1"/>
          </a:p>
          <a:p>
            <a:endParaRPr lang="en-US" altLang="en-US" sz="1400" b="0" i="1"/>
          </a:p>
        </p:txBody>
      </p:sp>
      <p:sp>
        <p:nvSpPr>
          <p:cNvPr id="917512" name="Oval 8">
            <a:extLst>
              <a:ext uri="{FF2B5EF4-FFF2-40B4-BE49-F238E27FC236}">
                <a16:creationId xmlns:a16="http://schemas.microsoft.com/office/drawing/2014/main" id="{59D60C3F-1CB5-39A0-37A5-721DDA506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5532438"/>
            <a:ext cx="90487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554" name="Rectangle 2">
            <a:extLst>
              <a:ext uri="{FF2B5EF4-FFF2-40B4-BE49-F238E27FC236}">
                <a16:creationId xmlns:a16="http://schemas.microsoft.com/office/drawing/2014/main" id="{A19B3530-C96D-FAE2-FF45-6A14B60E0D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19555" name="Rectangle 3">
            <a:extLst>
              <a:ext uri="{FF2B5EF4-FFF2-40B4-BE49-F238E27FC236}">
                <a16:creationId xmlns:a16="http://schemas.microsoft.com/office/drawing/2014/main" id="{4B5A1E2A-0765-E26C-B023-A570BB119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grpSp>
        <p:nvGrpSpPr>
          <p:cNvPr id="919556" name="Group 4">
            <a:extLst>
              <a:ext uri="{FF2B5EF4-FFF2-40B4-BE49-F238E27FC236}">
                <a16:creationId xmlns:a16="http://schemas.microsoft.com/office/drawing/2014/main" id="{B1050DB1-1C52-7E4F-B844-E896E8E613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4563" y="3382963"/>
            <a:ext cx="3292475" cy="3292475"/>
            <a:chOff x="1920" y="1968"/>
            <a:chExt cx="1056" cy="1056"/>
          </a:xfrm>
        </p:grpSpPr>
        <p:pic>
          <p:nvPicPr>
            <p:cNvPr id="919557" name="Picture 5">
              <a:extLst>
                <a:ext uri="{FF2B5EF4-FFF2-40B4-BE49-F238E27FC236}">
                  <a16:creationId xmlns:a16="http://schemas.microsoft.com/office/drawing/2014/main" id="{6986ABBE-C62B-9383-1D8B-6829D94639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19558" name="Freeform 6">
              <a:extLst>
                <a:ext uri="{FF2B5EF4-FFF2-40B4-BE49-F238E27FC236}">
                  <a16:creationId xmlns:a16="http://schemas.microsoft.com/office/drawing/2014/main" id="{46665C3F-6834-7A28-A905-8A46C36D4E4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19559" name="AutoShape 7">
            <a:extLst>
              <a:ext uri="{FF2B5EF4-FFF2-40B4-BE49-F238E27FC236}">
                <a16:creationId xmlns:a16="http://schemas.microsoft.com/office/drawing/2014/main" id="{8777D8ED-059F-1217-4F31-D0A893732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“When I move along the curve,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My position changes”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“And the </a:t>
            </a:r>
            <a:r>
              <a:rPr lang="en-US" altLang="en-US" sz="1600" b="0">
                <a:solidFill>
                  <a:srgbClr val="FF0000"/>
                </a:solidFill>
              </a:rPr>
              <a:t>change in my position </a:t>
            </a:r>
            <a:r>
              <a:rPr lang="en-US" altLang="en-US" sz="1600" b="0"/>
              <a:t>changes”</a:t>
            </a:r>
            <a:endParaRPr lang="en-US" altLang="en-US" sz="1400" b="0" i="1"/>
          </a:p>
          <a:p>
            <a:endParaRPr lang="en-US" altLang="en-US" sz="1400" b="0" i="1"/>
          </a:p>
        </p:txBody>
      </p:sp>
      <p:sp>
        <p:nvSpPr>
          <p:cNvPr id="919560" name="Oval 8">
            <a:extLst>
              <a:ext uri="{FF2B5EF4-FFF2-40B4-BE49-F238E27FC236}">
                <a16:creationId xmlns:a16="http://schemas.microsoft.com/office/drawing/2014/main" id="{4EFCD5B0-0C7D-227A-22DA-96A7AD2B9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6629400"/>
            <a:ext cx="90487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02" name="Rectangle 2">
            <a:extLst>
              <a:ext uri="{FF2B5EF4-FFF2-40B4-BE49-F238E27FC236}">
                <a16:creationId xmlns:a16="http://schemas.microsoft.com/office/drawing/2014/main" id="{D0B20E14-B327-C0B0-EED5-3D263BCCD0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21603" name="Rectangle 3">
            <a:extLst>
              <a:ext uri="{FF2B5EF4-FFF2-40B4-BE49-F238E27FC236}">
                <a16:creationId xmlns:a16="http://schemas.microsoft.com/office/drawing/2014/main" id="{BA8AB435-D921-9909-78AD-F276E50B8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grpSp>
        <p:nvGrpSpPr>
          <p:cNvPr id="921604" name="Group 4">
            <a:extLst>
              <a:ext uri="{FF2B5EF4-FFF2-40B4-BE49-F238E27FC236}">
                <a16:creationId xmlns:a16="http://schemas.microsoft.com/office/drawing/2014/main" id="{1B94929D-F179-992A-B2A3-52B03E8040E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4563" y="3382963"/>
            <a:ext cx="3292475" cy="3292475"/>
            <a:chOff x="1920" y="1968"/>
            <a:chExt cx="1056" cy="1056"/>
          </a:xfrm>
        </p:grpSpPr>
        <p:pic>
          <p:nvPicPr>
            <p:cNvPr id="921605" name="Picture 5">
              <a:extLst>
                <a:ext uri="{FF2B5EF4-FFF2-40B4-BE49-F238E27FC236}">
                  <a16:creationId xmlns:a16="http://schemas.microsoft.com/office/drawing/2014/main" id="{19524C9B-3818-9CB0-CBBD-4DE3354C29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21606" name="Freeform 6">
              <a:extLst>
                <a:ext uri="{FF2B5EF4-FFF2-40B4-BE49-F238E27FC236}">
                  <a16:creationId xmlns:a16="http://schemas.microsoft.com/office/drawing/2014/main" id="{22FC75A7-AB91-2473-15CE-3A0BA39BD8F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1607" name="Oval 7">
            <a:extLst>
              <a:ext uri="{FF2B5EF4-FFF2-40B4-BE49-F238E27FC236}">
                <a16:creationId xmlns:a16="http://schemas.microsoft.com/office/drawing/2014/main" id="{F6E9157A-603F-F59B-161E-7CFFAEE98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8150" y="6218238"/>
            <a:ext cx="90488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608" name="AutoShape 8">
            <a:extLst>
              <a:ext uri="{FF2B5EF4-FFF2-40B4-BE49-F238E27FC236}">
                <a16:creationId xmlns:a16="http://schemas.microsoft.com/office/drawing/2014/main" id="{39E300F6-201A-368A-E588-79A5D6053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“When I move along the curve,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My position changes”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“And the </a:t>
            </a:r>
            <a:r>
              <a:rPr lang="en-US" altLang="en-US" sz="1600" b="0">
                <a:solidFill>
                  <a:srgbClr val="FF0000"/>
                </a:solidFill>
              </a:rPr>
              <a:t>change in my position </a:t>
            </a:r>
            <a:r>
              <a:rPr lang="en-US" altLang="en-US" sz="1600" b="0"/>
              <a:t>changes”</a:t>
            </a:r>
            <a:endParaRPr lang="en-US" altLang="en-US" sz="1400" b="0" i="1"/>
          </a:p>
          <a:p>
            <a:endParaRPr lang="en-US" altLang="en-US" sz="1400" b="0" i="1"/>
          </a:p>
        </p:txBody>
      </p:sp>
      <p:sp>
        <p:nvSpPr>
          <p:cNvPr id="921609" name="Oval 9">
            <a:extLst>
              <a:ext uri="{FF2B5EF4-FFF2-40B4-BE49-F238E27FC236}">
                <a16:creationId xmlns:a16="http://schemas.microsoft.com/office/drawing/2014/main" id="{C194CD14-4931-A65F-4C6E-BB72E2DB6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6629400"/>
            <a:ext cx="90487" cy="920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610" name="Line 10">
            <a:extLst>
              <a:ext uri="{FF2B5EF4-FFF2-40B4-BE49-F238E27FC236}">
                <a16:creationId xmlns:a16="http://schemas.microsoft.com/office/drawing/2014/main" id="{7ADE27C2-DC91-394E-6571-2D7778DF60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5450" y="6311900"/>
            <a:ext cx="44450" cy="309563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650" name="Rectangle 2">
            <a:extLst>
              <a:ext uri="{FF2B5EF4-FFF2-40B4-BE49-F238E27FC236}">
                <a16:creationId xmlns:a16="http://schemas.microsoft.com/office/drawing/2014/main" id="{DB21CFE7-2E02-BA85-F2B1-74B87AA02F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23651" name="Rectangle 3">
            <a:extLst>
              <a:ext uri="{FF2B5EF4-FFF2-40B4-BE49-F238E27FC236}">
                <a16:creationId xmlns:a16="http://schemas.microsoft.com/office/drawing/2014/main" id="{2C03DCBC-5EC0-3FB3-AE89-11C324458C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grpSp>
        <p:nvGrpSpPr>
          <p:cNvPr id="923652" name="Group 4">
            <a:extLst>
              <a:ext uri="{FF2B5EF4-FFF2-40B4-BE49-F238E27FC236}">
                <a16:creationId xmlns:a16="http://schemas.microsoft.com/office/drawing/2014/main" id="{EE1C7BC2-F3F4-7775-68B2-5063AB4DE0E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4563" y="3382963"/>
            <a:ext cx="3292475" cy="3292475"/>
            <a:chOff x="1920" y="1968"/>
            <a:chExt cx="1056" cy="1056"/>
          </a:xfrm>
        </p:grpSpPr>
        <p:pic>
          <p:nvPicPr>
            <p:cNvPr id="923653" name="Picture 5">
              <a:extLst>
                <a:ext uri="{FF2B5EF4-FFF2-40B4-BE49-F238E27FC236}">
                  <a16:creationId xmlns:a16="http://schemas.microsoft.com/office/drawing/2014/main" id="{0F6E7C69-6939-1DC6-D18A-35F77046EE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23654" name="Freeform 6">
              <a:extLst>
                <a:ext uri="{FF2B5EF4-FFF2-40B4-BE49-F238E27FC236}">
                  <a16:creationId xmlns:a16="http://schemas.microsoft.com/office/drawing/2014/main" id="{BC2AFCD3-C41F-E5BA-26D3-E9FCD682E4A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3655" name="Oval 7">
            <a:extLst>
              <a:ext uri="{FF2B5EF4-FFF2-40B4-BE49-F238E27FC236}">
                <a16:creationId xmlns:a16="http://schemas.microsoft.com/office/drawing/2014/main" id="{3623663A-07E1-C87B-8E2C-D325231A1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5943600"/>
            <a:ext cx="90488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656" name="AutoShape 8">
            <a:extLst>
              <a:ext uri="{FF2B5EF4-FFF2-40B4-BE49-F238E27FC236}">
                <a16:creationId xmlns:a16="http://schemas.microsoft.com/office/drawing/2014/main" id="{BC089D6B-7A36-ED64-7CE6-B14C890CF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“When I move along the curve,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My position changes”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“And the </a:t>
            </a:r>
            <a:r>
              <a:rPr lang="en-US" altLang="en-US" sz="1600" b="0">
                <a:solidFill>
                  <a:srgbClr val="FF0000"/>
                </a:solidFill>
              </a:rPr>
              <a:t>change in my position </a:t>
            </a:r>
            <a:r>
              <a:rPr lang="en-US" altLang="en-US" sz="1600" b="0"/>
              <a:t>changes”</a:t>
            </a:r>
            <a:endParaRPr lang="en-US" altLang="en-US" sz="1400" b="0" i="1"/>
          </a:p>
          <a:p>
            <a:endParaRPr lang="en-US" altLang="en-US" sz="1400" b="0" i="1"/>
          </a:p>
        </p:txBody>
      </p:sp>
      <p:sp>
        <p:nvSpPr>
          <p:cNvPr id="923657" name="Line 9">
            <a:extLst>
              <a:ext uri="{FF2B5EF4-FFF2-40B4-BE49-F238E27FC236}">
                <a16:creationId xmlns:a16="http://schemas.microsoft.com/office/drawing/2014/main" id="{0E4EC828-6239-730E-764F-D3F829D56D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4188" y="6030913"/>
            <a:ext cx="66675" cy="236537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658" name="Oval 10">
            <a:extLst>
              <a:ext uri="{FF2B5EF4-FFF2-40B4-BE49-F238E27FC236}">
                <a16:creationId xmlns:a16="http://schemas.microsoft.com/office/drawing/2014/main" id="{BB2F8E8F-089E-6D84-C4D9-4A7D61615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8150" y="6218238"/>
            <a:ext cx="90488" cy="9207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698" name="Rectangle 2">
            <a:extLst>
              <a:ext uri="{FF2B5EF4-FFF2-40B4-BE49-F238E27FC236}">
                <a16:creationId xmlns:a16="http://schemas.microsoft.com/office/drawing/2014/main" id="{2DA78089-51D6-5A96-8E71-10E3BB7E3C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25699" name="Rectangle 3">
            <a:extLst>
              <a:ext uri="{FF2B5EF4-FFF2-40B4-BE49-F238E27FC236}">
                <a16:creationId xmlns:a16="http://schemas.microsoft.com/office/drawing/2014/main" id="{8EA01917-0994-00C8-520F-9109F89940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grpSp>
        <p:nvGrpSpPr>
          <p:cNvPr id="925700" name="Group 4">
            <a:extLst>
              <a:ext uri="{FF2B5EF4-FFF2-40B4-BE49-F238E27FC236}">
                <a16:creationId xmlns:a16="http://schemas.microsoft.com/office/drawing/2014/main" id="{B8BFD5CE-486E-0DF6-A521-70F9EF02AAC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4563" y="3382963"/>
            <a:ext cx="3292475" cy="3292475"/>
            <a:chOff x="1920" y="1968"/>
            <a:chExt cx="1056" cy="1056"/>
          </a:xfrm>
        </p:grpSpPr>
        <p:pic>
          <p:nvPicPr>
            <p:cNvPr id="925701" name="Picture 5">
              <a:extLst>
                <a:ext uri="{FF2B5EF4-FFF2-40B4-BE49-F238E27FC236}">
                  <a16:creationId xmlns:a16="http://schemas.microsoft.com/office/drawing/2014/main" id="{3D8BA9C1-A637-2FE5-F384-28442516AC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25702" name="Freeform 6">
              <a:extLst>
                <a:ext uri="{FF2B5EF4-FFF2-40B4-BE49-F238E27FC236}">
                  <a16:creationId xmlns:a16="http://schemas.microsoft.com/office/drawing/2014/main" id="{CEACE612-EACC-09ED-66B7-E1D45081FF3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5703" name="Oval 7">
            <a:extLst>
              <a:ext uri="{FF2B5EF4-FFF2-40B4-BE49-F238E27FC236}">
                <a16:creationId xmlns:a16="http://schemas.microsoft.com/office/drawing/2014/main" id="{A6C30627-CF25-016F-DD3B-8FD622AAF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5668963"/>
            <a:ext cx="90488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704" name="AutoShape 8">
            <a:extLst>
              <a:ext uri="{FF2B5EF4-FFF2-40B4-BE49-F238E27FC236}">
                <a16:creationId xmlns:a16="http://schemas.microsoft.com/office/drawing/2014/main" id="{9D2E3D53-38E7-6AFF-D229-4F7332C62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“When I move along the curve,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My position changes”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“And the </a:t>
            </a:r>
            <a:r>
              <a:rPr lang="en-US" altLang="en-US" sz="1600" b="0">
                <a:solidFill>
                  <a:srgbClr val="FF0000"/>
                </a:solidFill>
              </a:rPr>
              <a:t>change in my position </a:t>
            </a:r>
            <a:r>
              <a:rPr lang="en-US" altLang="en-US" sz="1600" b="0"/>
              <a:t>changes</a:t>
            </a:r>
            <a:endParaRPr lang="en-US" altLang="en-US" sz="1400" b="0" i="1"/>
          </a:p>
          <a:p>
            <a:endParaRPr lang="en-US" altLang="en-US" sz="1400" b="0" i="1"/>
          </a:p>
        </p:txBody>
      </p:sp>
      <p:sp>
        <p:nvSpPr>
          <p:cNvPr id="925705" name="Oval 9">
            <a:extLst>
              <a:ext uri="{FF2B5EF4-FFF2-40B4-BE49-F238E27FC236}">
                <a16:creationId xmlns:a16="http://schemas.microsoft.com/office/drawing/2014/main" id="{563FDE4C-CB67-B651-2E60-60F461453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5943600"/>
            <a:ext cx="90488" cy="9207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706" name="Line 10">
            <a:extLst>
              <a:ext uri="{FF2B5EF4-FFF2-40B4-BE49-F238E27FC236}">
                <a16:creationId xmlns:a16="http://schemas.microsoft.com/office/drawing/2014/main" id="{A496B4B3-E5D8-2E73-ED1D-104546F4D7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5721350"/>
            <a:ext cx="96838" cy="2667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746" name="Rectangle 2">
            <a:extLst>
              <a:ext uri="{FF2B5EF4-FFF2-40B4-BE49-F238E27FC236}">
                <a16:creationId xmlns:a16="http://schemas.microsoft.com/office/drawing/2014/main" id="{34ADDB64-6800-7A8C-7469-C33862CD9E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27747" name="Rectangle 3">
            <a:extLst>
              <a:ext uri="{FF2B5EF4-FFF2-40B4-BE49-F238E27FC236}">
                <a16:creationId xmlns:a16="http://schemas.microsoft.com/office/drawing/2014/main" id="{62FF3D2E-8578-568D-510C-281A2C29E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grpSp>
        <p:nvGrpSpPr>
          <p:cNvPr id="927748" name="Group 4">
            <a:extLst>
              <a:ext uri="{FF2B5EF4-FFF2-40B4-BE49-F238E27FC236}">
                <a16:creationId xmlns:a16="http://schemas.microsoft.com/office/drawing/2014/main" id="{074D0480-073F-64F3-1F40-7B3B0D55CD7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4563" y="3382963"/>
            <a:ext cx="3292475" cy="3292475"/>
            <a:chOff x="1920" y="1968"/>
            <a:chExt cx="1056" cy="1056"/>
          </a:xfrm>
        </p:grpSpPr>
        <p:pic>
          <p:nvPicPr>
            <p:cNvPr id="927749" name="Picture 5">
              <a:extLst>
                <a:ext uri="{FF2B5EF4-FFF2-40B4-BE49-F238E27FC236}">
                  <a16:creationId xmlns:a16="http://schemas.microsoft.com/office/drawing/2014/main" id="{C417411C-8EA2-0FF1-9B1C-8748B24A5C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27750" name="Freeform 6">
              <a:extLst>
                <a:ext uri="{FF2B5EF4-FFF2-40B4-BE49-F238E27FC236}">
                  <a16:creationId xmlns:a16="http://schemas.microsoft.com/office/drawing/2014/main" id="{8F8F83AD-87AE-16CD-3E17-4A918BD572B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7751" name="Oval 7">
            <a:extLst>
              <a:ext uri="{FF2B5EF4-FFF2-40B4-BE49-F238E27FC236}">
                <a16:creationId xmlns:a16="http://schemas.microsoft.com/office/drawing/2014/main" id="{D791EEC8-B93A-351D-AC8E-7B531AE4F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0" y="5356225"/>
            <a:ext cx="90488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7752" name="AutoShape 8">
            <a:extLst>
              <a:ext uri="{FF2B5EF4-FFF2-40B4-BE49-F238E27FC236}">
                <a16:creationId xmlns:a16="http://schemas.microsoft.com/office/drawing/2014/main" id="{CBFE01A9-A91B-5F63-CA6A-BF45C3E93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“When I move along the curve,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My position changes”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“And the </a:t>
            </a:r>
            <a:r>
              <a:rPr lang="en-US" altLang="en-US" sz="1600" b="0">
                <a:solidFill>
                  <a:srgbClr val="FF0000"/>
                </a:solidFill>
              </a:rPr>
              <a:t>change in my position </a:t>
            </a:r>
            <a:r>
              <a:rPr lang="en-US" altLang="en-US" sz="1600" b="0"/>
              <a:t>changes</a:t>
            </a:r>
            <a:endParaRPr lang="en-US" altLang="en-US" sz="1400" b="0" i="1"/>
          </a:p>
          <a:p>
            <a:endParaRPr lang="en-US" altLang="en-US" sz="1400" b="0" i="1"/>
          </a:p>
        </p:txBody>
      </p:sp>
      <p:sp>
        <p:nvSpPr>
          <p:cNvPr id="927753" name="Line 9">
            <a:extLst>
              <a:ext uri="{FF2B5EF4-FFF2-40B4-BE49-F238E27FC236}">
                <a16:creationId xmlns:a16="http://schemas.microsoft.com/office/drawing/2014/main" id="{8E437F24-CBFD-FA12-1D73-F3E15078AB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54213" y="5419725"/>
            <a:ext cx="193675" cy="274638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754" name="Oval 10">
            <a:extLst>
              <a:ext uri="{FF2B5EF4-FFF2-40B4-BE49-F238E27FC236}">
                <a16:creationId xmlns:a16="http://schemas.microsoft.com/office/drawing/2014/main" id="{619A39A9-12A4-EAC2-389E-9926467F2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5668963"/>
            <a:ext cx="90488" cy="9207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794" name="Rectangle 2">
            <a:extLst>
              <a:ext uri="{FF2B5EF4-FFF2-40B4-BE49-F238E27FC236}">
                <a16:creationId xmlns:a16="http://schemas.microsoft.com/office/drawing/2014/main" id="{5D604CA4-EEA5-A773-291E-E8E7C585F0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29795" name="Rectangle 3">
            <a:extLst>
              <a:ext uri="{FF2B5EF4-FFF2-40B4-BE49-F238E27FC236}">
                <a16:creationId xmlns:a16="http://schemas.microsoft.com/office/drawing/2014/main" id="{7F8C3BDD-9218-7CE8-513D-32F6A9D739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grpSp>
        <p:nvGrpSpPr>
          <p:cNvPr id="929796" name="Group 4">
            <a:extLst>
              <a:ext uri="{FF2B5EF4-FFF2-40B4-BE49-F238E27FC236}">
                <a16:creationId xmlns:a16="http://schemas.microsoft.com/office/drawing/2014/main" id="{287D5757-BB44-0EF4-40B7-1A6A8F3A277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4563" y="3382963"/>
            <a:ext cx="3292475" cy="3292475"/>
            <a:chOff x="1920" y="1968"/>
            <a:chExt cx="1056" cy="1056"/>
          </a:xfrm>
        </p:grpSpPr>
        <p:pic>
          <p:nvPicPr>
            <p:cNvPr id="929797" name="Picture 5">
              <a:extLst>
                <a:ext uri="{FF2B5EF4-FFF2-40B4-BE49-F238E27FC236}">
                  <a16:creationId xmlns:a16="http://schemas.microsoft.com/office/drawing/2014/main" id="{2E38C92C-ADDB-24AB-325B-761E812AD3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29798" name="Freeform 6">
              <a:extLst>
                <a:ext uri="{FF2B5EF4-FFF2-40B4-BE49-F238E27FC236}">
                  <a16:creationId xmlns:a16="http://schemas.microsoft.com/office/drawing/2014/main" id="{8771C016-8805-B270-7802-6610CCF2824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9799" name="Oval 7">
            <a:extLst>
              <a:ext uri="{FF2B5EF4-FFF2-40B4-BE49-F238E27FC236}">
                <a16:creationId xmlns:a16="http://schemas.microsoft.com/office/drawing/2014/main" id="{F93A26A8-8533-5ADD-D577-119A0DFFA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8150" y="6218238"/>
            <a:ext cx="90488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9800" name="Oval 8">
            <a:extLst>
              <a:ext uri="{FF2B5EF4-FFF2-40B4-BE49-F238E27FC236}">
                <a16:creationId xmlns:a16="http://schemas.microsoft.com/office/drawing/2014/main" id="{5D4D71D5-2B7A-67A0-9E52-E96022949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6629400"/>
            <a:ext cx="90487" cy="920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9801" name="Line 9">
            <a:extLst>
              <a:ext uri="{FF2B5EF4-FFF2-40B4-BE49-F238E27FC236}">
                <a16:creationId xmlns:a16="http://schemas.microsoft.com/office/drawing/2014/main" id="{67F01A71-6781-7190-02C6-7F26B41EB3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5450" y="5648325"/>
            <a:ext cx="139700" cy="973138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9802" name="AutoShape 10">
            <a:extLst>
              <a:ext uri="{FF2B5EF4-FFF2-40B4-BE49-F238E27FC236}">
                <a16:creationId xmlns:a16="http://schemas.microsoft.com/office/drawing/2014/main" id="{503D5235-C2BE-A138-E0C1-02F754320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“When I move along the curve,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My position changes”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“And the </a:t>
            </a:r>
            <a:r>
              <a:rPr lang="en-US" altLang="en-US" sz="1600" b="0">
                <a:solidFill>
                  <a:srgbClr val="FF0000"/>
                </a:solidFill>
              </a:rPr>
              <a:t>change in my position </a:t>
            </a:r>
            <a:r>
              <a:rPr lang="en-US" altLang="en-US" sz="1600" b="0"/>
              <a:t>changes”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“And the </a:t>
            </a:r>
            <a:r>
              <a:rPr lang="en-US" altLang="en-US" sz="1600" b="0">
                <a:solidFill>
                  <a:srgbClr val="FF0000"/>
                </a:solidFill>
              </a:rPr>
              <a:t>change in the change</a:t>
            </a:r>
          </a:p>
          <a:p>
            <a:pPr algn="ctr"/>
            <a:r>
              <a:rPr lang="en-US" altLang="en-US" sz="1600" b="0"/>
              <a:t>in my position</a:t>
            </a:r>
            <a:r>
              <a:rPr lang="en-US" altLang="en-US" sz="1600" b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US" altLang="en-US" sz="1600" b="0"/>
              <a:t>changes”</a:t>
            </a:r>
            <a:endParaRPr lang="en-US" altLang="en-US" sz="1600" b="0" i="1"/>
          </a:p>
          <a:p>
            <a:pPr algn="ctr"/>
            <a:endParaRPr lang="en-US" altLang="en-US" sz="1600" b="0" i="1"/>
          </a:p>
          <a:p>
            <a:endParaRPr lang="en-US" altLang="en-US" sz="1400" b="0" i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42" name="Rectangle 2">
            <a:extLst>
              <a:ext uri="{FF2B5EF4-FFF2-40B4-BE49-F238E27FC236}">
                <a16:creationId xmlns:a16="http://schemas.microsoft.com/office/drawing/2014/main" id="{14D250A5-25C2-111C-6E0D-4332EDDC20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31843" name="Rectangle 3">
            <a:extLst>
              <a:ext uri="{FF2B5EF4-FFF2-40B4-BE49-F238E27FC236}">
                <a16:creationId xmlns:a16="http://schemas.microsoft.com/office/drawing/2014/main" id="{4E4EC429-62FE-1A87-E791-11C2DEAD5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grpSp>
        <p:nvGrpSpPr>
          <p:cNvPr id="931844" name="Group 4">
            <a:extLst>
              <a:ext uri="{FF2B5EF4-FFF2-40B4-BE49-F238E27FC236}">
                <a16:creationId xmlns:a16="http://schemas.microsoft.com/office/drawing/2014/main" id="{59672F09-9532-FED1-4A11-66AEFD003AD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4563" y="3382963"/>
            <a:ext cx="3292475" cy="3292475"/>
            <a:chOff x="1920" y="1968"/>
            <a:chExt cx="1056" cy="1056"/>
          </a:xfrm>
        </p:grpSpPr>
        <p:pic>
          <p:nvPicPr>
            <p:cNvPr id="931845" name="Picture 5">
              <a:extLst>
                <a:ext uri="{FF2B5EF4-FFF2-40B4-BE49-F238E27FC236}">
                  <a16:creationId xmlns:a16="http://schemas.microsoft.com/office/drawing/2014/main" id="{EBEF315F-7A99-47A2-164C-4255A520C3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31846" name="Freeform 6">
              <a:extLst>
                <a:ext uri="{FF2B5EF4-FFF2-40B4-BE49-F238E27FC236}">
                  <a16:creationId xmlns:a16="http://schemas.microsoft.com/office/drawing/2014/main" id="{99E88EC1-C21F-EC8E-6462-4111DEE6E23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31847" name="Line 7">
            <a:extLst>
              <a:ext uri="{FF2B5EF4-FFF2-40B4-BE49-F238E27FC236}">
                <a16:creationId xmlns:a16="http://schemas.microsoft.com/office/drawing/2014/main" id="{3D1BAB76-9709-0FE0-CAF2-99258E09E2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4188" y="5270500"/>
            <a:ext cx="280987" cy="99695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1848" name="AutoShape 8">
            <a:extLst>
              <a:ext uri="{FF2B5EF4-FFF2-40B4-BE49-F238E27FC236}">
                <a16:creationId xmlns:a16="http://schemas.microsoft.com/office/drawing/2014/main" id="{54BF39A6-5FEA-8CD7-4ED5-553BED1A9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“When I move along the curve,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My position changes”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“And the </a:t>
            </a:r>
            <a:r>
              <a:rPr lang="en-US" altLang="en-US" sz="1600" b="0">
                <a:solidFill>
                  <a:srgbClr val="FF0000"/>
                </a:solidFill>
              </a:rPr>
              <a:t>change in my position </a:t>
            </a:r>
            <a:r>
              <a:rPr lang="en-US" altLang="en-US" sz="1600" b="0"/>
              <a:t>changes”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“And the </a:t>
            </a:r>
            <a:r>
              <a:rPr lang="en-US" altLang="en-US" sz="1600" b="0">
                <a:solidFill>
                  <a:srgbClr val="FF0000"/>
                </a:solidFill>
              </a:rPr>
              <a:t>change in the change</a:t>
            </a:r>
          </a:p>
          <a:p>
            <a:pPr algn="ctr"/>
            <a:r>
              <a:rPr lang="en-US" altLang="en-US" sz="1600" b="0"/>
              <a:t>in my position</a:t>
            </a:r>
            <a:r>
              <a:rPr lang="en-US" altLang="en-US" sz="1600" b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US" altLang="en-US" sz="1600" b="0"/>
              <a:t>changes”</a:t>
            </a:r>
            <a:endParaRPr lang="en-US" altLang="en-US" sz="1600" b="0" i="1"/>
          </a:p>
          <a:p>
            <a:pPr algn="ctr"/>
            <a:endParaRPr lang="en-US" altLang="en-US" sz="1600" b="0" i="1"/>
          </a:p>
          <a:p>
            <a:endParaRPr lang="en-US" altLang="en-US" sz="1400" b="0" i="1"/>
          </a:p>
        </p:txBody>
      </p:sp>
      <p:sp>
        <p:nvSpPr>
          <p:cNvPr id="931849" name="Oval 9">
            <a:extLst>
              <a:ext uri="{FF2B5EF4-FFF2-40B4-BE49-F238E27FC236}">
                <a16:creationId xmlns:a16="http://schemas.microsoft.com/office/drawing/2014/main" id="{9B2A2D5C-C9FF-4CBF-3AAE-92F009F82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6629400"/>
            <a:ext cx="90487" cy="920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1850" name="Line 10">
            <a:extLst>
              <a:ext uri="{FF2B5EF4-FFF2-40B4-BE49-F238E27FC236}">
                <a16:creationId xmlns:a16="http://schemas.microsoft.com/office/drawing/2014/main" id="{F53A1315-471D-015D-719A-F7051D869D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0688" y="5211763"/>
            <a:ext cx="206375" cy="1438275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1851" name="Oval 11">
            <a:extLst>
              <a:ext uri="{FF2B5EF4-FFF2-40B4-BE49-F238E27FC236}">
                <a16:creationId xmlns:a16="http://schemas.microsoft.com/office/drawing/2014/main" id="{E5CF2E1A-DBCA-2464-E11C-B0DFAAC2A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8150" y="6218238"/>
            <a:ext cx="90488" cy="9207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1852" name="Oval 12">
            <a:extLst>
              <a:ext uri="{FF2B5EF4-FFF2-40B4-BE49-F238E27FC236}">
                <a16:creationId xmlns:a16="http://schemas.microsoft.com/office/drawing/2014/main" id="{C0AC6F98-941E-7A1A-6544-D4232C665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5943600"/>
            <a:ext cx="90488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890" name="Rectangle 2">
            <a:extLst>
              <a:ext uri="{FF2B5EF4-FFF2-40B4-BE49-F238E27FC236}">
                <a16:creationId xmlns:a16="http://schemas.microsoft.com/office/drawing/2014/main" id="{E127BAE9-F5F4-C41F-7660-AEFCA2185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33891" name="Rectangle 3">
            <a:extLst>
              <a:ext uri="{FF2B5EF4-FFF2-40B4-BE49-F238E27FC236}">
                <a16:creationId xmlns:a16="http://schemas.microsoft.com/office/drawing/2014/main" id="{48CF55B5-57C4-39A0-6E6C-98638A15B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grpSp>
        <p:nvGrpSpPr>
          <p:cNvPr id="933892" name="Group 4">
            <a:extLst>
              <a:ext uri="{FF2B5EF4-FFF2-40B4-BE49-F238E27FC236}">
                <a16:creationId xmlns:a16="http://schemas.microsoft.com/office/drawing/2014/main" id="{BC117496-EF44-AA1A-3441-28B6DF4DD09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4563" y="3382963"/>
            <a:ext cx="3292475" cy="3292475"/>
            <a:chOff x="1920" y="1968"/>
            <a:chExt cx="1056" cy="1056"/>
          </a:xfrm>
        </p:grpSpPr>
        <p:pic>
          <p:nvPicPr>
            <p:cNvPr id="933893" name="Picture 5">
              <a:extLst>
                <a:ext uri="{FF2B5EF4-FFF2-40B4-BE49-F238E27FC236}">
                  <a16:creationId xmlns:a16="http://schemas.microsoft.com/office/drawing/2014/main" id="{9B75A2F3-943B-1A3E-5235-50625EEE4A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33894" name="Freeform 6">
              <a:extLst>
                <a:ext uri="{FF2B5EF4-FFF2-40B4-BE49-F238E27FC236}">
                  <a16:creationId xmlns:a16="http://schemas.microsoft.com/office/drawing/2014/main" id="{B746C00D-CFB4-88D7-4137-6B8AA98228E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33895" name="AutoShape 7">
            <a:extLst>
              <a:ext uri="{FF2B5EF4-FFF2-40B4-BE49-F238E27FC236}">
                <a16:creationId xmlns:a16="http://schemas.microsoft.com/office/drawing/2014/main" id="{1E72106B-E1AC-B258-89DF-C2998B507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“When I move along the curve,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My position changes”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“And the </a:t>
            </a:r>
            <a:r>
              <a:rPr lang="en-US" altLang="en-US" sz="1600" b="0">
                <a:solidFill>
                  <a:srgbClr val="FF0000"/>
                </a:solidFill>
              </a:rPr>
              <a:t>change in my position </a:t>
            </a:r>
            <a:r>
              <a:rPr lang="en-US" altLang="en-US" sz="1600" b="0"/>
              <a:t>changes</a:t>
            </a:r>
            <a:endParaRPr lang="en-US" altLang="en-US" sz="1400" b="0" i="1"/>
          </a:p>
          <a:p>
            <a:endParaRPr lang="en-US" altLang="en-US" sz="1400" b="0" i="1"/>
          </a:p>
        </p:txBody>
      </p:sp>
      <p:sp>
        <p:nvSpPr>
          <p:cNvPr id="933896" name="Line 8">
            <a:extLst>
              <a:ext uri="{FF2B5EF4-FFF2-40B4-BE49-F238E27FC236}">
                <a16:creationId xmlns:a16="http://schemas.microsoft.com/office/drawing/2014/main" id="{42294516-D9B0-E2EB-0E9B-FBB4D56545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5084763"/>
            <a:ext cx="328613" cy="903287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3897" name="Line 9">
            <a:extLst>
              <a:ext uri="{FF2B5EF4-FFF2-40B4-BE49-F238E27FC236}">
                <a16:creationId xmlns:a16="http://schemas.microsoft.com/office/drawing/2014/main" id="{DF20D3C8-465B-45D7-E661-9DD9C060E5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4188" y="5016500"/>
            <a:ext cx="352425" cy="125095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3898" name="Oval 10">
            <a:extLst>
              <a:ext uri="{FF2B5EF4-FFF2-40B4-BE49-F238E27FC236}">
                <a16:creationId xmlns:a16="http://schemas.microsoft.com/office/drawing/2014/main" id="{87258A63-E869-4252-A451-2010BCA42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8150" y="6218238"/>
            <a:ext cx="90488" cy="9207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3899" name="Oval 11">
            <a:extLst>
              <a:ext uri="{FF2B5EF4-FFF2-40B4-BE49-F238E27FC236}">
                <a16:creationId xmlns:a16="http://schemas.microsoft.com/office/drawing/2014/main" id="{E697337A-4911-2738-D6A2-8FE8ACCD8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5943600"/>
            <a:ext cx="90488" cy="9207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3900" name="Oval 12">
            <a:extLst>
              <a:ext uri="{FF2B5EF4-FFF2-40B4-BE49-F238E27FC236}">
                <a16:creationId xmlns:a16="http://schemas.microsoft.com/office/drawing/2014/main" id="{D0C4DB68-9B5E-14D5-02F9-A5EDEFE2A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5668963"/>
            <a:ext cx="90488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938" name="Rectangle 2">
            <a:extLst>
              <a:ext uri="{FF2B5EF4-FFF2-40B4-BE49-F238E27FC236}">
                <a16:creationId xmlns:a16="http://schemas.microsoft.com/office/drawing/2014/main" id="{5F2316BE-3569-423D-0AD5-838199A7D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35939" name="Rectangle 3">
            <a:extLst>
              <a:ext uri="{FF2B5EF4-FFF2-40B4-BE49-F238E27FC236}">
                <a16:creationId xmlns:a16="http://schemas.microsoft.com/office/drawing/2014/main" id="{D52C89E0-4BA9-9190-C1BF-03AD0931F3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pic>
        <p:nvPicPr>
          <p:cNvPr id="935940" name="Picture 4">
            <a:extLst>
              <a:ext uri="{FF2B5EF4-FFF2-40B4-BE49-F238E27FC236}">
                <a16:creationId xmlns:a16="http://schemas.microsoft.com/office/drawing/2014/main" id="{5FACEBFC-DA51-0DAE-D48C-182EB5A03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63" y="3382963"/>
            <a:ext cx="3292475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5941" name="Freeform 5">
            <a:extLst>
              <a:ext uri="{FF2B5EF4-FFF2-40B4-BE49-F238E27FC236}">
                <a16:creationId xmlns:a16="http://schemas.microsoft.com/office/drawing/2014/main" id="{A8F615B2-B38E-645E-59BA-A096E73C427A}"/>
              </a:ext>
            </a:extLst>
          </p:cNvPr>
          <p:cNvSpPr>
            <a:spLocks noChangeAspect="1"/>
          </p:cNvSpPr>
          <p:nvPr/>
        </p:nvSpPr>
        <p:spPr bwMode="auto">
          <a:xfrm>
            <a:off x="1692275" y="4430713"/>
            <a:ext cx="2544763" cy="2244725"/>
          </a:xfrm>
          <a:custGeom>
            <a:avLst/>
            <a:gdLst>
              <a:gd name="T0" fmla="*/ 0 w 816"/>
              <a:gd name="T1" fmla="*/ 720 h 720"/>
              <a:gd name="T2" fmla="*/ 96 w 816"/>
              <a:gd name="T3" fmla="*/ 384 h 720"/>
              <a:gd name="T4" fmla="*/ 318 w 816"/>
              <a:gd name="T5" fmla="*/ 191 h 720"/>
              <a:gd name="T6" fmla="*/ 642 w 816"/>
              <a:gd name="T7" fmla="*/ 75 h 720"/>
              <a:gd name="T8" fmla="*/ 816 w 816"/>
              <a:gd name="T9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6" h="720">
                <a:moveTo>
                  <a:pt x="0" y="720"/>
                </a:moveTo>
                <a:cubicBezTo>
                  <a:pt x="12" y="600"/>
                  <a:pt x="43" y="472"/>
                  <a:pt x="96" y="384"/>
                </a:cubicBezTo>
                <a:cubicBezTo>
                  <a:pt x="149" y="296"/>
                  <a:pt x="227" y="242"/>
                  <a:pt x="318" y="191"/>
                </a:cubicBezTo>
                <a:cubicBezTo>
                  <a:pt x="409" y="140"/>
                  <a:pt x="559" y="107"/>
                  <a:pt x="642" y="75"/>
                </a:cubicBezTo>
                <a:cubicBezTo>
                  <a:pt x="725" y="43"/>
                  <a:pt x="780" y="16"/>
                  <a:pt x="816" y="0"/>
                </a:cubicBezTo>
              </a:path>
            </a:pathLst>
          </a:custGeom>
          <a:noFill/>
          <a:ln w="28575" cap="flat" cmpd="sng">
            <a:solidFill>
              <a:srgbClr val="FF00FF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5942" name="Line 6">
            <a:extLst>
              <a:ext uri="{FF2B5EF4-FFF2-40B4-BE49-F238E27FC236}">
                <a16:creationId xmlns:a16="http://schemas.microsoft.com/office/drawing/2014/main" id="{7F4330C0-6ADF-41E2-92BD-EB5FD48997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54213" y="4660900"/>
            <a:ext cx="728662" cy="1033463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5943" name="AutoShape 7">
            <a:extLst>
              <a:ext uri="{FF2B5EF4-FFF2-40B4-BE49-F238E27FC236}">
                <a16:creationId xmlns:a16="http://schemas.microsoft.com/office/drawing/2014/main" id="{32E59066-66F2-7681-2A24-910FF44AA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“When I move along the curve,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My position changes”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“And the </a:t>
            </a:r>
            <a:r>
              <a:rPr lang="en-US" altLang="en-US" sz="1600" b="0">
                <a:solidFill>
                  <a:srgbClr val="FF0000"/>
                </a:solidFill>
              </a:rPr>
              <a:t>change in my position </a:t>
            </a:r>
            <a:r>
              <a:rPr lang="en-US" altLang="en-US" sz="1600" b="0"/>
              <a:t>changes”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“And the </a:t>
            </a:r>
            <a:r>
              <a:rPr lang="en-US" altLang="en-US" sz="1600" b="0">
                <a:solidFill>
                  <a:srgbClr val="FF0000"/>
                </a:solidFill>
              </a:rPr>
              <a:t>change in the change</a:t>
            </a:r>
          </a:p>
          <a:p>
            <a:pPr algn="ctr"/>
            <a:r>
              <a:rPr lang="en-US" altLang="en-US" sz="1600" b="0"/>
              <a:t>in my position</a:t>
            </a:r>
            <a:r>
              <a:rPr lang="en-US" altLang="en-US" sz="1600" b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US" altLang="en-US" sz="1600" b="0"/>
              <a:t>changes”</a:t>
            </a:r>
            <a:endParaRPr lang="en-US" altLang="en-US" sz="1600" b="0" i="1"/>
          </a:p>
          <a:p>
            <a:pPr algn="ctr"/>
            <a:endParaRPr lang="en-US" altLang="en-US" sz="1600" b="0" i="1"/>
          </a:p>
          <a:p>
            <a:endParaRPr lang="en-US" altLang="en-US" sz="1400" b="0" i="1"/>
          </a:p>
        </p:txBody>
      </p:sp>
      <p:sp>
        <p:nvSpPr>
          <p:cNvPr id="935944" name="Line 8">
            <a:extLst>
              <a:ext uri="{FF2B5EF4-FFF2-40B4-BE49-F238E27FC236}">
                <a16:creationId xmlns:a16="http://schemas.microsoft.com/office/drawing/2014/main" id="{74CB13CD-3BBA-0508-B768-4EA3918FD6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4538663"/>
            <a:ext cx="527050" cy="1449387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5945" name="Oval 9">
            <a:extLst>
              <a:ext uri="{FF2B5EF4-FFF2-40B4-BE49-F238E27FC236}">
                <a16:creationId xmlns:a16="http://schemas.microsoft.com/office/drawing/2014/main" id="{BAA5D64A-B79C-FBC2-AD57-B506348B1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5943600"/>
            <a:ext cx="90488" cy="9207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5946" name="Oval 10">
            <a:extLst>
              <a:ext uri="{FF2B5EF4-FFF2-40B4-BE49-F238E27FC236}">
                <a16:creationId xmlns:a16="http://schemas.microsoft.com/office/drawing/2014/main" id="{C718CC72-7604-DB67-F95C-0B5C6D7E3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0" y="5356225"/>
            <a:ext cx="90488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5947" name="Oval 11">
            <a:extLst>
              <a:ext uri="{FF2B5EF4-FFF2-40B4-BE49-F238E27FC236}">
                <a16:creationId xmlns:a16="http://schemas.microsoft.com/office/drawing/2014/main" id="{A81C2F9D-765D-11F4-9E01-678FEEFD3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5668963"/>
            <a:ext cx="90488" cy="9207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22" name="Picture 2">
            <a:extLst>
              <a:ext uri="{FF2B5EF4-FFF2-40B4-BE49-F238E27FC236}">
                <a16:creationId xmlns:a16="http://schemas.microsoft.com/office/drawing/2014/main" id="{CF4264E9-AADE-E14C-B598-7BDEBCC2419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1588"/>
            <a:ext cx="4695825" cy="329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696323" name="Rectangle 3">
            <a:extLst>
              <a:ext uri="{FF2B5EF4-FFF2-40B4-BE49-F238E27FC236}">
                <a16:creationId xmlns:a16="http://schemas.microsoft.com/office/drawing/2014/main" id="{15CA5C33-A0D0-A79D-65BB-1B0CC7DD51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696324" name="Rectangle 4">
            <a:extLst>
              <a:ext uri="{FF2B5EF4-FFF2-40B4-BE49-F238E27FC236}">
                <a16:creationId xmlns:a16="http://schemas.microsoft.com/office/drawing/2014/main" id="{A08C2FEB-DF41-8CB7-CF35-5252072F2C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Example: surface curvature</a:t>
            </a:r>
          </a:p>
        </p:txBody>
      </p:sp>
      <p:sp>
        <p:nvSpPr>
          <p:cNvPr id="696325" name="AutoShape 5">
            <a:extLst>
              <a:ext uri="{FF2B5EF4-FFF2-40B4-BE49-F238E27FC236}">
                <a16:creationId xmlns:a16="http://schemas.microsoft.com/office/drawing/2014/main" id="{ADEBD7D2-4E62-FFD9-B536-B750E57DD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“As I move along a surface…”</a:t>
            </a:r>
          </a:p>
          <a:p>
            <a:pPr algn="ctr"/>
            <a:endParaRPr lang="en-US" altLang="en-US" sz="1600" b="0"/>
          </a:p>
          <a:p>
            <a:endParaRPr lang="en-US" altLang="en-US" sz="1400" b="0" i="1"/>
          </a:p>
        </p:txBody>
      </p:sp>
      <p:sp>
        <p:nvSpPr>
          <p:cNvPr id="696326" name="Freeform 6">
            <a:extLst>
              <a:ext uri="{FF2B5EF4-FFF2-40B4-BE49-F238E27FC236}">
                <a16:creationId xmlns:a16="http://schemas.microsoft.com/office/drawing/2014/main" id="{C6EBC1CF-B534-9798-9F8E-1279B6ED966C}"/>
              </a:ext>
            </a:extLst>
          </p:cNvPr>
          <p:cNvSpPr>
            <a:spLocks/>
          </p:cNvSpPr>
          <p:nvPr/>
        </p:nvSpPr>
        <p:spPr bwMode="auto">
          <a:xfrm>
            <a:off x="1031875" y="3398838"/>
            <a:ext cx="2212975" cy="1217612"/>
          </a:xfrm>
          <a:custGeom>
            <a:avLst/>
            <a:gdLst>
              <a:gd name="T0" fmla="*/ 0 w 1394"/>
              <a:gd name="T1" fmla="*/ 767 h 767"/>
              <a:gd name="T2" fmla="*/ 47 w 1394"/>
              <a:gd name="T3" fmla="*/ 730 h 767"/>
              <a:gd name="T4" fmla="*/ 112 w 1394"/>
              <a:gd name="T5" fmla="*/ 669 h 767"/>
              <a:gd name="T6" fmla="*/ 191 w 1394"/>
              <a:gd name="T7" fmla="*/ 576 h 767"/>
              <a:gd name="T8" fmla="*/ 260 w 1394"/>
              <a:gd name="T9" fmla="*/ 405 h 767"/>
              <a:gd name="T10" fmla="*/ 321 w 1394"/>
              <a:gd name="T11" fmla="*/ 298 h 767"/>
              <a:gd name="T12" fmla="*/ 353 w 1394"/>
              <a:gd name="T13" fmla="*/ 261 h 767"/>
              <a:gd name="T14" fmla="*/ 391 w 1394"/>
              <a:gd name="T15" fmla="*/ 219 h 767"/>
              <a:gd name="T16" fmla="*/ 507 w 1394"/>
              <a:gd name="T17" fmla="*/ 140 h 767"/>
              <a:gd name="T18" fmla="*/ 1097 w 1394"/>
              <a:gd name="T19" fmla="*/ 130 h 767"/>
              <a:gd name="T20" fmla="*/ 1268 w 1394"/>
              <a:gd name="T21" fmla="*/ 75 h 767"/>
              <a:gd name="T22" fmla="*/ 1394 w 1394"/>
              <a:gd name="T23" fmla="*/ 0 h 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394" h="767">
                <a:moveTo>
                  <a:pt x="0" y="767"/>
                </a:moveTo>
                <a:cubicBezTo>
                  <a:pt x="15" y="754"/>
                  <a:pt x="29" y="735"/>
                  <a:pt x="47" y="730"/>
                </a:cubicBezTo>
                <a:cubicBezTo>
                  <a:pt x="66" y="708"/>
                  <a:pt x="96" y="694"/>
                  <a:pt x="112" y="669"/>
                </a:cubicBezTo>
                <a:cubicBezTo>
                  <a:pt x="133" y="637"/>
                  <a:pt x="164" y="603"/>
                  <a:pt x="191" y="576"/>
                </a:cubicBezTo>
                <a:cubicBezTo>
                  <a:pt x="216" y="532"/>
                  <a:pt x="245" y="439"/>
                  <a:pt x="260" y="405"/>
                </a:cubicBezTo>
                <a:cubicBezTo>
                  <a:pt x="282" y="359"/>
                  <a:pt x="306" y="322"/>
                  <a:pt x="321" y="298"/>
                </a:cubicBezTo>
                <a:cubicBezTo>
                  <a:pt x="327" y="278"/>
                  <a:pt x="336" y="274"/>
                  <a:pt x="353" y="261"/>
                </a:cubicBezTo>
                <a:cubicBezTo>
                  <a:pt x="360" y="241"/>
                  <a:pt x="376" y="234"/>
                  <a:pt x="391" y="219"/>
                </a:cubicBezTo>
                <a:cubicBezTo>
                  <a:pt x="420" y="190"/>
                  <a:pt x="468" y="151"/>
                  <a:pt x="507" y="140"/>
                </a:cubicBezTo>
                <a:cubicBezTo>
                  <a:pt x="579" y="89"/>
                  <a:pt x="942" y="135"/>
                  <a:pt x="1097" y="130"/>
                </a:cubicBezTo>
                <a:cubicBezTo>
                  <a:pt x="1224" y="119"/>
                  <a:pt x="1218" y="97"/>
                  <a:pt x="1268" y="75"/>
                </a:cubicBezTo>
                <a:cubicBezTo>
                  <a:pt x="1318" y="53"/>
                  <a:pt x="1373" y="12"/>
                  <a:pt x="1394" y="0"/>
                </a:cubicBezTo>
              </a:path>
            </a:pathLst>
          </a:cu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327" name="Oval 7">
            <a:extLst>
              <a:ext uri="{FF2B5EF4-FFF2-40B4-BE49-F238E27FC236}">
                <a16:creationId xmlns:a16="http://schemas.microsoft.com/office/drawing/2014/main" id="{3DAED401-36F6-356C-A46B-B55F220FA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6075" y="3678238"/>
            <a:ext cx="90488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328" name="Oval 8">
            <a:extLst>
              <a:ext uri="{FF2B5EF4-FFF2-40B4-BE49-F238E27FC236}">
                <a16:creationId xmlns:a16="http://schemas.microsoft.com/office/drawing/2014/main" id="{931EC989-92FA-AD22-B684-21D4AD506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792538"/>
            <a:ext cx="90488" cy="9207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370" name="Picture 2">
            <a:extLst>
              <a:ext uri="{FF2B5EF4-FFF2-40B4-BE49-F238E27FC236}">
                <a16:creationId xmlns:a16="http://schemas.microsoft.com/office/drawing/2014/main" id="{FF52CD37-333D-C1B8-D79F-06B3633E8CC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1588"/>
            <a:ext cx="4695825" cy="329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698371" name="Rectangle 3">
            <a:extLst>
              <a:ext uri="{FF2B5EF4-FFF2-40B4-BE49-F238E27FC236}">
                <a16:creationId xmlns:a16="http://schemas.microsoft.com/office/drawing/2014/main" id="{B2E630E4-058D-5786-E4FD-13E0FC8AD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698372" name="Rectangle 4">
            <a:extLst>
              <a:ext uri="{FF2B5EF4-FFF2-40B4-BE49-F238E27FC236}">
                <a16:creationId xmlns:a16="http://schemas.microsoft.com/office/drawing/2014/main" id="{54A15380-FBDA-5227-082D-A94EFCB30B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Example: surface curvature</a:t>
            </a:r>
          </a:p>
        </p:txBody>
      </p:sp>
      <p:sp>
        <p:nvSpPr>
          <p:cNvPr id="698373" name="AutoShape 5">
            <a:extLst>
              <a:ext uri="{FF2B5EF4-FFF2-40B4-BE49-F238E27FC236}">
                <a16:creationId xmlns:a16="http://schemas.microsoft.com/office/drawing/2014/main" id="{E6A62999-9B01-3DA2-D79C-0BECB56E0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“As I move along a surface …</a:t>
            </a:r>
          </a:p>
          <a:p>
            <a:pPr algn="ctr"/>
            <a:endParaRPr lang="en-US" altLang="en-US" sz="1600" b="0"/>
          </a:p>
          <a:p>
            <a:pPr algn="ctr"/>
            <a:endParaRPr lang="en-US" altLang="en-US" sz="1600" b="0" i="1"/>
          </a:p>
          <a:p>
            <a:endParaRPr lang="en-US" altLang="en-US" sz="1400" b="0" i="1"/>
          </a:p>
        </p:txBody>
      </p:sp>
      <p:sp>
        <p:nvSpPr>
          <p:cNvPr id="698374" name="Freeform 6">
            <a:extLst>
              <a:ext uri="{FF2B5EF4-FFF2-40B4-BE49-F238E27FC236}">
                <a16:creationId xmlns:a16="http://schemas.microsoft.com/office/drawing/2014/main" id="{678F1DE5-205F-DAE5-5191-64B24245A3BA}"/>
              </a:ext>
            </a:extLst>
          </p:cNvPr>
          <p:cNvSpPr>
            <a:spLocks/>
          </p:cNvSpPr>
          <p:nvPr/>
        </p:nvSpPr>
        <p:spPr bwMode="auto">
          <a:xfrm>
            <a:off x="1031875" y="3398838"/>
            <a:ext cx="2212975" cy="1217612"/>
          </a:xfrm>
          <a:custGeom>
            <a:avLst/>
            <a:gdLst>
              <a:gd name="T0" fmla="*/ 0 w 1394"/>
              <a:gd name="T1" fmla="*/ 767 h 767"/>
              <a:gd name="T2" fmla="*/ 47 w 1394"/>
              <a:gd name="T3" fmla="*/ 730 h 767"/>
              <a:gd name="T4" fmla="*/ 112 w 1394"/>
              <a:gd name="T5" fmla="*/ 669 h 767"/>
              <a:gd name="T6" fmla="*/ 191 w 1394"/>
              <a:gd name="T7" fmla="*/ 576 h 767"/>
              <a:gd name="T8" fmla="*/ 260 w 1394"/>
              <a:gd name="T9" fmla="*/ 405 h 767"/>
              <a:gd name="T10" fmla="*/ 321 w 1394"/>
              <a:gd name="T11" fmla="*/ 298 h 767"/>
              <a:gd name="T12" fmla="*/ 353 w 1394"/>
              <a:gd name="T13" fmla="*/ 261 h 767"/>
              <a:gd name="T14" fmla="*/ 391 w 1394"/>
              <a:gd name="T15" fmla="*/ 219 h 767"/>
              <a:gd name="T16" fmla="*/ 507 w 1394"/>
              <a:gd name="T17" fmla="*/ 140 h 767"/>
              <a:gd name="T18" fmla="*/ 1097 w 1394"/>
              <a:gd name="T19" fmla="*/ 130 h 767"/>
              <a:gd name="T20" fmla="*/ 1268 w 1394"/>
              <a:gd name="T21" fmla="*/ 75 h 767"/>
              <a:gd name="T22" fmla="*/ 1394 w 1394"/>
              <a:gd name="T23" fmla="*/ 0 h 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394" h="767">
                <a:moveTo>
                  <a:pt x="0" y="767"/>
                </a:moveTo>
                <a:cubicBezTo>
                  <a:pt x="15" y="754"/>
                  <a:pt x="29" y="735"/>
                  <a:pt x="47" y="730"/>
                </a:cubicBezTo>
                <a:cubicBezTo>
                  <a:pt x="66" y="708"/>
                  <a:pt x="96" y="694"/>
                  <a:pt x="112" y="669"/>
                </a:cubicBezTo>
                <a:cubicBezTo>
                  <a:pt x="133" y="637"/>
                  <a:pt x="164" y="603"/>
                  <a:pt x="191" y="576"/>
                </a:cubicBezTo>
                <a:cubicBezTo>
                  <a:pt x="216" y="532"/>
                  <a:pt x="245" y="439"/>
                  <a:pt x="260" y="405"/>
                </a:cubicBezTo>
                <a:cubicBezTo>
                  <a:pt x="282" y="359"/>
                  <a:pt x="306" y="322"/>
                  <a:pt x="321" y="298"/>
                </a:cubicBezTo>
                <a:cubicBezTo>
                  <a:pt x="327" y="278"/>
                  <a:pt x="336" y="274"/>
                  <a:pt x="353" y="261"/>
                </a:cubicBezTo>
                <a:cubicBezTo>
                  <a:pt x="360" y="241"/>
                  <a:pt x="376" y="234"/>
                  <a:pt x="391" y="219"/>
                </a:cubicBezTo>
                <a:cubicBezTo>
                  <a:pt x="420" y="190"/>
                  <a:pt x="468" y="151"/>
                  <a:pt x="507" y="140"/>
                </a:cubicBezTo>
                <a:cubicBezTo>
                  <a:pt x="579" y="89"/>
                  <a:pt x="942" y="135"/>
                  <a:pt x="1097" y="130"/>
                </a:cubicBezTo>
                <a:cubicBezTo>
                  <a:pt x="1224" y="119"/>
                  <a:pt x="1218" y="97"/>
                  <a:pt x="1268" y="75"/>
                </a:cubicBezTo>
                <a:cubicBezTo>
                  <a:pt x="1318" y="53"/>
                  <a:pt x="1373" y="12"/>
                  <a:pt x="1394" y="0"/>
                </a:cubicBezTo>
              </a:path>
            </a:pathLst>
          </a:cu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8376" name="Line 8">
            <a:extLst>
              <a:ext uri="{FF2B5EF4-FFF2-40B4-BE49-F238E27FC236}">
                <a16:creationId xmlns:a16="http://schemas.microsoft.com/office/drawing/2014/main" id="{89D50EF5-B9AF-398B-D20C-52974B6875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58938" y="2932113"/>
            <a:ext cx="1147762" cy="804862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8378" name="Oval 10">
            <a:extLst>
              <a:ext uri="{FF2B5EF4-FFF2-40B4-BE49-F238E27FC236}">
                <a16:creationId xmlns:a16="http://schemas.microsoft.com/office/drawing/2014/main" id="{DAE1D65C-0F2F-0183-E8C5-800D7719F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6075" y="3678238"/>
            <a:ext cx="90488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8379" name="Oval 11">
            <a:extLst>
              <a:ext uri="{FF2B5EF4-FFF2-40B4-BE49-F238E27FC236}">
                <a16:creationId xmlns:a16="http://schemas.microsoft.com/office/drawing/2014/main" id="{7A79F79C-0EAD-2678-7251-FEB954277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792538"/>
            <a:ext cx="90488" cy="9207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050" name="Picture 2">
            <a:extLst>
              <a:ext uri="{FF2B5EF4-FFF2-40B4-BE49-F238E27FC236}">
                <a16:creationId xmlns:a16="http://schemas.microsoft.com/office/drawing/2014/main" id="{0D271411-5413-0C6A-C960-EE087B871F2B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1588"/>
            <a:ext cx="4695825" cy="329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1026051" name="Rectangle 3">
            <a:extLst>
              <a:ext uri="{FF2B5EF4-FFF2-40B4-BE49-F238E27FC236}">
                <a16:creationId xmlns:a16="http://schemas.microsoft.com/office/drawing/2014/main" id="{3689591F-8C54-387F-14E9-43CA081B4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1026052" name="Rectangle 4">
            <a:extLst>
              <a:ext uri="{FF2B5EF4-FFF2-40B4-BE49-F238E27FC236}">
                <a16:creationId xmlns:a16="http://schemas.microsoft.com/office/drawing/2014/main" id="{32AA832C-99A2-6E46-5F9A-54E166DF40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Example: surface curvature</a:t>
            </a:r>
          </a:p>
        </p:txBody>
      </p:sp>
      <p:sp>
        <p:nvSpPr>
          <p:cNvPr id="1026053" name="AutoShape 5">
            <a:extLst>
              <a:ext uri="{FF2B5EF4-FFF2-40B4-BE49-F238E27FC236}">
                <a16:creationId xmlns:a16="http://schemas.microsoft.com/office/drawing/2014/main" id="{2F2B0060-7542-F730-C3DE-FFB570BBE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“As I move along a surface …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My change in position varies </a:t>
            </a:r>
            <a:r>
              <a:rPr lang="en-US" altLang="en-US" sz="1600" b="0">
                <a:solidFill>
                  <a:srgbClr val="FF0000"/>
                </a:solidFill>
              </a:rPr>
              <a:t>with</a:t>
            </a:r>
            <a:r>
              <a:rPr lang="en-US" altLang="en-US" sz="1600" b="0"/>
              <a:t> the surface</a:t>
            </a:r>
          </a:p>
          <a:p>
            <a:pPr algn="ctr"/>
            <a:endParaRPr lang="en-US" altLang="en-US" sz="1600" b="0"/>
          </a:p>
          <a:p>
            <a:pPr algn="ctr"/>
            <a:endParaRPr lang="en-US" altLang="en-US" sz="1600" b="0" i="1"/>
          </a:p>
          <a:p>
            <a:endParaRPr lang="en-US" altLang="en-US" sz="1400" b="0" i="1"/>
          </a:p>
        </p:txBody>
      </p:sp>
      <p:sp>
        <p:nvSpPr>
          <p:cNvPr id="1026054" name="Freeform 6">
            <a:extLst>
              <a:ext uri="{FF2B5EF4-FFF2-40B4-BE49-F238E27FC236}">
                <a16:creationId xmlns:a16="http://schemas.microsoft.com/office/drawing/2014/main" id="{A4A7DA9D-E9E1-D10F-0546-A9F6456332D8}"/>
              </a:ext>
            </a:extLst>
          </p:cNvPr>
          <p:cNvSpPr>
            <a:spLocks/>
          </p:cNvSpPr>
          <p:nvPr/>
        </p:nvSpPr>
        <p:spPr bwMode="auto">
          <a:xfrm>
            <a:off x="1031875" y="3398838"/>
            <a:ext cx="2212975" cy="1217612"/>
          </a:xfrm>
          <a:custGeom>
            <a:avLst/>
            <a:gdLst>
              <a:gd name="T0" fmla="*/ 0 w 1394"/>
              <a:gd name="T1" fmla="*/ 767 h 767"/>
              <a:gd name="T2" fmla="*/ 47 w 1394"/>
              <a:gd name="T3" fmla="*/ 730 h 767"/>
              <a:gd name="T4" fmla="*/ 112 w 1394"/>
              <a:gd name="T5" fmla="*/ 669 h 767"/>
              <a:gd name="T6" fmla="*/ 191 w 1394"/>
              <a:gd name="T7" fmla="*/ 576 h 767"/>
              <a:gd name="T8" fmla="*/ 260 w 1394"/>
              <a:gd name="T9" fmla="*/ 405 h 767"/>
              <a:gd name="T10" fmla="*/ 321 w 1394"/>
              <a:gd name="T11" fmla="*/ 298 h 767"/>
              <a:gd name="T12" fmla="*/ 353 w 1394"/>
              <a:gd name="T13" fmla="*/ 261 h 767"/>
              <a:gd name="T14" fmla="*/ 391 w 1394"/>
              <a:gd name="T15" fmla="*/ 219 h 767"/>
              <a:gd name="T16" fmla="*/ 507 w 1394"/>
              <a:gd name="T17" fmla="*/ 140 h 767"/>
              <a:gd name="T18" fmla="*/ 1097 w 1394"/>
              <a:gd name="T19" fmla="*/ 130 h 767"/>
              <a:gd name="T20" fmla="*/ 1268 w 1394"/>
              <a:gd name="T21" fmla="*/ 75 h 767"/>
              <a:gd name="T22" fmla="*/ 1394 w 1394"/>
              <a:gd name="T23" fmla="*/ 0 h 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394" h="767">
                <a:moveTo>
                  <a:pt x="0" y="767"/>
                </a:moveTo>
                <a:cubicBezTo>
                  <a:pt x="15" y="754"/>
                  <a:pt x="29" y="735"/>
                  <a:pt x="47" y="730"/>
                </a:cubicBezTo>
                <a:cubicBezTo>
                  <a:pt x="66" y="708"/>
                  <a:pt x="96" y="694"/>
                  <a:pt x="112" y="669"/>
                </a:cubicBezTo>
                <a:cubicBezTo>
                  <a:pt x="133" y="637"/>
                  <a:pt x="164" y="603"/>
                  <a:pt x="191" y="576"/>
                </a:cubicBezTo>
                <a:cubicBezTo>
                  <a:pt x="216" y="532"/>
                  <a:pt x="245" y="439"/>
                  <a:pt x="260" y="405"/>
                </a:cubicBezTo>
                <a:cubicBezTo>
                  <a:pt x="282" y="359"/>
                  <a:pt x="306" y="322"/>
                  <a:pt x="321" y="298"/>
                </a:cubicBezTo>
                <a:cubicBezTo>
                  <a:pt x="327" y="278"/>
                  <a:pt x="336" y="274"/>
                  <a:pt x="353" y="261"/>
                </a:cubicBezTo>
                <a:cubicBezTo>
                  <a:pt x="360" y="241"/>
                  <a:pt x="376" y="234"/>
                  <a:pt x="391" y="219"/>
                </a:cubicBezTo>
                <a:cubicBezTo>
                  <a:pt x="420" y="190"/>
                  <a:pt x="468" y="151"/>
                  <a:pt x="507" y="140"/>
                </a:cubicBezTo>
                <a:cubicBezTo>
                  <a:pt x="579" y="89"/>
                  <a:pt x="942" y="135"/>
                  <a:pt x="1097" y="130"/>
                </a:cubicBezTo>
                <a:cubicBezTo>
                  <a:pt x="1224" y="119"/>
                  <a:pt x="1218" y="97"/>
                  <a:pt x="1268" y="75"/>
                </a:cubicBezTo>
                <a:cubicBezTo>
                  <a:pt x="1318" y="53"/>
                  <a:pt x="1373" y="12"/>
                  <a:pt x="1394" y="0"/>
                </a:cubicBezTo>
              </a:path>
            </a:pathLst>
          </a:cu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056" name="Line 8">
            <a:extLst>
              <a:ext uri="{FF2B5EF4-FFF2-40B4-BE49-F238E27FC236}">
                <a16:creationId xmlns:a16="http://schemas.microsoft.com/office/drawing/2014/main" id="{8C3A4927-0086-E459-9BD0-646370C2B2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58938" y="2932113"/>
            <a:ext cx="1147762" cy="804862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057" name="Line 9">
            <a:extLst>
              <a:ext uri="{FF2B5EF4-FFF2-40B4-BE49-F238E27FC236}">
                <a16:creationId xmlns:a16="http://schemas.microsoft.com/office/drawing/2014/main" id="{9A1A110C-49B0-CA14-CF00-A6971773CF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3863" y="3690938"/>
            <a:ext cx="1008062" cy="14287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058" name="Oval 10">
            <a:extLst>
              <a:ext uri="{FF2B5EF4-FFF2-40B4-BE49-F238E27FC236}">
                <a16:creationId xmlns:a16="http://schemas.microsoft.com/office/drawing/2014/main" id="{511C40F2-44B7-B5D9-923D-4F73F2A3C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6075" y="3678238"/>
            <a:ext cx="90488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059" name="Oval 11">
            <a:extLst>
              <a:ext uri="{FF2B5EF4-FFF2-40B4-BE49-F238E27FC236}">
                <a16:creationId xmlns:a16="http://schemas.microsoft.com/office/drawing/2014/main" id="{042F669B-F560-8C8C-5062-3F4F5FCB7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792538"/>
            <a:ext cx="90488" cy="9207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02" name="Picture 2">
            <a:extLst>
              <a:ext uri="{FF2B5EF4-FFF2-40B4-BE49-F238E27FC236}">
                <a16:creationId xmlns:a16="http://schemas.microsoft.com/office/drawing/2014/main" id="{8CEEEB36-6728-56C8-D686-3E73B6E846B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1588"/>
            <a:ext cx="4695825" cy="329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1024003" name="Rectangle 3">
            <a:extLst>
              <a:ext uri="{FF2B5EF4-FFF2-40B4-BE49-F238E27FC236}">
                <a16:creationId xmlns:a16="http://schemas.microsoft.com/office/drawing/2014/main" id="{3A92F90C-7F4A-3638-550A-4453FDFE0F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1024004" name="Rectangle 4">
            <a:extLst>
              <a:ext uri="{FF2B5EF4-FFF2-40B4-BE49-F238E27FC236}">
                <a16:creationId xmlns:a16="http://schemas.microsoft.com/office/drawing/2014/main" id="{FDDFA28A-0062-12E0-578F-08060C2DA6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Example: surface curvature</a:t>
            </a:r>
          </a:p>
        </p:txBody>
      </p:sp>
      <p:sp>
        <p:nvSpPr>
          <p:cNvPr id="1024005" name="AutoShape 5">
            <a:extLst>
              <a:ext uri="{FF2B5EF4-FFF2-40B4-BE49-F238E27FC236}">
                <a16:creationId xmlns:a16="http://schemas.microsoft.com/office/drawing/2014/main" id="{16BE8FCD-79D3-B82C-DB78-CF33B4B6B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“As I move along a surface …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My change in position varies </a:t>
            </a:r>
            <a:r>
              <a:rPr lang="en-US" altLang="en-US" sz="1600" b="0">
                <a:solidFill>
                  <a:srgbClr val="FF0000"/>
                </a:solidFill>
              </a:rPr>
              <a:t>with</a:t>
            </a:r>
            <a:r>
              <a:rPr lang="en-US" altLang="en-US" sz="1600" b="0"/>
              <a:t> the surface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and </a:t>
            </a:r>
            <a:r>
              <a:rPr lang="en-US" altLang="en-US" sz="1600" b="0">
                <a:solidFill>
                  <a:srgbClr val="FF0000"/>
                </a:solidFill>
              </a:rPr>
              <a:t>within</a:t>
            </a:r>
            <a:r>
              <a:rPr lang="en-US" altLang="en-US" sz="1600" b="0"/>
              <a:t> the surface”</a:t>
            </a:r>
            <a:endParaRPr lang="en-US" altLang="en-US" sz="1600" b="0" i="1"/>
          </a:p>
          <a:p>
            <a:pPr algn="ctr"/>
            <a:endParaRPr lang="en-US" altLang="en-US" sz="1600" b="0" i="1"/>
          </a:p>
          <a:p>
            <a:endParaRPr lang="en-US" altLang="en-US" sz="1400" b="0" i="1"/>
          </a:p>
        </p:txBody>
      </p:sp>
      <p:sp>
        <p:nvSpPr>
          <p:cNvPr id="1024006" name="Freeform 6">
            <a:extLst>
              <a:ext uri="{FF2B5EF4-FFF2-40B4-BE49-F238E27FC236}">
                <a16:creationId xmlns:a16="http://schemas.microsoft.com/office/drawing/2014/main" id="{03BFFD9F-9DCB-F43F-9F6A-D7B12E99C575}"/>
              </a:ext>
            </a:extLst>
          </p:cNvPr>
          <p:cNvSpPr>
            <a:spLocks/>
          </p:cNvSpPr>
          <p:nvPr/>
        </p:nvSpPr>
        <p:spPr bwMode="auto">
          <a:xfrm>
            <a:off x="1031875" y="3398838"/>
            <a:ext cx="2212975" cy="1217612"/>
          </a:xfrm>
          <a:custGeom>
            <a:avLst/>
            <a:gdLst>
              <a:gd name="T0" fmla="*/ 0 w 1394"/>
              <a:gd name="T1" fmla="*/ 767 h 767"/>
              <a:gd name="T2" fmla="*/ 47 w 1394"/>
              <a:gd name="T3" fmla="*/ 730 h 767"/>
              <a:gd name="T4" fmla="*/ 112 w 1394"/>
              <a:gd name="T5" fmla="*/ 669 h 767"/>
              <a:gd name="T6" fmla="*/ 191 w 1394"/>
              <a:gd name="T7" fmla="*/ 576 h 767"/>
              <a:gd name="T8" fmla="*/ 260 w 1394"/>
              <a:gd name="T9" fmla="*/ 405 h 767"/>
              <a:gd name="T10" fmla="*/ 321 w 1394"/>
              <a:gd name="T11" fmla="*/ 298 h 767"/>
              <a:gd name="T12" fmla="*/ 353 w 1394"/>
              <a:gd name="T13" fmla="*/ 261 h 767"/>
              <a:gd name="T14" fmla="*/ 391 w 1394"/>
              <a:gd name="T15" fmla="*/ 219 h 767"/>
              <a:gd name="T16" fmla="*/ 507 w 1394"/>
              <a:gd name="T17" fmla="*/ 140 h 767"/>
              <a:gd name="T18" fmla="*/ 1097 w 1394"/>
              <a:gd name="T19" fmla="*/ 130 h 767"/>
              <a:gd name="T20" fmla="*/ 1268 w 1394"/>
              <a:gd name="T21" fmla="*/ 75 h 767"/>
              <a:gd name="T22" fmla="*/ 1394 w 1394"/>
              <a:gd name="T23" fmla="*/ 0 h 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394" h="767">
                <a:moveTo>
                  <a:pt x="0" y="767"/>
                </a:moveTo>
                <a:cubicBezTo>
                  <a:pt x="15" y="754"/>
                  <a:pt x="29" y="735"/>
                  <a:pt x="47" y="730"/>
                </a:cubicBezTo>
                <a:cubicBezTo>
                  <a:pt x="66" y="708"/>
                  <a:pt x="96" y="694"/>
                  <a:pt x="112" y="669"/>
                </a:cubicBezTo>
                <a:cubicBezTo>
                  <a:pt x="133" y="637"/>
                  <a:pt x="164" y="603"/>
                  <a:pt x="191" y="576"/>
                </a:cubicBezTo>
                <a:cubicBezTo>
                  <a:pt x="216" y="532"/>
                  <a:pt x="245" y="439"/>
                  <a:pt x="260" y="405"/>
                </a:cubicBezTo>
                <a:cubicBezTo>
                  <a:pt x="282" y="359"/>
                  <a:pt x="306" y="322"/>
                  <a:pt x="321" y="298"/>
                </a:cubicBezTo>
                <a:cubicBezTo>
                  <a:pt x="327" y="278"/>
                  <a:pt x="336" y="274"/>
                  <a:pt x="353" y="261"/>
                </a:cubicBezTo>
                <a:cubicBezTo>
                  <a:pt x="360" y="241"/>
                  <a:pt x="376" y="234"/>
                  <a:pt x="391" y="219"/>
                </a:cubicBezTo>
                <a:cubicBezTo>
                  <a:pt x="420" y="190"/>
                  <a:pt x="468" y="151"/>
                  <a:pt x="507" y="140"/>
                </a:cubicBezTo>
                <a:cubicBezTo>
                  <a:pt x="579" y="89"/>
                  <a:pt x="942" y="135"/>
                  <a:pt x="1097" y="130"/>
                </a:cubicBezTo>
                <a:cubicBezTo>
                  <a:pt x="1224" y="119"/>
                  <a:pt x="1218" y="97"/>
                  <a:pt x="1268" y="75"/>
                </a:cubicBezTo>
                <a:cubicBezTo>
                  <a:pt x="1318" y="53"/>
                  <a:pt x="1373" y="12"/>
                  <a:pt x="1394" y="0"/>
                </a:cubicBezTo>
              </a:path>
            </a:pathLst>
          </a:cu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007" name="Line 7">
            <a:extLst>
              <a:ext uri="{FF2B5EF4-FFF2-40B4-BE49-F238E27FC236}">
                <a16:creationId xmlns:a16="http://schemas.microsoft.com/office/drawing/2014/main" id="{2E98D9A8-1B6D-06CF-E705-046946170F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46238" y="2771775"/>
            <a:ext cx="1008062" cy="982663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008" name="Line 8">
            <a:extLst>
              <a:ext uri="{FF2B5EF4-FFF2-40B4-BE49-F238E27FC236}">
                <a16:creationId xmlns:a16="http://schemas.microsoft.com/office/drawing/2014/main" id="{84B333A4-FCA2-6109-D1F6-6CBC86841C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58938" y="2932113"/>
            <a:ext cx="1147762" cy="804862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010" name="Oval 10">
            <a:extLst>
              <a:ext uri="{FF2B5EF4-FFF2-40B4-BE49-F238E27FC236}">
                <a16:creationId xmlns:a16="http://schemas.microsoft.com/office/drawing/2014/main" id="{8BBC6C57-6089-F757-B120-FFD0945C3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6075" y="3678238"/>
            <a:ext cx="90488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011" name="Oval 11">
            <a:extLst>
              <a:ext uri="{FF2B5EF4-FFF2-40B4-BE49-F238E27FC236}">
                <a16:creationId xmlns:a16="http://schemas.microsoft.com/office/drawing/2014/main" id="{A26C71BC-FDAC-285C-1B63-16D11160F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792538"/>
            <a:ext cx="90488" cy="9207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986" name="Rectangle 2">
            <a:extLst>
              <a:ext uri="{FF2B5EF4-FFF2-40B4-BE49-F238E27FC236}">
                <a16:creationId xmlns:a16="http://schemas.microsoft.com/office/drawing/2014/main" id="{435FF776-C794-A3A2-D6B4-244CC771C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Algebras and Calculus of Numbers and Shapes</a:t>
            </a:r>
          </a:p>
        </p:txBody>
      </p:sp>
      <p:sp>
        <p:nvSpPr>
          <p:cNvPr id="937987" name="Rectangle 3">
            <a:extLst>
              <a:ext uri="{FF2B5EF4-FFF2-40B4-BE49-F238E27FC236}">
                <a16:creationId xmlns:a16="http://schemas.microsoft.com/office/drawing/2014/main" id="{3B072485-42D9-1304-F799-CBEE3AA7F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Much of spatial behavior can only be seen, </a:t>
            </a:r>
          </a:p>
          <a:p>
            <a:r>
              <a:rPr lang="en-US" altLang="en-US"/>
              <a:t>Not as some static quality of the space</a:t>
            </a:r>
          </a:p>
          <a:p>
            <a:r>
              <a:rPr lang="en-US" altLang="en-US"/>
              <a:t>But can only be viewed as a localized effect on motions,</a:t>
            </a:r>
          </a:p>
          <a:p>
            <a:pPr lvl="1"/>
            <a:r>
              <a:rPr lang="en-US" altLang="en-US"/>
              <a:t>Or the aggregation of such dynamic effects “in the round”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Example: curvature</a:t>
            </a:r>
          </a:p>
        </p:txBody>
      </p:sp>
      <p:grpSp>
        <p:nvGrpSpPr>
          <p:cNvPr id="937988" name="Group 4">
            <a:extLst>
              <a:ext uri="{FF2B5EF4-FFF2-40B4-BE49-F238E27FC236}">
                <a16:creationId xmlns:a16="http://schemas.microsoft.com/office/drawing/2014/main" id="{5C66259F-F00B-91ED-15DB-73C30C71541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44563" y="3382963"/>
            <a:ext cx="3292475" cy="3292475"/>
            <a:chOff x="1920" y="1968"/>
            <a:chExt cx="1056" cy="1056"/>
          </a:xfrm>
        </p:grpSpPr>
        <p:pic>
          <p:nvPicPr>
            <p:cNvPr id="937989" name="Picture 5">
              <a:extLst>
                <a:ext uri="{FF2B5EF4-FFF2-40B4-BE49-F238E27FC236}">
                  <a16:creationId xmlns:a16="http://schemas.microsoft.com/office/drawing/2014/main" id="{FD9CFC08-7C3D-649C-D939-AFDE2BD645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37990" name="Freeform 6">
              <a:extLst>
                <a:ext uri="{FF2B5EF4-FFF2-40B4-BE49-F238E27FC236}">
                  <a16:creationId xmlns:a16="http://schemas.microsoft.com/office/drawing/2014/main" id="{0C7D108A-8503-5A75-53CB-00AC73F9D95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37991" name="Line 7">
            <a:extLst>
              <a:ext uri="{FF2B5EF4-FFF2-40B4-BE49-F238E27FC236}">
                <a16:creationId xmlns:a16="http://schemas.microsoft.com/office/drawing/2014/main" id="{443EBE14-BBED-0CE1-25CA-96242C37BF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54213" y="4660900"/>
            <a:ext cx="728662" cy="1033463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7992" name="AutoShape 8">
            <a:extLst>
              <a:ext uri="{FF2B5EF4-FFF2-40B4-BE49-F238E27FC236}">
                <a16:creationId xmlns:a16="http://schemas.microsoft.com/office/drawing/2014/main" id="{CE4D9C28-1504-7DF2-5649-EA357FD86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2651125"/>
            <a:ext cx="4205288" cy="3643313"/>
          </a:xfrm>
          <a:prstGeom prst="wedgeRectCallout">
            <a:avLst>
              <a:gd name="adj1" fmla="val -67250"/>
              <a:gd name="adj2" fmla="val 5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600" b="0"/>
              <a:t>“When I move along the curve,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My position changes”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“And the </a:t>
            </a:r>
            <a:r>
              <a:rPr lang="en-US" altLang="en-US" sz="1600" b="0">
                <a:solidFill>
                  <a:srgbClr val="FF0000"/>
                </a:solidFill>
              </a:rPr>
              <a:t>change in my position </a:t>
            </a:r>
            <a:r>
              <a:rPr lang="en-US" altLang="en-US" sz="1600" b="0"/>
              <a:t>changes”</a:t>
            </a:r>
          </a:p>
          <a:p>
            <a:pPr algn="ctr"/>
            <a:endParaRPr lang="en-US" altLang="en-US" sz="1600" b="0"/>
          </a:p>
          <a:p>
            <a:pPr algn="ctr"/>
            <a:r>
              <a:rPr lang="en-US" altLang="en-US" sz="1600" b="0"/>
              <a:t>“And the </a:t>
            </a:r>
            <a:r>
              <a:rPr lang="en-US" altLang="en-US" sz="1600" b="0">
                <a:solidFill>
                  <a:srgbClr val="FF0000"/>
                </a:solidFill>
              </a:rPr>
              <a:t>change in the change</a:t>
            </a:r>
          </a:p>
          <a:p>
            <a:pPr algn="ctr"/>
            <a:r>
              <a:rPr lang="en-US" altLang="en-US" sz="1600" b="0"/>
              <a:t>in my position</a:t>
            </a:r>
            <a:r>
              <a:rPr lang="en-US" altLang="en-US" sz="1600" b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US" altLang="en-US" sz="1600" b="0"/>
              <a:t>changes”</a:t>
            </a:r>
            <a:endParaRPr lang="en-US" altLang="en-US" sz="1600" b="0" i="1"/>
          </a:p>
          <a:p>
            <a:pPr algn="ctr"/>
            <a:endParaRPr lang="en-US" altLang="en-US" sz="1600" b="0" i="1"/>
          </a:p>
          <a:p>
            <a:endParaRPr lang="en-US" altLang="en-US" sz="1400" b="0" i="1"/>
          </a:p>
        </p:txBody>
      </p:sp>
      <p:sp>
        <p:nvSpPr>
          <p:cNvPr id="937993" name="Line 9">
            <a:extLst>
              <a:ext uri="{FF2B5EF4-FFF2-40B4-BE49-F238E27FC236}">
                <a16:creationId xmlns:a16="http://schemas.microsoft.com/office/drawing/2014/main" id="{5C9A71A9-3D38-ABB2-A749-A0B07BD261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4538663"/>
            <a:ext cx="527050" cy="1449387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7994" name="Oval 10">
            <a:extLst>
              <a:ext uri="{FF2B5EF4-FFF2-40B4-BE49-F238E27FC236}">
                <a16:creationId xmlns:a16="http://schemas.microsoft.com/office/drawing/2014/main" id="{0ABABAA2-5844-733A-9B5C-B6F484752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5943600"/>
            <a:ext cx="90488" cy="9207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7995" name="Oval 11">
            <a:extLst>
              <a:ext uri="{FF2B5EF4-FFF2-40B4-BE49-F238E27FC236}">
                <a16:creationId xmlns:a16="http://schemas.microsoft.com/office/drawing/2014/main" id="{D738B281-62DB-20AB-41A4-C8C7A3998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0" y="5356225"/>
            <a:ext cx="90488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7996" name="Oval 12">
            <a:extLst>
              <a:ext uri="{FF2B5EF4-FFF2-40B4-BE49-F238E27FC236}">
                <a16:creationId xmlns:a16="http://schemas.microsoft.com/office/drawing/2014/main" id="{C87398B1-12DA-6C26-4068-63F2B9D81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5668963"/>
            <a:ext cx="90488" cy="9207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034" name="Rectangle 2">
            <a:extLst>
              <a:ext uri="{FF2B5EF4-FFF2-40B4-BE49-F238E27FC236}">
                <a16:creationId xmlns:a16="http://schemas.microsoft.com/office/drawing/2014/main" id="{11EAF69E-D085-F65E-486E-48AD59E8C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Calculus</a:t>
            </a:r>
          </a:p>
        </p:txBody>
      </p:sp>
      <p:sp>
        <p:nvSpPr>
          <p:cNvPr id="940035" name="Rectangle 3">
            <a:extLst>
              <a:ext uri="{FF2B5EF4-FFF2-40B4-BE49-F238E27FC236}">
                <a16:creationId xmlns:a16="http://schemas.microsoft.com/office/drawing/2014/main" id="{53D042C3-4CF1-E47F-860F-2CF2A7F6B5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6348413" cy="5211763"/>
          </a:xfrm>
        </p:spPr>
        <p:txBody>
          <a:bodyPr/>
          <a:lstStyle/>
          <a:p>
            <a:pPr>
              <a:buFontTx/>
              <a:buNone/>
              <a:tabLst>
                <a:tab pos="4000500" algn="ctr"/>
                <a:tab pos="7942263" algn="r"/>
              </a:tabLst>
            </a:pPr>
            <a:r>
              <a:rPr lang="en-US" altLang="en-US"/>
              <a:t>See the world from 2 directions:</a:t>
            </a:r>
          </a:p>
          <a:p>
            <a:pPr>
              <a:buFontTx/>
              <a:buNone/>
              <a:tabLst>
                <a:tab pos="4000500" algn="ctr"/>
                <a:tab pos="7942263" algn="r"/>
              </a:tabLst>
            </a:pPr>
            <a:r>
              <a:rPr lang="en-US" altLang="en-US"/>
              <a:t>Myopically		</a:t>
            </a:r>
            <a:r>
              <a:rPr lang="en-US" altLang="en-US">
                <a:solidFill>
                  <a:srgbClr val="FF0000"/>
                </a:solidFill>
              </a:rPr>
              <a:t>Differentiation</a:t>
            </a:r>
          </a:p>
          <a:p>
            <a:pPr>
              <a:buFontTx/>
              <a:buNone/>
              <a:tabLst>
                <a:tab pos="4000500" algn="ctr"/>
                <a:tab pos="7942263" algn="r"/>
              </a:tabLst>
            </a:pPr>
            <a:endParaRPr lang="en-US" altLang="en-US"/>
          </a:p>
        </p:txBody>
      </p:sp>
      <p:grpSp>
        <p:nvGrpSpPr>
          <p:cNvPr id="940036" name="Group 4">
            <a:extLst>
              <a:ext uri="{FF2B5EF4-FFF2-40B4-BE49-F238E27FC236}">
                <a16:creationId xmlns:a16="http://schemas.microsoft.com/office/drawing/2014/main" id="{E06FAFFD-697E-210C-A38E-49EB01AAA71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27125" y="3565525"/>
            <a:ext cx="3292475" cy="3292475"/>
            <a:chOff x="1920" y="1968"/>
            <a:chExt cx="1056" cy="1056"/>
          </a:xfrm>
        </p:grpSpPr>
        <p:pic>
          <p:nvPicPr>
            <p:cNvPr id="940037" name="Picture 5">
              <a:extLst>
                <a:ext uri="{FF2B5EF4-FFF2-40B4-BE49-F238E27FC236}">
                  <a16:creationId xmlns:a16="http://schemas.microsoft.com/office/drawing/2014/main" id="{85AE877C-EFC7-EBB6-6AED-95B0556A58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40038" name="Freeform 6">
              <a:extLst>
                <a:ext uri="{FF2B5EF4-FFF2-40B4-BE49-F238E27FC236}">
                  <a16:creationId xmlns:a16="http://schemas.microsoft.com/office/drawing/2014/main" id="{471105EE-C51D-0432-CA84-53BD9987D5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40039" name="Line 7">
            <a:extLst>
              <a:ext uri="{FF2B5EF4-FFF2-40B4-BE49-F238E27FC236}">
                <a16:creationId xmlns:a16="http://schemas.microsoft.com/office/drawing/2014/main" id="{0D1C2167-86F9-F3FC-0EF6-5C63C7D6FB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6775" y="4843463"/>
            <a:ext cx="728663" cy="1033462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0040" name="Line 8">
            <a:extLst>
              <a:ext uri="{FF2B5EF4-FFF2-40B4-BE49-F238E27FC236}">
                <a16:creationId xmlns:a16="http://schemas.microsoft.com/office/drawing/2014/main" id="{8CAC2974-67FF-A615-C1A8-1E8BA13953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11363" y="4721225"/>
            <a:ext cx="527050" cy="1449388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0041" name="Oval 9">
            <a:extLst>
              <a:ext uri="{FF2B5EF4-FFF2-40B4-BE49-F238E27FC236}">
                <a16:creationId xmlns:a16="http://schemas.microsoft.com/office/drawing/2014/main" id="{37660473-A3FA-8909-A29C-3F75B2DDC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6126163"/>
            <a:ext cx="90487" cy="9207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42" name="Oval 10">
            <a:extLst>
              <a:ext uri="{FF2B5EF4-FFF2-40B4-BE49-F238E27FC236}">
                <a16:creationId xmlns:a16="http://schemas.microsoft.com/office/drawing/2014/main" id="{67D8411F-88DF-303A-C197-39193D12A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813" y="5538788"/>
            <a:ext cx="90487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43" name="Oval 11">
            <a:extLst>
              <a:ext uri="{FF2B5EF4-FFF2-40B4-BE49-F238E27FC236}">
                <a16:creationId xmlns:a16="http://schemas.microsoft.com/office/drawing/2014/main" id="{31DE6C4D-FA9D-80FC-F60D-F96D2EB6D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5851525"/>
            <a:ext cx="90487" cy="9207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0044" name="AutoShape 12">
            <a:extLst>
              <a:ext uri="{FF2B5EF4-FFF2-40B4-BE49-F238E27FC236}">
                <a16:creationId xmlns:a16="http://schemas.microsoft.com/office/drawing/2014/main" id="{EFE444E9-FF83-D0D4-BE5D-4BE524575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2690813"/>
            <a:ext cx="3832225" cy="1444625"/>
          </a:xfrm>
          <a:prstGeom prst="wedgeRectCallout">
            <a:avLst>
              <a:gd name="adj1" fmla="val -112014"/>
              <a:gd name="adj2" fmla="val 15813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 i="1"/>
              <a:t>“What is the rate of change of distance as I move along the curve?”</a:t>
            </a:r>
          </a:p>
          <a:p>
            <a:endParaRPr lang="en-US" altLang="en-US" sz="1600" b="0" i="1"/>
          </a:p>
          <a:p>
            <a:r>
              <a:rPr lang="en-US" altLang="en-US" sz="1600" b="0" i="1"/>
              <a:t>(and many other characteristics)</a:t>
            </a:r>
          </a:p>
          <a:p>
            <a:endParaRPr lang="en-US" altLang="en-US" sz="1600" b="0" i="1"/>
          </a:p>
          <a:p>
            <a:endParaRPr lang="en-US" altLang="en-US" sz="1400" b="0" i="1"/>
          </a:p>
        </p:txBody>
      </p:sp>
      <p:sp>
        <p:nvSpPr>
          <p:cNvPr id="940045" name="Text Box 13">
            <a:extLst>
              <a:ext uri="{FF2B5EF4-FFF2-40B4-BE49-F238E27FC236}">
                <a16:creationId xmlns:a16="http://schemas.microsoft.com/office/drawing/2014/main" id="{93218CDD-A202-43B1-9B88-40B4E6667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1575" y="3514725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82" name="Rectangle 2">
            <a:extLst>
              <a:ext uri="{FF2B5EF4-FFF2-40B4-BE49-F238E27FC236}">
                <a16:creationId xmlns:a16="http://schemas.microsoft.com/office/drawing/2014/main" id="{65917198-FDF3-90C3-1416-70C96A9600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Calculus</a:t>
            </a:r>
          </a:p>
        </p:txBody>
      </p:sp>
      <p:sp>
        <p:nvSpPr>
          <p:cNvPr id="942083" name="Rectangle 3">
            <a:extLst>
              <a:ext uri="{FF2B5EF4-FFF2-40B4-BE49-F238E27FC236}">
                <a16:creationId xmlns:a16="http://schemas.microsoft.com/office/drawing/2014/main" id="{AFBE457F-DEF7-9176-DBCC-8CA41E1DFB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6348413" cy="5211763"/>
          </a:xfrm>
        </p:spPr>
        <p:txBody>
          <a:bodyPr/>
          <a:lstStyle/>
          <a:p>
            <a:pPr>
              <a:buFontTx/>
              <a:buNone/>
              <a:tabLst>
                <a:tab pos="4000500" algn="ctr"/>
                <a:tab pos="7942263" algn="r"/>
              </a:tabLst>
            </a:pPr>
            <a:r>
              <a:rPr lang="en-US" altLang="en-US"/>
              <a:t>See the world from 2 directions:</a:t>
            </a:r>
          </a:p>
          <a:p>
            <a:pPr>
              <a:buFontTx/>
              <a:buNone/>
              <a:tabLst>
                <a:tab pos="4000500" algn="ctr"/>
                <a:tab pos="7942263" algn="r"/>
              </a:tabLst>
            </a:pPr>
            <a:r>
              <a:rPr lang="en-US" altLang="en-US"/>
              <a:t>Myopically		</a:t>
            </a:r>
            <a:r>
              <a:rPr lang="en-US" altLang="en-US">
                <a:solidFill>
                  <a:srgbClr val="FF0000"/>
                </a:solidFill>
              </a:rPr>
              <a:t>Differentiation</a:t>
            </a:r>
          </a:p>
          <a:p>
            <a:pPr>
              <a:buFontTx/>
              <a:buNone/>
              <a:tabLst>
                <a:tab pos="4000500" algn="ctr"/>
                <a:tab pos="7942263" algn="r"/>
              </a:tabLst>
            </a:pPr>
            <a:r>
              <a:rPr lang="en-US" altLang="en-US"/>
              <a:t>Globally		</a:t>
            </a:r>
            <a:r>
              <a:rPr lang="en-US" altLang="en-US">
                <a:solidFill>
                  <a:srgbClr val="FF0000"/>
                </a:solidFill>
              </a:rPr>
              <a:t>Integration</a:t>
            </a:r>
          </a:p>
          <a:p>
            <a:pPr>
              <a:buFontTx/>
              <a:buNone/>
              <a:tabLst>
                <a:tab pos="4000500" algn="ctr"/>
                <a:tab pos="7942263" algn="r"/>
              </a:tabLst>
            </a:pPr>
            <a:endParaRPr lang="en-US" altLang="en-US"/>
          </a:p>
        </p:txBody>
      </p:sp>
      <p:grpSp>
        <p:nvGrpSpPr>
          <p:cNvPr id="942084" name="Group 4">
            <a:extLst>
              <a:ext uri="{FF2B5EF4-FFF2-40B4-BE49-F238E27FC236}">
                <a16:creationId xmlns:a16="http://schemas.microsoft.com/office/drawing/2014/main" id="{A1E7AAC8-D35E-5DC2-D155-3191C7EFC7C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27125" y="3565525"/>
            <a:ext cx="3292475" cy="3292475"/>
            <a:chOff x="1920" y="1968"/>
            <a:chExt cx="1056" cy="1056"/>
          </a:xfrm>
        </p:grpSpPr>
        <p:pic>
          <p:nvPicPr>
            <p:cNvPr id="942085" name="Picture 5">
              <a:extLst>
                <a:ext uri="{FF2B5EF4-FFF2-40B4-BE49-F238E27FC236}">
                  <a16:creationId xmlns:a16="http://schemas.microsoft.com/office/drawing/2014/main" id="{B6FA7213-F244-8F97-C581-72318FF286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42086" name="Freeform 6">
              <a:extLst>
                <a:ext uri="{FF2B5EF4-FFF2-40B4-BE49-F238E27FC236}">
                  <a16:creationId xmlns:a16="http://schemas.microsoft.com/office/drawing/2014/main" id="{B2648E53-F82E-B51F-EDEE-3A587DEF68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42087" name="Line 7">
            <a:extLst>
              <a:ext uri="{FF2B5EF4-FFF2-40B4-BE49-F238E27FC236}">
                <a16:creationId xmlns:a16="http://schemas.microsoft.com/office/drawing/2014/main" id="{8AD8A138-7F41-966F-D8F4-283AF22F5B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6775" y="4843463"/>
            <a:ext cx="728663" cy="1033462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2088" name="Line 8">
            <a:extLst>
              <a:ext uri="{FF2B5EF4-FFF2-40B4-BE49-F238E27FC236}">
                <a16:creationId xmlns:a16="http://schemas.microsoft.com/office/drawing/2014/main" id="{812EA5C1-8CB4-71B9-4A9D-08A6C8AC2D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11363" y="4721225"/>
            <a:ext cx="527050" cy="1449388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2089" name="Oval 9">
            <a:extLst>
              <a:ext uri="{FF2B5EF4-FFF2-40B4-BE49-F238E27FC236}">
                <a16:creationId xmlns:a16="http://schemas.microsoft.com/office/drawing/2014/main" id="{B342BFFE-1A6E-DABA-2818-41DDD752D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6126163"/>
            <a:ext cx="90487" cy="9207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090" name="Oval 10">
            <a:extLst>
              <a:ext uri="{FF2B5EF4-FFF2-40B4-BE49-F238E27FC236}">
                <a16:creationId xmlns:a16="http://schemas.microsoft.com/office/drawing/2014/main" id="{A66048A2-2CBF-F069-F0A2-3310565D9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813" y="5538788"/>
            <a:ext cx="90487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091" name="Oval 11">
            <a:extLst>
              <a:ext uri="{FF2B5EF4-FFF2-40B4-BE49-F238E27FC236}">
                <a16:creationId xmlns:a16="http://schemas.microsoft.com/office/drawing/2014/main" id="{557580F1-A4A5-A4A7-15D5-062803F15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5851525"/>
            <a:ext cx="90487" cy="92075"/>
          </a:xfrm>
          <a:prstGeom prst="ellipse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092" name="AutoShape 12">
            <a:extLst>
              <a:ext uri="{FF2B5EF4-FFF2-40B4-BE49-F238E27FC236}">
                <a16:creationId xmlns:a16="http://schemas.microsoft.com/office/drawing/2014/main" id="{E96EB014-CAFF-3177-E9C2-7282FFA69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2690813"/>
            <a:ext cx="3832225" cy="1444625"/>
          </a:xfrm>
          <a:prstGeom prst="wedgeRectCallout">
            <a:avLst>
              <a:gd name="adj1" fmla="val -13093"/>
              <a:gd name="adj2" fmla="val 296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 i="1">
                <a:solidFill>
                  <a:srgbClr val="B2B2B2"/>
                </a:solidFill>
              </a:rPr>
              <a:t>“What is the rate of change of distance as I move along the curve?”</a:t>
            </a:r>
          </a:p>
          <a:p>
            <a:endParaRPr lang="en-US" altLang="en-US" sz="1600" i="1">
              <a:solidFill>
                <a:srgbClr val="B2B2B2"/>
              </a:solidFill>
            </a:endParaRPr>
          </a:p>
          <a:p>
            <a:r>
              <a:rPr lang="en-US" altLang="en-US" b="0" i="1">
                <a:solidFill>
                  <a:srgbClr val="B2B2B2"/>
                </a:solidFill>
              </a:rPr>
              <a:t>(and many other characteristics)</a:t>
            </a:r>
          </a:p>
          <a:p>
            <a:endParaRPr lang="en-US" altLang="en-US" sz="1600" i="1">
              <a:solidFill>
                <a:srgbClr val="B2B2B2"/>
              </a:solidFill>
            </a:endParaRPr>
          </a:p>
        </p:txBody>
      </p:sp>
      <p:sp>
        <p:nvSpPr>
          <p:cNvPr id="942093" name="Text Box 13">
            <a:extLst>
              <a:ext uri="{FF2B5EF4-FFF2-40B4-BE49-F238E27FC236}">
                <a16:creationId xmlns:a16="http://schemas.microsoft.com/office/drawing/2014/main" id="{7DD67DC2-257F-0558-123D-ED4FE047D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1575" y="3514725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942094" name="AutoShape 14">
            <a:extLst>
              <a:ext uri="{FF2B5EF4-FFF2-40B4-BE49-F238E27FC236}">
                <a16:creationId xmlns:a16="http://schemas.microsoft.com/office/drawing/2014/main" id="{78ADED00-2517-7D5F-61C3-BCCFE5112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475" y="5413375"/>
            <a:ext cx="3832225" cy="1444625"/>
          </a:xfrm>
          <a:prstGeom prst="wedgeRectCallout">
            <a:avLst>
              <a:gd name="adj1" fmla="val -7333"/>
              <a:gd name="adj2" fmla="val -5175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 i="1"/>
              <a:t>“What is the overall distance (length) of the curve?”</a:t>
            </a:r>
          </a:p>
          <a:p>
            <a:endParaRPr lang="en-US" altLang="en-US" sz="1600" i="1"/>
          </a:p>
          <a:p>
            <a:r>
              <a:rPr lang="en-US" altLang="en-US" sz="1600" b="0" i="1"/>
              <a:t>(and many other characteristics)</a:t>
            </a:r>
          </a:p>
          <a:p>
            <a:endParaRPr lang="en-US" altLang="en-US" sz="1400" b="0" i="1"/>
          </a:p>
        </p:txBody>
      </p:sp>
      <p:sp>
        <p:nvSpPr>
          <p:cNvPr id="942095" name="AutoShape 15">
            <a:extLst>
              <a:ext uri="{FF2B5EF4-FFF2-40B4-BE49-F238E27FC236}">
                <a16:creationId xmlns:a16="http://schemas.microsoft.com/office/drawing/2014/main" id="{761C8825-C941-60F7-8425-4940BBACEF3E}"/>
              </a:ext>
            </a:extLst>
          </p:cNvPr>
          <p:cNvSpPr>
            <a:spLocks/>
          </p:cNvSpPr>
          <p:nvPr/>
        </p:nvSpPr>
        <p:spPr bwMode="auto">
          <a:xfrm rot="2591776">
            <a:off x="3433763" y="4529138"/>
            <a:ext cx="766762" cy="2789237"/>
          </a:xfrm>
          <a:prstGeom prst="rightBrace">
            <a:avLst>
              <a:gd name="adj1" fmla="val 50591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210" name="Rectangle 2">
            <a:extLst>
              <a:ext uri="{FF2B5EF4-FFF2-40B4-BE49-F238E27FC236}">
                <a16:creationId xmlns:a16="http://schemas.microsoft.com/office/drawing/2014/main" id="{968CCEA1-6AFF-0F92-F6C9-5CB215F95E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Parametric Curves</a:t>
            </a:r>
          </a:p>
        </p:txBody>
      </p:sp>
      <p:sp>
        <p:nvSpPr>
          <p:cNvPr id="734211" name="Rectangle 3">
            <a:extLst>
              <a:ext uri="{FF2B5EF4-FFF2-40B4-BE49-F238E27FC236}">
                <a16:creationId xmlns:a16="http://schemas.microsoft.com/office/drawing/2014/main" id="{62A7E50C-5943-F718-338A-964B0223CB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</p:txBody>
      </p:sp>
      <p:pic>
        <p:nvPicPr>
          <p:cNvPr id="734214" name="Picture 6">
            <a:extLst>
              <a:ext uri="{FF2B5EF4-FFF2-40B4-BE49-F238E27FC236}">
                <a16:creationId xmlns:a16="http://schemas.microsoft.com/office/drawing/2014/main" id="{3CA882B8-B85E-1082-3DF1-2707124E9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25" y="2687638"/>
            <a:ext cx="3292475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34215" name="Freeform 7">
            <a:extLst>
              <a:ext uri="{FF2B5EF4-FFF2-40B4-BE49-F238E27FC236}">
                <a16:creationId xmlns:a16="http://schemas.microsoft.com/office/drawing/2014/main" id="{D1290523-EE75-E695-9009-30DE19D45077}"/>
              </a:ext>
            </a:extLst>
          </p:cNvPr>
          <p:cNvSpPr>
            <a:spLocks noChangeAspect="1"/>
          </p:cNvSpPr>
          <p:nvPr/>
        </p:nvSpPr>
        <p:spPr bwMode="auto">
          <a:xfrm>
            <a:off x="1925638" y="3735388"/>
            <a:ext cx="2544762" cy="2244725"/>
          </a:xfrm>
          <a:custGeom>
            <a:avLst/>
            <a:gdLst>
              <a:gd name="T0" fmla="*/ 0 w 816"/>
              <a:gd name="T1" fmla="*/ 720 h 720"/>
              <a:gd name="T2" fmla="*/ 96 w 816"/>
              <a:gd name="T3" fmla="*/ 384 h 720"/>
              <a:gd name="T4" fmla="*/ 318 w 816"/>
              <a:gd name="T5" fmla="*/ 191 h 720"/>
              <a:gd name="T6" fmla="*/ 642 w 816"/>
              <a:gd name="T7" fmla="*/ 75 h 720"/>
              <a:gd name="T8" fmla="*/ 816 w 816"/>
              <a:gd name="T9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6" h="720">
                <a:moveTo>
                  <a:pt x="0" y="720"/>
                </a:moveTo>
                <a:cubicBezTo>
                  <a:pt x="12" y="600"/>
                  <a:pt x="43" y="472"/>
                  <a:pt x="96" y="384"/>
                </a:cubicBezTo>
                <a:cubicBezTo>
                  <a:pt x="149" y="296"/>
                  <a:pt x="227" y="242"/>
                  <a:pt x="318" y="191"/>
                </a:cubicBezTo>
                <a:cubicBezTo>
                  <a:pt x="409" y="140"/>
                  <a:pt x="559" y="107"/>
                  <a:pt x="642" y="75"/>
                </a:cubicBezTo>
                <a:cubicBezTo>
                  <a:pt x="725" y="43"/>
                  <a:pt x="780" y="16"/>
                  <a:pt x="816" y="0"/>
                </a:cubicBezTo>
              </a:path>
            </a:pathLst>
          </a:custGeom>
          <a:noFill/>
          <a:ln w="28575" cap="flat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34216" name="Object 8">
            <a:extLst>
              <a:ext uri="{FF2B5EF4-FFF2-40B4-BE49-F238E27FC236}">
                <a16:creationId xmlns:a16="http://schemas.microsoft.com/office/drawing/2014/main" id="{E2C101EE-9D31-AAC1-6422-26DBE57418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2088" y="6162675"/>
          <a:ext cx="22860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0" imgH="139680" progId="Equation.3">
                  <p:embed/>
                </p:oleObj>
              </mc:Choice>
              <mc:Fallback>
                <p:oleObj name="Equation" r:id="rId4" imgW="126720" imgH="139680" progId="Equation.3">
                  <p:embed/>
                  <p:pic>
                    <p:nvPicPr>
                      <p:cNvPr id="734216" name="Object 8">
                        <a:extLst>
                          <a:ext uri="{FF2B5EF4-FFF2-40B4-BE49-F238E27FC236}">
                            <a16:creationId xmlns:a16="http://schemas.microsoft.com/office/drawing/2014/main" id="{E2C101EE-9D31-AAC1-6422-26DBE57418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088" y="6162675"/>
                        <a:ext cx="228600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7" name="Object 9">
            <a:extLst>
              <a:ext uri="{FF2B5EF4-FFF2-40B4-BE49-F238E27FC236}">
                <a16:creationId xmlns:a16="http://schemas.microsoft.com/office/drawing/2014/main" id="{FF1DCF0B-E09F-275C-C7A3-EE6BF42E26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413" y="4014788"/>
          <a:ext cx="1008062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720" imgH="203040" progId="Equation.3">
                  <p:embed/>
                </p:oleObj>
              </mc:Choice>
              <mc:Fallback>
                <p:oleObj name="Equation" r:id="rId6" imgW="558720" imgH="203040" progId="Equation.3">
                  <p:embed/>
                  <p:pic>
                    <p:nvPicPr>
                      <p:cNvPr id="734217" name="Object 9">
                        <a:extLst>
                          <a:ext uri="{FF2B5EF4-FFF2-40B4-BE49-F238E27FC236}">
                            <a16:creationId xmlns:a16="http://schemas.microsoft.com/office/drawing/2014/main" id="{FF1DCF0B-E09F-275C-C7A3-EE6BF42E26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3" y="4014788"/>
                        <a:ext cx="1008062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4218" name="Oval 10">
            <a:extLst>
              <a:ext uri="{FF2B5EF4-FFF2-40B4-BE49-F238E27FC236}">
                <a16:creationId xmlns:a16="http://schemas.microsoft.com/office/drawing/2014/main" id="{639584E4-B2BF-5882-1DCF-DA68F006E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0" y="4606925"/>
            <a:ext cx="90488" cy="920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19" name="Line 11">
            <a:extLst>
              <a:ext uri="{FF2B5EF4-FFF2-40B4-BE49-F238E27FC236}">
                <a16:creationId xmlns:a16="http://schemas.microsoft.com/office/drawing/2014/main" id="{AD35DE00-1A0B-3624-732A-CA615F40B3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0275" y="6070600"/>
            <a:ext cx="5095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4220" name="Oval 12">
            <a:extLst>
              <a:ext uri="{FF2B5EF4-FFF2-40B4-BE49-F238E27FC236}">
                <a16:creationId xmlns:a16="http://schemas.microsoft.com/office/drawing/2014/main" id="{BD6ABD77-34B7-596E-45BC-989897643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0" y="6022975"/>
            <a:ext cx="90488" cy="920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34221" name="Object 13">
            <a:extLst>
              <a:ext uri="{FF2B5EF4-FFF2-40B4-BE49-F238E27FC236}">
                <a16:creationId xmlns:a16="http://schemas.microsoft.com/office/drawing/2014/main" id="{3922973D-CE19-F0A5-77E6-9906897730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6129338"/>
          <a:ext cx="3873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40" imgH="177480" progId="Equation.3">
                  <p:embed/>
                </p:oleObj>
              </mc:Choice>
              <mc:Fallback>
                <p:oleObj name="Equation" r:id="rId8" imgW="215640" imgH="177480" progId="Equation.3">
                  <p:embed/>
                  <p:pic>
                    <p:nvPicPr>
                      <p:cNvPr id="734221" name="Object 13">
                        <a:extLst>
                          <a:ext uri="{FF2B5EF4-FFF2-40B4-BE49-F238E27FC236}">
                            <a16:creationId xmlns:a16="http://schemas.microsoft.com/office/drawing/2014/main" id="{3922973D-CE19-F0A5-77E6-9906897730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6129338"/>
                        <a:ext cx="38735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4222" name="Group 14">
            <a:extLst>
              <a:ext uri="{FF2B5EF4-FFF2-40B4-BE49-F238E27FC236}">
                <a16:creationId xmlns:a16="http://schemas.microsoft.com/office/drawing/2014/main" id="{6B4188C3-8BA5-FFFA-9107-4EBC57FA498D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821532" y="4636294"/>
            <a:ext cx="509587" cy="92075"/>
            <a:chOff x="2459" y="2776"/>
            <a:chExt cx="321" cy="58"/>
          </a:xfrm>
        </p:grpSpPr>
        <p:sp>
          <p:nvSpPr>
            <p:cNvPr id="734223" name="Line 15">
              <a:extLst>
                <a:ext uri="{FF2B5EF4-FFF2-40B4-BE49-F238E27FC236}">
                  <a16:creationId xmlns:a16="http://schemas.microsoft.com/office/drawing/2014/main" id="{0FFEEB30-FB9E-C0C2-8AAA-9252765A46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9" y="2806"/>
              <a:ext cx="32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4224" name="Oval 16">
              <a:extLst>
                <a:ext uri="{FF2B5EF4-FFF2-40B4-BE49-F238E27FC236}">
                  <a16:creationId xmlns:a16="http://schemas.microsoft.com/office/drawing/2014/main" id="{CEFC99B2-DFAB-1418-6513-AC29E648D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3" y="2776"/>
              <a:ext cx="57" cy="5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734225" name="Object 17">
            <a:extLst>
              <a:ext uri="{FF2B5EF4-FFF2-40B4-BE49-F238E27FC236}">
                <a16:creationId xmlns:a16="http://schemas.microsoft.com/office/drawing/2014/main" id="{C0DB64A0-1A89-9C82-24EC-042A41DE6F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225" y="4395788"/>
          <a:ext cx="46037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120" imgH="393480" progId="Equation.3">
                  <p:embed/>
                </p:oleObj>
              </mc:Choice>
              <mc:Fallback>
                <p:oleObj name="Equation" r:id="rId10" imgW="330120" imgH="393480" progId="Equation.3">
                  <p:embed/>
                  <p:pic>
                    <p:nvPicPr>
                      <p:cNvPr id="734225" name="Object 17">
                        <a:extLst>
                          <a:ext uri="{FF2B5EF4-FFF2-40B4-BE49-F238E27FC236}">
                            <a16:creationId xmlns:a16="http://schemas.microsoft.com/office/drawing/2014/main" id="{C0DB64A0-1A89-9C82-24EC-042A41DE6F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" y="4395788"/>
                        <a:ext cx="460375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4242" name="Text Box 34">
            <a:extLst>
              <a:ext uri="{FF2B5EF4-FFF2-40B4-BE49-F238E27FC236}">
                <a16:creationId xmlns:a16="http://schemas.microsoft.com/office/drawing/2014/main" id="{B2B22A6B-86C9-2756-DDC5-A12BEB7A8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838" y="1646238"/>
            <a:ext cx="1936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/>
              <a:t>old</a:t>
            </a:r>
          </a:p>
          <a:p>
            <a:pPr algn="ctr"/>
            <a:r>
              <a:rPr lang="en-US" altLang="en-US" i="1"/>
              <a:t>explicit function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>
            <a:extLst>
              <a:ext uri="{FF2B5EF4-FFF2-40B4-BE49-F238E27FC236}">
                <a16:creationId xmlns:a16="http://schemas.microsoft.com/office/drawing/2014/main" id="{1295453D-209C-3AA4-18E7-96B9B35B1C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Parametric Curves</a:t>
            </a:r>
          </a:p>
        </p:txBody>
      </p:sp>
      <p:sp>
        <p:nvSpPr>
          <p:cNvPr id="738307" name="Rectangle 3">
            <a:extLst>
              <a:ext uri="{FF2B5EF4-FFF2-40B4-BE49-F238E27FC236}">
                <a16:creationId xmlns:a16="http://schemas.microsoft.com/office/drawing/2014/main" id="{5C182C6F-ADBF-D5CF-7DD9-D40A0FBE2A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</p:txBody>
      </p:sp>
      <p:pic>
        <p:nvPicPr>
          <p:cNvPr id="738308" name="Picture 4">
            <a:extLst>
              <a:ext uri="{FF2B5EF4-FFF2-40B4-BE49-F238E27FC236}">
                <a16:creationId xmlns:a16="http://schemas.microsoft.com/office/drawing/2014/main" id="{6E815DA0-B1C7-F5ED-9625-4253C8290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25" y="2687638"/>
            <a:ext cx="3292475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38309" name="Freeform 5">
            <a:extLst>
              <a:ext uri="{FF2B5EF4-FFF2-40B4-BE49-F238E27FC236}">
                <a16:creationId xmlns:a16="http://schemas.microsoft.com/office/drawing/2014/main" id="{36568593-7520-5A28-BA78-C414B7198585}"/>
              </a:ext>
            </a:extLst>
          </p:cNvPr>
          <p:cNvSpPr>
            <a:spLocks noChangeAspect="1"/>
          </p:cNvSpPr>
          <p:nvPr/>
        </p:nvSpPr>
        <p:spPr bwMode="auto">
          <a:xfrm>
            <a:off x="1925638" y="3735388"/>
            <a:ext cx="2544762" cy="2244725"/>
          </a:xfrm>
          <a:custGeom>
            <a:avLst/>
            <a:gdLst>
              <a:gd name="T0" fmla="*/ 0 w 816"/>
              <a:gd name="T1" fmla="*/ 720 h 720"/>
              <a:gd name="T2" fmla="*/ 96 w 816"/>
              <a:gd name="T3" fmla="*/ 384 h 720"/>
              <a:gd name="T4" fmla="*/ 318 w 816"/>
              <a:gd name="T5" fmla="*/ 191 h 720"/>
              <a:gd name="T6" fmla="*/ 642 w 816"/>
              <a:gd name="T7" fmla="*/ 75 h 720"/>
              <a:gd name="T8" fmla="*/ 816 w 816"/>
              <a:gd name="T9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6" h="720">
                <a:moveTo>
                  <a:pt x="0" y="720"/>
                </a:moveTo>
                <a:cubicBezTo>
                  <a:pt x="12" y="600"/>
                  <a:pt x="43" y="472"/>
                  <a:pt x="96" y="384"/>
                </a:cubicBezTo>
                <a:cubicBezTo>
                  <a:pt x="149" y="296"/>
                  <a:pt x="227" y="242"/>
                  <a:pt x="318" y="191"/>
                </a:cubicBezTo>
                <a:cubicBezTo>
                  <a:pt x="409" y="140"/>
                  <a:pt x="559" y="107"/>
                  <a:pt x="642" y="75"/>
                </a:cubicBezTo>
                <a:cubicBezTo>
                  <a:pt x="725" y="43"/>
                  <a:pt x="780" y="16"/>
                  <a:pt x="816" y="0"/>
                </a:cubicBezTo>
              </a:path>
            </a:pathLst>
          </a:custGeom>
          <a:noFill/>
          <a:ln w="28575" cap="flat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38310" name="Object 6">
            <a:extLst>
              <a:ext uri="{FF2B5EF4-FFF2-40B4-BE49-F238E27FC236}">
                <a16:creationId xmlns:a16="http://schemas.microsoft.com/office/drawing/2014/main" id="{F0ED7E32-AB1E-6CEE-6545-A612543D78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2088" y="6162675"/>
          <a:ext cx="22860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0" imgH="139680" progId="Equation.3">
                  <p:embed/>
                </p:oleObj>
              </mc:Choice>
              <mc:Fallback>
                <p:oleObj name="Equation" r:id="rId4" imgW="126720" imgH="139680" progId="Equation.3">
                  <p:embed/>
                  <p:pic>
                    <p:nvPicPr>
                      <p:cNvPr id="738310" name="Object 6">
                        <a:extLst>
                          <a:ext uri="{FF2B5EF4-FFF2-40B4-BE49-F238E27FC236}">
                            <a16:creationId xmlns:a16="http://schemas.microsoft.com/office/drawing/2014/main" id="{F0ED7E32-AB1E-6CEE-6545-A612543D78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088" y="6162675"/>
                        <a:ext cx="228600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11" name="Object 7">
            <a:extLst>
              <a:ext uri="{FF2B5EF4-FFF2-40B4-BE49-F238E27FC236}">
                <a16:creationId xmlns:a16="http://schemas.microsoft.com/office/drawing/2014/main" id="{ACCB82E6-0C67-ECFD-29DC-B808E77DC5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413" y="4014788"/>
          <a:ext cx="1008062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720" imgH="203040" progId="Equation.3">
                  <p:embed/>
                </p:oleObj>
              </mc:Choice>
              <mc:Fallback>
                <p:oleObj name="Equation" r:id="rId6" imgW="558720" imgH="203040" progId="Equation.3">
                  <p:embed/>
                  <p:pic>
                    <p:nvPicPr>
                      <p:cNvPr id="738311" name="Object 7">
                        <a:extLst>
                          <a:ext uri="{FF2B5EF4-FFF2-40B4-BE49-F238E27FC236}">
                            <a16:creationId xmlns:a16="http://schemas.microsoft.com/office/drawing/2014/main" id="{ACCB82E6-0C67-ECFD-29DC-B808E77DC5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3" y="4014788"/>
                        <a:ext cx="1008062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312" name="Oval 8">
            <a:extLst>
              <a:ext uri="{FF2B5EF4-FFF2-40B4-BE49-F238E27FC236}">
                <a16:creationId xmlns:a16="http://schemas.microsoft.com/office/drawing/2014/main" id="{40D209A9-E0BE-1024-AE3F-B27F11C2B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0" y="4606925"/>
            <a:ext cx="90488" cy="920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38320" name="Group 16">
            <a:extLst>
              <a:ext uri="{FF2B5EF4-FFF2-40B4-BE49-F238E27FC236}">
                <a16:creationId xmlns:a16="http://schemas.microsoft.com/office/drawing/2014/main" id="{4E5EC959-BAAB-0613-FC0B-FC3279F1F0C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91188" y="2687638"/>
            <a:ext cx="3292475" cy="3292475"/>
            <a:chOff x="1920" y="1968"/>
            <a:chExt cx="1056" cy="1056"/>
          </a:xfrm>
        </p:grpSpPr>
        <p:pic>
          <p:nvPicPr>
            <p:cNvPr id="738321" name="Picture 17">
              <a:extLst>
                <a:ext uri="{FF2B5EF4-FFF2-40B4-BE49-F238E27FC236}">
                  <a16:creationId xmlns:a16="http://schemas.microsoft.com/office/drawing/2014/main" id="{E41A3A05-F4D2-8CBE-B668-E276E0C453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38322" name="Freeform 18">
              <a:extLst>
                <a:ext uri="{FF2B5EF4-FFF2-40B4-BE49-F238E27FC236}">
                  <a16:creationId xmlns:a16="http://schemas.microsoft.com/office/drawing/2014/main" id="{DE2C81F0-4FC9-A8B9-E996-37205325958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chemeClr val="hlink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738323" name="Object 19">
            <a:extLst>
              <a:ext uri="{FF2B5EF4-FFF2-40B4-BE49-F238E27FC236}">
                <a16:creationId xmlns:a16="http://schemas.microsoft.com/office/drawing/2014/main" id="{6807C830-D517-91A1-E90B-19B411E733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3750" y="3979863"/>
          <a:ext cx="107791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96880" imgH="241200" progId="Equation.3">
                  <p:embed/>
                </p:oleObj>
              </mc:Choice>
              <mc:Fallback>
                <p:oleObj name="Equation" r:id="rId8" imgW="596880" imgH="241200" progId="Equation.3">
                  <p:embed/>
                  <p:pic>
                    <p:nvPicPr>
                      <p:cNvPr id="738323" name="Object 19">
                        <a:extLst>
                          <a:ext uri="{FF2B5EF4-FFF2-40B4-BE49-F238E27FC236}">
                            <a16:creationId xmlns:a16="http://schemas.microsoft.com/office/drawing/2014/main" id="{6807C830-D517-91A1-E90B-19B411E733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0" y="3979863"/>
                        <a:ext cx="1077913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324" name="Oval 20">
            <a:extLst>
              <a:ext uri="{FF2B5EF4-FFF2-40B4-BE49-F238E27FC236}">
                <a16:creationId xmlns:a16="http://schemas.microsoft.com/office/drawing/2014/main" id="{A7B75216-229E-8F0F-A3C8-C7A1BC7B8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3" y="4606925"/>
            <a:ext cx="90487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38330" name="Object 26">
            <a:extLst>
              <a:ext uri="{FF2B5EF4-FFF2-40B4-BE49-F238E27FC236}">
                <a16:creationId xmlns:a16="http://schemas.microsoft.com/office/drawing/2014/main" id="{F58A86E1-F08F-9060-5107-ED5EEB81EC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5463" y="6059488"/>
          <a:ext cx="10541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83920" imgH="215640" progId="Equation.3">
                  <p:embed/>
                </p:oleObj>
              </mc:Choice>
              <mc:Fallback>
                <p:oleObj name="Equation" r:id="rId10" imgW="583920" imgH="215640" progId="Equation.3">
                  <p:embed/>
                  <p:pic>
                    <p:nvPicPr>
                      <p:cNvPr id="738330" name="Object 26">
                        <a:extLst>
                          <a:ext uri="{FF2B5EF4-FFF2-40B4-BE49-F238E27FC236}">
                            <a16:creationId xmlns:a16="http://schemas.microsoft.com/office/drawing/2014/main" id="{F58A86E1-F08F-9060-5107-ED5EEB81EC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463" y="6059488"/>
                        <a:ext cx="10541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337" name="Text Box 33">
            <a:extLst>
              <a:ext uri="{FF2B5EF4-FFF2-40B4-BE49-F238E27FC236}">
                <a16:creationId xmlns:a16="http://schemas.microsoft.com/office/drawing/2014/main" id="{86DAC800-4204-543A-E207-38FE65A10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838" y="1646238"/>
            <a:ext cx="1936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/>
              <a:t>old</a:t>
            </a:r>
          </a:p>
          <a:p>
            <a:pPr algn="ctr"/>
            <a:r>
              <a:rPr lang="en-US" altLang="en-US" i="1"/>
              <a:t>explicit function</a:t>
            </a:r>
          </a:p>
        </p:txBody>
      </p:sp>
      <p:sp>
        <p:nvSpPr>
          <p:cNvPr id="738339" name="Line 35">
            <a:extLst>
              <a:ext uri="{FF2B5EF4-FFF2-40B4-BE49-F238E27FC236}">
                <a16:creationId xmlns:a16="http://schemas.microsoft.com/office/drawing/2014/main" id="{CFD8016E-3AE9-0A68-E11B-FE52BF0EDE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81663" y="2687638"/>
            <a:ext cx="9525" cy="329247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340" name="Line 36">
            <a:extLst>
              <a:ext uri="{FF2B5EF4-FFF2-40B4-BE49-F238E27FC236}">
                <a16:creationId xmlns:a16="http://schemas.microsoft.com/office/drawing/2014/main" id="{C82A6C8F-4290-9443-BA9D-DEEC70743C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81663" y="5980113"/>
            <a:ext cx="330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343" name="Line 39">
            <a:extLst>
              <a:ext uri="{FF2B5EF4-FFF2-40B4-BE49-F238E27FC236}">
                <a16:creationId xmlns:a16="http://schemas.microsoft.com/office/drawing/2014/main" id="{FBC9C063-515A-6B4A-81AF-8D5DF6DF41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7925" y="2687638"/>
            <a:ext cx="9525" cy="329247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344" name="Line 40">
            <a:extLst>
              <a:ext uri="{FF2B5EF4-FFF2-40B4-BE49-F238E27FC236}">
                <a16:creationId xmlns:a16="http://schemas.microsoft.com/office/drawing/2014/main" id="{4BB909CC-3CF4-C8B6-86D0-BE9156E5A5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7925" y="5980113"/>
            <a:ext cx="330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345" name="Line 41">
            <a:extLst>
              <a:ext uri="{FF2B5EF4-FFF2-40B4-BE49-F238E27FC236}">
                <a16:creationId xmlns:a16="http://schemas.microsoft.com/office/drawing/2014/main" id="{097C65C3-A56D-DB48-8926-9A79BF9514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5563" y="2265363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346" name="Line 42">
            <a:extLst>
              <a:ext uri="{FF2B5EF4-FFF2-40B4-BE49-F238E27FC236}">
                <a16:creationId xmlns:a16="http://schemas.microsoft.com/office/drawing/2014/main" id="{C06D8249-FA97-CC23-EBB7-8AEEDD50B5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4163" y="2265363"/>
            <a:ext cx="12954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347" name="Text Box 43">
            <a:extLst>
              <a:ext uri="{FF2B5EF4-FFF2-40B4-BE49-F238E27FC236}">
                <a16:creationId xmlns:a16="http://schemas.microsoft.com/office/drawing/2014/main" id="{D3339368-3477-A682-AD42-7FB47202F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1006475"/>
            <a:ext cx="1949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/>
              <a:t>new</a:t>
            </a:r>
          </a:p>
          <a:p>
            <a:pPr algn="ctr"/>
            <a:r>
              <a:rPr lang="en-US" altLang="en-US" i="1"/>
              <a:t>implicit function</a:t>
            </a:r>
          </a:p>
        </p:txBody>
      </p:sp>
      <p:graphicFrame>
        <p:nvGraphicFramePr>
          <p:cNvPr id="738352" name="Object 48">
            <a:extLst>
              <a:ext uri="{FF2B5EF4-FFF2-40B4-BE49-F238E27FC236}">
                <a16:creationId xmlns:a16="http://schemas.microsoft.com/office/drawing/2014/main" id="{A075224C-238C-AF47-96E3-34B04E797E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0" y="2374900"/>
          <a:ext cx="15875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8560" imgH="152280" progId="Equation.3">
                  <p:embed/>
                </p:oleObj>
              </mc:Choice>
              <mc:Fallback>
                <p:oleObj name="Equation" r:id="rId12" imgW="88560" imgH="152280" progId="Equation.3">
                  <p:embed/>
                  <p:pic>
                    <p:nvPicPr>
                      <p:cNvPr id="738352" name="Object 48">
                        <a:extLst>
                          <a:ext uri="{FF2B5EF4-FFF2-40B4-BE49-F238E27FC236}">
                            <a16:creationId xmlns:a16="http://schemas.microsoft.com/office/drawing/2014/main" id="{A075224C-238C-AF47-96E3-34B04E797E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2374900"/>
                        <a:ext cx="15875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46" name="Rectangle 2">
            <a:extLst>
              <a:ext uri="{FF2B5EF4-FFF2-40B4-BE49-F238E27FC236}">
                <a16:creationId xmlns:a16="http://schemas.microsoft.com/office/drawing/2014/main" id="{0022D3A7-B833-C8D9-3EEB-EFB067B44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Parametric Curves</a:t>
            </a:r>
          </a:p>
        </p:txBody>
      </p:sp>
      <p:sp>
        <p:nvSpPr>
          <p:cNvPr id="774147" name="Rectangle 3">
            <a:extLst>
              <a:ext uri="{FF2B5EF4-FFF2-40B4-BE49-F238E27FC236}">
                <a16:creationId xmlns:a16="http://schemas.microsoft.com/office/drawing/2014/main" id="{E87D28C1-5EBE-E5E4-70F0-6E2660AB05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</p:txBody>
      </p:sp>
      <p:pic>
        <p:nvPicPr>
          <p:cNvPr id="774148" name="Picture 4">
            <a:extLst>
              <a:ext uri="{FF2B5EF4-FFF2-40B4-BE49-F238E27FC236}">
                <a16:creationId xmlns:a16="http://schemas.microsoft.com/office/drawing/2014/main" id="{DCD00321-2C8A-4C27-C492-765BAD5E1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25" y="2687638"/>
            <a:ext cx="3292475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74149" name="Freeform 5">
            <a:extLst>
              <a:ext uri="{FF2B5EF4-FFF2-40B4-BE49-F238E27FC236}">
                <a16:creationId xmlns:a16="http://schemas.microsoft.com/office/drawing/2014/main" id="{A7556224-91F5-FDAE-82FE-1424454FADC2}"/>
              </a:ext>
            </a:extLst>
          </p:cNvPr>
          <p:cNvSpPr>
            <a:spLocks noChangeAspect="1"/>
          </p:cNvSpPr>
          <p:nvPr/>
        </p:nvSpPr>
        <p:spPr bwMode="auto">
          <a:xfrm>
            <a:off x="1925638" y="3735388"/>
            <a:ext cx="2544762" cy="2244725"/>
          </a:xfrm>
          <a:custGeom>
            <a:avLst/>
            <a:gdLst>
              <a:gd name="T0" fmla="*/ 0 w 816"/>
              <a:gd name="T1" fmla="*/ 720 h 720"/>
              <a:gd name="T2" fmla="*/ 96 w 816"/>
              <a:gd name="T3" fmla="*/ 384 h 720"/>
              <a:gd name="T4" fmla="*/ 318 w 816"/>
              <a:gd name="T5" fmla="*/ 191 h 720"/>
              <a:gd name="T6" fmla="*/ 642 w 816"/>
              <a:gd name="T7" fmla="*/ 75 h 720"/>
              <a:gd name="T8" fmla="*/ 816 w 816"/>
              <a:gd name="T9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6" h="720">
                <a:moveTo>
                  <a:pt x="0" y="720"/>
                </a:moveTo>
                <a:cubicBezTo>
                  <a:pt x="12" y="600"/>
                  <a:pt x="43" y="472"/>
                  <a:pt x="96" y="384"/>
                </a:cubicBezTo>
                <a:cubicBezTo>
                  <a:pt x="149" y="296"/>
                  <a:pt x="227" y="242"/>
                  <a:pt x="318" y="191"/>
                </a:cubicBezTo>
                <a:cubicBezTo>
                  <a:pt x="409" y="140"/>
                  <a:pt x="559" y="107"/>
                  <a:pt x="642" y="75"/>
                </a:cubicBezTo>
                <a:cubicBezTo>
                  <a:pt x="725" y="43"/>
                  <a:pt x="780" y="16"/>
                  <a:pt x="816" y="0"/>
                </a:cubicBezTo>
              </a:path>
            </a:pathLst>
          </a:custGeom>
          <a:noFill/>
          <a:ln w="28575" cap="flat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74150" name="Object 6">
            <a:extLst>
              <a:ext uri="{FF2B5EF4-FFF2-40B4-BE49-F238E27FC236}">
                <a16:creationId xmlns:a16="http://schemas.microsoft.com/office/drawing/2014/main" id="{6031DED4-FAAF-70DF-25F1-FC5BB7402E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2088" y="6162675"/>
          <a:ext cx="22860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0" imgH="139680" progId="Equation.3">
                  <p:embed/>
                </p:oleObj>
              </mc:Choice>
              <mc:Fallback>
                <p:oleObj name="Equation" r:id="rId4" imgW="126720" imgH="139680" progId="Equation.3">
                  <p:embed/>
                  <p:pic>
                    <p:nvPicPr>
                      <p:cNvPr id="774150" name="Object 6">
                        <a:extLst>
                          <a:ext uri="{FF2B5EF4-FFF2-40B4-BE49-F238E27FC236}">
                            <a16:creationId xmlns:a16="http://schemas.microsoft.com/office/drawing/2014/main" id="{6031DED4-FAAF-70DF-25F1-FC5BB7402E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088" y="6162675"/>
                        <a:ext cx="228600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4151" name="Object 7">
            <a:extLst>
              <a:ext uri="{FF2B5EF4-FFF2-40B4-BE49-F238E27FC236}">
                <a16:creationId xmlns:a16="http://schemas.microsoft.com/office/drawing/2014/main" id="{C25D71CB-8AC3-729B-F8B2-6F4106E219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413" y="4014788"/>
          <a:ext cx="1008062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720" imgH="203040" progId="Equation.3">
                  <p:embed/>
                </p:oleObj>
              </mc:Choice>
              <mc:Fallback>
                <p:oleObj name="Equation" r:id="rId6" imgW="558720" imgH="203040" progId="Equation.3">
                  <p:embed/>
                  <p:pic>
                    <p:nvPicPr>
                      <p:cNvPr id="774151" name="Object 7">
                        <a:extLst>
                          <a:ext uri="{FF2B5EF4-FFF2-40B4-BE49-F238E27FC236}">
                            <a16:creationId xmlns:a16="http://schemas.microsoft.com/office/drawing/2014/main" id="{C25D71CB-8AC3-729B-F8B2-6F4106E219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3" y="4014788"/>
                        <a:ext cx="1008062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4152" name="Oval 8">
            <a:extLst>
              <a:ext uri="{FF2B5EF4-FFF2-40B4-BE49-F238E27FC236}">
                <a16:creationId xmlns:a16="http://schemas.microsoft.com/office/drawing/2014/main" id="{6DAB14A8-321D-2759-C38A-66619CEA4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0" y="4606925"/>
            <a:ext cx="90488" cy="920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4153" name="Line 9">
            <a:extLst>
              <a:ext uri="{FF2B5EF4-FFF2-40B4-BE49-F238E27FC236}">
                <a16:creationId xmlns:a16="http://schemas.microsoft.com/office/drawing/2014/main" id="{FE4F9505-355D-ED68-F9B6-B2F15B6B00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0275" y="6070600"/>
            <a:ext cx="5095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4154" name="Oval 10">
            <a:extLst>
              <a:ext uri="{FF2B5EF4-FFF2-40B4-BE49-F238E27FC236}">
                <a16:creationId xmlns:a16="http://schemas.microsoft.com/office/drawing/2014/main" id="{6C3176D8-0D34-35A9-04EE-54673AB97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0" y="6022975"/>
            <a:ext cx="90488" cy="920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74155" name="Object 11">
            <a:extLst>
              <a:ext uri="{FF2B5EF4-FFF2-40B4-BE49-F238E27FC236}">
                <a16:creationId xmlns:a16="http://schemas.microsoft.com/office/drawing/2014/main" id="{5AAB86BB-1C4B-5DC7-3419-75A51F3CBC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6129338"/>
          <a:ext cx="3873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40" imgH="177480" progId="Equation.3">
                  <p:embed/>
                </p:oleObj>
              </mc:Choice>
              <mc:Fallback>
                <p:oleObj name="Equation" r:id="rId8" imgW="215640" imgH="177480" progId="Equation.3">
                  <p:embed/>
                  <p:pic>
                    <p:nvPicPr>
                      <p:cNvPr id="774155" name="Object 11">
                        <a:extLst>
                          <a:ext uri="{FF2B5EF4-FFF2-40B4-BE49-F238E27FC236}">
                            <a16:creationId xmlns:a16="http://schemas.microsoft.com/office/drawing/2014/main" id="{5AAB86BB-1C4B-5DC7-3419-75A51F3CBC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6129338"/>
                        <a:ext cx="38735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4156" name="Group 12">
            <a:extLst>
              <a:ext uri="{FF2B5EF4-FFF2-40B4-BE49-F238E27FC236}">
                <a16:creationId xmlns:a16="http://schemas.microsoft.com/office/drawing/2014/main" id="{ABD20CF9-2EB2-AE9A-24BC-0F95B37BD1D4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821532" y="4636294"/>
            <a:ext cx="509587" cy="92075"/>
            <a:chOff x="2459" y="2776"/>
            <a:chExt cx="321" cy="58"/>
          </a:xfrm>
        </p:grpSpPr>
        <p:sp>
          <p:nvSpPr>
            <p:cNvPr id="774157" name="Line 13">
              <a:extLst>
                <a:ext uri="{FF2B5EF4-FFF2-40B4-BE49-F238E27FC236}">
                  <a16:creationId xmlns:a16="http://schemas.microsoft.com/office/drawing/2014/main" id="{5E61E892-2DB9-D2F0-0A44-C938634A1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9" y="2806"/>
              <a:ext cx="32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4158" name="Oval 14">
              <a:extLst>
                <a:ext uri="{FF2B5EF4-FFF2-40B4-BE49-F238E27FC236}">
                  <a16:creationId xmlns:a16="http://schemas.microsoft.com/office/drawing/2014/main" id="{432B029B-E7F4-6FFE-A13C-44AEF6C4C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3" y="2776"/>
              <a:ext cx="57" cy="5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774159" name="Object 15">
            <a:extLst>
              <a:ext uri="{FF2B5EF4-FFF2-40B4-BE49-F238E27FC236}">
                <a16:creationId xmlns:a16="http://schemas.microsoft.com/office/drawing/2014/main" id="{438B8EDA-A099-F217-C056-1F0E89CB2B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225" y="4395788"/>
          <a:ext cx="46037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120" imgH="393480" progId="Equation.3">
                  <p:embed/>
                </p:oleObj>
              </mc:Choice>
              <mc:Fallback>
                <p:oleObj name="Equation" r:id="rId10" imgW="330120" imgH="393480" progId="Equation.3">
                  <p:embed/>
                  <p:pic>
                    <p:nvPicPr>
                      <p:cNvPr id="774159" name="Object 15">
                        <a:extLst>
                          <a:ext uri="{FF2B5EF4-FFF2-40B4-BE49-F238E27FC236}">
                            <a16:creationId xmlns:a16="http://schemas.microsoft.com/office/drawing/2014/main" id="{438B8EDA-A099-F217-C056-1F0E89CB2B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" y="4395788"/>
                        <a:ext cx="460375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4160" name="Group 16">
            <a:extLst>
              <a:ext uri="{FF2B5EF4-FFF2-40B4-BE49-F238E27FC236}">
                <a16:creationId xmlns:a16="http://schemas.microsoft.com/office/drawing/2014/main" id="{E3F73E3B-B3B4-6768-420B-7FAAD0D4581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91188" y="2687638"/>
            <a:ext cx="3292475" cy="3292475"/>
            <a:chOff x="1920" y="1968"/>
            <a:chExt cx="1056" cy="1056"/>
          </a:xfrm>
        </p:grpSpPr>
        <p:pic>
          <p:nvPicPr>
            <p:cNvPr id="774161" name="Picture 17">
              <a:extLst>
                <a:ext uri="{FF2B5EF4-FFF2-40B4-BE49-F238E27FC236}">
                  <a16:creationId xmlns:a16="http://schemas.microsoft.com/office/drawing/2014/main" id="{BC6DFDD2-AC25-B5EE-3884-10EFA20290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74162" name="Freeform 18">
              <a:extLst>
                <a:ext uri="{FF2B5EF4-FFF2-40B4-BE49-F238E27FC236}">
                  <a16:creationId xmlns:a16="http://schemas.microsoft.com/office/drawing/2014/main" id="{2481F3A9-7996-EB7D-0B40-C0BBF1F78C2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chemeClr val="hlink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774163" name="Object 19">
            <a:extLst>
              <a:ext uri="{FF2B5EF4-FFF2-40B4-BE49-F238E27FC236}">
                <a16:creationId xmlns:a16="http://schemas.microsoft.com/office/drawing/2014/main" id="{37C79137-CCF1-B8D0-BA0C-630DC29777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3750" y="3979863"/>
          <a:ext cx="107791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96880" imgH="241200" progId="Equation.3">
                  <p:embed/>
                </p:oleObj>
              </mc:Choice>
              <mc:Fallback>
                <p:oleObj name="Equation" r:id="rId12" imgW="596880" imgH="241200" progId="Equation.3">
                  <p:embed/>
                  <p:pic>
                    <p:nvPicPr>
                      <p:cNvPr id="774163" name="Object 19">
                        <a:extLst>
                          <a:ext uri="{FF2B5EF4-FFF2-40B4-BE49-F238E27FC236}">
                            <a16:creationId xmlns:a16="http://schemas.microsoft.com/office/drawing/2014/main" id="{37C79137-CCF1-B8D0-BA0C-630DC29777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0" y="3979863"/>
                        <a:ext cx="1077913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4164" name="Oval 20">
            <a:extLst>
              <a:ext uri="{FF2B5EF4-FFF2-40B4-BE49-F238E27FC236}">
                <a16:creationId xmlns:a16="http://schemas.microsoft.com/office/drawing/2014/main" id="{B4E3CF40-C7FB-99BC-B51E-F58884697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3" y="4606925"/>
            <a:ext cx="90487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74170" name="Object 26">
            <a:extLst>
              <a:ext uri="{FF2B5EF4-FFF2-40B4-BE49-F238E27FC236}">
                <a16:creationId xmlns:a16="http://schemas.microsoft.com/office/drawing/2014/main" id="{D30DB109-E266-AE9F-CE92-D8DECBCEFB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04038" y="6059488"/>
          <a:ext cx="10541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83920" imgH="215640" progId="Equation.3">
                  <p:embed/>
                </p:oleObj>
              </mc:Choice>
              <mc:Fallback>
                <p:oleObj name="Equation" r:id="rId14" imgW="583920" imgH="215640" progId="Equation.3">
                  <p:embed/>
                  <p:pic>
                    <p:nvPicPr>
                      <p:cNvPr id="774170" name="Object 26">
                        <a:extLst>
                          <a:ext uri="{FF2B5EF4-FFF2-40B4-BE49-F238E27FC236}">
                            <a16:creationId xmlns:a16="http://schemas.microsoft.com/office/drawing/2014/main" id="{D30DB109-E266-AE9F-CE92-D8DECBCEFB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4038" y="6059488"/>
                        <a:ext cx="10541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4173" name="Line 29">
            <a:extLst>
              <a:ext uri="{FF2B5EF4-FFF2-40B4-BE49-F238E27FC236}">
                <a16:creationId xmlns:a16="http://schemas.microsoft.com/office/drawing/2014/main" id="{33EF0946-FDFC-FF08-913B-F53C90D3D3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5563" y="2265363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4174" name="Line 30">
            <a:extLst>
              <a:ext uri="{FF2B5EF4-FFF2-40B4-BE49-F238E27FC236}">
                <a16:creationId xmlns:a16="http://schemas.microsoft.com/office/drawing/2014/main" id="{903ED6E9-2E91-0EA8-DED7-D44B91E414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4163" y="2265363"/>
            <a:ext cx="12954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4175" name="Text Box 31">
            <a:extLst>
              <a:ext uri="{FF2B5EF4-FFF2-40B4-BE49-F238E27FC236}">
                <a16:creationId xmlns:a16="http://schemas.microsoft.com/office/drawing/2014/main" id="{5342BF8F-223D-7C66-E622-2E01C8278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838" y="1646238"/>
            <a:ext cx="1936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/>
              <a:t>old</a:t>
            </a:r>
          </a:p>
          <a:p>
            <a:pPr algn="ctr"/>
            <a:r>
              <a:rPr lang="en-US" altLang="en-US" i="1"/>
              <a:t>explicit function</a:t>
            </a:r>
          </a:p>
        </p:txBody>
      </p:sp>
      <p:sp>
        <p:nvSpPr>
          <p:cNvPr id="774176" name="Text Box 32">
            <a:extLst>
              <a:ext uri="{FF2B5EF4-FFF2-40B4-BE49-F238E27FC236}">
                <a16:creationId xmlns:a16="http://schemas.microsoft.com/office/drawing/2014/main" id="{3A7EF457-E913-4369-10D3-F138454D1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1006475"/>
            <a:ext cx="1949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/>
              <a:t>new</a:t>
            </a:r>
          </a:p>
          <a:p>
            <a:pPr algn="ctr"/>
            <a:r>
              <a:rPr lang="en-US" altLang="en-US" i="1"/>
              <a:t>implicit function</a:t>
            </a:r>
          </a:p>
        </p:txBody>
      </p:sp>
      <p:sp>
        <p:nvSpPr>
          <p:cNvPr id="774177" name="Line 33">
            <a:extLst>
              <a:ext uri="{FF2B5EF4-FFF2-40B4-BE49-F238E27FC236}">
                <a16:creationId xmlns:a16="http://schemas.microsoft.com/office/drawing/2014/main" id="{0B31B7C7-2B88-6460-6D11-66442B2AC4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81663" y="2687638"/>
            <a:ext cx="9525" cy="329247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4178" name="Line 34">
            <a:extLst>
              <a:ext uri="{FF2B5EF4-FFF2-40B4-BE49-F238E27FC236}">
                <a16:creationId xmlns:a16="http://schemas.microsoft.com/office/drawing/2014/main" id="{17D5B51A-14B0-8BC5-C0D7-7943B74F57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81663" y="5980113"/>
            <a:ext cx="330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4179" name="Line 35">
            <a:extLst>
              <a:ext uri="{FF2B5EF4-FFF2-40B4-BE49-F238E27FC236}">
                <a16:creationId xmlns:a16="http://schemas.microsoft.com/office/drawing/2014/main" id="{7D17B94D-FA8D-D692-5AC1-E7CAB2730A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7925" y="2687638"/>
            <a:ext cx="9525" cy="329247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4180" name="Line 36">
            <a:extLst>
              <a:ext uri="{FF2B5EF4-FFF2-40B4-BE49-F238E27FC236}">
                <a16:creationId xmlns:a16="http://schemas.microsoft.com/office/drawing/2014/main" id="{7DBBECEC-92C6-8887-ABDC-42DF1CA9D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7925" y="5980113"/>
            <a:ext cx="330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74182" name="Group 38">
            <a:extLst>
              <a:ext uri="{FF2B5EF4-FFF2-40B4-BE49-F238E27FC236}">
                <a16:creationId xmlns:a16="http://schemas.microsoft.com/office/drawing/2014/main" id="{6B5AC7DD-C798-07AC-F2AE-9ACD7EF0BFC4}"/>
              </a:ext>
            </a:extLst>
          </p:cNvPr>
          <p:cNvGrpSpPr>
            <a:grpSpLocks/>
          </p:cNvGrpSpPr>
          <p:nvPr/>
        </p:nvGrpSpPr>
        <p:grpSpPr bwMode="auto">
          <a:xfrm>
            <a:off x="6967538" y="2058988"/>
            <a:ext cx="509587" cy="92075"/>
            <a:chOff x="4229" y="3794"/>
            <a:chExt cx="321" cy="58"/>
          </a:xfrm>
        </p:grpSpPr>
        <p:sp>
          <p:nvSpPr>
            <p:cNvPr id="774183" name="Line 39">
              <a:extLst>
                <a:ext uri="{FF2B5EF4-FFF2-40B4-BE49-F238E27FC236}">
                  <a16:creationId xmlns:a16="http://schemas.microsoft.com/office/drawing/2014/main" id="{636BAA6E-8BF8-8129-5DD4-CA1984C18C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824"/>
              <a:ext cx="321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4184" name="Oval 40">
              <a:extLst>
                <a:ext uri="{FF2B5EF4-FFF2-40B4-BE49-F238E27FC236}">
                  <a16:creationId xmlns:a16="http://schemas.microsoft.com/office/drawing/2014/main" id="{BA1F1645-E45D-7550-FDB8-929610C46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3" y="3794"/>
              <a:ext cx="57" cy="58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774185" name="Object 41">
            <a:extLst>
              <a:ext uri="{FF2B5EF4-FFF2-40B4-BE49-F238E27FC236}">
                <a16:creationId xmlns:a16="http://schemas.microsoft.com/office/drawing/2014/main" id="{B7EB1845-A4A8-D3E5-ACAB-75A58DE9FC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62788" y="1600200"/>
          <a:ext cx="319087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7480" imgH="177480" progId="Equation.3">
                  <p:embed/>
                </p:oleObj>
              </mc:Choice>
              <mc:Fallback>
                <p:oleObj name="Equation" r:id="rId16" imgW="177480" imgH="177480" progId="Equation.3">
                  <p:embed/>
                  <p:pic>
                    <p:nvPicPr>
                      <p:cNvPr id="774185" name="Object 41">
                        <a:extLst>
                          <a:ext uri="{FF2B5EF4-FFF2-40B4-BE49-F238E27FC236}">
                            <a16:creationId xmlns:a16="http://schemas.microsoft.com/office/drawing/2014/main" id="{B7EB1845-A4A8-D3E5-ACAB-75A58DE9FC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2788" y="1600200"/>
                        <a:ext cx="319087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4186" name="Object 42">
            <a:extLst>
              <a:ext uri="{FF2B5EF4-FFF2-40B4-BE49-F238E27FC236}">
                <a16:creationId xmlns:a16="http://schemas.microsoft.com/office/drawing/2014/main" id="{A4F19CAD-FE66-A19C-D4D4-43304E62CD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0" y="2374900"/>
          <a:ext cx="15875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8560" imgH="152280" progId="Equation.3">
                  <p:embed/>
                </p:oleObj>
              </mc:Choice>
              <mc:Fallback>
                <p:oleObj name="Equation" r:id="rId18" imgW="88560" imgH="152280" progId="Equation.3">
                  <p:embed/>
                  <p:pic>
                    <p:nvPicPr>
                      <p:cNvPr id="774186" name="Object 42">
                        <a:extLst>
                          <a:ext uri="{FF2B5EF4-FFF2-40B4-BE49-F238E27FC236}">
                            <a16:creationId xmlns:a16="http://schemas.microsoft.com/office/drawing/2014/main" id="{A4F19CAD-FE66-A19C-D4D4-43304E62CD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2374900"/>
                        <a:ext cx="15875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>
            <a:extLst>
              <a:ext uri="{FF2B5EF4-FFF2-40B4-BE49-F238E27FC236}">
                <a16:creationId xmlns:a16="http://schemas.microsoft.com/office/drawing/2014/main" id="{EA2EF2A1-8758-5FFC-2C7C-32033B403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Parametric Curves</a:t>
            </a:r>
          </a:p>
        </p:txBody>
      </p:sp>
      <p:sp>
        <p:nvSpPr>
          <p:cNvPr id="776195" name="Rectangle 3">
            <a:extLst>
              <a:ext uri="{FF2B5EF4-FFF2-40B4-BE49-F238E27FC236}">
                <a16:creationId xmlns:a16="http://schemas.microsoft.com/office/drawing/2014/main" id="{DEC70132-D7AB-6D00-25BA-A6CF37E1D4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</p:txBody>
      </p:sp>
      <p:pic>
        <p:nvPicPr>
          <p:cNvPr id="776196" name="Picture 4">
            <a:extLst>
              <a:ext uri="{FF2B5EF4-FFF2-40B4-BE49-F238E27FC236}">
                <a16:creationId xmlns:a16="http://schemas.microsoft.com/office/drawing/2014/main" id="{A8BC335A-AA9E-0A8E-C5C9-8F6444642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25" y="2687638"/>
            <a:ext cx="3292475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76197" name="Freeform 5">
            <a:extLst>
              <a:ext uri="{FF2B5EF4-FFF2-40B4-BE49-F238E27FC236}">
                <a16:creationId xmlns:a16="http://schemas.microsoft.com/office/drawing/2014/main" id="{6603B7BD-F1C2-7E3C-905D-FEA2BE02F535}"/>
              </a:ext>
            </a:extLst>
          </p:cNvPr>
          <p:cNvSpPr>
            <a:spLocks noChangeAspect="1"/>
          </p:cNvSpPr>
          <p:nvPr/>
        </p:nvSpPr>
        <p:spPr bwMode="auto">
          <a:xfrm>
            <a:off x="1925638" y="3735388"/>
            <a:ext cx="2544762" cy="2244725"/>
          </a:xfrm>
          <a:custGeom>
            <a:avLst/>
            <a:gdLst>
              <a:gd name="T0" fmla="*/ 0 w 816"/>
              <a:gd name="T1" fmla="*/ 720 h 720"/>
              <a:gd name="T2" fmla="*/ 96 w 816"/>
              <a:gd name="T3" fmla="*/ 384 h 720"/>
              <a:gd name="T4" fmla="*/ 318 w 816"/>
              <a:gd name="T5" fmla="*/ 191 h 720"/>
              <a:gd name="T6" fmla="*/ 642 w 816"/>
              <a:gd name="T7" fmla="*/ 75 h 720"/>
              <a:gd name="T8" fmla="*/ 816 w 816"/>
              <a:gd name="T9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6" h="720">
                <a:moveTo>
                  <a:pt x="0" y="720"/>
                </a:moveTo>
                <a:cubicBezTo>
                  <a:pt x="12" y="600"/>
                  <a:pt x="43" y="472"/>
                  <a:pt x="96" y="384"/>
                </a:cubicBezTo>
                <a:cubicBezTo>
                  <a:pt x="149" y="296"/>
                  <a:pt x="227" y="242"/>
                  <a:pt x="318" y="191"/>
                </a:cubicBezTo>
                <a:cubicBezTo>
                  <a:pt x="409" y="140"/>
                  <a:pt x="559" y="107"/>
                  <a:pt x="642" y="75"/>
                </a:cubicBezTo>
                <a:cubicBezTo>
                  <a:pt x="725" y="43"/>
                  <a:pt x="780" y="16"/>
                  <a:pt x="816" y="0"/>
                </a:cubicBezTo>
              </a:path>
            </a:pathLst>
          </a:custGeom>
          <a:noFill/>
          <a:ln w="28575" cap="flat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76198" name="Object 6">
            <a:extLst>
              <a:ext uri="{FF2B5EF4-FFF2-40B4-BE49-F238E27FC236}">
                <a16:creationId xmlns:a16="http://schemas.microsoft.com/office/drawing/2014/main" id="{9A6E1F3B-3D73-7200-F5F0-B7E8B08187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2088" y="6162675"/>
          <a:ext cx="22860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0" imgH="139680" progId="Equation.3">
                  <p:embed/>
                </p:oleObj>
              </mc:Choice>
              <mc:Fallback>
                <p:oleObj name="Equation" r:id="rId4" imgW="126720" imgH="139680" progId="Equation.3">
                  <p:embed/>
                  <p:pic>
                    <p:nvPicPr>
                      <p:cNvPr id="776198" name="Object 6">
                        <a:extLst>
                          <a:ext uri="{FF2B5EF4-FFF2-40B4-BE49-F238E27FC236}">
                            <a16:creationId xmlns:a16="http://schemas.microsoft.com/office/drawing/2014/main" id="{9A6E1F3B-3D73-7200-F5F0-B7E8B08187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088" y="6162675"/>
                        <a:ext cx="228600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6199" name="Object 7">
            <a:extLst>
              <a:ext uri="{FF2B5EF4-FFF2-40B4-BE49-F238E27FC236}">
                <a16:creationId xmlns:a16="http://schemas.microsoft.com/office/drawing/2014/main" id="{13A32088-8CF0-303A-4AC0-7F1154799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413" y="4014788"/>
          <a:ext cx="1008062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720" imgH="203040" progId="Equation.3">
                  <p:embed/>
                </p:oleObj>
              </mc:Choice>
              <mc:Fallback>
                <p:oleObj name="Equation" r:id="rId6" imgW="558720" imgH="203040" progId="Equation.3">
                  <p:embed/>
                  <p:pic>
                    <p:nvPicPr>
                      <p:cNvPr id="776199" name="Object 7">
                        <a:extLst>
                          <a:ext uri="{FF2B5EF4-FFF2-40B4-BE49-F238E27FC236}">
                            <a16:creationId xmlns:a16="http://schemas.microsoft.com/office/drawing/2014/main" id="{13A32088-8CF0-303A-4AC0-7F1154799A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3" y="4014788"/>
                        <a:ext cx="1008062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6200" name="Oval 8">
            <a:extLst>
              <a:ext uri="{FF2B5EF4-FFF2-40B4-BE49-F238E27FC236}">
                <a16:creationId xmlns:a16="http://schemas.microsoft.com/office/drawing/2014/main" id="{877F6603-FEE5-4902-8B9A-5EF3E78E0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0" y="4606925"/>
            <a:ext cx="90488" cy="920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6201" name="Line 9">
            <a:extLst>
              <a:ext uri="{FF2B5EF4-FFF2-40B4-BE49-F238E27FC236}">
                <a16:creationId xmlns:a16="http://schemas.microsoft.com/office/drawing/2014/main" id="{AA85A83E-B911-1392-0558-39F3CB081E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0275" y="6070600"/>
            <a:ext cx="5095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6202" name="Oval 10">
            <a:extLst>
              <a:ext uri="{FF2B5EF4-FFF2-40B4-BE49-F238E27FC236}">
                <a16:creationId xmlns:a16="http://schemas.microsoft.com/office/drawing/2014/main" id="{028F6AA4-FA7E-0118-7CFC-2F53F0791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0" y="6022975"/>
            <a:ext cx="90488" cy="920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76203" name="Object 11">
            <a:extLst>
              <a:ext uri="{FF2B5EF4-FFF2-40B4-BE49-F238E27FC236}">
                <a16:creationId xmlns:a16="http://schemas.microsoft.com/office/drawing/2014/main" id="{FDD61601-6F72-BE36-843E-ECB688475A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6129338"/>
          <a:ext cx="3873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40" imgH="177480" progId="Equation.3">
                  <p:embed/>
                </p:oleObj>
              </mc:Choice>
              <mc:Fallback>
                <p:oleObj name="Equation" r:id="rId8" imgW="215640" imgH="177480" progId="Equation.3">
                  <p:embed/>
                  <p:pic>
                    <p:nvPicPr>
                      <p:cNvPr id="776203" name="Object 11">
                        <a:extLst>
                          <a:ext uri="{FF2B5EF4-FFF2-40B4-BE49-F238E27FC236}">
                            <a16:creationId xmlns:a16="http://schemas.microsoft.com/office/drawing/2014/main" id="{FDD61601-6F72-BE36-843E-ECB688475A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6129338"/>
                        <a:ext cx="38735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6204" name="Group 12">
            <a:extLst>
              <a:ext uri="{FF2B5EF4-FFF2-40B4-BE49-F238E27FC236}">
                <a16:creationId xmlns:a16="http://schemas.microsoft.com/office/drawing/2014/main" id="{0725318D-52E8-F4AB-954B-17AA8FC4100E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821532" y="4636294"/>
            <a:ext cx="509587" cy="92075"/>
            <a:chOff x="2459" y="2776"/>
            <a:chExt cx="321" cy="58"/>
          </a:xfrm>
        </p:grpSpPr>
        <p:sp>
          <p:nvSpPr>
            <p:cNvPr id="776205" name="Line 13">
              <a:extLst>
                <a:ext uri="{FF2B5EF4-FFF2-40B4-BE49-F238E27FC236}">
                  <a16:creationId xmlns:a16="http://schemas.microsoft.com/office/drawing/2014/main" id="{9D0FBADB-AD4E-91C5-D687-613693E4BD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9" y="2806"/>
              <a:ext cx="32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6206" name="Oval 14">
              <a:extLst>
                <a:ext uri="{FF2B5EF4-FFF2-40B4-BE49-F238E27FC236}">
                  <a16:creationId xmlns:a16="http://schemas.microsoft.com/office/drawing/2014/main" id="{29AD997D-D8E1-2FE5-0F26-4AC9FDA7F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3" y="2776"/>
              <a:ext cx="57" cy="5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776207" name="Object 15">
            <a:extLst>
              <a:ext uri="{FF2B5EF4-FFF2-40B4-BE49-F238E27FC236}">
                <a16:creationId xmlns:a16="http://schemas.microsoft.com/office/drawing/2014/main" id="{496147A6-6B59-FCFD-6A9E-C0810EDFD1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225" y="4395788"/>
          <a:ext cx="46037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120" imgH="393480" progId="Equation.3">
                  <p:embed/>
                </p:oleObj>
              </mc:Choice>
              <mc:Fallback>
                <p:oleObj name="Equation" r:id="rId10" imgW="330120" imgH="393480" progId="Equation.3">
                  <p:embed/>
                  <p:pic>
                    <p:nvPicPr>
                      <p:cNvPr id="776207" name="Object 15">
                        <a:extLst>
                          <a:ext uri="{FF2B5EF4-FFF2-40B4-BE49-F238E27FC236}">
                            <a16:creationId xmlns:a16="http://schemas.microsoft.com/office/drawing/2014/main" id="{496147A6-6B59-FCFD-6A9E-C0810EDFD1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" y="4395788"/>
                        <a:ext cx="460375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6224" name="Text Box 32">
            <a:extLst>
              <a:ext uri="{FF2B5EF4-FFF2-40B4-BE49-F238E27FC236}">
                <a16:creationId xmlns:a16="http://schemas.microsoft.com/office/drawing/2014/main" id="{B337381D-6DA0-D7AC-47A6-76C8716CE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838" y="1646238"/>
            <a:ext cx="1936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/>
              <a:t>old</a:t>
            </a:r>
          </a:p>
          <a:p>
            <a:pPr algn="ctr"/>
            <a:r>
              <a:rPr lang="en-US" altLang="en-US" i="1"/>
              <a:t>explicit function</a:t>
            </a:r>
          </a:p>
        </p:txBody>
      </p:sp>
      <p:sp>
        <p:nvSpPr>
          <p:cNvPr id="776225" name="Text Box 33">
            <a:extLst>
              <a:ext uri="{FF2B5EF4-FFF2-40B4-BE49-F238E27FC236}">
                <a16:creationId xmlns:a16="http://schemas.microsoft.com/office/drawing/2014/main" id="{B8CAC3B2-714E-CBAA-F1A0-CB44FC1C6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1006475"/>
            <a:ext cx="1949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/>
              <a:t>new</a:t>
            </a:r>
          </a:p>
          <a:p>
            <a:pPr algn="ctr"/>
            <a:r>
              <a:rPr lang="en-US" altLang="en-US" i="1"/>
              <a:t>implicit function</a:t>
            </a:r>
          </a:p>
        </p:txBody>
      </p:sp>
      <p:sp>
        <p:nvSpPr>
          <p:cNvPr id="776228" name="Line 36">
            <a:extLst>
              <a:ext uri="{FF2B5EF4-FFF2-40B4-BE49-F238E27FC236}">
                <a16:creationId xmlns:a16="http://schemas.microsoft.com/office/drawing/2014/main" id="{594DDA9C-DA6F-BB25-0842-3E10F4C605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7925" y="2687638"/>
            <a:ext cx="9525" cy="329247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6229" name="Line 37">
            <a:extLst>
              <a:ext uri="{FF2B5EF4-FFF2-40B4-BE49-F238E27FC236}">
                <a16:creationId xmlns:a16="http://schemas.microsoft.com/office/drawing/2014/main" id="{0B512762-EED9-E987-F4CE-18C0CC4B10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7925" y="5980113"/>
            <a:ext cx="330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76235" name="Group 43">
            <a:extLst>
              <a:ext uri="{FF2B5EF4-FFF2-40B4-BE49-F238E27FC236}">
                <a16:creationId xmlns:a16="http://schemas.microsoft.com/office/drawing/2014/main" id="{3811C81E-2BDA-4419-D459-432CCF759186}"/>
              </a:ext>
            </a:extLst>
          </p:cNvPr>
          <p:cNvGrpSpPr>
            <a:grpSpLocks/>
          </p:cNvGrpSpPr>
          <p:nvPr/>
        </p:nvGrpSpPr>
        <p:grpSpPr bwMode="auto">
          <a:xfrm>
            <a:off x="4603750" y="1600200"/>
            <a:ext cx="4379913" cy="5089525"/>
            <a:chOff x="2900" y="1008"/>
            <a:chExt cx="2759" cy="3206"/>
          </a:xfrm>
        </p:grpSpPr>
        <p:grpSp>
          <p:nvGrpSpPr>
            <p:cNvPr id="776208" name="Group 16">
              <a:extLst>
                <a:ext uri="{FF2B5EF4-FFF2-40B4-BE49-F238E27FC236}">
                  <a16:creationId xmlns:a16="http://schemas.microsoft.com/office/drawing/2014/main" id="{56E41D47-2EA9-E6B2-E3B3-FFAC657556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585" y="1693"/>
              <a:ext cx="2074" cy="2074"/>
              <a:chOff x="1920" y="1968"/>
              <a:chExt cx="1056" cy="1056"/>
            </a:xfrm>
          </p:grpSpPr>
          <p:pic>
            <p:nvPicPr>
              <p:cNvPr id="776209" name="Picture 17">
                <a:extLst>
                  <a:ext uri="{FF2B5EF4-FFF2-40B4-BE49-F238E27FC236}">
                    <a16:creationId xmlns:a16="http://schemas.microsoft.com/office/drawing/2014/main" id="{45128B48-FF79-8C3A-F8A7-AE9BAA129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0" y="1968"/>
                <a:ext cx="1056" cy="10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76210" name="Freeform 18">
                <a:extLst>
                  <a:ext uri="{FF2B5EF4-FFF2-40B4-BE49-F238E27FC236}">
                    <a16:creationId xmlns:a16="http://schemas.microsoft.com/office/drawing/2014/main" id="{69BD7C95-A099-F4C1-5C1B-49B60A2AA0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60" y="2304"/>
                <a:ext cx="816" cy="720"/>
              </a:xfrm>
              <a:custGeom>
                <a:avLst/>
                <a:gdLst>
                  <a:gd name="T0" fmla="*/ 0 w 816"/>
                  <a:gd name="T1" fmla="*/ 720 h 720"/>
                  <a:gd name="T2" fmla="*/ 96 w 816"/>
                  <a:gd name="T3" fmla="*/ 384 h 720"/>
                  <a:gd name="T4" fmla="*/ 318 w 816"/>
                  <a:gd name="T5" fmla="*/ 191 h 720"/>
                  <a:gd name="T6" fmla="*/ 642 w 816"/>
                  <a:gd name="T7" fmla="*/ 75 h 720"/>
                  <a:gd name="T8" fmla="*/ 816 w 816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6" h="720">
                    <a:moveTo>
                      <a:pt x="0" y="720"/>
                    </a:moveTo>
                    <a:cubicBezTo>
                      <a:pt x="12" y="600"/>
                      <a:pt x="43" y="472"/>
                      <a:pt x="96" y="384"/>
                    </a:cubicBezTo>
                    <a:cubicBezTo>
                      <a:pt x="149" y="296"/>
                      <a:pt x="227" y="242"/>
                      <a:pt x="318" y="191"/>
                    </a:cubicBezTo>
                    <a:cubicBezTo>
                      <a:pt x="409" y="140"/>
                      <a:pt x="559" y="107"/>
                      <a:pt x="642" y="75"/>
                    </a:cubicBezTo>
                    <a:cubicBezTo>
                      <a:pt x="725" y="43"/>
                      <a:pt x="780" y="16"/>
                      <a:pt x="816" y="0"/>
                    </a:cubicBezTo>
                  </a:path>
                </a:pathLst>
              </a:custGeom>
              <a:noFill/>
              <a:ln w="28575" cap="flat" cmpd="sng">
                <a:solidFill>
                  <a:schemeClr val="hlink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776211" name="Object 19">
              <a:extLst>
                <a:ext uri="{FF2B5EF4-FFF2-40B4-BE49-F238E27FC236}">
                  <a16:creationId xmlns:a16="http://schemas.microsoft.com/office/drawing/2014/main" id="{914411C9-EBD7-5D47-FBC5-79E8FF29F2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0" y="2507"/>
            <a:ext cx="67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96880" imgH="241200" progId="Equation.3">
                    <p:embed/>
                  </p:oleObj>
                </mc:Choice>
                <mc:Fallback>
                  <p:oleObj name="Equation" r:id="rId12" imgW="596880" imgH="241200" progId="Equation.3">
                    <p:embed/>
                    <p:pic>
                      <p:nvPicPr>
                        <p:cNvPr id="776211" name="Object 19">
                          <a:extLst>
                            <a:ext uri="{FF2B5EF4-FFF2-40B4-BE49-F238E27FC236}">
                              <a16:creationId xmlns:a16="http://schemas.microsoft.com/office/drawing/2014/main" id="{914411C9-EBD7-5D47-FBC5-79E8FF29F2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0" y="2507"/>
                          <a:ext cx="679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6212" name="Oval 20">
              <a:extLst>
                <a:ext uri="{FF2B5EF4-FFF2-40B4-BE49-F238E27FC236}">
                  <a16:creationId xmlns:a16="http://schemas.microsoft.com/office/drawing/2014/main" id="{AC4C955C-969A-6658-E621-632AE294B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3" y="2902"/>
              <a:ext cx="57" cy="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76213" name="Group 21">
              <a:extLst>
                <a:ext uri="{FF2B5EF4-FFF2-40B4-BE49-F238E27FC236}">
                  <a16:creationId xmlns:a16="http://schemas.microsoft.com/office/drawing/2014/main" id="{4EA2A632-EBA0-0B17-EEEA-73EC2167A7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9" y="3794"/>
              <a:ext cx="321" cy="58"/>
              <a:chOff x="4229" y="3794"/>
              <a:chExt cx="321" cy="58"/>
            </a:xfrm>
          </p:grpSpPr>
          <p:sp>
            <p:nvSpPr>
              <p:cNvPr id="776214" name="Line 22">
                <a:extLst>
                  <a:ext uri="{FF2B5EF4-FFF2-40B4-BE49-F238E27FC236}">
                    <a16:creationId xmlns:a16="http://schemas.microsoft.com/office/drawing/2014/main" id="{E53600F6-60CF-3D8C-C168-206777F514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9" y="3824"/>
                <a:ext cx="32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6215" name="Oval 23">
                <a:extLst>
                  <a:ext uri="{FF2B5EF4-FFF2-40B4-BE49-F238E27FC236}">
                    <a16:creationId xmlns:a16="http://schemas.microsoft.com/office/drawing/2014/main" id="{791CCFED-B990-4069-17F1-53F7632238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3" y="3794"/>
                <a:ext cx="57" cy="5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76216" name="Group 24">
              <a:extLst>
                <a:ext uri="{FF2B5EF4-FFF2-40B4-BE49-F238E27FC236}">
                  <a16:creationId xmlns:a16="http://schemas.microsoft.com/office/drawing/2014/main" id="{00B52062-8918-530D-0A0D-B2E0BF015B78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3360" y="2921"/>
              <a:ext cx="321" cy="58"/>
              <a:chOff x="2459" y="2776"/>
              <a:chExt cx="321" cy="58"/>
            </a:xfrm>
          </p:grpSpPr>
          <p:sp>
            <p:nvSpPr>
              <p:cNvPr id="776217" name="Line 25">
                <a:extLst>
                  <a:ext uri="{FF2B5EF4-FFF2-40B4-BE49-F238E27FC236}">
                    <a16:creationId xmlns:a16="http://schemas.microsoft.com/office/drawing/2014/main" id="{846685E8-A2D4-B80B-DC71-908A826747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59" y="2806"/>
                <a:ext cx="321" cy="0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6218" name="Oval 26">
                <a:extLst>
                  <a:ext uri="{FF2B5EF4-FFF2-40B4-BE49-F238E27FC236}">
                    <a16:creationId xmlns:a16="http://schemas.microsoft.com/office/drawing/2014/main" id="{D0D1CD6D-F277-15AB-9D12-3888DBB70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3" y="2776"/>
                <a:ext cx="57" cy="58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776219" name="Object 27">
              <a:extLst>
                <a:ext uri="{FF2B5EF4-FFF2-40B4-BE49-F238E27FC236}">
                  <a16:creationId xmlns:a16="http://schemas.microsoft.com/office/drawing/2014/main" id="{047ABBEB-8436-94B0-1683-71413C23D3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81" y="3817"/>
            <a:ext cx="664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83920" imgH="215640" progId="Equation.3">
                    <p:embed/>
                  </p:oleObj>
                </mc:Choice>
                <mc:Fallback>
                  <p:oleObj name="Equation" r:id="rId14" imgW="583920" imgH="215640" progId="Equation.3">
                    <p:embed/>
                    <p:pic>
                      <p:nvPicPr>
                        <p:cNvPr id="776219" name="Object 27">
                          <a:extLst>
                            <a:ext uri="{FF2B5EF4-FFF2-40B4-BE49-F238E27FC236}">
                              <a16:creationId xmlns:a16="http://schemas.microsoft.com/office/drawing/2014/main" id="{047ABBEB-8436-94B0-1683-71413C23D38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1" y="3817"/>
                          <a:ext cx="664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6220" name="Object 28">
              <a:extLst>
                <a:ext uri="{FF2B5EF4-FFF2-40B4-BE49-F238E27FC236}">
                  <a16:creationId xmlns:a16="http://schemas.microsoft.com/office/drawing/2014/main" id="{E95CEBCE-61DB-9F79-05CC-455166713B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9" y="3865"/>
            <a:ext cx="268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04560" imgH="393480" progId="Equation.3">
                    <p:embed/>
                  </p:oleObj>
                </mc:Choice>
                <mc:Fallback>
                  <p:oleObj name="Equation" r:id="rId16" imgW="304560" imgH="393480" progId="Equation.3">
                    <p:embed/>
                    <p:pic>
                      <p:nvPicPr>
                        <p:cNvPr id="776220" name="Object 28">
                          <a:extLst>
                            <a:ext uri="{FF2B5EF4-FFF2-40B4-BE49-F238E27FC236}">
                              <a16:creationId xmlns:a16="http://schemas.microsoft.com/office/drawing/2014/main" id="{E95CEBCE-61DB-9F79-05CC-455166713B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9" y="3865"/>
                          <a:ext cx="268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6221" name="Object 29">
              <a:extLst>
                <a:ext uri="{FF2B5EF4-FFF2-40B4-BE49-F238E27FC236}">
                  <a16:creationId xmlns:a16="http://schemas.microsoft.com/office/drawing/2014/main" id="{E74A5242-3A8D-1B6F-6AC6-9D6C8562B6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49" y="2773"/>
            <a:ext cx="290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30120" imgH="393480" progId="Equation.3">
                    <p:embed/>
                  </p:oleObj>
                </mc:Choice>
                <mc:Fallback>
                  <p:oleObj name="Equation" r:id="rId18" imgW="330120" imgH="393480" progId="Equation.3">
                    <p:embed/>
                    <p:pic>
                      <p:nvPicPr>
                        <p:cNvPr id="776221" name="Object 29">
                          <a:extLst>
                            <a:ext uri="{FF2B5EF4-FFF2-40B4-BE49-F238E27FC236}">
                              <a16:creationId xmlns:a16="http://schemas.microsoft.com/office/drawing/2014/main" id="{E74A5242-3A8D-1B6F-6AC6-9D6C8562B6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9" y="2773"/>
                          <a:ext cx="290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6222" name="Line 30">
              <a:extLst>
                <a:ext uri="{FF2B5EF4-FFF2-40B4-BE49-F238E27FC236}">
                  <a16:creationId xmlns:a16="http://schemas.microsoft.com/office/drawing/2014/main" id="{2CC35C15-88C1-02E7-B88E-5B8663D85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5" y="1427"/>
              <a:ext cx="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6223" name="Line 31">
              <a:extLst>
                <a:ext uri="{FF2B5EF4-FFF2-40B4-BE49-F238E27FC236}">
                  <a16:creationId xmlns:a16="http://schemas.microsoft.com/office/drawing/2014/main" id="{77A6459B-0826-826D-ACA6-38F3E10669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9" y="1427"/>
              <a:ext cx="816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6226" name="Line 34">
              <a:extLst>
                <a:ext uri="{FF2B5EF4-FFF2-40B4-BE49-F238E27FC236}">
                  <a16:creationId xmlns:a16="http://schemas.microsoft.com/office/drawing/2014/main" id="{636B6F53-B8FC-75FF-6202-3CC11EE5E0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9" y="1693"/>
              <a:ext cx="6" cy="2074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6227" name="Line 35">
              <a:extLst>
                <a:ext uri="{FF2B5EF4-FFF2-40B4-BE49-F238E27FC236}">
                  <a16:creationId xmlns:a16="http://schemas.microsoft.com/office/drawing/2014/main" id="{7E8A327C-9997-A6DA-9F62-D03382776C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9" y="3767"/>
              <a:ext cx="20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76230" name="Group 38">
              <a:extLst>
                <a:ext uri="{FF2B5EF4-FFF2-40B4-BE49-F238E27FC236}">
                  <a16:creationId xmlns:a16="http://schemas.microsoft.com/office/drawing/2014/main" id="{94221AD1-255B-857B-BA79-C83EB0868F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9" y="1297"/>
              <a:ext cx="321" cy="58"/>
              <a:chOff x="4229" y="3794"/>
              <a:chExt cx="321" cy="58"/>
            </a:xfrm>
          </p:grpSpPr>
          <p:sp>
            <p:nvSpPr>
              <p:cNvPr id="776231" name="Line 39">
                <a:extLst>
                  <a:ext uri="{FF2B5EF4-FFF2-40B4-BE49-F238E27FC236}">
                    <a16:creationId xmlns:a16="http://schemas.microsoft.com/office/drawing/2014/main" id="{5B59AA96-A413-F6DC-3C21-21EBDA59A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9" y="3824"/>
                <a:ext cx="321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6232" name="Oval 40">
                <a:extLst>
                  <a:ext uri="{FF2B5EF4-FFF2-40B4-BE49-F238E27FC236}">
                    <a16:creationId xmlns:a16="http://schemas.microsoft.com/office/drawing/2014/main" id="{8B08C1C0-BBA1-7D2C-C9FB-12B30B26A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3" y="3794"/>
                <a:ext cx="57" cy="58"/>
              </a:xfrm>
              <a:prstGeom prst="ellipse">
                <a:avLst/>
              </a:prstGeom>
              <a:solidFill>
                <a:srgbClr val="FF00FF"/>
              </a:solidFill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776233" name="Object 41">
              <a:extLst>
                <a:ext uri="{FF2B5EF4-FFF2-40B4-BE49-F238E27FC236}">
                  <a16:creationId xmlns:a16="http://schemas.microsoft.com/office/drawing/2014/main" id="{2D356F9A-253F-F82A-DD5D-15A457ACC4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49" y="1008"/>
            <a:ext cx="20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77480" imgH="177480" progId="Equation.3">
                    <p:embed/>
                  </p:oleObj>
                </mc:Choice>
                <mc:Fallback>
                  <p:oleObj name="Equation" r:id="rId20" imgW="177480" imgH="177480" progId="Equation.3">
                    <p:embed/>
                    <p:pic>
                      <p:nvPicPr>
                        <p:cNvPr id="776233" name="Object 41">
                          <a:extLst>
                            <a:ext uri="{FF2B5EF4-FFF2-40B4-BE49-F238E27FC236}">
                              <a16:creationId xmlns:a16="http://schemas.microsoft.com/office/drawing/2014/main" id="{2D356F9A-253F-F82A-DD5D-15A457ACC4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9" y="1008"/>
                          <a:ext cx="201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6234" name="Object 42">
              <a:extLst>
                <a:ext uri="{FF2B5EF4-FFF2-40B4-BE49-F238E27FC236}">
                  <a16:creationId xmlns:a16="http://schemas.microsoft.com/office/drawing/2014/main" id="{69B261C7-F6CD-8FE0-7241-CBE589B8F55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00" y="1496"/>
            <a:ext cx="100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88560" imgH="152280" progId="Equation.3">
                    <p:embed/>
                  </p:oleObj>
                </mc:Choice>
                <mc:Fallback>
                  <p:oleObj name="Equation" r:id="rId22" imgW="88560" imgH="152280" progId="Equation.3">
                    <p:embed/>
                    <p:pic>
                      <p:nvPicPr>
                        <p:cNvPr id="776234" name="Object 42">
                          <a:extLst>
                            <a:ext uri="{FF2B5EF4-FFF2-40B4-BE49-F238E27FC236}">
                              <a16:creationId xmlns:a16="http://schemas.microsoft.com/office/drawing/2014/main" id="{69B261C7-F6CD-8FE0-7241-CBE589B8F5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0" y="1496"/>
                          <a:ext cx="100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0395" name="Group 43">
            <a:extLst>
              <a:ext uri="{FF2B5EF4-FFF2-40B4-BE49-F238E27FC236}">
                <a16:creationId xmlns:a16="http://schemas.microsoft.com/office/drawing/2014/main" id="{29E72007-9FDC-9638-2502-77B3CB8FD338}"/>
              </a:ext>
            </a:extLst>
          </p:cNvPr>
          <p:cNvGrpSpPr>
            <a:grpSpLocks/>
          </p:cNvGrpSpPr>
          <p:nvPr/>
        </p:nvGrpSpPr>
        <p:grpSpPr bwMode="auto">
          <a:xfrm>
            <a:off x="4603750" y="1600200"/>
            <a:ext cx="4379913" cy="5089525"/>
            <a:chOff x="2900" y="1008"/>
            <a:chExt cx="2759" cy="3206"/>
          </a:xfrm>
        </p:grpSpPr>
        <p:grpSp>
          <p:nvGrpSpPr>
            <p:cNvPr id="740396" name="Group 44">
              <a:extLst>
                <a:ext uri="{FF2B5EF4-FFF2-40B4-BE49-F238E27FC236}">
                  <a16:creationId xmlns:a16="http://schemas.microsoft.com/office/drawing/2014/main" id="{347F2FF9-BD32-FC08-85AF-FEA3239153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585" y="1693"/>
              <a:ext cx="2074" cy="2074"/>
              <a:chOff x="1920" y="1968"/>
              <a:chExt cx="1056" cy="1056"/>
            </a:xfrm>
          </p:grpSpPr>
          <p:pic>
            <p:nvPicPr>
              <p:cNvPr id="740397" name="Picture 45">
                <a:extLst>
                  <a:ext uri="{FF2B5EF4-FFF2-40B4-BE49-F238E27FC236}">
                    <a16:creationId xmlns:a16="http://schemas.microsoft.com/office/drawing/2014/main" id="{F854389D-C9E9-891A-4C6A-CE07CE88B6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0" y="1968"/>
                <a:ext cx="1056" cy="10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40398" name="Freeform 46">
                <a:extLst>
                  <a:ext uri="{FF2B5EF4-FFF2-40B4-BE49-F238E27FC236}">
                    <a16:creationId xmlns:a16="http://schemas.microsoft.com/office/drawing/2014/main" id="{CCE12F82-22B3-7310-AE62-D99F434E8A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60" y="2304"/>
                <a:ext cx="816" cy="720"/>
              </a:xfrm>
              <a:custGeom>
                <a:avLst/>
                <a:gdLst>
                  <a:gd name="T0" fmla="*/ 0 w 816"/>
                  <a:gd name="T1" fmla="*/ 720 h 720"/>
                  <a:gd name="T2" fmla="*/ 96 w 816"/>
                  <a:gd name="T3" fmla="*/ 384 h 720"/>
                  <a:gd name="T4" fmla="*/ 318 w 816"/>
                  <a:gd name="T5" fmla="*/ 191 h 720"/>
                  <a:gd name="T6" fmla="*/ 642 w 816"/>
                  <a:gd name="T7" fmla="*/ 75 h 720"/>
                  <a:gd name="T8" fmla="*/ 816 w 816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6" h="720">
                    <a:moveTo>
                      <a:pt x="0" y="720"/>
                    </a:moveTo>
                    <a:cubicBezTo>
                      <a:pt x="12" y="600"/>
                      <a:pt x="43" y="472"/>
                      <a:pt x="96" y="384"/>
                    </a:cubicBezTo>
                    <a:cubicBezTo>
                      <a:pt x="149" y="296"/>
                      <a:pt x="227" y="242"/>
                      <a:pt x="318" y="191"/>
                    </a:cubicBezTo>
                    <a:cubicBezTo>
                      <a:pt x="409" y="140"/>
                      <a:pt x="559" y="107"/>
                      <a:pt x="642" y="75"/>
                    </a:cubicBezTo>
                    <a:cubicBezTo>
                      <a:pt x="725" y="43"/>
                      <a:pt x="780" y="16"/>
                      <a:pt x="816" y="0"/>
                    </a:cubicBezTo>
                  </a:path>
                </a:pathLst>
              </a:custGeom>
              <a:noFill/>
              <a:ln w="28575" cap="flat" cmpd="sng">
                <a:solidFill>
                  <a:schemeClr val="hlink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740399" name="Object 47">
              <a:extLst>
                <a:ext uri="{FF2B5EF4-FFF2-40B4-BE49-F238E27FC236}">
                  <a16:creationId xmlns:a16="http://schemas.microsoft.com/office/drawing/2014/main" id="{8D0A2864-1FE8-5C90-7912-8CF0C9B6ED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0" y="2507"/>
            <a:ext cx="67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96880" imgH="241200" progId="Equation.3">
                    <p:embed/>
                  </p:oleObj>
                </mc:Choice>
                <mc:Fallback>
                  <p:oleObj name="Equation" r:id="rId4" imgW="596880" imgH="241200" progId="Equation.3">
                    <p:embed/>
                    <p:pic>
                      <p:nvPicPr>
                        <p:cNvPr id="740399" name="Object 47">
                          <a:extLst>
                            <a:ext uri="{FF2B5EF4-FFF2-40B4-BE49-F238E27FC236}">
                              <a16:creationId xmlns:a16="http://schemas.microsoft.com/office/drawing/2014/main" id="{8D0A2864-1FE8-5C90-7912-8CF0C9B6ED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0" y="2507"/>
                          <a:ext cx="679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0400" name="Oval 48">
              <a:extLst>
                <a:ext uri="{FF2B5EF4-FFF2-40B4-BE49-F238E27FC236}">
                  <a16:creationId xmlns:a16="http://schemas.microsoft.com/office/drawing/2014/main" id="{C39ECA2C-DC6A-483C-292F-7F286EBEE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3" y="2902"/>
              <a:ext cx="57" cy="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40401" name="Group 49">
              <a:extLst>
                <a:ext uri="{FF2B5EF4-FFF2-40B4-BE49-F238E27FC236}">
                  <a16:creationId xmlns:a16="http://schemas.microsoft.com/office/drawing/2014/main" id="{68B163F3-526D-808A-413C-7B51228242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9" y="3794"/>
              <a:ext cx="321" cy="58"/>
              <a:chOff x="4229" y="3794"/>
              <a:chExt cx="321" cy="58"/>
            </a:xfrm>
          </p:grpSpPr>
          <p:sp>
            <p:nvSpPr>
              <p:cNvPr id="740402" name="Line 50">
                <a:extLst>
                  <a:ext uri="{FF2B5EF4-FFF2-40B4-BE49-F238E27FC236}">
                    <a16:creationId xmlns:a16="http://schemas.microsoft.com/office/drawing/2014/main" id="{F7A3506F-655C-B94F-7F08-F943A1B624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9" y="3824"/>
                <a:ext cx="32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0403" name="Oval 51">
                <a:extLst>
                  <a:ext uri="{FF2B5EF4-FFF2-40B4-BE49-F238E27FC236}">
                    <a16:creationId xmlns:a16="http://schemas.microsoft.com/office/drawing/2014/main" id="{94A97E90-D29B-D2C9-6A45-9A8724E0B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3" y="3794"/>
                <a:ext cx="57" cy="5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40404" name="Group 52">
              <a:extLst>
                <a:ext uri="{FF2B5EF4-FFF2-40B4-BE49-F238E27FC236}">
                  <a16:creationId xmlns:a16="http://schemas.microsoft.com/office/drawing/2014/main" id="{0675880F-8C66-9D60-A965-6BC4C12F116E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3360" y="2921"/>
              <a:ext cx="321" cy="58"/>
              <a:chOff x="2459" y="2776"/>
              <a:chExt cx="321" cy="58"/>
            </a:xfrm>
          </p:grpSpPr>
          <p:sp>
            <p:nvSpPr>
              <p:cNvPr id="740405" name="Line 53">
                <a:extLst>
                  <a:ext uri="{FF2B5EF4-FFF2-40B4-BE49-F238E27FC236}">
                    <a16:creationId xmlns:a16="http://schemas.microsoft.com/office/drawing/2014/main" id="{DE53D158-0DCE-4D38-6DCB-3BA8204691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59" y="2806"/>
                <a:ext cx="321" cy="0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0406" name="Oval 54">
                <a:extLst>
                  <a:ext uri="{FF2B5EF4-FFF2-40B4-BE49-F238E27FC236}">
                    <a16:creationId xmlns:a16="http://schemas.microsoft.com/office/drawing/2014/main" id="{7B3BA6DC-7C5A-8A0E-64DC-90565A725A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3" y="2776"/>
                <a:ext cx="57" cy="58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740407" name="Object 55">
              <a:extLst>
                <a:ext uri="{FF2B5EF4-FFF2-40B4-BE49-F238E27FC236}">
                  <a16:creationId xmlns:a16="http://schemas.microsoft.com/office/drawing/2014/main" id="{52D2D49E-B6C5-DE5B-1CDD-BF0F3A3D3F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81" y="3817"/>
            <a:ext cx="664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83920" imgH="215640" progId="Equation.3">
                    <p:embed/>
                  </p:oleObj>
                </mc:Choice>
                <mc:Fallback>
                  <p:oleObj name="Equation" r:id="rId6" imgW="583920" imgH="215640" progId="Equation.3">
                    <p:embed/>
                    <p:pic>
                      <p:nvPicPr>
                        <p:cNvPr id="740407" name="Object 55">
                          <a:extLst>
                            <a:ext uri="{FF2B5EF4-FFF2-40B4-BE49-F238E27FC236}">
                              <a16:creationId xmlns:a16="http://schemas.microsoft.com/office/drawing/2014/main" id="{52D2D49E-B6C5-DE5B-1CDD-BF0F3A3D3F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1" y="3817"/>
                          <a:ext cx="664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0408" name="Object 56">
              <a:extLst>
                <a:ext uri="{FF2B5EF4-FFF2-40B4-BE49-F238E27FC236}">
                  <a16:creationId xmlns:a16="http://schemas.microsoft.com/office/drawing/2014/main" id="{26FD43CA-0DDE-480E-93AF-9C7AECCBC9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9" y="3865"/>
            <a:ext cx="268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04560" imgH="393480" progId="Equation.3">
                    <p:embed/>
                  </p:oleObj>
                </mc:Choice>
                <mc:Fallback>
                  <p:oleObj name="Equation" r:id="rId8" imgW="304560" imgH="393480" progId="Equation.3">
                    <p:embed/>
                    <p:pic>
                      <p:nvPicPr>
                        <p:cNvPr id="740408" name="Object 56">
                          <a:extLst>
                            <a:ext uri="{FF2B5EF4-FFF2-40B4-BE49-F238E27FC236}">
                              <a16:creationId xmlns:a16="http://schemas.microsoft.com/office/drawing/2014/main" id="{26FD43CA-0DDE-480E-93AF-9C7AECCBC9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9" y="3865"/>
                          <a:ext cx="268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0409" name="Object 57">
              <a:extLst>
                <a:ext uri="{FF2B5EF4-FFF2-40B4-BE49-F238E27FC236}">
                  <a16:creationId xmlns:a16="http://schemas.microsoft.com/office/drawing/2014/main" id="{E74C6804-42FF-3A40-113C-945DD80BAA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49" y="2773"/>
            <a:ext cx="290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30120" imgH="393480" progId="Equation.3">
                    <p:embed/>
                  </p:oleObj>
                </mc:Choice>
                <mc:Fallback>
                  <p:oleObj name="Equation" r:id="rId10" imgW="330120" imgH="393480" progId="Equation.3">
                    <p:embed/>
                    <p:pic>
                      <p:nvPicPr>
                        <p:cNvPr id="740409" name="Object 57">
                          <a:extLst>
                            <a:ext uri="{FF2B5EF4-FFF2-40B4-BE49-F238E27FC236}">
                              <a16:creationId xmlns:a16="http://schemas.microsoft.com/office/drawing/2014/main" id="{E74C6804-42FF-3A40-113C-945DD80BAA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9" y="2773"/>
                          <a:ext cx="290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0410" name="Line 58">
              <a:extLst>
                <a:ext uri="{FF2B5EF4-FFF2-40B4-BE49-F238E27FC236}">
                  <a16:creationId xmlns:a16="http://schemas.microsoft.com/office/drawing/2014/main" id="{F7A81042-D737-9720-00A9-34E3D1849B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5" y="1427"/>
              <a:ext cx="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0411" name="Line 59">
              <a:extLst>
                <a:ext uri="{FF2B5EF4-FFF2-40B4-BE49-F238E27FC236}">
                  <a16:creationId xmlns:a16="http://schemas.microsoft.com/office/drawing/2014/main" id="{205ECF1D-7B1D-AF90-7E85-698E74FF3B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9" y="1427"/>
              <a:ext cx="816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0412" name="Line 60">
              <a:extLst>
                <a:ext uri="{FF2B5EF4-FFF2-40B4-BE49-F238E27FC236}">
                  <a16:creationId xmlns:a16="http://schemas.microsoft.com/office/drawing/2014/main" id="{9B8FB622-8ADE-165A-86B1-4DDD5E702F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9" y="1693"/>
              <a:ext cx="6" cy="2074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0413" name="Line 61">
              <a:extLst>
                <a:ext uri="{FF2B5EF4-FFF2-40B4-BE49-F238E27FC236}">
                  <a16:creationId xmlns:a16="http://schemas.microsoft.com/office/drawing/2014/main" id="{A4C09BEC-1E88-A6B5-FBB0-1147A12C30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9" y="3767"/>
              <a:ext cx="20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40414" name="Group 62">
              <a:extLst>
                <a:ext uri="{FF2B5EF4-FFF2-40B4-BE49-F238E27FC236}">
                  <a16:creationId xmlns:a16="http://schemas.microsoft.com/office/drawing/2014/main" id="{F1976AE2-2C04-4316-E721-6C9D4E43AB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9" y="1297"/>
              <a:ext cx="321" cy="58"/>
              <a:chOff x="4229" y="3794"/>
              <a:chExt cx="321" cy="58"/>
            </a:xfrm>
          </p:grpSpPr>
          <p:sp>
            <p:nvSpPr>
              <p:cNvPr id="740415" name="Line 63">
                <a:extLst>
                  <a:ext uri="{FF2B5EF4-FFF2-40B4-BE49-F238E27FC236}">
                    <a16:creationId xmlns:a16="http://schemas.microsoft.com/office/drawing/2014/main" id="{76CF66DA-F7AD-FD0E-E9E6-6CFCC8510E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9" y="3824"/>
                <a:ext cx="321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0416" name="Oval 64">
                <a:extLst>
                  <a:ext uri="{FF2B5EF4-FFF2-40B4-BE49-F238E27FC236}">
                    <a16:creationId xmlns:a16="http://schemas.microsoft.com/office/drawing/2014/main" id="{BC8EA9DE-C927-20EC-6786-3027263A8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3" y="3794"/>
                <a:ext cx="57" cy="58"/>
              </a:xfrm>
              <a:prstGeom prst="ellipse">
                <a:avLst/>
              </a:prstGeom>
              <a:solidFill>
                <a:srgbClr val="FF00FF"/>
              </a:solidFill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740417" name="Object 65">
              <a:extLst>
                <a:ext uri="{FF2B5EF4-FFF2-40B4-BE49-F238E27FC236}">
                  <a16:creationId xmlns:a16="http://schemas.microsoft.com/office/drawing/2014/main" id="{9A3801A1-F2FF-27F3-F36E-9876E06FA4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49" y="1008"/>
            <a:ext cx="20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7480" imgH="177480" progId="Equation.3">
                    <p:embed/>
                  </p:oleObj>
                </mc:Choice>
                <mc:Fallback>
                  <p:oleObj name="Equation" r:id="rId12" imgW="177480" imgH="177480" progId="Equation.3">
                    <p:embed/>
                    <p:pic>
                      <p:nvPicPr>
                        <p:cNvPr id="740417" name="Object 65">
                          <a:extLst>
                            <a:ext uri="{FF2B5EF4-FFF2-40B4-BE49-F238E27FC236}">
                              <a16:creationId xmlns:a16="http://schemas.microsoft.com/office/drawing/2014/main" id="{9A3801A1-F2FF-27F3-F36E-9876E06FA4F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9" y="1008"/>
                          <a:ext cx="201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0418" name="Object 66">
              <a:extLst>
                <a:ext uri="{FF2B5EF4-FFF2-40B4-BE49-F238E27FC236}">
                  <a16:creationId xmlns:a16="http://schemas.microsoft.com/office/drawing/2014/main" id="{3CF33059-543E-DA5D-0ABE-7657121D01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00" y="1496"/>
            <a:ext cx="100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88560" imgH="152280" progId="Equation.3">
                    <p:embed/>
                  </p:oleObj>
                </mc:Choice>
                <mc:Fallback>
                  <p:oleObj name="Equation" r:id="rId14" imgW="88560" imgH="152280" progId="Equation.3">
                    <p:embed/>
                    <p:pic>
                      <p:nvPicPr>
                        <p:cNvPr id="740418" name="Object 66">
                          <a:extLst>
                            <a:ext uri="{FF2B5EF4-FFF2-40B4-BE49-F238E27FC236}">
                              <a16:creationId xmlns:a16="http://schemas.microsoft.com/office/drawing/2014/main" id="{3CF33059-543E-DA5D-0ABE-7657121D01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0" y="1496"/>
                          <a:ext cx="100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40354" name="Rectangle 2">
            <a:extLst>
              <a:ext uri="{FF2B5EF4-FFF2-40B4-BE49-F238E27FC236}">
                <a16:creationId xmlns:a16="http://schemas.microsoft.com/office/drawing/2014/main" id="{F49ED6DD-35E7-E435-9B7C-E119BED2F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Parametric Curves</a:t>
            </a:r>
          </a:p>
        </p:txBody>
      </p:sp>
      <p:sp>
        <p:nvSpPr>
          <p:cNvPr id="740355" name="Rectangle 3">
            <a:extLst>
              <a:ext uri="{FF2B5EF4-FFF2-40B4-BE49-F238E27FC236}">
                <a16:creationId xmlns:a16="http://schemas.microsoft.com/office/drawing/2014/main" id="{5E408161-C718-0AB7-4979-2D1E04FB1A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</p:txBody>
      </p:sp>
      <p:sp>
        <p:nvSpPr>
          <p:cNvPr id="740384" name="Text Box 32">
            <a:extLst>
              <a:ext uri="{FF2B5EF4-FFF2-40B4-BE49-F238E27FC236}">
                <a16:creationId xmlns:a16="http://schemas.microsoft.com/office/drawing/2014/main" id="{4BFB2026-325B-BAF6-A270-B0F8D1827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1488" y="1646238"/>
            <a:ext cx="882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/>
              <a:t>“time”</a:t>
            </a:r>
          </a:p>
        </p:txBody>
      </p:sp>
      <p:sp>
        <p:nvSpPr>
          <p:cNvPr id="740385" name="Text Box 33">
            <a:extLst>
              <a:ext uri="{FF2B5EF4-FFF2-40B4-BE49-F238E27FC236}">
                <a16:creationId xmlns:a16="http://schemas.microsoft.com/office/drawing/2014/main" id="{72BE5E60-5B95-76D8-FCC9-F4C84065A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982663"/>
            <a:ext cx="5645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i="1"/>
              <a:t>“Driving a little car in time” analogy</a:t>
            </a:r>
          </a:p>
        </p:txBody>
      </p:sp>
      <p:pic>
        <p:nvPicPr>
          <p:cNvPr id="740387" name="Picture 35">
            <a:extLst>
              <a:ext uri="{FF2B5EF4-FFF2-40B4-BE49-F238E27FC236}">
                <a16:creationId xmlns:a16="http://schemas.microsoft.com/office/drawing/2014/main" id="{EB0A0EF9-4CBC-F546-30A8-AC4148D57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77214">
            <a:off x="6597650" y="4294188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8" name="Rectangle 2">
            <a:extLst>
              <a:ext uri="{FF2B5EF4-FFF2-40B4-BE49-F238E27FC236}">
                <a16:creationId xmlns:a16="http://schemas.microsoft.com/office/drawing/2014/main" id="{6377D3D7-13DC-697F-AD4A-C4E2BD1E34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Parametric Curves</a:t>
            </a:r>
          </a:p>
        </p:txBody>
      </p:sp>
      <p:sp>
        <p:nvSpPr>
          <p:cNvPr id="746499" name="Rectangle 3">
            <a:extLst>
              <a:ext uri="{FF2B5EF4-FFF2-40B4-BE49-F238E27FC236}">
                <a16:creationId xmlns:a16="http://schemas.microsoft.com/office/drawing/2014/main" id="{8A8C430F-6C21-CAA0-E27F-1C55DE3E06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</p:txBody>
      </p:sp>
      <p:grpSp>
        <p:nvGrpSpPr>
          <p:cNvPr id="746512" name="Group 16">
            <a:extLst>
              <a:ext uri="{FF2B5EF4-FFF2-40B4-BE49-F238E27FC236}">
                <a16:creationId xmlns:a16="http://schemas.microsoft.com/office/drawing/2014/main" id="{CB2DB0DA-DF08-1EBC-C6CD-B17D039318A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91188" y="2687638"/>
            <a:ext cx="3292475" cy="3292475"/>
            <a:chOff x="1920" y="1968"/>
            <a:chExt cx="1056" cy="1056"/>
          </a:xfrm>
        </p:grpSpPr>
        <p:pic>
          <p:nvPicPr>
            <p:cNvPr id="746513" name="Picture 17">
              <a:extLst>
                <a:ext uri="{FF2B5EF4-FFF2-40B4-BE49-F238E27FC236}">
                  <a16:creationId xmlns:a16="http://schemas.microsoft.com/office/drawing/2014/main" id="{984C3BA5-E142-0515-BC4F-191031EB2D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46514" name="Freeform 18">
              <a:extLst>
                <a:ext uri="{FF2B5EF4-FFF2-40B4-BE49-F238E27FC236}">
                  <a16:creationId xmlns:a16="http://schemas.microsoft.com/office/drawing/2014/main" id="{B7036A89-37CC-05D7-6C4D-6093CA6D2AB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chemeClr val="hlink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746515" name="Object 19">
            <a:extLst>
              <a:ext uri="{FF2B5EF4-FFF2-40B4-BE49-F238E27FC236}">
                <a16:creationId xmlns:a16="http://schemas.microsoft.com/office/drawing/2014/main" id="{6F6E7E24-4D22-7D2C-8ED8-C0AC25C5C6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3750" y="3979863"/>
          <a:ext cx="107791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6880" imgH="241200" progId="Equation.3">
                  <p:embed/>
                </p:oleObj>
              </mc:Choice>
              <mc:Fallback>
                <p:oleObj name="Equation" r:id="rId4" imgW="596880" imgH="241200" progId="Equation.3">
                  <p:embed/>
                  <p:pic>
                    <p:nvPicPr>
                      <p:cNvPr id="746515" name="Object 19">
                        <a:extLst>
                          <a:ext uri="{FF2B5EF4-FFF2-40B4-BE49-F238E27FC236}">
                            <a16:creationId xmlns:a16="http://schemas.microsoft.com/office/drawing/2014/main" id="{6F6E7E24-4D22-7D2C-8ED8-C0AC25C5C6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0" y="3979863"/>
                        <a:ext cx="1077913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6516" name="Oval 20">
            <a:extLst>
              <a:ext uri="{FF2B5EF4-FFF2-40B4-BE49-F238E27FC236}">
                <a16:creationId xmlns:a16="http://schemas.microsoft.com/office/drawing/2014/main" id="{B5DFD11E-79E9-EB81-7FF4-B1EA3D6F4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3" y="4606925"/>
            <a:ext cx="90487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46522" name="Object 26">
            <a:extLst>
              <a:ext uri="{FF2B5EF4-FFF2-40B4-BE49-F238E27FC236}">
                <a16:creationId xmlns:a16="http://schemas.microsoft.com/office/drawing/2014/main" id="{867430D3-DBFF-3515-7F45-94D6C8D937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31088" y="6059488"/>
          <a:ext cx="10541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3920" imgH="215640" progId="Equation.3">
                  <p:embed/>
                </p:oleObj>
              </mc:Choice>
              <mc:Fallback>
                <p:oleObj name="Equation" r:id="rId6" imgW="583920" imgH="215640" progId="Equation.3">
                  <p:embed/>
                  <p:pic>
                    <p:nvPicPr>
                      <p:cNvPr id="746522" name="Object 26">
                        <a:extLst>
                          <a:ext uri="{FF2B5EF4-FFF2-40B4-BE49-F238E27FC236}">
                            <a16:creationId xmlns:a16="http://schemas.microsoft.com/office/drawing/2014/main" id="{867430D3-DBFF-3515-7F45-94D6C8D937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1088" y="6059488"/>
                        <a:ext cx="10541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6530" name="AutoShape 34">
            <a:extLst>
              <a:ext uri="{FF2B5EF4-FFF2-40B4-BE49-F238E27FC236}">
                <a16:creationId xmlns:a16="http://schemas.microsoft.com/office/drawing/2014/main" id="{B987AFA9-2628-97B7-FB7F-8512FB7E6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384300"/>
            <a:ext cx="3808412" cy="3394075"/>
          </a:xfrm>
          <a:prstGeom prst="wedgeRectCallout">
            <a:avLst>
              <a:gd name="adj1" fmla="val 62046"/>
              <a:gd name="adj2" fmla="val 3208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 b="0"/>
              <a:t>Due to the </a:t>
            </a:r>
            <a:r>
              <a:rPr lang="en-US" altLang="en-US" sz="1600" b="0">
                <a:solidFill>
                  <a:srgbClr val="FF3300"/>
                </a:solidFill>
              </a:rPr>
              <a:t>independence</a:t>
            </a:r>
            <a:r>
              <a:rPr lang="en-US" altLang="en-US" sz="1600" b="0"/>
              <a:t> of the basis functions </a:t>
            </a:r>
            <a:r>
              <a:rPr lang="en-US" altLang="en-US" sz="1600"/>
              <a:t>x</a:t>
            </a:r>
            <a:r>
              <a:rPr lang="en-US" altLang="en-US" sz="1600" b="0" i="1" baseline="-25000"/>
              <a:t>i</a:t>
            </a:r>
            <a:r>
              <a:rPr lang="en-US" altLang="en-US" sz="1600" b="0"/>
              <a:t> ,(orthonormality)</a:t>
            </a:r>
          </a:p>
          <a:p>
            <a:endParaRPr lang="en-US" altLang="en-US" sz="1600" b="0"/>
          </a:p>
          <a:p>
            <a:r>
              <a:rPr lang="en-US" altLang="en-US" sz="1600" b="0"/>
              <a:t>The functions </a:t>
            </a:r>
            <a:r>
              <a:rPr lang="en-US" altLang="en-US" sz="1600" b="0">
                <a:latin typeface="SymbolProp BT" pitchFamily="18" charset="2"/>
              </a:rPr>
              <a:t>f</a:t>
            </a:r>
            <a:r>
              <a:rPr lang="en-US" altLang="en-US" sz="1600" b="0" baseline="-25000"/>
              <a:t>i </a:t>
            </a:r>
            <a:r>
              <a:rPr lang="en-US" altLang="en-US" sz="1600" b="0"/>
              <a:t>can be seen as completely independent:</a:t>
            </a:r>
          </a:p>
          <a:p>
            <a:endParaRPr lang="en-US" altLang="en-US" sz="1400" b="0" i="1">
              <a:solidFill>
                <a:srgbClr val="FF0000"/>
              </a:solidFill>
            </a:endParaRPr>
          </a:p>
        </p:txBody>
      </p:sp>
      <p:graphicFrame>
        <p:nvGraphicFramePr>
          <p:cNvPr id="746531" name="Object 35">
            <a:extLst>
              <a:ext uri="{FF2B5EF4-FFF2-40B4-BE49-F238E27FC236}">
                <a16:creationId xmlns:a16="http://schemas.microsoft.com/office/drawing/2014/main" id="{88049759-3CC3-401A-0464-51E2BF258D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4188" y="2651125"/>
          <a:ext cx="11049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23600" imgH="1396800" progId="Equation.3">
                  <p:embed/>
                </p:oleObj>
              </mc:Choice>
              <mc:Fallback>
                <p:oleObj name="Equation" r:id="rId8" imgW="723600" imgH="1396800" progId="Equation.3">
                  <p:embed/>
                  <p:pic>
                    <p:nvPicPr>
                      <p:cNvPr id="746531" name="Object 35">
                        <a:extLst>
                          <a:ext uri="{FF2B5EF4-FFF2-40B4-BE49-F238E27FC236}">
                            <a16:creationId xmlns:a16="http://schemas.microsoft.com/office/drawing/2014/main" id="{88049759-3CC3-401A-0464-51E2BF258D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8" y="2651125"/>
                        <a:ext cx="11049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6535" name="Line 39">
            <a:extLst>
              <a:ext uri="{FF2B5EF4-FFF2-40B4-BE49-F238E27FC236}">
                <a16:creationId xmlns:a16="http://schemas.microsoft.com/office/drawing/2014/main" id="{E3A9433E-79B8-D639-5AD0-75755D3CFE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81663" y="2687638"/>
            <a:ext cx="9525" cy="329247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36" name="Line 40">
            <a:extLst>
              <a:ext uri="{FF2B5EF4-FFF2-40B4-BE49-F238E27FC236}">
                <a16:creationId xmlns:a16="http://schemas.microsoft.com/office/drawing/2014/main" id="{20169D20-6839-066D-06BA-3E0775F864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81663" y="5980113"/>
            <a:ext cx="330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37" name="Line 41">
            <a:extLst>
              <a:ext uri="{FF2B5EF4-FFF2-40B4-BE49-F238E27FC236}">
                <a16:creationId xmlns:a16="http://schemas.microsoft.com/office/drawing/2014/main" id="{A70E1621-C8FD-546E-D7BA-B48B49AC7D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5563" y="2265363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38" name="Line 42">
            <a:extLst>
              <a:ext uri="{FF2B5EF4-FFF2-40B4-BE49-F238E27FC236}">
                <a16:creationId xmlns:a16="http://schemas.microsoft.com/office/drawing/2014/main" id="{687C23B9-8AD9-B93F-A97B-FCE92CEB0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4163" y="2265363"/>
            <a:ext cx="12954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6539" name="Text Box 43">
            <a:extLst>
              <a:ext uri="{FF2B5EF4-FFF2-40B4-BE49-F238E27FC236}">
                <a16:creationId xmlns:a16="http://schemas.microsoft.com/office/drawing/2014/main" id="{7CE16006-D53B-340C-ADC6-9C3B496E1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8" y="1006475"/>
            <a:ext cx="1949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/>
              <a:t>new</a:t>
            </a:r>
          </a:p>
          <a:p>
            <a:pPr algn="ctr"/>
            <a:r>
              <a:rPr lang="en-US" altLang="en-US" i="1"/>
              <a:t>implicit function</a:t>
            </a:r>
          </a:p>
        </p:txBody>
      </p:sp>
      <p:graphicFrame>
        <p:nvGraphicFramePr>
          <p:cNvPr id="746544" name="Object 48">
            <a:extLst>
              <a:ext uri="{FF2B5EF4-FFF2-40B4-BE49-F238E27FC236}">
                <a16:creationId xmlns:a16="http://schemas.microsoft.com/office/drawing/2014/main" id="{ED687253-7EB0-6E26-26E6-F0576170C5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0" y="2374900"/>
          <a:ext cx="15875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8560" imgH="152280" progId="Equation.3">
                  <p:embed/>
                </p:oleObj>
              </mc:Choice>
              <mc:Fallback>
                <p:oleObj name="Equation" r:id="rId10" imgW="88560" imgH="152280" progId="Equation.3">
                  <p:embed/>
                  <p:pic>
                    <p:nvPicPr>
                      <p:cNvPr id="746544" name="Object 48">
                        <a:extLst>
                          <a:ext uri="{FF2B5EF4-FFF2-40B4-BE49-F238E27FC236}">
                            <a16:creationId xmlns:a16="http://schemas.microsoft.com/office/drawing/2014/main" id="{ED687253-7EB0-6E26-26E6-F0576170C5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2374900"/>
                        <a:ext cx="15875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Rectangle 2">
            <a:extLst>
              <a:ext uri="{FF2B5EF4-FFF2-40B4-BE49-F238E27FC236}">
                <a16:creationId xmlns:a16="http://schemas.microsoft.com/office/drawing/2014/main" id="{AE6B43B1-C1FF-F17B-A5C2-1B1F9A6E18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Parametric Curves</a:t>
            </a:r>
          </a:p>
        </p:txBody>
      </p:sp>
      <p:sp>
        <p:nvSpPr>
          <p:cNvPr id="742403" name="Rectangle 3">
            <a:extLst>
              <a:ext uri="{FF2B5EF4-FFF2-40B4-BE49-F238E27FC236}">
                <a16:creationId xmlns:a16="http://schemas.microsoft.com/office/drawing/2014/main" id="{76BFA010-75C7-73BE-4C12-F1DA5D863D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</p:txBody>
      </p:sp>
      <p:grpSp>
        <p:nvGrpSpPr>
          <p:cNvPr id="742404" name="Group 4">
            <a:extLst>
              <a:ext uri="{FF2B5EF4-FFF2-40B4-BE49-F238E27FC236}">
                <a16:creationId xmlns:a16="http://schemas.microsoft.com/office/drawing/2014/main" id="{23E2B117-6D0C-F53B-70AE-F6CDAE04E6D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91188" y="2687638"/>
            <a:ext cx="3292475" cy="3292475"/>
            <a:chOff x="1920" y="1968"/>
            <a:chExt cx="1056" cy="1056"/>
          </a:xfrm>
        </p:grpSpPr>
        <p:pic>
          <p:nvPicPr>
            <p:cNvPr id="742405" name="Picture 5">
              <a:extLst>
                <a:ext uri="{FF2B5EF4-FFF2-40B4-BE49-F238E27FC236}">
                  <a16:creationId xmlns:a16="http://schemas.microsoft.com/office/drawing/2014/main" id="{4F0D7741-1B5E-5D39-7856-E1CFE7A709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42406" name="Freeform 6">
              <a:extLst>
                <a:ext uri="{FF2B5EF4-FFF2-40B4-BE49-F238E27FC236}">
                  <a16:creationId xmlns:a16="http://schemas.microsoft.com/office/drawing/2014/main" id="{42B5FF69-8599-516D-BA6B-2BD27B11789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chemeClr val="hlink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742407" name="Object 7">
            <a:extLst>
              <a:ext uri="{FF2B5EF4-FFF2-40B4-BE49-F238E27FC236}">
                <a16:creationId xmlns:a16="http://schemas.microsoft.com/office/drawing/2014/main" id="{3E64EA9A-2378-CC17-BEBD-43202C8761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3750" y="3979863"/>
          <a:ext cx="107791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6880" imgH="241200" progId="Equation.3">
                  <p:embed/>
                </p:oleObj>
              </mc:Choice>
              <mc:Fallback>
                <p:oleObj name="Equation" r:id="rId4" imgW="596880" imgH="241200" progId="Equation.3">
                  <p:embed/>
                  <p:pic>
                    <p:nvPicPr>
                      <p:cNvPr id="742407" name="Object 7">
                        <a:extLst>
                          <a:ext uri="{FF2B5EF4-FFF2-40B4-BE49-F238E27FC236}">
                            <a16:creationId xmlns:a16="http://schemas.microsoft.com/office/drawing/2014/main" id="{3E64EA9A-2378-CC17-BEBD-43202C8761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0" y="3979863"/>
                        <a:ext cx="1077913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2408" name="Oval 8">
            <a:extLst>
              <a:ext uri="{FF2B5EF4-FFF2-40B4-BE49-F238E27FC236}">
                <a16:creationId xmlns:a16="http://schemas.microsoft.com/office/drawing/2014/main" id="{F536D5E8-C6BE-37C4-E608-54F7FBB40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3" y="4606925"/>
            <a:ext cx="90487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2409" name="Line 9">
            <a:extLst>
              <a:ext uri="{FF2B5EF4-FFF2-40B4-BE49-F238E27FC236}">
                <a16:creationId xmlns:a16="http://schemas.microsoft.com/office/drawing/2014/main" id="{F7CE9374-4486-0230-3CB1-50E66B5F74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3538" y="6070600"/>
            <a:ext cx="50958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2410" name="Oval 10">
            <a:extLst>
              <a:ext uri="{FF2B5EF4-FFF2-40B4-BE49-F238E27FC236}">
                <a16:creationId xmlns:a16="http://schemas.microsoft.com/office/drawing/2014/main" id="{ACD6B2E0-14CD-CCDC-A85A-580C112F2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3" y="6022975"/>
            <a:ext cx="90487" cy="9207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42414" name="Object 14">
            <a:extLst>
              <a:ext uri="{FF2B5EF4-FFF2-40B4-BE49-F238E27FC236}">
                <a16:creationId xmlns:a16="http://schemas.microsoft.com/office/drawing/2014/main" id="{6E30D5EE-F18F-2DE5-291F-795EF11D12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31088" y="6059488"/>
          <a:ext cx="10541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3920" imgH="215640" progId="Equation.3">
                  <p:embed/>
                </p:oleObj>
              </mc:Choice>
              <mc:Fallback>
                <p:oleObj name="Equation" r:id="rId6" imgW="583920" imgH="215640" progId="Equation.3">
                  <p:embed/>
                  <p:pic>
                    <p:nvPicPr>
                      <p:cNvPr id="742414" name="Object 14">
                        <a:extLst>
                          <a:ext uri="{FF2B5EF4-FFF2-40B4-BE49-F238E27FC236}">
                            <a16:creationId xmlns:a16="http://schemas.microsoft.com/office/drawing/2014/main" id="{6E30D5EE-F18F-2DE5-291F-795EF11D12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1088" y="6059488"/>
                        <a:ext cx="10541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15" name="Object 15">
            <a:extLst>
              <a:ext uri="{FF2B5EF4-FFF2-40B4-BE49-F238E27FC236}">
                <a16:creationId xmlns:a16="http://schemas.microsoft.com/office/drawing/2014/main" id="{FD34FC88-8607-93C9-72DB-1D56AC8CF6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8788" y="6135688"/>
          <a:ext cx="42545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560" imgH="393480" progId="Equation.3">
                  <p:embed/>
                </p:oleObj>
              </mc:Choice>
              <mc:Fallback>
                <p:oleObj name="Equation" r:id="rId8" imgW="304560" imgH="393480" progId="Equation.3">
                  <p:embed/>
                  <p:pic>
                    <p:nvPicPr>
                      <p:cNvPr id="742415" name="Object 15">
                        <a:extLst>
                          <a:ext uri="{FF2B5EF4-FFF2-40B4-BE49-F238E27FC236}">
                            <a16:creationId xmlns:a16="http://schemas.microsoft.com/office/drawing/2014/main" id="{FD34FC88-8607-93C9-72DB-1D56AC8CF6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8788" y="6135688"/>
                        <a:ext cx="425450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16" name="Object 16">
            <a:extLst>
              <a:ext uri="{FF2B5EF4-FFF2-40B4-BE49-F238E27FC236}">
                <a16:creationId xmlns:a16="http://schemas.microsoft.com/office/drawing/2014/main" id="{D7984C55-A91C-8489-C97D-C23381DB2F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9038" y="4402138"/>
          <a:ext cx="46037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120" imgH="393480" progId="Equation.3">
                  <p:embed/>
                </p:oleObj>
              </mc:Choice>
              <mc:Fallback>
                <p:oleObj name="Equation" r:id="rId10" imgW="330120" imgH="393480" progId="Equation.3">
                  <p:embed/>
                  <p:pic>
                    <p:nvPicPr>
                      <p:cNvPr id="742416" name="Object 16">
                        <a:extLst>
                          <a:ext uri="{FF2B5EF4-FFF2-40B4-BE49-F238E27FC236}">
                            <a16:creationId xmlns:a16="http://schemas.microsoft.com/office/drawing/2014/main" id="{D7984C55-A91C-8489-C97D-C23381DB2F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9038" y="4402138"/>
                        <a:ext cx="460375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2417" name="Line 17">
            <a:extLst>
              <a:ext uri="{FF2B5EF4-FFF2-40B4-BE49-F238E27FC236}">
                <a16:creationId xmlns:a16="http://schemas.microsoft.com/office/drawing/2014/main" id="{F4D9A538-0F93-4021-DA21-DE9AEDFD04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5563" y="2493963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2418" name="Line 18">
            <a:extLst>
              <a:ext uri="{FF2B5EF4-FFF2-40B4-BE49-F238E27FC236}">
                <a16:creationId xmlns:a16="http://schemas.microsoft.com/office/drawing/2014/main" id="{ADB3B6ED-2B5C-E220-13B3-C5C91825D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4163" y="2493963"/>
            <a:ext cx="12954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2419" name="Text Box 19">
            <a:extLst>
              <a:ext uri="{FF2B5EF4-FFF2-40B4-BE49-F238E27FC236}">
                <a16:creationId xmlns:a16="http://schemas.microsoft.com/office/drawing/2014/main" id="{9019A735-DA34-D415-ABA9-9076A3F2F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1488" y="1646238"/>
            <a:ext cx="882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/>
              <a:t>“time”</a:t>
            </a:r>
          </a:p>
        </p:txBody>
      </p:sp>
      <p:sp>
        <p:nvSpPr>
          <p:cNvPr id="742420" name="Text Box 20">
            <a:extLst>
              <a:ext uri="{FF2B5EF4-FFF2-40B4-BE49-F238E27FC236}">
                <a16:creationId xmlns:a16="http://schemas.microsoft.com/office/drawing/2014/main" id="{FE498EFA-1CFB-D568-2CAA-D3634D1FF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982663"/>
            <a:ext cx="5645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i="1"/>
              <a:t>“Driving a little car in time” analogy</a:t>
            </a:r>
          </a:p>
        </p:txBody>
      </p:sp>
      <p:pic>
        <p:nvPicPr>
          <p:cNvPr id="742421" name="Picture 21">
            <a:extLst>
              <a:ext uri="{FF2B5EF4-FFF2-40B4-BE49-F238E27FC236}">
                <a16:creationId xmlns:a16="http://schemas.microsoft.com/office/drawing/2014/main" id="{A4D4A825-82DC-C205-AE06-E0529BD48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77214">
            <a:off x="6597650" y="4294188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2422" name="Line 22">
            <a:extLst>
              <a:ext uri="{FF2B5EF4-FFF2-40B4-BE49-F238E27FC236}">
                <a16:creationId xmlns:a16="http://schemas.microsoft.com/office/drawing/2014/main" id="{BE1B60FF-0E67-5FC6-B77E-7029CA6775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10425" y="3548063"/>
            <a:ext cx="850900" cy="8255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2423" name="Text Box 23">
            <a:extLst>
              <a:ext uri="{FF2B5EF4-FFF2-40B4-BE49-F238E27FC236}">
                <a16:creationId xmlns:a16="http://schemas.microsoft.com/office/drawing/2014/main" id="{F561FDE4-600D-513B-50AC-BA7E57E54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075" y="3676650"/>
            <a:ext cx="1035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</a:rPr>
              <a:t>velocity</a:t>
            </a:r>
          </a:p>
        </p:txBody>
      </p:sp>
      <p:grpSp>
        <p:nvGrpSpPr>
          <p:cNvPr id="742429" name="Group 29">
            <a:extLst>
              <a:ext uri="{FF2B5EF4-FFF2-40B4-BE49-F238E27FC236}">
                <a16:creationId xmlns:a16="http://schemas.microsoft.com/office/drawing/2014/main" id="{46DA1BB7-C298-CE51-F9AA-F0A010A0CB2C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5323682" y="4645819"/>
            <a:ext cx="509587" cy="92075"/>
            <a:chOff x="2459" y="2776"/>
            <a:chExt cx="321" cy="58"/>
          </a:xfrm>
        </p:grpSpPr>
        <p:sp>
          <p:nvSpPr>
            <p:cNvPr id="742430" name="Line 30">
              <a:extLst>
                <a:ext uri="{FF2B5EF4-FFF2-40B4-BE49-F238E27FC236}">
                  <a16:creationId xmlns:a16="http://schemas.microsoft.com/office/drawing/2014/main" id="{D85EACDD-DE25-ADE0-0594-E6380BA4A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9" y="2806"/>
              <a:ext cx="321" cy="0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2431" name="Oval 31">
              <a:extLst>
                <a:ext uri="{FF2B5EF4-FFF2-40B4-BE49-F238E27FC236}">
                  <a16:creationId xmlns:a16="http://schemas.microsoft.com/office/drawing/2014/main" id="{3D690A89-37BF-6980-07BA-052AD9E14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3" y="2776"/>
              <a:ext cx="57" cy="5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00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42432" name="Line 32">
            <a:extLst>
              <a:ext uri="{FF2B5EF4-FFF2-40B4-BE49-F238E27FC236}">
                <a16:creationId xmlns:a16="http://schemas.microsoft.com/office/drawing/2014/main" id="{BD0965D2-5E93-5CB4-8D63-AD07C6A331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70550" y="2697163"/>
            <a:ext cx="9525" cy="329247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2433" name="Line 33">
            <a:extLst>
              <a:ext uri="{FF2B5EF4-FFF2-40B4-BE49-F238E27FC236}">
                <a16:creationId xmlns:a16="http://schemas.microsoft.com/office/drawing/2014/main" id="{7173118A-C2F4-BE49-0A36-482C88E905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70550" y="5989638"/>
            <a:ext cx="330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4479" name="Group 31">
            <a:extLst>
              <a:ext uri="{FF2B5EF4-FFF2-40B4-BE49-F238E27FC236}">
                <a16:creationId xmlns:a16="http://schemas.microsoft.com/office/drawing/2014/main" id="{4FBE2FD1-D49C-8601-F0E9-4EE8F4FC1B5B}"/>
              </a:ext>
            </a:extLst>
          </p:cNvPr>
          <p:cNvGrpSpPr>
            <a:grpSpLocks/>
          </p:cNvGrpSpPr>
          <p:nvPr/>
        </p:nvGrpSpPr>
        <p:grpSpPr bwMode="auto">
          <a:xfrm>
            <a:off x="4603750" y="1600200"/>
            <a:ext cx="4379913" cy="5089525"/>
            <a:chOff x="2900" y="1008"/>
            <a:chExt cx="2759" cy="3206"/>
          </a:xfrm>
        </p:grpSpPr>
        <p:grpSp>
          <p:nvGrpSpPr>
            <p:cNvPr id="744480" name="Group 32">
              <a:extLst>
                <a:ext uri="{FF2B5EF4-FFF2-40B4-BE49-F238E27FC236}">
                  <a16:creationId xmlns:a16="http://schemas.microsoft.com/office/drawing/2014/main" id="{2C3225A9-F948-9B7C-E70D-72A471DA65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585" y="1693"/>
              <a:ext cx="2074" cy="2074"/>
              <a:chOff x="1920" y="1968"/>
              <a:chExt cx="1056" cy="1056"/>
            </a:xfrm>
          </p:grpSpPr>
          <p:pic>
            <p:nvPicPr>
              <p:cNvPr id="744481" name="Picture 33">
                <a:extLst>
                  <a:ext uri="{FF2B5EF4-FFF2-40B4-BE49-F238E27FC236}">
                    <a16:creationId xmlns:a16="http://schemas.microsoft.com/office/drawing/2014/main" id="{5CB27CFD-15D5-8682-24BF-423115D74F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0" y="1968"/>
                <a:ext cx="1056" cy="10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44482" name="Freeform 34">
                <a:extLst>
                  <a:ext uri="{FF2B5EF4-FFF2-40B4-BE49-F238E27FC236}">
                    <a16:creationId xmlns:a16="http://schemas.microsoft.com/office/drawing/2014/main" id="{2CBFBF2C-1A51-4817-64C7-B2A2D654AD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60" y="2304"/>
                <a:ext cx="816" cy="720"/>
              </a:xfrm>
              <a:custGeom>
                <a:avLst/>
                <a:gdLst>
                  <a:gd name="T0" fmla="*/ 0 w 816"/>
                  <a:gd name="T1" fmla="*/ 720 h 720"/>
                  <a:gd name="T2" fmla="*/ 96 w 816"/>
                  <a:gd name="T3" fmla="*/ 384 h 720"/>
                  <a:gd name="T4" fmla="*/ 318 w 816"/>
                  <a:gd name="T5" fmla="*/ 191 h 720"/>
                  <a:gd name="T6" fmla="*/ 642 w 816"/>
                  <a:gd name="T7" fmla="*/ 75 h 720"/>
                  <a:gd name="T8" fmla="*/ 816 w 816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6" h="720">
                    <a:moveTo>
                      <a:pt x="0" y="720"/>
                    </a:moveTo>
                    <a:cubicBezTo>
                      <a:pt x="12" y="600"/>
                      <a:pt x="43" y="472"/>
                      <a:pt x="96" y="384"/>
                    </a:cubicBezTo>
                    <a:cubicBezTo>
                      <a:pt x="149" y="296"/>
                      <a:pt x="227" y="242"/>
                      <a:pt x="318" y="191"/>
                    </a:cubicBezTo>
                    <a:cubicBezTo>
                      <a:pt x="409" y="140"/>
                      <a:pt x="559" y="107"/>
                      <a:pt x="642" y="75"/>
                    </a:cubicBezTo>
                    <a:cubicBezTo>
                      <a:pt x="725" y="43"/>
                      <a:pt x="780" y="16"/>
                      <a:pt x="816" y="0"/>
                    </a:cubicBezTo>
                  </a:path>
                </a:pathLst>
              </a:custGeom>
              <a:noFill/>
              <a:ln w="28575" cap="flat" cmpd="sng">
                <a:solidFill>
                  <a:schemeClr val="hlink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744483" name="Object 35">
              <a:extLst>
                <a:ext uri="{FF2B5EF4-FFF2-40B4-BE49-F238E27FC236}">
                  <a16:creationId xmlns:a16="http://schemas.microsoft.com/office/drawing/2014/main" id="{18D07BAD-2AEF-B591-DEB0-5A6812C27A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0" y="2507"/>
            <a:ext cx="67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96880" imgH="241200" progId="Equation.3">
                    <p:embed/>
                  </p:oleObj>
                </mc:Choice>
                <mc:Fallback>
                  <p:oleObj name="Equation" r:id="rId4" imgW="596880" imgH="241200" progId="Equation.3">
                    <p:embed/>
                    <p:pic>
                      <p:nvPicPr>
                        <p:cNvPr id="744483" name="Object 35">
                          <a:extLst>
                            <a:ext uri="{FF2B5EF4-FFF2-40B4-BE49-F238E27FC236}">
                              <a16:creationId xmlns:a16="http://schemas.microsoft.com/office/drawing/2014/main" id="{18D07BAD-2AEF-B591-DEB0-5A6812C27A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0" y="2507"/>
                          <a:ext cx="679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4484" name="Oval 36">
              <a:extLst>
                <a:ext uri="{FF2B5EF4-FFF2-40B4-BE49-F238E27FC236}">
                  <a16:creationId xmlns:a16="http://schemas.microsoft.com/office/drawing/2014/main" id="{AFABAA84-E301-BCE7-3DA3-29D78A6E3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3" y="2902"/>
              <a:ext cx="57" cy="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44485" name="Group 37">
              <a:extLst>
                <a:ext uri="{FF2B5EF4-FFF2-40B4-BE49-F238E27FC236}">
                  <a16:creationId xmlns:a16="http://schemas.microsoft.com/office/drawing/2014/main" id="{4D1A2F4D-AB06-E0B1-1737-9B81C71773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9" y="3794"/>
              <a:ext cx="321" cy="58"/>
              <a:chOff x="4229" y="3794"/>
              <a:chExt cx="321" cy="58"/>
            </a:xfrm>
          </p:grpSpPr>
          <p:sp>
            <p:nvSpPr>
              <p:cNvPr id="744486" name="Line 38">
                <a:extLst>
                  <a:ext uri="{FF2B5EF4-FFF2-40B4-BE49-F238E27FC236}">
                    <a16:creationId xmlns:a16="http://schemas.microsoft.com/office/drawing/2014/main" id="{44E228EB-CA2D-E0F3-68E6-F7EF470D2D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9" y="3824"/>
                <a:ext cx="32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4487" name="Oval 39">
                <a:extLst>
                  <a:ext uri="{FF2B5EF4-FFF2-40B4-BE49-F238E27FC236}">
                    <a16:creationId xmlns:a16="http://schemas.microsoft.com/office/drawing/2014/main" id="{83BF0642-7C06-0DD1-8E55-CA38A46DE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3" y="3794"/>
                <a:ext cx="57" cy="5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44488" name="Group 40">
              <a:extLst>
                <a:ext uri="{FF2B5EF4-FFF2-40B4-BE49-F238E27FC236}">
                  <a16:creationId xmlns:a16="http://schemas.microsoft.com/office/drawing/2014/main" id="{785EBC29-628E-F935-5B20-B8881D56ACA8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3360" y="2921"/>
              <a:ext cx="321" cy="58"/>
              <a:chOff x="2459" y="2776"/>
              <a:chExt cx="321" cy="58"/>
            </a:xfrm>
          </p:grpSpPr>
          <p:sp>
            <p:nvSpPr>
              <p:cNvPr id="744489" name="Line 41">
                <a:extLst>
                  <a:ext uri="{FF2B5EF4-FFF2-40B4-BE49-F238E27FC236}">
                    <a16:creationId xmlns:a16="http://schemas.microsoft.com/office/drawing/2014/main" id="{2A861F8E-9918-47D4-6517-55E11AF552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59" y="2806"/>
                <a:ext cx="321" cy="0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4490" name="Oval 42">
                <a:extLst>
                  <a:ext uri="{FF2B5EF4-FFF2-40B4-BE49-F238E27FC236}">
                    <a16:creationId xmlns:a16="http://schemas.microsoft.com/office/drawing/2014/main" id="{8ED6C969-8FE9-071B-03D5-142CB93C9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3" y="2776"/>
                <a:ext cx="57" cy="58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744491" name="Object 43">
              <a:extLst>
                <a:ext uri="{FF2B5EF4-FFF2-40B4-BE49-F238E27FC236}">
                  <a16:creationId xmlns:a16="http://schemas.microsoft.com/office/drawing/2014/main" id="{0531D679-CB6B-5110-2ECD-C7DBDEA8BE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81" y="3817"/>
            <a:ext cx="664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83920" imgH="215640" progId="Equation.3">
                    <p:embed/>
                  </p:oleObj>
                </mc:Choice>
                <mc:Fallback>
                  <p:oleObj name="Equation" r:id="rId6" imgW="583920" imgH="215640" progId="Equation.3">
                    <p:embed/>
                    <p:pic>
                      <p:nvPicPr>
                        <p:cNvPr id="744491" name="Object 43">
                          <a:extLst>
                            <a:ext uri="{FF2B5EF4-FFF2-40B4-BE49-F238E27FC236}">
                              <a16:creationId xmlns:a16="http://schemas.microsoft.com/office/drawing/2014/main" id="{0531D679-CB6B-5110-2ECD-C7DBDEA8BE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1" y="3817"/>
                          <a:ext cx="664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4492" name="Object 44">
              <a:extLst>
                <a:ext uri="{FF2B5EF4-FFF2-40B4-BE49-F238E27FC236}">
                  <a16:creationId xmlns:a16="http://schemas.microsoft.com/office/drawing/2014/main" id="{AEEE3D06-C636-9D68-C12B-EC2892F09B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9" y="3865"/>
            <a:ext cx="268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04560" imgH="393480" progId="Equation.3">
                    <p:embed/>
                  </p:oleObj>
                </mc:Choice>
                <mc:Fallback>
                  <p:oleObj name="Equation" r:id="rId8" imgW="304560" imgH="393480" progId="Equation.3">
                    <p:embed/>
                    <p:pic>
                      <p:nvPicPr>
                        <p:cNvPr id="744492" name="Object 44">
                          <a:extLst>
                            <a:ext uri="{FF2B5EF4-FFF2-40B4-BE49-F238E27FC236}">
                              <a16:creationId xmlns:a16="http://schemas.microsoft.com/office/drawing/2014/main" id="{AEEE3D06-C636-9D68-C12B-EC2892F09B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9" y="3865"/>
                          <a:ext cx="268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4493" name="Object 45">
              <a:extLst>
                <a:ext uri="{FF2B5EF4-FFF2-40B4-BE49-F238E27FC236}">
                  <a16:creationId xmlns:a16="http://schemas.microsoft.com/office/drawing/2014/main" id="{283826BD-AFFB-25DF-B833-D358556588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49" y="2773"/>
            <a:ext cx="290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30120" imgH="393480" progId="Equation.3">
                    <p:embed/>
                  </p:oleObj>
                </mc:Choice>
                <mc:Fallback>
                  <p:oleObj name="Equation" r:id="rId10" imgW="330120" imgH="393480" progId="Equation.3">
                    <p:embed/>
                    <p:pic>
                      <p:nvPicPr>
                        <p:cNvPr id="744493" name="Object 45">
                          <a:extLst>
                            <a:ext uri="{FF2B5EF4-FFF2-40B4-BE49-F238E27FC236}">
                              <a16:creationId xmlns:a16="http://schemas.microsoft.com/office/drawing/2014/main" id="{283826BD-AFFB-25DF-B833-D358556588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9" y="2773"/>
                          <a:ext cx="290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4494" name="Line 46">
              <a:extLst>
                <a:ext uri="{FF2B5EF4-FFF2-40B4-BE49-F238E27FC236}">
                  <a16:creationId xmlns:a16="http://schemas.microsoft.com/office/drawing/2014/main" id="{EFE7134F-F8EE-1A40-661E-BBEE75C1E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5" y="1427"/>
              <a:ext cx="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4495" name="Line 47">
              <a:extLst>
                <a:ext uri="{FF2B5EF4-FFF2-40B4-BE49-F238E27FC236}">
                  <a16:creationId xmlns:a16="http://schemas.microsoft.com/office/drawing/2014/main" id="{BDE6092F-9BAC-3E29-69C7-FE016C1CA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9" y="1427"/>
              <a:ext cx="816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4496" name="Line 48">
              <a:extLst>
                <a:ext uri="{FF2B5EF4-FFF2-40B4-BE49-F238E27FC236}">
                  <a16:creationId xmlns:a16="http://schemas.microsoft.com/office/drawing/2014/main" id="{B22C5734-1BD0-D78A-61C1-378960FBD1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9" y="1693"/>
              <a:ext cx="6" cy="2074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4497" name="Line 49">
              <a:extLst>
                <a:ext uri="{FF2B5EF4-FFF2-40B4-BE49-F238E27FC236}">
                  <a16:creationId xmlns:a16="http://schemas.microsoft.com/office/drawing/2014/main" id="{7270776A-D887-9891-D643-D0880E5B1C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9" y="3767"/>
              <a:ext cx="20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44498" name="Group 50">
              <a:extLst>
                <a:ext uri="{FF2B5EF4-FFF2-40B4-BE49-F238E27FC236}">
                  <a16:creationId xmlns:a16="http://schemas.microsoft.com/office/drawing/2014/main" id="{150193E4-BCB3-6AF1-8155-73FE48A531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9" y="1297"/>
              <a:ext cx="321" cy="58"/>
              <a:chOff x="4229" y="3794"/>
              <a:chExt cx="321" cy="58"/>
            </a:xfrm>
          </p:grpSpPr>
          <p:sp>
            <p:nvSpPr>
              <p:cNvPr id="744499" name="Line 51">
                <a:extLst>
                  <a:ext uri="{FF2B5EF4-FFF2-40B4-BE49-F238E27FC236}">
                    <a16:creationId xmlns:a16="http://schemas.microsoft.com/office/drawing/2014/main" id="{DDA6F1BF-DAAD-58D6-1D2D-C7D33EC57E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9" y="3824"/>
                <a:ext cx="321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4500" name="Oval 52">
                <a:extLst>
                  <a:ext uri="{FF2B5EF4-FFF2-40B4-BE49-F238E27FC236}">
                    <a16:creationId xmlns:a16="http://schemas.microsoft.com/office/drawing/2014/main" id="{DA295CB2-025B-C4E6-2979-454333D72F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3" y="3794"/>
                <a:ext cx="57" cy="58"/>
              </a:xfrm>
              <a:prstGeom prst="ellipse">
                <a:avLst/>
              </a:prstGeom>
              <a:solidFill>
                <a:srgbClr val="FF00FF"/>
              </a:solidFill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744501" name="Object 53">
              <a:extLst>
                <a:ext uri="{FF2B5EF4-FFF2-40B4-BE49-F238E27FC236}">
                  <a16:creationId xmlns:a16="http://schemas.microsoft.com/office/drawing/2014/main" id="{2BE9BBFB-4713-AF1C-CF8F-441808D9A6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49" y="1008"/>
            <a:ext cx="20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7480" imgH="177480" progId="Equation.3">
                    <p:embed/>
                  </p:oleObj>
                </mc:Choice>
                <mc:Fallback>
                  <p:oleObj name="Equation" r:id="rId12" imgW="177480" imgH="177480" progId="Equation.3">
                    <p:embed/>
                    <p:pic>
                      <p:nvPicPr>
                        <p:cNvPr id="744501" name="Object 53">
                          <a:extLst>
                            <a:ext uri="{FF2B5EF4-FFF2-40B4-BE49-F238E27FC236}">
                              <a16:creationId xmlns:a16="http://schemas.microsoft.com/office/drawing/2014/main" id="{2BE9BBFB-4713-AF1C-CF8F-441808D9A6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9" y="1008"/>
                          <a:ext cx="201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4502" name="Object 54">
              <a:extLst>
                <a:ext uri="{FF2B5EF4-FFF2-40B4-BE49-F238E27FC236}">
                  <a16:creationId xmlns:a16="http://schemas.microsoft.com/office/drawing/2014/main" id="{A25131D7-6A5D-C396-B02C-390ADCB60A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00" y="1496"/>
            <a:ext cx="100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88560" imgH="152280" progId="Equation.3">
                    <p:embed/>
                  </p:oleObj>
                </mc:Choice>
                <mc:Fallback>
                  <p:oleObj name="Equation" r:id="rId14" imgW="88560" imgH="152280" progId="Equation.3">
                    <p:embed/>
                    <p:pic>
                      <p:nvPicPr>
                        <p:cNvPr id="744502" name="Object 54">
                          <a:extLst>
                            <a:ext uri="{FF2B5EF4-FFF2-40B4-BE49-F238E27FC236}">
                              <a16:creationId xmlns:a16="http://schemas.microsoft.com/office/drawing/2014/main" id="{A25131D7-6A5D-C396-B02C-390ADCB60A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0" y="1496"/>
                          <a:ext cx="100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44450" name="Rectangle 2">
            <a:extLst>
              <a:ext uri="{FF2B5EF4-FFF2-40B4-BE49-F238E27FC236}">
                <a16:creationId xmlns:a16="http://schemas.microsoft.com/office/drawing/2014/main" id="{5589D39C-AB09-737F-3694-E11E0905B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Parametric Curves</a:t>
            </a:r>
          </a:p>
        </p:txBody>
      </p:sp>
      <p:sp>
        <p:nvSpPr>
          <p:cNvPr id="744451" name="Rectangle 3">
            <a:extLst>
              <a:ext uri="{FF2B5EF4-FFF2-40B4-BE49-F238E27FC236}">
                <a16:creationId xmlns:a16="http://schemas.microsoft.com/office/drawing/2014/main" id="{6DC1794D-3FB5-C951-C419-428ED8E32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</p:txBody>
      </p:sp>
      <p:sp>
        <p:nvSpPr>
          <p:cNvPr id="744467" name="Text Box 19">
            <a:extLst>
              <a:ext uri="{FF2B5EF4-FFF2-40B4-BE49-F238E27FC236}">
                <a16:creationId xmlns:a16="http://schemas.microsoft.com/office/drawing/2014/main" id="{D4E5E5BA-8A3A-4062-9EC0-735B8FA96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1488" y="1325563"/>
            <a:ext cx="882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/>
              <a:t>“time”</a:t>
            </a:r>
          </a:p>
        </p:txBody>
      </p:sp>
      <p:sp>
        <p:nvSpPr>
          <p:cNvPr id="744468" name="Text Box 20">
            <a:extLst>
              <a:ext uri="{FF2B5EF4-FFF2-40B4-BE49-F238E27FC236}">
                <a16:creationId xmlns:a16="http://schemas.microsoft.com/office/drawing/2014/main" id="{CD0BAF7E-8927-03FE-A420-A247F66FB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982663"/>
            <a:ext cx="5645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i="1"/>
              <a:t>“Driving a little car in time” analogy</a:t>
            </a:r>
          </a:p>
        </p:txBody>
      </p:sp>
      <p:pic>
        <p:nvPicPr>
          <p:cNvPr id="744469" name="Picture 21">
            <a:extLst>
              <a:ext uri="{FF2B5EF4-FFF2-40B4-BE49-F238E27FC236}">
                <a16:creationId xmlns:a16="http://schemas.microsoft.com/office/drawing/2014/main" id="{E3614FDC-B061-2041-9A94-C0349A13E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77214">
            <a:off x="6597650" y="4294188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4470" name="Line 22">
            <a:extLst>
              <a:ext uri="{FF2B5EF4-FFF2-40B4-BE49-F238E27FC236}">
                <a16:creationId xmlns:a16="http://schemas.microsoft.com/office/drawing/2014/main" id="{69C8CAFF-3F51-A7A6-9986-364F684ED5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10425" y="3548063"/>
            <a:ext cx="850900" cy="8255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4471" name="Text Box 23">
            <a:extLst>
              <a:ext uri="{FF2B5EF4-FFF2-40B4-BE49-F238E27FC236}">
                <a16:creationId xmlns:a16="http://schemas.microsoft.com/office/drawing/2014/main" id="{39D9B50F-A6CF-A163-9E99-55508DE78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075" y="3676650"/>
            <a:ext cx="1035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</a:rPr>
              <a:t>velocity</a:t>
            </a:r>
          </a:p>
        </p:txBody>
      </p:sp>
      <p:sp>
        <p:nvSpPr>
          <p:cNvPr id="744472" name="Line 24">
            <a:extLst>
              <a:ext uri="{FF2B5EF4-FFF2-40B4-BE49-F238E27FC236}">
                <a16:creationId xmlns:a16="http://schemas.microsoft.com/office/drawing/2014/main" id="{7C5C4E09-1492-7F4B-1CBC-85ED63D6C55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8200" y="4713288"/>
            <a:ext cx="1144588" cy="66675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4473" name="Text Box 25">
            <a:extLst>
              <a:ext uri="{FF2B5EF4-FFF2-40B4-BE49-F238E27FC236}">
                <a16:creationId xmlns:a16="http://schemas.microsoft.com/office/drawing/2014/main" id="{E284B5E3-2193-986D-8765-E99C4DC1A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925" y="4843463"/>
            <a:ext cx="151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99FF"/>
                </a:solidFill>
              </a:rPr>
              <a:t>acceleration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82" name="Rectangle 2">
            <a:extLst>
              <a:ext uri="{FF2B5EF4-FFF2-40B4-BE49-F238E27FC236}">
                <a16:creationId xmlns:a16="http://schemas.microsoft.com/office/drawing/2014/main" id="{69E9CCC9-81E9-082E-27DA-2C34FCD02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Reparameterization</a:t>
            </a:r>
          </a:p>
        </p:txBody>
      </p:sp>
      <p:sp>
        <p:nvSpPr>
          <p:cNvPr id="788483" name="Rectangle 3">
            <a:extLst>
              <a:ext uri="{FF2B5EF4-FFF2-40B4-BE49-F238E27FC236}">
                <a16:creationId xmlns:a16="http://schemas.microsoft.com/office/drawing/2014/main" id="{F68B95AB-2E71-0899-5EC7-F228634615D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  <a:tabLst>
                <a:tab pos="4000500" algn="ctr"/>
                <a:tab pos="7942263" algn="r"/>
              </a:tabLst>
            </a:pPr>
            <a:endParaRPr lang="en-US" altLang="en-US" sz="1800"/>
          </a:p>
          <a:p>
            <a:pPr>
              <a:buFontTx/>
              <a:buNone/>
              <a:tabLst>
                <a:tab pos="4000500" algn="ctr"/>
                <a:tab pos="7942263" algn="r"/>
              </a:tabLst>
            </a:pPr>
            <a:endParaRPr lang="en-US" altLang="en-US" sz="1800"/>
          </a:p>
          <a:p>
            <a:pPr>
              <a:buFontTx/>
              <a:buNone/>
              <a:tabLst>
                <a:tab pos="4000500" algn="ctr"/>
                <a:tab pos="7942263" algn="r"/>
              </a:tabLst>
            </a:pPr>
            <a:endParaRPr lang="en-US" altLang="en-US" sz="1800"/>
          </a:p>
          <a:p>
            <a:pPr>
              <a:buFontTx/>
              <a:buNone/>
              <a:tabLst>
                <a:tab pos="4000500" algn="ctr"/>
                <a:tab pos="7942263" algn="r"/>
              </a:tabLst>
            </a:pPr>
            <a:r>
              <a:rPr lang="en-US" altLang="en-US" sz="1800"/>
              <a:t>	</a:t>
            </a:r>
          </a:p>
        </p:txBody>
      </p:sp>
      <p:graphicFrame>
        <p:nvGraphicFramePr>
          <p:cNvPr id="788484" name="Object 4">
            <a:extLst>
              <a:ext uri="{FF2B5EF4-FFF2-40B4-BE49-F238E27FC236}">
                <a16:creationId xmlns:a16="http://schemas.microsoft.com/office/drawing/2014/main" id="{B1421C61-E238-8C4E-AA2E-416AA48DE9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8325" y="1782763"/>
          <a:ext cx="199866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5800" imgH="203040" progId="Equation.3">
                  <p:embed/>
                </p:oleObj>
              </mc:Choice>
              <mc:Fallback>
                <p:oleObj name="Equation" r:id="rId3" imgW="685800" imgH="203040" progId="Equation.3">
                  <p:embed/>
                  <p:pic>
                    <p:nvPicPr>
                      <p:cNvPr id="788484" name="Object 4">
                        <a:extLst>
                          <a:ext uri="{FF2B5EF4-FFF2-40B4-BE49-F238E27FC236}">
                            <a16:creationId xmlns:a16="http://schemas.microsoft.com/office/drawing/2014/main" id="{B1421C61-E238-8C4E-AA2E-416AA48DE9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325" y="1782763"/>
                        <a:ext cx="1998663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88485" name="Group 5">
            <a:extLst>
              <a:ext uri="{FF2B5EF4-FFF2-40B4-BE49-F238E27FC236}">
                <a16:creationId xmlns:a16="http://schemas.microsoft.com/office/drawing/2014/main" id="{8A0D0C57-4A6C-231A-9048-D214EB5F8AFF}"/>
              </a:ext>
            </a:extLst>
          </p:cNvPr>
          <p:cNvGrpSpPr>
            <a:grpSpLocks/>
          </p:cNvGrpSpPr>
          <p:nvPr/>
        </p:nvGrpSpPr>
        <p:grpSpPr bwMode="auto">
          <a:xfrm>
            <a:off x="5759450" y="1371600"/>
            <a:ext cx="1905000" cy="1905000"/>
            <a:chOff x="1920" y="1968"/>
            <a:chExt cx="1056" cy="1056"/>
          </a:xfrm>
        </p:grpSpPr>
        <p:pic>
          <p:nvPicPr>
            <p:cNvPr id="788486" name="Picture 6">
              <a:extLst>
                <a:ext uri="{FF2B5EF4-FFF2-40B4-BE49-F238E27FC236}">
                  <a16:creationId xmlns:a16="http://schemas.microsoft.com/office/drawing/2014/main" id="{CC1B3C63-4418-24DD-C37C-94FA1FBC07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968"/>
              <a:ext cx="1056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88487" name="Freeform 7">
              <a:extLst>
                <a:ext uri="{FF2B5EF4-FFF2-40B4-BE49-F238E27FC236}">
                  <a16:creationId xmlns:a16="http://schemas.microsoft.com/office/drawing/2014/main" id="{157622F1-DD71-0403-E72B-32451D277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2304"/>
              <a:ext cx="816" cy="720"/>
            </a:xfrm>
            <a:custGeom>
              <a:avLst/>
              <a:gdLst>
                <a:gd name="T0" fmla="*/ 0 w 816"/>
                <a:gd name="T1" fmla="*/ 720 h 720"/>
                <a:gd name="T2" fmla="*/ 96 w 816"/>
                <a:gd name="T3" fmla="*/ 384 h 720"/>
                <a:gd name="T4" fmla="*/ 318 w 816"/>
                <a:gd name="T5" fmla="*/ 191 h 720"/>
                <a:gd name="T6" fmla="*/ 642 w 816"/>
                <a:gd name="T7" fmla="*/ 75 h 720"/>
                <a:gd name="T8" fmla="*/ 816 w 816"/>
                <a:gd name="T9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6" h="720">
                  <a:moveTo>
                    <a:pt x="0" y="720"/>
                  </a:moveTo>
                  <a:cubicBezTo>
                    <a:pt x="12" y="600"/>
                    <a:pt x="43" y="472"/>
                    <a:pt x="96" y="384"/>
                  </a:cubicBezTo>
                  <a:cubicBezTo>
                    <a:pt x="149" y="296"/>
                    <a:pt x="227" y="242"/>
                    <a:pt x="318" y="191"/>
                  </a:cubicBezTo>
                  <a:cubicBezTo>
                    <a:pt x="409" y="140"/>
                    <a:pt x="559" y="107"/>
                    <a:pt x="642" y="75"/>
                  </a:cubicBezTo>
                  <a:cubicBezTo>
                    <a:pt x="725" y="43"/>
                    <a:pt x="780" y="16"/>
                    <a:pt x="816" y="0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88488" name="Line 8">
            <a:extLst>
              <a:ext uri="{FF2B5EF4-FFF2-40B4-BE49-F238E27FC236}">
                <a16:creationId xmlns:a16="http://schemas.microsoft.com/office/drawing/2014/main" id="{F75AAFE2-F46A-E51E-10DF-0FA9FA5387A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2514600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489" name="Line 9">
            <a:extLst>
              <a:ext uri="{FF2B5EF4-FFF2-40B4-BE49-F238E27FC236}">
                <a16:creationId xmlns:a16="http://schemas.microsoft.com/office/drawing/2014/main" id="{2B593896-E0C5-7605-21D2-39590B6310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0925" y="2514600"/>
            <a:ext cx="12954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490" name="Line 10">
            <a:extLst>
              <a:ext uri="{FF2B5EF4-FFF2-40B4-BE49-F238E27FC236}">
                <a16:creationId xmlns:a16="http://schemas.microsoft.com/office/drawing/2014/main" id="{109EC4EF-795F-67C6-FC36-DDDABF94D2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63875" y="2514600"/>
            <a:ext cx="2560638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88491" name="Text Box 11">
            <a:extLst>
              <a:ext uri="{FF2B5EF4-FFF2-40B4-BE49-F238E27FC236}">
                <a16:creationId xmlns:a16="http://schemas.microsoft.com/office/drawing/2014/main" id="{56BBE631-C22E-CC1E-0A8C-DAF5B2EF3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3429000"/>
            <a:ext cx="5848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0"/>
              <a:t>A path in “time” (or some other independent parameter) </a:t>
            </a:r>
          </a:p>
        </p:txBody>
      </p:sp>
      <p:graphicFrame>
        <p:nvGraphicFramePr>
          <p:cNvPr id="788492" name="Object 12">
            <a:extLst>
              <a:ext uri="{FF2B5EF4-FFF2-40B4-BE49-F238E27FC236}">
                <a16:creationId xmlns:a16="http://schemas.microsoft.com/office/drawing/2014/main" id="{CCFB91A3-88A7-7FB7-7E32-2326479E6FA2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354763" y="1828800"/>
          <a:ext cx="54768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4560" imgH="203040" progId="Equation.3">
                  <p:embed/>
                </p:oleObj>
              </mc:Choice>
              <mc:Fallback>
                <p:oleObj name="Equation" r:id="rId6" imgW="304560" imgH="203040" progId="Equation.3">
                  <p:embed/>
                  <p:pic>
                    <p:nvPicPr>
                      <p:cNvPr id="788492" name="Object 12">
                        <a:extLst>
                          <a:ext uri="{FF2B5EF4-FFF2-40B4-BE49-F238E27FC236}">
                            <a16:creationId xmlns:a16="http://schemas.microsoft.com/office/drawing/2014/main" id="{CCFB91A3-88A7-7FB7-7E32-2326479E6F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4763" y="1828800"/>
                        <a:ext cx="547687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493" name="Object 13">
            <a:extLst>
              <a:ext uri="{FF2B5EF4-FFF2-40B4-BE49-F238E27FC236}">
                <a16:creationId xmlns:a16="http://schemas.microsoft.com/office/drawing/2014/main" id="{4FD505CF-8687-D724-D685-E6D27B3026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0438" y="1828800"/>
          <a:ext cx="140811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215640" progId="Equation.3">
                  <p:embed/>
                </p:oleObj>
              </mc:Choice>
              <mc:Fallback>
                <p:oleObj name="Equation" r:id="rId8" imgW="558720" imgH="215640" progId="Equation.3">
                  <p:embed/>
                  <p:pic>
                    <p:nvPicPr>
                      <p:cNvPr id="788493" name="Object 13">
                        <a:extLst>
                          <a:ext uri="{FF2B5EF4-FFF2-40B4-BE49-F238E27FC236}">
                            <a16:creationId xmlns:a16="http://schemas.microsoft.com/office/drawing/2014/main" id="{4FD505CF-8687-D724-D685-E6D27B3026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1828800"/>
                        <a:ext cx="1408112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530" name="Rectangle 2">
            <a:extLst>
              <a:ext uri="{FF2B5EF4-FFF2-40B4-BE49-F238E27FC236}">
                <a16:creationId xmlns:a16="http://schemas.microsoft.com/office/drawing/2014/main" id="{9B3FFBA1-C435-F462-B408-CEE71C8816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  <a:tabLst>
                <a:tab pos="4000500" algn="ctr"/>
                <a:tab pos="7942263" algn="r"/>
              </a:tabLst>
            </a:pPr>
            <a:endParaRPr lang="en-US" altLang="en-US"/>
          </a:p>
          <a:p>
            <a:pPr>
              <a:buFontTx/>
              <a:buNone/>
              <a:tabLst>
                <a:tab pos="4000500" algn="ctr"/>
                <a:tab pos="7942263" algn="r"/>
              </a:tabLst>
            </a:pPr>
            <a:endParaRPr lang="en-US" altLang="en-US"/>
          </a:p>
          <a:p>
            <a:pPr>
              <a:buFontTx/>
              <a:buNone/>
              <a:tabLst>
                <a:tab pos="4000500" algn="ctr"/>
                <a:tab pos="7942263" algn="r"/>
              </a:tabLst>
            </a:pPr>
            <a:endParaRPr lang="en-US" altLang="en-US"/>
          </a:p>
          <a:p>
            <a:pPr>
              <a:buFontTx/>
              <a:buNone/>
              <a:tabLst>
                <a:tab pos="4000500" algn="ctr"/>
                <a:tab pos="7942263" algn="r"/>
              </a:tabLst>
            </a:pPr>
            <a:r>
              <a:rPr lang="en-US" altLang="en-US"/>
              <a:t>	</a:t>
            </a:r>
          </a:p>
        </p:txBody>
      </p:sp>
      <p:pic>
        <p:nvPicPr>
          <p:cNvPr id="790531" name="Picture 3">
            <a:extLst>
              <a:ext uri="{FF2B5EF4-FFF2-40B4-BE49-F238E27FC236}">
                <a16:creationId xmlns:a16="http://schemas.microsoft.com/office/drawing/2014/main" id="{53241458-F62C-AC99-7948-FA089F82E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450" y="1371600"/>
            <a:ext cx="19050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90532" name="Freeform 4">
            <a:extLst>
              <a:ext uri="{FF2B5EF4-FFF2-40B4-BE49-F238E27FC236}">
                <a16:creationId xmlns:a16="http://schemas.microsoft.com/office/drawing/2014/main" id="{0388846C-80B6-B658-38B5-C0E1A5EC67C5}"/>
              </a:ext>
            </a:extLst>
          </p:cNvPr>
          <p:cNvSpPr>
            <a:spLocks/>
          </p:cNvSpPr>
          <p:nvPr/>
        </p:nvSpPr>
        <p:spPr bwMode="auto">
          <a:xfrm>
            <a:off x="6192838" y="1978025"/>
            <a:ext cx="1471612" cy="1298575"/>
          </a:xfrm>
          <a:custGeom>
            <a:avLst/>
            <a:gdLst>
              <a:gd name="T0" fmla="*/ 0 w 816"/>
              <a:gd name="T1" fmla="*/ 720 h 720"/>
              <a:gd name="T2" fmla="*/ 96 w 816"/>
              <a:gd name="T3" fmla="*/ 384 h 720"/>
              <a:gd name="T4" fmla="*/ 318 w 816"/>
              <a:gd name="T5" fmla="*/ 191 h 720"/>
              <a:gd name="T6" fmla="*/ 642 w 816"/>
              <a:gd name="T7" fmla="*/ 75 h 720"/>
              <a:gd name="T8" fmla="*/ 816 w 816"/>
              <a:gd name="T9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6" h="720">
                <a:moveTo>
                  <a:pt x="0" y="720"/>
                </a:moveTo>
                <a:cubicBezTo>
                  <a:pt x="12" y="600"/>
                  <a:pt x="43" y="472"/>
                  <a:pt x="96" y="384"/>
                </a:cubicBezTo>
                <a:cubicBezTo>
                  <a:pt x="149" y="296"/>
                  <a:pt x="227" y="242"/>
                  <a:pt x="318" y="191"/>
                </a:cubicBezTo>
                <a:cubicBezTo>
                  <a:pt x="409" y="140"/>
                  <a:pt x="559" y="107"/>
                  <a:pt x="642" y="75"/>
                </a:cubicBezTo>
                <a:cubicBezTo>
                  <a:pt x="725" y="43"/>
                  <a:pt x="780" y="16"/>
                  <a:pt x="816" y="0"/>
                </a:cubicBezTo>
              </a:path>
            </a:pathLst>
          </a:custGeom>
          <a:noFill/>
          <a:ln w="28575" cap="flat" cmpd="sng">
            <a:solidFill>
              <a:srgbClr val="FF00FF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0533" name="Line 5">
            <a:extLst>
              <a:ext uri="{FF2B5EF4-FFF2-40B4-BE49-F238E27FC236}">
                <a16:creationId xmlns:a16="http://schemas.microsoft.com/office/drawing/2014/main" id="{13D6C229-6568-D31C-1459-BF2242D0C42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2514600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0534" name="Line 6">
            <a:extLst>
              <a:ext uri="{FF2B5EF4-FFF2-40B4-BE49-F238E27FC236}">
                <a16:creationId xmlns:a16="http://schemas.microsoft.com/office/drawing/2014/main" id="{7AF1BDE9-7A6D-01C4-6F68-4CFA0CE191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0925" y="2514600"/>
            <a:ext cx="12954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0535" name="Line 7">
            <a:extLst>
              <a:ext uri="{FF2B5EF4-FFF2-40B4-BE49-F238E27FC236}">
                <a16:creationId xmlns:a16="http://schemas.microsoft.com/office/drawing/2014/main" id="{BAEB47AE-7627-3393-AB1F-4C8F64D136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63875" y="2514600"/>
            <a:ext cx="2560638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90536" name="Line 8">
            <a:extLst>
              <a:ext uri="{FF2B5EF4-FFF2-40B4-BE49-F238E27FC236}">
                <a16:creationId xmlns:a16="http://schemas.microsoft.com/office/drawing/2014/main" id="{943D3F1F-95C8-5738-5815-9AAD41A767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4525963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0537" name="Line 9">
            <a:extLst>
              <a:ext uri="{FF2B5EF4-FFF2-40B4-BE49-F238E27FC236}">
                <a16:creationId xmlns:a16="http://schemas.microsoft.com/office/drawing/2014/main" id="{0C6BC718-E6DA-3CAA-07DB-06953C4A1F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788" y="4525963"/>
            <a:ext cx="2020887" cy="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0538" name="Line 10">
            <a:extLst>
              <a:ext uri="{FF2B5EF4-FFF2-40B4-BE49-F238E27FC236}">
                <a16:creationId xmlns:a16="http://schemas.microsoft.com/office/drawing/2014/main" id="{F10D5DBA-4C46-A4E4-D779-D1EB75E1E4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03638" y="3246438"/>
            <a:ext cx="1920875" cy="1189037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90539" name="Rectangle 11">
            <a:extLst>
              <a:ext uri="{FF2B5EF4-FFF2-40B4-BE49-F238E27FC236}">
                <a16:creationId xmlns:a16="http://schemas.microsoft.com/office/drawing/2014/main" id="{88F76136-6484-7BE0-8D56-769B117F5B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Reparameterization</a:t>
            </a:r>
          </a:p>
        </p:txBody>
      </p:sp>
      <p:graphicFrame>
        <p:nvGraphicFramePr>
          <p:cNvPr id="790540" name="Object 12">
            <a:extLst>
              <a:ext uri="{FF2B5EF4-FFF2-40B4-BE49-F238E27FC236}">
                <a16:creationId xmlns:a16="http://schemas.microsoft.com/office/drawing/2014/main" id="{BACC3A3C-0D30-A4D3-B5AF-3F25FE057B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0438" y="1828800"/>
          <a:ext cx="140811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58720" imgH="215640" progId="Equation.3">
                  <p:embed/>
                </p:oleObj>
              </mc:Choice>
              <mc:Fallback>
                <p:oleObj name="Equation" r:id="rId4" imgW="558720" imgH="215640" progId="Equation.3">
                  <p:embed/>
                  <p:pic>
                    <p:nvPicPr>
                      <p:cNvPr id="790540" name="Object 12">
                        <a:extLst>
                          <a:ext uri="{FF2B5EF4-FFF2-40B4-BE49-F238E27FC236}">
                            <a16:creationId xmlns:a16="http://schemas.microsoft.com/office/drawing/2014/main" id="{BACC3A3C-0D30-A4D3-B5AF-3F25FE057B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1828800"/>
                        <a:ext cx="1408112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0541" name="Object 13">
            <a:extLst>
              <a:ext uri="{FF2B5EF4-FFF2-40B4-BE49-F238E27FC236}">
                <a16:creationId xmlns:a16="http://schemas.microsoft.com/office/drawing/2014/main" id="{76BE1C3E-52B9-E85B-B837-8FCCF6E883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4618038"/>
          <a:ext cx="15367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480" imgH="215640" progId="Equation.3">
                  <p:embed/>
                </p:oleObj>
              </mc:Choice>
              <mc:Fallback>
                <p:oleObj name="Equation" r:id="rId6" imgW="609480" imgH="215640" progId="Equation.3">
                  <p:embed/>
                  <p:pic>
                    <p:nvPicPr>
                      <p:cNvPr id="790541" name="Object 13">
                        <a:extLst>
                          <a:ext uri="{FF2B5EF4-FFF2-40B4-BE49-F238E27FC236}">
                            <a16:creationId xmlns:a16="http://schemas.microsoft.com/office/drawing/2014/main" id="{76BE1C3E-52B9-E85B-B837-8FCCF6E883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618038"/>
                        <a:ext cx="15367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0542" name="Object 14">
            <a:extLst>
              <a:ext uri="{FF2B5EF4-FFF2-40B4-BE49-F238E27FC236}">
                <a16:creationId xmlns:a16="http://schemas.microsoft.com/office/drawing/2014/main" id="{3C0DB766-3EB6-8B9C-C4ED-B098E7F7E7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8325" y="1782763"/>
          <a:ext cx="199866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85800" imgH="203040" progId="Equation.3">
                  <p:embed/>
                </p:oleObj>
              </mc:Choice>
              <mc:Fallback>
                <p:oleObj name="Equation" r:id="rId8" imgW="685800" imgH="203040" progId="Equation.3">
                  <p:embed/>
                  <p:pic>
                    <p:nvPicPr>
                      <p:cNvPr id="790542" name="Object 14">
                        <a:extLst>
                          <a:ext uri="{FF2B5EF4-FFF2-40B4-BE49-F238E27FC236}">
                            <a16:creationId xmlns:a16="http://schemas.microsoft.com/office/drawing/2014/main" id="{3C0DB766-3EB6-8B9C-C4ED-B098E7F7E7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325" y="1782763"/>
                        <a:ext cx="1998663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0543" name="Object 15">
            <a:extLst>
              <a:ext uri="{FF2B5EF4-FFF2-40B4-BE49-F238E27FC236}">
                <a16:creationId xmlns:a16="http://schemas.microsoft.com/office/drawing/2014/main" id="{B35ED217-08F5-F175-FBBB-74957589BD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35488" y="3943350"/>
          <a:ext cx="2071687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11000" imgH="228600" progId="Equation.3">
                  <p:embed/>
                </p:oleObj>
              </mc:Choice>
              <mc:Fallback>
                <p:oleObj name="Equation" r:id="rId10" imgW="711000" imgH="228600" progId="Equation.3">
                  <p:embed/>
                  <p:pic>
                    <p:nvPicPr>
                      <p:cNvPr id="790543" name="Object 15">
                        <a:extLst>
                          <a:ext uri="{FF2B5EF4-FFF2-40B4-BE49-F238E27FC236}">
                            <a16:creationId xmlns:a16="http://schemas.microsoft.com/office/drawing/2014/main" id="{B35ED217-08F5-F175-FBBB-74957589BD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8" y="3943350"/>
                        <a:ext cx="2071687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0544" name="Freeform 16">
            <a:extLst>
              <a:ext uri="{FF2B5EF4-FFF2-40B4-BE49-F238E27FC236}">
                <a16:creationId xmlns:a16="http://schemas.microsoft.com/office/drawing/2014/main" id="{B0F85269-916A-4898-C516-23F354986253}"/>
              </a:ext>
            </a:extLst>
          </p:cNvPr>
          <p:cNvSpPr>
            <a:spLocks/>
          </p:cNvSpPr>
          <p:nvPr/>
        </p:nvSpPr>
        <p:spPr bwMode="auto">
          <a:xfrm>
            <a:off x="6208713" y="2001838"/>
            <a:ext cx="1471612" cy="1298575"/>
          </a:xfrm>
          <a:custGeom>
            <a:avLst/>
            <a:gdLst>
              <a:gd name="T0" fmla="*/ 0 w 816"/>
              <a:gd name="T1" fmla="*/ 720 h 720"/>
              <a:gd name="T2" fmla="*/ 96 w 816"/>
              <a:gd name="T3" fmla="*/ 384 h 720"/>
              <a:gd name="T4" fmla="*/ 318 w 816"/>
              <a:gd name="T5" fmla="*/ 191 h 720"/>
              <a:gd name="T6" fmla="*/ 642 w 816"/>
              <a:gd name="T7" fmla="*/ 75 h 720"/>
              <a:gd name="T8" fmla="*/ 816 w 816"/>
              <a:gd name="T9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6" h="720">
                <a:moveTo>
                  <a:pt x="0" y="720"/>
                </a:moveTo>
                <a:cubicBezTo>
                  <a:pt x="12" y="600"/>
                  <a:pt x="43" y="472"/>
                  <a:pt x="96" y="384"/>
                </a:cubicBezTo>
                <a:cubicBezTo>
                  <a:pt x="149" y="296"/>
                  <a:pt x="227" y="242"/>
                  <a:pt x="318" y="191"/>
                </a:cubicBezTo>
                <a:cubicBezTo>
                  <a:pt x="409" y="140"/>
                  <a:pt x="559" y="107"/>
                  <a:pt x="642" y="75"/>
                </a:cubicBezTo>
                <a:cubicBezTo>
                  <a:pt x="725" y="43"/>
                  <a:pt x="780" y="16"/>
                  <a:pt x="816" y="0"/>
                </a:cubicBezTo>
              </a:path>
            </a:pathLst>
          </a:custGeom>
          <a:noFill/>
          <a:ln w="28575" cap="flat" cmpd="sng">
            <a:solidFill>
              <a:srgbClr val="00CCFF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9266" name="Group 2">
            <a:extLst>
              <a:ext uri="{FF2B5EF4-FFF2-40B4-BE49-F238E27FC236}">
                <a16:creationId xmlns:a16="http://schemas.microsoft.com/office/drawing/2014/main" id="{98E720C8-557B-A6AB-9A08-929119950F37}"/>
              </a:ext>
            </a:extLst>
          </p:cNvPr>
          <p:cNvGrpSpPr>
            <a:grpSpLocks/>
          </p:cNvGrpSpPr>
          <p:nvPr/>
        </p:nvGrpSpPr>
        <p:grpSpPr bwMode="auto">
          <a:xfrm>
            <a:off x="4603750" y="1600200"/>
            <a:ext cx="4379913" cy="5089525"/>
            <a:chOff x="2900" y="1008"/>
            <a:chExt cx="2759" cy="3206"/>
          </a:xfrm>
        </p:grpSpPr>
        <p:grpSp>
          <p:nvGrpSpPr>
            <p:cNvPr id="779267" name="Group 3">
              <a:extLst>
                <a:ext uri="{FF2B5EF4-FFF2-40B4-BE49-F238E27FC236}">
                  <a16:creationId xmlns:a16="http://schemas.microsoft.com/office/drawing/2014/main" id="{1CCF3F0B-9237-95F7-1194-079191B469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585" y="1693"/>
              <a:ext cx="2074" cy="2074"/>
              <a:chOff x="1920" y="1968"/>
              <a:chExt cx="1056" cy="1056"/>
            </a:xfrm>
          </p:grpSpPr>
          <p:pic>
            <p:nvPicPr>
              <p:cNvPr id="779268" name="Picture 4">
                <a:extLst>
                  <a:ext uri="{FF2B5EF4-FFF2-40B4-BE49-F238E27FC236}">
                    <a16:creationId xmlns:a16="http://schemas.microsoft.com/office/drawing/2014/main" id="{97AF0DA7-3585-9C63-6954-563CC2F064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0" y="1968"/>
                <a:ext cx="1056" cy="10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79269" name="Freeform 5">
                <a:extLst>
                  <a:ext uri="{FF2B5EF4-FFF2-40B4-BE49-F238E27FC236}">
                    <a16:creationId xmlns:a16="http://schemas.microsoft.com/office/drawing/2014/main" id="{ACEB192F-9E5C-38ED-AA08-446B9E69DD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60" y="2304"/>
                <a:ext cx="816" cy="720"/>
              </a:xfrm>
              <a:custGeom>
                <a:avLst/>
                <a:gdLst>
                  <a:gd name="T0" fmla="*/ 0 w 816"/>
                  <a:gd name="T1" fmla="*/ 720 h 720"/>
                  <a:gd name="T2" fmla="*/ 96 w 816"/>
                  <a:gd name="T3" fmla="*/ 384 h 720"/>
                  <a:gd name="T4" fmla="*/ 318 w 816"/>
                  <a:gd name="T5" fmla="*/ 191 h 720"/>
                  <a:gd name="T6" fmla="*/ 642 w 816"/>
                  <a:gd name="T7" fmla="*/ 75 h 720"/>
                  <a:gd name="T8" fmla="*/ 816 w 816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6" h="720">
                    <a:moveTo>
                      <a:pt x="0" y="720"/>
                    </a:moveTo>
                    <a:cubicBezTo>
                      <a:pt x="12" y="600"/>
                      <a:pt x="43" y="472"/>
                      <a:pt x="96" y="384"/>
                    </a:cubicBezTo>
                    <a:cubicBezTo>
                      <a:pt x="149" y="296"/>
                      <a:pt x="227" y="242"/>
                      <a:pt x="318" y="191"/>
                    </a:cubicBezTo>
                    <a:cubicBezTo>
                      <a:pt x="409" y="140"/>
                      <a:pt x="559" y="107"/>
                      <a:pt x="642" y="75"/>
                    </a:cubicBezTo>
                    <a:cubicBezTo>
                      <a:pt x="725" y="43"/>
                      <a:pt x="780" y="16"/>
                      <a:pt x="816" y="0"/>
                    </a:cubicBezTo>
                  </a:path>
                </a:pathLst>
              </a:custGeom>
              <a:noFill/>
              <a:ln w="28575" cap="flat" cmpd="sng">
                <a:solidFill>
                  <a:schemeClr val="hlink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779270" name="Object 6">
              <a:extLst>
                <a:ext uri="{FF2B5EF4-FFF2-40B4-BE49-F238E27FC236}">
                  <a16:creationId xmlns:a16="http://schemas.microsoft.com/office/drawing/2014/main" id="{15BCED68-6E3D-FA7E-6BFE-6A812A0C5E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0" y="2507"/>
            <a:ext cx="67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96880" imgH="241200" progId="Equation.3">
                    <p:embed/>
                  </p:oleObj>
                </mc:Choice>
                <mc:Fallback>
                  <p:oleObj name="Equation" r:id="rId4" imgW="596880" imgH="241200" progId="Equation.3">
                    <p:embed/>
                    <p:pic>
                      <p:nvPicPr>
                        <p:cNvPr id="779270" name="Object 6">
                          <a:extLst>
                            <a:ext uri="{FF2B5EF4-FFF2-40B4-BE49-F238E27FC236}">
                              <a16:creationId xmlns:a16="http://schemas.microsoft.com/office/drawing/2014/main" id="{15BCED68-6E3D-FA7E-6BFE-6A812A0C5E7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0" y="2507"/>
                          <a:ext cx="679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9271" name="Oval 7">
              <a:extLst>
                <a:ext uri="{FF2B5EF4-FFF2-40B4-BE49-F238E27FC236}">
                  <a16:creationId xmlns:a16="http://schemas.microsoft.com/office/drawing/2014/main" id="{191AE50E-C407-355B-189C-A4AB96B64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3" y="2902"/>
              <a:ext cx="57" cy="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79272" name="Group 8">
              <a:extLst>
                <a:ext uri="{FF2B5EF4-FFF2-40B4-BE49-F238E27FC236}">
                  <a16:creationId xmlns:a16="http://schemas.microsoft.com/office/drawing/2014/main" id="{46164111-2AB3-3E87-FDEF-45B3B7D903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9" y="3794"/>
              <a:ext cx="321" cy="58"/>
              <a:chOff x="4229" y="3794"/>
              <a:chExt cx="321" cy="58"/>
            </a:xfrm>
          </p:grpSpPr>
          <p:sp>
            <p:nvSpPr>
              <p:cNvPr id="779273" name="Line 9">
                <a:extLst>
                  <a:ext uri="{FF2B5EF4-FFF2-40B4-BE49-F238E27FC236}">
                    <a16:creationId xmlns:a16="http://schemas.microsoft.com/office/drawing/2014/main" id="{A9893045-07DE-E108-EEB0-62D1C0C18D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9" y="3824"/>
                <a:ext cx="32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9274" name="Oval 10">
                <a:extLst>
                  <a:ext uri="{FF2B5EF4-FFF2-40B4-BE49-F238E27FC236}">
                    <a16:creationId xmlns:a16="http://schemas.microsoft.com/office/drawing/2014/main" id="{85EEC58F-24D3-2E34-8EE5-8E9EDFF61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3" y="3794"/>
                <a:ext cx="57" cy="5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79275" name="Group 11">
              <a:extLst>
                <a:ext uri="{FF2B5EF4-FFF2-40B4-BE49-F238E27FC236}">
                  <a16:creationId xmlns:a16="http://schemas.microsoft.com/office/drawing/2014/main" id="{D2A90FD7-3549-556F-9EB0-BE4D29BBFB14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3360" y="2921"/>
              <a:ext cx="321" cy="58"/>
              <a:chOff x="2459" y="2776"/>
              <a:chExt cx="321" cy="58"/>
            </a:xfrm>
          </p:grpSpPr>
          <p:sp>
            <p:nvSpPr>
              <p:cNvPr id="779276" name="Line 12">
                <a:extLst>
                  <a:ext uri="{FF2B5EF4-FFF2-40B4-BE49-F238E27FC236}">
                    <a16:creationId xmlns:a16="http://schemas.microsoft.com/office/drawing/2014/main" id="{960ECEBF-E369-DC78-BE1C-12B3C999BF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59" y="2806"/>
                <a:ext cx="321" cy="0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9277" name="Oval 13">
                <a:extLst>
                  <a:ext uri="{FF2B5EF4-FFF2-40B4-BE49-F238E27FC236}">
                    <a16:creationId xmlns:a16="http://schemas.microsoft.com/office/drawing/2014/main" id="{14350AD7-4E9E-83D6-AC30-DE0B5D7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3" y="2776"/>
                <a:ext cx="57" cy="58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779278" name="Object 14">
              <a:extLst>
                <a:ext uri="{FF2B5EF4-FFF2-40B4-BE49-F238E27FC236}">
                  <a16:creationId xmlns:a16="http://schemas.microsoft.com/office/drawing/2014/main" id="{A51B6B3D-5758-7DE3-C151-282A49C06A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81" y="3817"/>
            <a:ext cx="664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83920" imgH="215640" progId="Equation.3">
                    <p:embed/>
                  </p:oleObj>
                </mc:Choice>
                <mc:Fallback>
                  <p:oleObj name="Equation" r:id="rId6" imgW="583920" imgH="215640" progId="Equation.3">
                    <p:embed/>
                    <p:pic>
                      <p:nvPicPr>
                        <p:cNvPr id="779278" name="Object 14">
                          <a:extLst>
                            <a:ext uri="{FF2B5EF4-FFF2-40B4-BE49-F238E27FC236}">
                              <a16:creationId xmlns:a16="http://schemas.microsoft.com/office/drawing/2014/main" id="{A51B6B3D-5758-7DE3-C151-282A49C06A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1" y="3817"/>
                          <a:ext cx="664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9279" name="Object 15">
              <a:extLst>
                <a:ext uri="{FF2B5EF4-FFF2-40B4-BE49-F238E27FC236}">
                  <a16:creationId xmlns:a16="http://schemas.microsoft.com/office/drawing/2014/main" id="{AC546B8D-3FF2-8F61-43AC-E8116A2B45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9" y="3865"/>
            <a:ext cx="268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04560" imgH="393480" progId="Equation.3">
                    <p:embed/>
                  </p:oleObj>
                </mc:Choice>
                <mc:Fallback>
                  <p:oleObj name="Equation" r:id="rId8" imgW="304560" imgH="393480" progId="Equation.3">
                    <p:embed/>
                    <p:pic>
                      <p:nvPicPr>
                        <p:cNvPr id="779279" name="Object 15">
                          <a:extLst>
                            <a:ext uri="{FF2B5EF4-FFF2-40B4-BE49-F238E27FC236}">
                              <a16:creationId xmlns:a16="http://schemas.microsoft.com/office/drawing/2014/main" id="{AC546B8D-3FF2-8F61-43AC-E8116A2B45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9" y="3865"/>
                          <a:ext cx="268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9280" name="Object 16">
              <a:extLst>
                <a:ext uri="{FF2B5EF4-FFF2-40B4-BE49-F238E27FC236}">
                  <a16:creationId xmlns:a16="http://schemas.microsoft.com/office/drawing/2014/main" id="{1445EF65-4F23-4338-29B2-6E5FF8527E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49" y="2773"/>
            <a:ext cx="290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30120" imgH="393480" progId="Equation.3">
                    <p:embed/>
                  </p:oleObj>
                </mc:Choice>
                <mc:Fallback>
                  <p:oleObj name="Equation" r:id="rId10" imgW="330120" imgH="393480" progId="Equation.3">
                    <p:embed/>
                    <p:pic>
                      <p:nvPicPr>
                        <p:cNvPr id="779280" name="Object 16">
                          <a:extLst>
                            <a:ext uri="{FF2B5EF4-FFF2-40B4-BE49-F238E27FC236}">
                              <a16:creationId xmlns:a16="http://schemas.microsoft.com/office/drawing/2014/main" id="{1445EF65-4F23-4338-29B2-6E5FF8527E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9" y="2773"/>
                          <a:ext cx="290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9281" name="Line 17">
              <a:extLst>
                <a:ext uri="{FF2B5EF4-FFF2-40B4-BE49-F238E27FC236}">
                  <a16:creationId xmlns:a16="http://schemas.microsoft.com/office/drawing/2014/main" id="{3D5098FF-E560-3E45-E263-8DB6CDC2A4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5" y="1427"/>
              <a:ext cx="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9282" name="Line 18">
              <a:extLst>
                <a:ext uri="{FF2B5EF4-FFF2-40B4-BE49-F238E27FC236}">
                  <a16:creationId xmlns:a16="http://schemas.microsoft.com/office/drawing/2014/main" id="{8C510601-228C-D5AB-A517-5A24ED42A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9" y="1427"/>
              <a:ext cx="816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9283" name="Line 19">
              <a:extLst>
                <a:ext uri="{FF2B5EF4-FFF2-40B4-BE49-F238E27FC236}">
                  <a16:creationId xmlns:a16="http://schemas.microsoft.com/office/drawing/2014/main" id="{1A112A16-0C81-16DE-67D7-199E912261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9" y="1693"/>
              <a:ext cx="6" cy="2074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9284" name="Line 20">
              <a:extLst>
                <a:ext uri="{FF2B5EF4-FFF2-40B4-BE49-F238E27FC236}">
                  <a16:creationId xmlns:a16="http://schemas.microsoft.com/office/drawing/2014/main" id="{2B82E0E2-135F-1BF7-5BB7-8E9574305C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9" y="3767"/>
              <a:ext cx="20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79285" name="Group 21">
              <a:extLst>
                <a:ext uri="{FF2B5EF4-FFF2-40B4-BE49-F238E27FC236}">
                  <a16:creationId xmlns:a16="http://schemas.microsoft.com/office/drawing/2014/main" id="{436B2D33-C2A8-0C53-77B9-88DF18BAF8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9" y="1297"/>
              <a:ext cx="321" cy="58"/>
              <a:chOff x="4229" y="3794"/>
              <a:chExt cx="321" cy="58"/>
            </a:xfrm>
          </p:grpSpPr>
          <p:sp>
            <p:nvSpPr>
              <p:cNvPr id="779286" name="Line 22">
                <a:extLst>
                  <a:ext uri="{FF2B5EF4-FFF2-40B4-BE49-F238E27FC236}">
                    <a16:creationId xmlns:a16="http://schemas.microsoft.com/office/drawing/2014/main" id="{BA2471DE-A454-70F8-3351-FC50024DEA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9" y="3824"/>
                <a:ext cx="321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9287" name="Oval 23">
                <a:extLst>
                  <a:ext uri="{FF2B5EF4-FFF2-40B4-BE49-F238E27FC236}">
                    <a16:creationId xmlns:a16="http://schemas.microsoft.com/office/drawing/2014/main" id="{1EACEEB7-66C7-7A1B-1429-3FA15F3A18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3" y="3794"/>
                <a:ext cx="57" cy="58"/>
              </a:xfrm>
              <a:prstGeom prst="ellipse">
                <a:avLst/>
              </a:prstGeom>
              <a:solidFill>
                <a:srgbClr val="FF00FF"/>
              </a:solidFill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779288" name="Object 24">
              <a:extLst>
                <a:ext uri="{FF2B5EF4-FFF2-40B4-BE49-F238E27FC236}">
                  <a16:creationId xmlns:a16="http://schemas.microsoft.com/office/drawing/2014/main" id="{A52A068B-B331-46E3-7B0F-24BDCACA76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49" y="1008"/>
            <a:ext cx="20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7480" imgH="177480" progId="Equation.3">
                    <p:embed/>
                  </p:oleObj>
                </mc:Choice>
                <mc:Fallback>
                  <p:oleObj name="Equation" r:id="rId12" imgW="177480" imgH="177480" progId="Equation.3">
                    <p:embed/>
                    <p:pic>
                      <p:nvPicPr>
                        <p:cNvPr id="779288" name="Object 24">
                          <a:extLst>
                            <a:ext uri="{FF2B5EF4-FFF2-40B4-BE49-F238E27FC236}">
                              <a16:creationId xmlns:a16="http://schemas.microsoft.com/office/drawing/2014/main" id="{A52A068B-B331-46E3-7B0F-24BDCACA76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9" y="1008"/>
                          <a:ext cx="201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9289" name="Object 25">
              <a:extLst>
                <a:ext uri="{FF2B5EF4-FFF2-40B4-BE49-F238E27FC236}">
                  <a16:creationId xmlns:a16="http://schemas.microsoft.com/office/drawing/2014/main" id="{AB53EBEF-173A-1BD6-7601-9ED5488629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00" y="1496"/>
            <a:ext cx="100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88560" imgH="152280" progId="Equation.3">
                    <p:embed/>
                  </p:oleObj>
                </mc:Choice>
                <mc:Fallback>
                  <p:oleObj name="Equation" r:id="rId14" imgW="88560" imgH="152280" progId="Equation.3">
                    <p:embed/>
                    <p:pic>
                      <p:nvPicPr>
                        <p:cNvPr id="779289" name="Object 25">
                          <a:extLst>
                            <a:ext uri="{FF2B5EF4-FFF2-40B4-BE49-F238E27FC236}">
                              <a16:creationId xmlns:a16="http://schemas.microsoft.com/office/drawing/2014/main" id="{AB53EBEF-173A-1BD6-7601-9ED5488629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0" y="1496"/>
                          <a:ext cx="100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9290" name="Rectangle 26">
            <a:extLst>
              <a:ext uri="{FF2B5EF4-FFF2-40B4-BE49-F238E27FC236}">
                <a16:creationId xmlns:a16="http://schemas.microsoft.com/office/drawing/2014/main" id="{DFDA8CB0-7CF4-7D7C-63A4-F2CCAC4A2C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Parametric Curves</a:t>
            </a:r>
          </a:p>
        </p:txBody>
      </p:sp>
      <p:sp>
        <p:nvSpPr>
          <p:cNvPr id="779291" name="Rectangle 27">
            <a:extLst>
              <a:ext uri="{FF2B5EF4-FFF2-40B4-BE49-F238E27FC236}">
                <a16:creationId xmlns:a16="http://schemas.microsoft.com/office/drawing/2014/main" id="{FBDF1D02-7774-0928-BCA8-70377B9B6E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</p:txBody>
      </p:sp>
      <p:sp>
        <p:nvSpPr>
          <p:cNvPr id="779292" name="Text Box 28">
            <a:extLst>
              <a:ext uri="{FF2B5EF4-FFF2-40B4-BE49-F238E27FC236}">
                <a16:creationId xmlns:a16="http://schemas.microsoft.com/office/drawing/2014/main" id="{4021DBB5-B46D-D2DF-C4AA-B63A25BDA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1488" y="1325563"/>
            <a:ext cx="882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/>
              <a:t>“time”</a:t>
            </a:r>
          </a:p>
        </p:txBody>
      </p:sp>
      <p:sp>
        <p:nvSpPr>
          <p:cNvPr id="779293" name="Text Box 29">
            <a:extLst>
              <a:ext uri="{FF2B5EF4-FFF2-40B4-BE49-F238E27FC236}">
                <a16:creationId xmlns:a16="http://schemas.microsoft.com/office/drawing/2014/main" id="{D1824DE9-B687-D870-EEA6-D89BCC996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982663"/>
            <a:ext cx="5645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i="1"/>
              <a:t>“Driving a little car in time” analogy</a:t>
            </a:r>
          </a:p>
        </p:txBody>
      </p:sp>
      <p:pic>
        <p:nvPicPr>
          <p:cNvPr id="779294" name="Picture 30">
            <a:extLst>
              <a:ext uri="{FF2B5EF4-FFF2-40B4-BE49-F238E27FC236}">
                <a16:creationId xmlns:a16="http://schemas.microsoft.com/office/drawing/2014/main" id="{4D4BCAFB-8910-0FD8-5C65-01219E60B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77214">
            <a:off x="6597650" y="4294188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9295" name="Line 31">
            <a:extLst>
              <a:ext uri="{FF2B5EF4-FFF2-40B4-BE49-F238E27FC236}">
                <a16:creationId xmlns:a16="http://schemas.microsoft.com/office/drawing/2014/main" id="{D15A32EB-7528-3154-FB61-E26537EC86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10425" y="3548063"/>
            <a:ext cx="850900" cy="8255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9296" name="Text Box 32">
            <a:extLst>
              <a:ext uri="{FF2B5EF4-FFF2-40B4-BE49-F238E27FC236}">
                <a16:creationId xmlns:a16="http://schemas.microsoft.com/office/drawing/2014/main" id="{777F2215-98E3-4FD0-A206-C73319F4E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075" y="3676650"/>
            <a:ext cx="1035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</a:rPr>
              <a:t>velocity</a:t>
            </a:r>
          </a:p>
        </p:txBody>
      </p:sp>
      <p:sp>
        <p:nvSpPr>
          <p:cNvPr id="779297" name="Line 33">
            <a:extLst>
              <a:ext uri="{FF2B5EF4-FFF2-40B4-BE49-F238E27FC236}">
                <a16:creationId xmlns:a16="http://schemas.microsoft.com/office/drawing/2014/main" id="{345C87D2-DCA0-DA48-3A16-C7A486191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8200" y="4713288"/>
            <a:ext cx="1144588" cy="66675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9298" name="Text Box 34">
            <a:extLst>
              <a:ext uri="{FF2B5EF4-FFF2-40B4-BE49-F238E27FC236}">
                <a16:creationId xmlns:a16="http://schemas.microsoft.com/office/drawing/2014/main" id="{E6A0EAE3-7BFF-0653-E974-00D2FF3EA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925" y="4843463"/>
            <a:ext cx="151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99FF"/>
                </a:solidFill>
              </a:rPr>
              <a:t>acceleration</a:t>
            </a:r>
          </a:p>
        </p:txBody>
      </p:sp>
      <p:sp>
        <p:nvSpPr>
          <p:cNvPr id="779299" name="AutoShape 35">
            <a:extLst>
              <a:ext uri="{FF2B5EF4-FFF2-40B4-BE49-F238E27FC236}">
                <a16:creationId xmlns:a16="http://schemas.microsoft.com/office/drawing/2014/main" id="{34F45EE4-B437-BFEC-7996-1F46ECF96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825625"/>
            <a:ext cx="3808412" cy="2952750"/>
          </a:xfrm>
          <a:prstGeom prst="wedgeRectCallout">
            <a:avLst>
              <a:gd name="adj1" fmla="val 62046"/>
              <a:gd name="adj2" fmla="val 2940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 b="0"/>
              <a:t>We can imagine a </a:t>
            </a:r>
          </a:p>
          <a:p>
            <a:r>
              <a:rPr lang="en-US" altLang="en-US" sz="1600" b="0"/>
              <a:t>“special parameterization”</a:t>
            </a:r>
          </a:p>
          <a:p>
            <a:endParaRPr lang="en-US" altLang="en-US" sz="1600" b="0"/>
          </a:p>
          <a:p>
            <a:r>
              <a:rPr lang="en-US" altLang="en-US" sz="1600" b="0"/>
              <a:t>Where </a:t>
            </a:r>
            <a:r>
              <a:rPr lang="en-US" altLang="en-US" sz="1600" b="0">
                <a:solidFill>
                  <a:srgbClr val="FF3300"/>
                </a:solidFill>
              </a:rPr>
              <a:t>t is distance</a:t>
            </a:r>
            <a:r>
              <a:rPr lang="en-US" altLang="en-US" sz="1600" b="0"/>
              <a:t>.</a:t>
            </a:r>
          </a:p>
          <a:p>
            <a:endParaRPr lang="en-US" altLang="en-US" sz="1600" b="0"/>
          </a:p>
          <a:p>
            <a:r>
              <a:rPr lang="en-US" altLang="en-US" sz="1600" b="0"/>
              <a:t>What happens??</a:t>
            </a:r>
          </a:p>
          <a:p>
            <a:endParaRPr lang="en-US" altLang="en-US" sz="1600" b="0"/>
          </a:p>
          <a:p>
            <a:endParaRPr lang="en-US" altLang="en-US" sz="1600" b="0"/>
          </a:p>
          <a:p>
            <a:endParaRPr lang="en-US" altLang="en-US" sz="1400" b="0" i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1314" name="Group 2">
            <a:extLst>
              <a:ext uri="{FF2B5EF4-FFF2-40B4-BE49-F238E27FC236}">
                <a16:creationId xmlns:a16="http://schemas.microsoft.com/office/drawing/2014/main" id="{79E5BE0C-71BB-8AF1-B51E-2C9AC8E1546C}"/>
              </a:ext>
            </a:extLst>
          </p:cNvPr>
          <p:cNvGrpSpPr>
            <a:grpSpLocks/>
          </p:cNvGrpSpPr>
          <p:nvPr/>
        </p:nvGrpSpPr>
        <p:grpSpPr bwMode="auto">
          <a:xfrm>
            <a:off x="4603750" y="1600200"/>
            <a:ext cx="4379913" cy="5089525"/>
            <a:chOff x="2900" y="1008"/>
            <a:chExt cx="2759" cy="3206"/>
          </a:xfrm>
        </p:grpSpPr>
        <p:grpSp>
          <p:nvGrpSpPr>
            <p:cNvPr id="781315" name="Group 3">
              <a:extLst>
                <a:ext uri="{FF2B5EF4-FFF2-40B4-BE49-F238E27FC236}">
                  <a16:creationId xmlns:a16="http://schemas.microsoft.com/office/drawing/2014/main" id="{61E3CA72-5FB4-174B-79EA-680417B97D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585" y="1693"/>
              <a:ext cx="2074" cy="2074"/>
              <a:chOff x="1920" y="1968"/>
              <a:chExt cx="1056" cy="1056"/>
            </a:xfrm>
          </p:grpSpPr>
          <p:pic>
            <p:nvPicPr>
              <p:cNvPr id="781316" name="Picture 4">
                <a:extLst>
                  <a:ext uri="{FF2B5EF4-FFF2-40B4-BE49-F238E27FC236}">
                    <a16:creationId xmlns:a16="http://schemas.microsoft.com/office/drawing/2014/main" id="{216994FC-F08D-E2CD-5A7B-8A8BDB9071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0" y="1968"/>
                <a:ext cx="1056" cy="10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1317" name="Freeform 5">
                <a:extLst>
                  <a:ext uri="{FF2B5EF4-FFF2-40B4-BE49-F238E27FC236}">
                    <a16:creationId xmlns:a16="http://schemas.microsoft.com/office/drawing/2014/main" id="{3F0E96FC-7C84-8B1F-DFE3-3BFF61A298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60" y="2304"/>
                <a:ext cx="816" cy="720"/>
              </a:xfrm>
              <a:custGeom>
                <a:avLst/>
                <a:gdLst>
                  <a:gd name="T0" fmla="*/ 0 w 816"/>
                  <a:gd name="T1" fmla="*/ 720 h 720"/>
                  <a:gd name="T2" fmla="*/ 96 w 816"/>
                  <a:gd name="T3" fmla="*/ 384 h 720"/>
                  <a:gd name="T4" fmla="*/ 318 w 816"/>
                  <a:gd name="T5" fmla="*/ 191 h 720"/>
                  <a:gd name="T6" fmla="*/ 642 w 816"/>
                  <a:gd name="T7" fmla="*/ 75 h 720"/>
                  <a:gd name="T8" fmla="*/ 816 w 816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6" h="720">
                    <a:moveTo>
                      <a:pt x="0" y="720"/>
                    </a:moveTo>
                    <a:cubicBezTo>
                      <a:pt x="12" y="600"/>
                      <a:pt x="43" y="472"/>
                      <a:pt x="96" y="384"/>
                    </a:cubicBezTo>
                    <a:cubicBezTo>
                      <a:pt x="149" y="296"/>
                      <a:pt x="227" y="242"/>
                      <a:pt x="318" y="191"/>
                    </a:cubicBezTo>
                    <a:cubicBezTo>
                      <a:pt x="409" y="140"/>
                      <a:pt x="559" y="107"/>
                      <a:pt x="642" y="75"/>
                    </a:cubicBezTo>
                    <a:cubicBezTo>
                      <a:pt x="725" y="43"/>
                      <a:pt x="780" y="16"/>
                      <a:pt x="816" y="0"/>
                    </a:cubicBezTo>
                  </a:path>
                </a:pathLst>
              </a:custGeom>
              <a:noFill/>
              <a:ln w="28575" cap="flat" cmpd="sng">
                <a:solidFill>
                  <a:schemeClr val="hlink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781318" name="Object 6">
              <a:extLst>
                <a:ext uri="{FF2B5EF4-FFF2-40B4-BE49-F238E27FC236}">
                  <a16:creationId xmlns:a16="http://schemas.microsoft.com/office/drawing/2014/main" id="{E4A1230A-8887-D8A5-D9F6-DD308591DF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0" y="2507"/>
            <a:ext cx="679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96880" imgH="241200" progId="Equation.3">
                    <p:embed/>
                  </p:oleObj>
                </mc:Choice>
                <mc:Fallback>
                  <p:oleObj name="Equation" r:id="rId4" imgW="596880" imgH="241200" progId="Equation.3">
                    <p:embed/>
                    <p:pic>
                      <p:nvPicPr>
                        <p:cNvPr id="781318" name="Object 6">
                          <a:extLst>
                            <a:ext uri="{FF2B5EF4-FFF2-40B4-BE49-F238E27FC236}">
                              <a16:creationId xmlns:a16="http://schemas.microsoft.com/office/drawing/2014/main" id="{E4A1230A-8887-D8A5-D9F6-DD308591DF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0" y="2507"/>
                          <a:ext cx="679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1319" name="Oval 7">
              <a:extLst>
                <a:ext uri="{FF2B5EF4-FFF2-40B4-BE49-F238E27FC236}">
                  <a16:creationId xmlns:a16="http://schemas.microsoft.com/office/drawing/2014/main" id="{8097B491-718F-88C6-C6C9-69F5CC547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3" y="2902"/>
              <a:ext cx="57" cy="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81320" name="Group 8">
              <a:extLst>
                <a:ext uri="{FF2B5EF4-FFF2-40B4-BE49-F238E27FC236}">
                  <a16:creationId xmlns:a16="http://schemas.microsoft.com/office/drawing/2014/main" id="{C57EC2AD-C0DA-72E8-A07C-03AEF90720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9" y="3794"/>
              <a:ext cx="321" cy="58"/>
              <a:chOff x="4229" y="3794"/>
              <a:chExt cx="321" cy="58"/>
            </a:xfrm>
          </p:grpSpPr>
          <p:sp>
            <p:nvSpPr>
              <p:cNvPr id="781321" name="Line 9">
                <a:extLst>
                  <a:ext uri="{FF2B5EF4-FFF2-40B4-BE49-F238E27FC236}">
                    <a16:creationId xmlns:a16="http://schemas.microsoft.com/office/drawing/2014/main" id="{6FF13DF9-7BCB-C14A-940B-0903B66AD0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9" y="3824"/>
                <a:ext cx="32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1322" name="Oval 10">
                <a:extLst>
                  <a:ext uri="{FF2B5EF4-FFF2-40B4-BE49-F238E27FC236}">
                    <a16:creationId xmlns:a16="http://schemas.microsoft.com/office/drawing/2014/main" id="{2C35FA0D-35C0-85FA-BB35-7664E3EAFE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3" y="3794"/>
                <a:ext cx="57" cy="5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81323" name="Group 11">
              <a:extLst>
                <a:ext uri="{FF2B5EF4-FFF2-40B4-BE49-F238E27FC236}">
                  <a16:creationId xmlns:a16="http://schemas.microsoft.com/office/drawing/2014/main" id="{5540DC1B-9D74-5FB0-479A-4E95B2D30CE9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3360" y="2921"/>
              <a:ext cx="321" cy="58"/>
              <a:chOff x="2459" y="2776"/>
              <a:chExt cx="321" cy="58"/>
            </a:xfrm>
          </p:grpSpPr>
          <p:sp>
            <p:nvSpPr>
              <p:cNvPr id="781324" name="Line 12">
                <a:extLst>
                  <a:ext uri="{FF2B5EF4-FFF2-40B4-BE49-F238E27FC236}">
                    <a16:creationId xmlns:a16="http://schemas.microsoft.com/office/drawing/2014/main" id="{15D22492-A12E-6109-733B-8A06C3CD50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59" y="2806"/>
                <a:ext cx="321" cy="0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1325" name="Oval 13">
                <a:extLst>
                  <a:ext uri="{FF2B5EF4-FFF2-40B4-BE49-F238E27FC236}">
                    <a16:creationId xmlns:a16="http://schemas.microsoft.com/office/drawing/2014/main" id="{02438622-502D-5297-FC4A-3EAD1FAE6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3" y="2776"/>
                <a:ext cx="57" cy="58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781326" name="Object 14">
              <a:extLst>
                <a:ext uri="{FF2B5EF4-FFF2-40B4-BE49-F238E27FC236}">
                  <a16:creationId xmlns:a16="http://schemas.microsoft.com/office/drawing/2014/main" id="{8E73F901-165D-F178-B742-1FF129BFAF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81" y="3817"/>
            <a:ext cx="664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83920" imgH="215640" progId="Equation.3">
                    <p:embed/>
                  </p:oleObj>
                </mc:Choice>
                <mc:Fallback>
                  <p:oleObj name="Equation" r:id="rId6" imgW="583920" imgH="215640" progId="Equation.3">
                    <p:embed/>
                    <p:pic>
                      <p:nvPicPr>
                        <p:cNvPr id="781326" name="Object 14">
                          <a:extLst>
                            <a:ext uri="{FF2B5EF4-FFF2-40B4-BE49-F238E27FC236}">
                              <a16:creationId xmlns:a16="http://schemas.microsoft.com/office/drawing/2014/main" id="{8E73F901-165D-F178-B742-1FF129BFAF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1" y="3817"/>
                          <a:ext cx="664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1327" name="Object 15">
              <a:extLst>
                <a:ext uri="{FF2B5EF4-FFF2-40B4-BE49-F238E27FC236}">
                  <a16:creationId xmlns:a16="http://schemas.microsoft.com/office/drawing/2014/main" id="{72CC7BEF-5674-5D9B-F26B-F44A2D6BBF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9" y="3865"/>
            <a:ext cx="268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04560" imgH="393480" progId="Equation.3">
                    <p:embed/>
                  </p:oleObj>
                </mc:Choice>
                <mc:Fallback>
                  <p:oleObj name="Equation" r:id="rId8" imgW="304560" imgH="393480" progId="Equation.3">
                    <p:embed/>
                    <p:pic>
                      <p:nvPicPr>
                        <p:cNvPr id="781327" name="Object 15">
                          <a:extLst>
                            <a:ext uri="{FF2B5EF4-FFF2-40B4-BE49-F238E27FC236}">
                              <a16:creationId xmlns:a16="http://schemas.microsoft.com/office/drawing/2014/main" id="{72CC7BEF-5674-5D9B-F26B-F44A2D6BBF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9" y="3865"/>
                          <a:ext cx="268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1328" name="Object 16">
              <a:extLst>
                <a:ext uri="{FF2B5EF4-FFF2-40B4-BE49-F238E27FC236}">
                  <a16:creationId xmlns:a16="http://schemas.microsoft.com/office/drawing/2014/main" id="{5A11E120-8662-72A9-3BFE-4D274F4135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49" y="2773"/>
            <a:ext cx="290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30120" imgH="393480" progId="Equation.3">
                    <p:embed/>
                  </p:oleObj>
                </mc:Choice>
                <mc:Fallback>
                  <p:oleObj name="Equation" r:id="rId10" imgW="330120" imgH="393480" progId="Equation.3">
                    <p:embed/>
                    <p:pic>
                      <p:nvPicPr>
                        <p:cNvPr id="781328" name="Object 16">
                          <a:extLst>
                            <a:ext uri="{FF2B5EF4-FFF2-40B4-BE49-F238E27FC236}">
                              <a16:creationId xmlns:a16="http://schemas.microsoft.com/office/drawing/2014/main" id="{5A11E120-8662-72A9-3BFE-4D274F41358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9" y="2773"/>
                          <a:ext cx="290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1329" name="Line 17">
              <a:extLst>
                <a:ext uri="{FF2B5EF4-FFF2-40B4-BE49-F238E27FC236}">
                  <a16:creationId xmlns:a16="http://schemas.microsoft.com/office/drawing/2014/main" id="{64A9C7E7-3F2A-4AF8-ED61-74564FF3E7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5" y="1427"/>
              <a:ext cx="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1330" name="Line 18">
              <a:extLst>
                <a:ext uri="{FF2B5EF4-FFF2-40B4-BE49-F238E27FC236}">
                  <a16:creationId xmlns:a16="http://schemas.microsoft.com/office/drawing/2014/main" id="{D77F4D6B-3045-A63A-CCA8-F7616790E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9" y="1427"/>
              <a:ext cx="816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1331" name="Line 19">
              <a:extLst>
                <a:ext uri="{FF2B5EF4-FFF2-40B4-BE49-F238E27FC236}">
                  <a16:creationId xmlns:a16="http://schemas.microsoft.com/office/drawing/2014/main" id="{F2B4E551-10A4-7D05-3977-6AD7BC4F10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9" y="1693"/>
              <a:ext cx="6" cy="2074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1332" name="Line 20">
              <a:extLst>
                <a:ext uri="{FF2B5EF4-FFF2-40B4-BE49-F238E27FC236}">
                  <a16:creationId xmlns:a16="http://schemas.microsoft.com/office/drawing/2014/main" id="{6A74EC74-4E91-A4A8-9E4E-36395953A1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9" y="3767"/>
              <a:ext cx="20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81333" name="Group 21">
              <a:extLst>
                <a:ext uri="{FF2B5EF4-FFF2-40B4-BE49-F238E27FC236}">
                  <a16:creationId xmlns:a16="http://schemas.microsoft.com/office/drawing/2014/main" id="{0EE85150-B9B3-A66E-6CAC-F7EEA2C09E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9" y="1297"/>
              <a:ext cx="321" cy="58"/>
              <a:chOff x="4229" y="3794"/>
              <a:chExt cx="321" cy="58"/>
            </a:xfrm>
          </p:grpSpPr>
          <p:sp>
            <p:nvSpPr>
              <p:cNvPr id="781334" name="Line 22">
                <a:extLst>
                  <a:ext uri="{FF2B5EF4-FFF2-40B4-BE49-F238E27FC236}">
                    <a16:creationId xmlns:a16="http://schemas.microsoft.com/office/drawing/2014/main" id="{60027939-7560-E77B-8A08-C5E8DA6D42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9" y="3824"/>
                <a:ext cx="321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1335" name="Oval 23">
                <a:extLst>
                  <a:ext uri="{FF2B5EF4-FFF2-40B4-BE49-F238E27FC236}">
                    <a16:creationId xmlns:a16="http://schemas.microsoft.com/office/drawing/2014/main" id="{E2118EF5-136D-852E-4561-F8AB358E0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3" y="3794"/>
                <a:ext cx="57" cy="58"/>
              </a:xfrm>
              <a:prstGeom prst="ellipse">
                <a:avLst/>
              </a:prstGeom>
              <a:solidFill>
                <a:srgbClr val="FF00FF"/>
              </a:solidFill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781336" name="Object 24">
              <a:extLst>
                <a:ext uri="{FF2B5EF4-FFF2-40B4-BE49-F238E27FC236}">
                  <a16:creationId xmlns:a16="http://schemas.microsoft.com/office/drawing/2014/main" id="{7F650638-0D0C-9401-8788-980B5E576C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49" y="1008"/>
            <a:ext cx="20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7480" imgH="177480" progId="Equation.3">
                    <p:embed/>
                  </p:oleObj>
                </mc:Choice>
                <mc:Fallback>
                  <p:oleObj name="Equation" r:id="rId12" imgW="177480" imgH="177480" progId="Equation.3">
                    <p:embed/>
                    <p:pic>
                      <p:nvPicPr>
                        <p:cNvPr id="781336" name="Object 24">
                          <a:extLst>
                            <a:ext uri="{FF2B5EF4-FFF2-40B4-BE49-F238E27FC236}">
                              <a16:creationId xmlns:a16="http://schemas.microsoft.com/office/drawing/2014/main" id="{7F650638-0D0C-9401-8788-980B5E576C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9" y="1008"/>
                          <a:ext cx="201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1337" name="Object 25">
              <a:extLst>
                <a:ext uri="{FF2B5EF4-FFF2-40B4-BE49-F238E27FC236}">
                  <a16:creationId xmlns:a16="http://schemas.microsoft.com/office/drawing/2014/main" id="{0F3DD52C-9797-3697-DFF0-B87F221BB0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00" y="1496"/>
            <a:ext cx="100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88560" imgH="152280" progId="Equation.3">
                    <p:embed/>
                  </p:oleObj>
                </mc:Choice>
                <mc:Fallback>
                  <p:oleObj name="Equation" r:id="rId14" imgW="88560" imgH="152280" progId="Equation.3">
                    <p:embed/>
                    <p:pic>
                      <p:nvPicPr>
                        <p:cNvPr id="781337" name="Object 25">
                          <a:extLst>
                            <a:ext uri="{FF2B5EF4-FFF2-40B4-BE49-F238E27FC236}">
                              <a16:creationId xmlns:a16="http://schemas.microsoft.com/office/drawing/2014/main" id="{0F3DD52C-9797-3697-DFF0-B87F221BB0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0" y="1496"/>
                          <a:ext cx="100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81338" name="Rectangle 26">
            <a:extLst>
              <a:ext uri="{FF2B5EF4-FFF2-40B4-BE49-F238E27FC236}">
                <a16:creationId xmlns:a16="http://schemas.microsoft.com/office/drawing/2014/main" id="{722B69F7-8685-0793-B07A-DEAB5C51C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Parametric Curves</a:t>
            </a:r>
          </a:p>
        </p:txBody>
      </p:sp>
      <p:sp>
        <p:nvSpPr>
          <p:cNvPr id="781339" name="Rectangle 27">
            <a:extLst>
              <a:ext uri="{FF2B5EF4-FFF2-40B4-BE49-F238E27FC236}">
                <a16:creationId xmlns:a16="http://schemas.microsoft.com/office/drawing/2014/main" id="{E4CF0A3F-5DB3-ACF7-8949-25DB64F306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</p:txBody>
      </p:sp>
      <p:sp>
        <p:nvSpPr>
          <p:cNvPr id="781340" name="Text Box 28">
            <a:extLst>
              <a:ext uri="{FF2B5EF4-FFF2-40B4-BE49-F238E27FC236}">
                <a16:creationId xmlns:a16="http://schemas.microsoft.com/office/drawing/2014/main" id="{89243F58-B3AE-079C-2209-2DE6E56F6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1488" y="1325563"/>
            <a:ext cx="882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/>
              <a:t>“time”</a:t>
            </a:r>
          </a:p>
        </p:txBody>
      </p:sp>
      <p:sp>
        <p:nvSpPr>
          <p:cNvPr id="781341" name="Text Box 29">
            <a:extLst>
              <a:ext uri="{FF2B5EF4-FFF2-40B4-BE49-F238E27FC236}">
                <a16:creationId xmlns:a16="http://schemas.microsoft.com/office/drawing/2014/main" id="{D06B9892-DB09-7396-F226-3612C60AE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982663"/>
            <a:ext cx="5645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i="1"/>
              <a:t>“Driving a little car in time” analogy</a:t>
            </a:r>
          </a:p>
        </p:txBody>
      </p:sp>
      <p:pic>
        <p:nvPicPr>
          <p:cNvPr id="781342" name="Picture 30">
            <a:extLst>
              <a:ext uri="{FF2B5EF4-FFF2-40B4-BE49-F238E27FC236}">
                <a16:creationId xmlns:a16="http://schemas.microsoft.com/office/drawing/2014/main" id="{A1A21951-6872-97B6-ACCF-4C5DFCBC8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77214">
            <a:off x="6597650" y="4294188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1343" name="Line 31">
            <a:extLst>
              <a:ext uri="{FF2B5EF4-FFF2-40B4-BE49-F238E27FC236}">
                <a16:creationId xmlns:a16="http://schemas.microsoft.com/office/drawing/2014/main" id="{E623B659-CED0-BF67-E893-82AFE15B6B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10425" y="3548063"/>
            <a:ext cx="850900" cy="8255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1344" name="Text Box 32">
            <a:extLst>
              <a:ext uri="{FF2B5EF4-FFF2-40B4-BE49-F238E27FC236}">
                <a16:creationId xmlns:a16="http://schemas.microsoft.com/office/drawing/2014/main" id="{E6423040-284E-EFE9-478F-350E06ABB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075" y="3676650"/>
            <a:ext cx="1035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</a:rPr>
              <a:t>velocity</a:t>
            </a:r>
          </a:p>
        </p:txBody>
      </p:sp>
      <p:sp>
        <p:nvSpPr>
          <p:cNvPr id="781345" name="Line 33">
            <a:extLst>
              <a:ext uri="{FF2B5EF4-FFF2-40B4-BE49-F238E27FC236}">
                <a16:creationId xmlns:a16="http://schemas.microsoft.com/office/drawing/2014/main" id="{73EB758A-A062-AA90-F923-64E1A713B332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8200" y="4713288"/>
            <a:ext cx="1144588" cy="66675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1346" name="Text Box 34">
            <a:extLst>
              <a:ext uri="{FF2B5EF4-FFF2-40B4-BE49-F238E27FC236}">
                <a16:creationId xmlns:a16="http://schemas.microsoft.com/office/drawing/2014/main" id="{A0BDDD95-4CD4-E0E2-EEC4-63A642599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925" y="4843463"/>
            <a:ext cx="151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99FF"/>
                </a:solidFill>
              </a:rPr>
              <a:t>acceleration</a:t>
            </a:r>
          </a:p>
        </p:txBody>
      </p:sp>
      <p:sp>
        <p:nvSpPr>
          <p:cNvPr id="781358" name="AutoShape 46">
            <a:extLst>
              <a:ext uri="{FF2B5EF4-FFF2-40B4-BE49-F238E27FC236}">
                <a16:creationId xmlns:a16="http://schemas.microsoft.com/office/drawing/2014/main" id="{F2C2F713-B460-A25F-4A83-DBD5BFC05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825625"/>
            <a:ext cx="3808412" cy="2952750"/>
          </a:xfrm>
          <a:prstGeom prst="wedgeRectCallout">
            <a:avLst>
              <a:gd name="adj1" fmla="val 62046"/>
              <a:gd name="adj2" fmla="val 2940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1600" b="0"/>
              <a:t>We can imagine a </a:t>
            </a:r>
          </a:p>
          <a:p>
            <a:r>
              <a:rPr lang="en-US" altLang="en-US" sz="1600" b="0"/>
              <a:t>“special parameterization”</a:t>
            </a:r>
          </a:p>
          <a:p>
            <a:endParaRPr lang="en-US" altLang="en-US" sz="1600" b="0"/>
          </a:p>
          <a:p>
            <a:r>
              <a:rPr lang="en-US" altLang="en-US" sz="1600" b="0"/>
              <a:t>Where </a:t>
            </a:r>
            <a:r>
              <a:rPr lang="en-US" altLang="en-US" sz="1600" b="0">
                <a:solidFill>
                  <a:srgbClr val="FF3300"/>
                </a:solidFill>
              </a:rPr>
              <a:t>t is distance</a:t>
            </a:r>
            <a:r>
              <a:rPr lang="en-US" altLang="en-US" sz="1600" b="0"/>
              <a:t>.</a:t>
            </a:r>
          </a:p>
          <a:p>
            <a:endParaRPr lang="en-US" altLang="en-US" sz="1600" b="0"/>
          </a:p>
          <a:p>
            <a:r>
              <a:rPr lang="en-US" altLang="en-US" sz="1600" b="0"/>
              <a:t>What happens??</a:t>
            </a:r>
          </a:p>
          <a:p>
            <a:endParaRPr lang="en-US" altLang="en-US" sz="1600" b="0"/>
          </a:p>
          <a:p>
            <a:endParaRPr lang="en-US" altLang="en-US" sz="1600" b="0"/>
          </a:p>
          <a:p>
            <a:endParaRPr lang="en-US" altLang="en-US" sz="1400" b="0" i="1">
              <a:solidFill>
                <a:srgbClr val="FF0000"/>
              </a:solidFill>
            </a:endParaRPr>
          </a:p>
        </p:txBody>
      </p:sp>
      <p:graphicFrame>
        <p:nvGraphicFramePr>
          <p:cNvPr id="781359" name="Object 47">
            <a:extLst>
              <a:ext uri="{FF2B5EF4-FFF2-40B4-BE49-F238E27FC236}">
                <a16:creationId xmlns:a16="http://schemas.microsoft.com/office/drawing/2014/main" id="{852D977D-7AAE-CCD0-CD27-195ADD8769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3550" y="3390900"/>
          <a:ext cx="1633538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80800" imgH="939600" progId="Equation.3">
                  <p:embed/>
                </p:oleObj>
              </mc:Choice>
              <mc:Fallback>
                <p:oleObj name="Equation" r:id="rId17" imgW="1180800" imgH="939600" progId="Equation.3">
                  <p:embed/>
                  <p:pic>
                    <p:nvPicPr>
                      <p:cNvPr id="781359" name="Object 47">
                        <a:extLst>
                          <a:ext uri="{FF2B5EF4-FFF2-40B4-BE49-F238E27FC236}">
                            <a16:creationId xmlns:a16="http://schemas.microsoft.com/office/drawing/2014/main" id="{852D977D-7AAE-CCD0-CD27-195ADD8769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50" y="3390900"/>
                        <a:ext cx="1633538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>
            <a:extLst>
              <a:ext uri="{FF2B5EF4-FFF2-40B4-BE49-F238E27FC236}">
                <a16:creationId xmlns:a16="http://schemas.microsoft.com/office/drawing/2014/main" id="{BEC2D113-2121-1B70-536B-C30597FF44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Classic Case: The “unit speed” Helix in 3D</a:t>
            </a:r>
          </a:p>
        </p:txBody>
      </p:sp>
      <p:pic>
        <p:nvPicPr>
          <p:cNvPr id="520195" name="Picture 3">
            <a:extLst>
              <a:ext uri="{FF2B5EF4-FFF2-40B4-BE49-F238E27FC236}">
                <a16:creationId xmlns:a16="http://schemas.microsoft.com/office/drawing/2014/main" id="{A0B698E7-E508-BCF7-BA1D-D256B2265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725" y="1006475"/>
            <a:ext cx="4845050" cy="412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GT_LOCAL_DATA\academic\dissertation\math\mapping3d_1.tif">
            <a:extLst>
              <a:ext uri="{FF2B5EF4-FFF2-40B4-BE49-F238E27FC236}">
                <a16:creationId xmlns:a16="http://schemas.microsoft.com/office/drawing/2014/main" id="{21C0034A-5DB8-36D4-F907-D69E9FB2F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25" y="3921125"/>
            <a:ext cx="3063875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 descr="Image15">
            <a:extLst>
              <a:ext uri="{FF2B5EF4-FFF2-40B4-BE49-F238E27FC236}">
                <a16:creationId xmlns:a16="http://schemas.microsoft.com/office/drawing/2014/main" id="{FA123A6E-E0B1-E4FD-7BB9-3199B2D70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3443288"/>
            <a:ext cx="3116263" cy="298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Rectangle 4">
            <a:extLst>
              <a:ext uri="{FF2B5EF4-FFF2-40B4-BE49-F238E27FC236}">
                <a16:creationId xmlns:a16="http://schemas.microsoft.com/office/drawing/2014/main" id="{F435CE8B-3F53-7AA9-F916-F1CFF501D2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First form: in plane deformations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0FA6E974-C8A8-1650-7933-9D608282801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2A486E36-D69D-57FA-EDFE-DB5B1A238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429000"/>
            <a:ext cx="14287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9543F162-85BF-4D58-196C-83D704788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429000"/>
            <a:ext cx="14287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3D1618C5-2DA9-65B2-B45B-BF0303FBA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429000"/>
            <a:ext cx="14287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9" name="Rectangle 9">
            <a:extLst>
              <a:ext uri="{FF2B5EF4-FFF2-40B4-BE49-F238E27FC236}">
                <a16:creationId xmlns:a16="http://schemas.microsoft.com/office/drawing/2014/main" id="{28CEC69D-C486-9D86-7B36-15650BDE7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30" name="Line 10">
            <a:extLst>
              <a:ext uri="{FF2B5EF4-FFF2-40B4-BE49-F238E27FC236}">
                <a16:creationId xmlns:a16="http://schemas.microsoft.com/office/drawing/2014/main" id="{D7E503BF-3741-D67A-AACC-3BF048B3B3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975" y="6088063"/>
            <a:ext cx="1547813" cy="449262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1" name="Oval 11">
            <a:extLst>
              <a:ext uri="{FF2B5EF4-FFF2-40B4-BE49-F238E27FC236}">
                <a16:creationId xmlns:a16="http://schemas.microsoft.com/office/drawing/2014/main" id="{8F54972E-3468-D8F8-FC46-7471887B4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300" y="4910138"/>
            <a:ext cx="92075" cy="904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AA10BA92-2BE0-9AD4-1659-B19D149CB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483235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</a:t>
            </a:r>
          </a:p>
        </p:txBody>
      </p:sp>
      <p:sp>
        <p:nvSpPr>
          <p:cNvPr id="5133" name="Line 13">
            <a:extLst>
              <a:ext uri="{FF2B5EF4-FFF2-40B4-BE49-F238E27FC236}">
                <a16:creationId xmlns:a16="http://schemas.microsoft.com/office/drawing/2014/main" id="{DE6C6E09-73E4-23BA-F26C-3643DF9E4F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11975" y="4064000"/>
            <a:ext cx="774700" cy="869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4" name="Line 14">
            <a:extLst>
              <a:ext uri="{FF2B5EF4-FFF2-40B4-BE49-F238E27FC236}">
                <a16:creationId xmlns:a16="http://schemas.microsoft.com/office/drawing/2014/main" id="{C05A4531-2FE2-A655-FA56-607006011A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7850" y="4965700"/>
            <a:ext cx="1125538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5" name="Rectangle 15">
            <a:extLst>
              <a:ext uri="{FF2B5EF4-FFF2-40B4-BE49-F238E27FC236}">
                <a16:creationId xmlns:a16="http://schemas.microsoft.com/office/drawing/2014/main" id="{7B831E03-B323-D4BC-6346-5BFA39F77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3" y="5073650"/>
            <a:ext cx="3841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i="1">
                <a:latin typeface="Symbol" panose="05050102010706020507" pitchFamily="18" charset="2"/>
              </a:rPr>
              <a:t>s</a:t>
            </a:r>
            <a:r>
              <a:rPr lang="en-US" altLang="en-US" sz="1600" i="1" baseline="-25000"/>
              <a:t>u</a:t>
            </a:r>
            <a:endParaRPr lang="en-US" altLang="en-US" sz="1600" baseline="-25000"/>
          </a:p>
        </p:txBody>
      </p:sp>
      <p:sp>
        <p:nvSpPr>
          <p:cNvPr id="5136" name="Rectangle 16">
            <a:extLst>
              <a:ext uri="{FF2B5EF4-FFF2-40B4-BE49-F238E27FC236}">
                <a16:creationId xmlns:a16="http://schemas.microsoft.com/office/drawing/2014/main" id="{FE675C4E-3D59-B759-343B-EB8212D76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925" y="4451350"/>
            <a:ext cx="3762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i="1">
                <a:latin typeface="Symbol" panose="05050102010706020507" pitchFamily="18" charset="2"/>
              </a:rPr>
              <a:t>s</a:t>
            </a:r>
            <a:r>
              <a:rPr lang="en-US" altLang="en-US" sz="1600" i="1" baseline="-25000"/>
              <a:t>v</a:t>
            </a:r>
            <a:endParaRPr lang="en-US" altLang="en-US" sz="1600" baseline="-25000"/>
          </a:p>
        </p:txBody>
      </p:sp>
      <p:sp>
        <p:nvSpPr>
          <p:cNvPr id="5137" name="Line 17">
            <a:extLst>
              <a:ext uri="{FF2B5EF4-FFF2-40B4-BE49-F238E27FC236}">
                <a16:creationId xmlns:a16="http://schemas.microsoft.com/office/drawing/2014/main" id="{3451AE1D-DFC8-2AAB-2164-15EC6347E0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97650" y="3314700"/>
            <a:ext cx="293688" cy="1631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138" name="Object 18">
            <a:extLst>
              <a:ext uri="{FF2B5EF4-FFF2-40B4-BE49-F238E27FC236}">
                <a16:creationId xmlns:a16="http://schemas.microsoft.com/office/drawing/2014/main" id="{B280D255-C0D3-CCA5-E661-3B387833AF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6350" y="3736975"/>
          <a:ext cx="185738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80" imgH="164814" progId="Equation.3">
                  <p:embed/>
                </p:oleObj>
              </mc:Choice>
              <mc:Fallback>
                <p:oleObj name="Equation" r:id="rId6" imgW="126780" imgH="16481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0" y="3736975"/>
                        <a:ext cx="185738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9" name="Text Box 19">
            <a:extLst>
              <a:ext uri="{FF2B5EF4-FFF2-40B4-BE49-F238E27FC236}">
                <a16:creationId xmlns:a16="http://schemas.microsoft.com/office/drawing/2014/main" id="{2EB4F115-BB71-9439-BDBF-38CFA6A87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982663"/>
            <a:ext cx="56451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2270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227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</a:rPr>
              <a:t>We talked about “stretchiness” at a point</a:t>
            </a:r>
            <a:r>
              <a:rPr lang="en-US" altLang="en-US" sz="1800" b="1"/>
              <a:t>  </a:t>
            </a:r>
            <a:r>
              <a:rPr lang="en-US" altLang="en-US" sz="1800"/>
              <a:t>as the magnitude of the first derivatives of u and 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40" name="Oval 20">
            <a:extLst>
              <a:ext uri="{FF2B5EF4-FFF2-40B4-BE49-F238E27FC236}">
                <a16:creationId xmlns:a16="http://schemas.microsoft.com/office/drawing/2014/main" id="{990FF69F-1AB1-7418-96E4-BB0AA46B6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4608513"/>
            <a:ext cx="669925" cy="671512"/>
          </a:xfrm>
          <a:prstGeom prst="ellipse">
            <a:avLst/>
          </a:prstGeom>
          <a:solidFill>
            <a:schemeClr val="accent1">
              <a:alpha val="61960"/>
            </a:schemeClr>
          </a:solidFill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41" name="Line 21">
            <a:extLst>
              <a:ext uri="{FF2B5EF4-FFF2-40B4-BE49-F238E27FC236}">
                <a16:creationId xmlns:a16="http://schemas.microsoft.com/office/drawing/2014/main" id="{F3B5215A-BD72-763B-344B-4E86063D48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0625" y="5133975"/>
            <a:ext cx="304800" cy="2667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2" name="Oval 22">
            <a:extLst>
              <a:ext uri="{FF2B5EF4-FFF2-40B4-BE49-F238E27FC236}">
                <a16:creationId xmlns:a16="http://schemas.microsoft.com/office/drawing/2014/main" id="{DA517B99-C814-07E7-B1E0-0B94506C4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75" y="647700"/>
            <a:ext cx="2705100" cy="277495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5143" name="Group 34">
            <a:extLst>
              <a:ext uri="{FF2B5EF4-FFF2-40B4-BE49-F238E27FC236}">
                <a16:creationId xmlns:a16="http://schemas.microsoft.com/office/drawing/2014/main" id="{9371D18C-78BD-F6B7-54BA-45017638C0F2}"/>
              </a:ext>
            </a:extLst>
          </p:cNvPr>
          <p:cNvGrpSpPr>
            <a:grpSpLocks/>
          </p:cNvGrpSpPr>
          <p:nvPr/>
        </p:nvGrpSpPr>
        <p:grpSpPr bwMode="auto">
          <a:xfrm>
            <a:off x="1812925" y="2206625"/>
            <a:ext cx="1281113" cy="1236663"/>
            <a:chOff x="1382" y="901"/>
            <a:chExt cx="1108" cy="1088"/>
          </a:xfrm>
        </p:grpSpPr>
        <p:pic>
          <p:nvPicPr>
            <p:cNvPr id="5153" name="Picture 25">
              <a:extLst>
                <a:ext uri="{FF2B5EF4-FFF2-40B4-BE49-F238E27FC236}">
                  <a16:creationId xmlns:a16="http://schemas.microsoft.com/office/drawing/2014/main" id="{2352706F-68D8-D271-6833-5A68AFCCCD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5" y="901"/>
              <a:ext cx="1105" cy="1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54" name="Line 27">
              <a:extLst>
                <a:ext uri="{FF2B5EF4-FFF2-40B4-BE49-F238E27FC236}">
                  <a16:creationId xmlns:a16="http://schemas.microsoft.com/office/drawing/2014/main" id="{7716AE3D-13CB-28C8-59C7-22B1F8B7F5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2" y="1989"/>
              <a:ext cx="110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5" name="Line 28">
              <a:extLst>
                <a:ext uri="{FF2B5EF4-FFF2-40B4-BE49-F238E27FC236}">
                  <a16:creationId xmlns:a16="http://schemas.microsoft.com/office/drawing/2014/main" id="{AF0EF4B5-5FE2-A74C-7783-8B2CADABF2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2" y="901"/>
              <a:ext cx="3" cy="108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44" name="Rectangle 23">
            <a:extLst>
              <a:ext uri="{FF2B5EF4-FFF2-40B4-BE49-F238E27FC236}">
                <a16:creationId xmlns:a16="http://schemas.microsoft.com/office/drawing/2014/main" id="{586DE5A8-4DB0-46EA-B520-92C3E0AAD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3214688"/>
            <a:ext cx="457200" cy="457200"/>
          </a:xfrm>
          <a:prstGeom prst="rect">
            <a:avLst/>
          </a:prstGeom>
          <a:solidFill>
            <a:schemeClr val="accent1">
              <a:alpha val="67842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45" name="Line 35">
            <a:extLst>
              <a:ext uri="{FF2B5EF4-FFF2-40B4-BE49-F238E27FC236}">
                <a16:creationId xmlns:a16="http://schemas.microsoft.com/office/drawing/2014/main" id="{CEA98896-8C04-16CD-2A15-075DCF2C44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36925" y="2332038"/>
            <a:ext cx="3019425" cy="411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6" name="Line 36">
            <a:extLst>
              <a:ext uri="{FF2B5EF4-FFF2-40B4-BE49-F238E27FC236}">
                <a16:creationId xmlns:a16="http://schemas.microsoft.com/office/drawing/2014/main" id="{CD90ACD0-E764-19CF-18AF-32CB3E1EFE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0563" y="3443288"/>
            <a:ext cx="146050" cy="11652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7" name="Rectangle 37">
            <a:extLst>
              <a:ext uri="{FF2B5EF4-FFF2-40B4-BE49-F238E27FC236}">
                <a16:creationId xmlns:a16="http://schemas.microsoft.com/office/drawing/2014/main" id="{D0513A45-0188-F13E-5A0D-13FFABCDA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850" y="1920875"/>
            <a:ext cx="1200150" cy="457200"/>
          </a:xfrm>
          <a:prstGeom prst="rect">
            <a:avLst/>
          </a:prstGeom>
          <a:solidFill>
            <a:schemeClr val="accent1">
              <a:alpha val="67842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48" name="Line 38">
            <a:extLst>
              <a:ext uri="{FF2B5EF4-FFF2-40B4-BE49-F238E27FC236}">
                <a16:creationId xmlns:a16="http://schemas.microsoft.com/office/drawing/2014/main" id="{6094A1F6-9C9B-4233-1029-538FC77106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0925" y="1143000"/>
            <a:ext cx="0" cy="1030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9" name="Line 39">
            <a:extLst>
              <a:ext uri="{FF2B5EF4-FFF2-40B4-BE49-F238E27FC236}">
                <a16:creationId xmlns:a16="http://schemas.microsoft.com/office/drawing/2014/main" id="{B6CAF315-30B6-431A-4DD0-35C46D6421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0925" y="216693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0" name="Text Box 40">
            <a:extLst>
              <a:ext uri="{FF2B5EF4-FFF2-40B4-BE49-F238E27FC236}">
                <a16:creationId xmlns:a16="http://schemas.microsoft.com/office/drawing/2014/main" id="{02BCD2EB-EC5E-C70E-3786-1ED32DDB2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4538" y="2474913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in </a:t>
            </a:r>
            <a:r>
              <a:rPr lang="en-US" altLang="en-US" sz="1800" b="1" i="1"/>
              <a:t>u</a:t>
            </a:r>
          </a:p>
        </p:txBody>
      </p:sp>
      <p:graphicFrame>
        <p:nvGraphicFramePr>
          <p:cNvPr id="5151" name="Object 41">
            <a:extLst>
              <a:ext uri="{FF2B5EF4-FFF2-40B4-BE49-F238E27FC236}">
                <a16:creationId xmlns:a16="http://schemas.microsoft.com/office/drawing/2014/main" id="{CC7CCA77-8947-D3F8-29E4-9A77CC02BE3C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223125" y="785813"/>
          <a:ext cx="296863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3024" imgH="215713" progId="Equation.3">
                  <p:embed/>
                </p:oleObj>
              </mc:Choice>
              <mc:Fallback>
                <p:oleObj name="Equation" r:id="rId9" imgW="203024" imgH="215713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25" y="785813"/>
                        <a:ext cx="296863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2" name="Object 43">
            <a:extLst>
              <a:ext uri="{FF2B5EF4-FFF2-40B4-BE49-F238E27FC236}">
                <a16:creationId xmlns:a16="http://schemas.microsoft.com/office/drawing/2014/main" id="{E5EABE31-CFBE-487A-C03B-B951CE5A21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21675" y="2011363"/>
          <a:ext cx="29686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3112" imgH="228501" progId="Equation.3">
                  <p:embed/>
                </p:oleObj>
              </mc:Choice>
              <mc:Fallback>
                <p:oleObj name="Equation" r:id="rId11" imgW="203112" imgH="228501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1675" y="2011363"/>
                        <a:ext cx="296863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GT_LOCAL_DATA\academic\dissertation\math\mapping3d_1.tif">
            <a:extLst>
              <a:ext uri="{FF2B5EF4-FFF2-40B4-BE49-F238E27FC236}">
                <a16:creationId xmlns:a16="http://schemas.microsoft.com/office/drawing/2014/main" id="{488A2A3E-057E-37CF-A6B2-238227B3A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25" y="3921125"/>
            <a:ext cx="3063875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 descr="Image15">
            <a:extLst>
              <a:ext uri="{FF2B5EF4-FFF2-40B4-BE49-F238E27FC236}">
                <a16:creationId xmlns:a16="http://schemas.microsoft.com/office/drawing/2014/main" id="{8F83475C-395E-E092-6939-5B752623F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3443288"/>
            <a:ext cx="3116263" cy="298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Rectangle 4">
            <a:extLst>
              <a:ext uri="{FF2B5EF4-FFF2-40B4-BE49-F238E27FC236}">
                <a16:creationId xmlns:a16="http://schemas.microsoft.com/office/drawing/2014/main" id="{957D177E-3F19-A4C1-810F-0707C0FE5C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First form: in plane deformations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4CC21537-5B7C-ED83-BD05-FAA07BFE223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0E1BE895-B09A-918A-81E6-A75DB8438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429000"/>
            <a:ext cx="14287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0CDB2C89-06B6-9CD4-2A60-9E46FA75E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429000"/>
            <a:ext cx="14287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34B2C276-402C-E792-173C-CF775190B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429000"/>
            <a:ext cx="14287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77" name="Rectangle 9">
            <a:extLst>
              <a:ext uri="{FF2B5EF4-FFF2-40B4-BE49-F238E27FC236}">
                <a16:creationId xmlns:a16="http://schemas.microsoft.com/office/drawing/2014/main" id="{BD5C2E52-90CE-33F8-85BB-CE0D53AD9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78" name="Line 10">
            <a:extLst>
              <a:ext uri="{FF2B5EF4-FFF2-40B4-BE49-F238E27FC236}">
                <a16:creationId xmlns:a16="http://schemas.microsoft.com/office/drawing/2014/main" id="{7FD6F8B8-FCB8-EA12-7F57-9F069644EB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975" y="6088063"/>
            <a:ext cx="1547813" cy="449262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9" name="Oval 11">
            <a:extLst>
              <a:ext uri="{FF2B5EF4-FFF2-40B4-BE49-F238E27FC236}">
                <a16:creationId xmlns:a16="http://schemas.microsoft.com/office/drawing/2014/main" id="{F79510ED-72D1-A886-B4DA-F5A83E7BA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300" y="4910138"/>
            <a:ext cx="92075" cy="904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80" name="Rectangle 12">
            <a:extLst>
              <a:ext uri="{FF2B5EF4-FFF2-40B4-BE49-F238E27FC236}">
                <a16:creationId xmlns:a16="http://schemas.microsoft.com/office/drawing/2014/main" id="{D4C14EDB-E61D-B258-DCBF-666EA050F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483235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</a:t>
            </a:r>
          </a:p>
        </p:txBody>
      </p:sp>
      <p:sp>
        <p:nvSpPr>
          <p:cNvPr id="7181" name="Line 13">
            <a:extLst>
              <a:ext uri="{FF2B5EF4-FFF2-40B4-BE49-F238E27FC236}">
                <a16:creationId xmlns:a16="http://schemas.microsoft.com/office/drawing/2014/main" id="{3D76614E-5D23-DD3B-C9F4-4DE0C89B04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11975" y="4064000"/>
            <a:ext cx="774700" cy="869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2" name="Line 14">
            <a:extLst>
              <a:ext uri="{FF2B5EF4-FFF2-40B4-BE49-F238E27FC236}">
                <a16:creationId xmlns:a16="http://schemas.microsoft.com/office/drawing/2014/main" id="{C1BAF5DE-8C01-D675-8506-E9B7BE9370D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7850" y="4965700"/>
            <a:ext cx="1125538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3" name="Rectangle 15">
            <a:extLst>
              <a:ext uri="{FF2B5EF4-FFF2-40B4-BE49-F238E27FC236}">
                <a16:creationId xmlns:a16="http://schemas.microsoft.com/office/drawing/2014/main" id="{D51C3EA8-B43A-3C2E-B162-DC455F55C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3" y="5073650"/>
            <a:ext cx="3841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i="1">
                <a:latin typeface="Symbol" panose="05050102010706020507" pitchFamily="18" charset="2"/>
              </a:rPr>
              <a:t>s</a:t>
            </a:r>
            <a:r>
              <a:rPr lang="en-US" altLang="en-US" sz="1600" i="1" baseline="-25000"/>
              <a:t>u</a:t>
            </a:r>
            <a:endParaRPr lang="en-US" altLang="en-US" sz="1600" baseline="-25000"/>
          </a:p>
        </p:txBody>
      </p:sp>
      <p:sp>
        <p:nvSpPr>
          <p:cNvPr id="7184" name="Rectangle 16">
            <a:extLst>
              <a:ext uri="{FF2B5EF4-FFF2-40B4-BE49-F238E27FC236}">
                <a16:creationId xmlns:a16="http://schemas.microsoft.com/office/drawing/2014/main" id="{849C4727-35CA-579C-91C9-072ADEE79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925" y="4451350"/>
            <a:ext cx="3762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i="1">
                <a:latin typeface="Symbol" panose="05050102010706020507" pitchFamily="18" charset="2"/>
              </a:rPr>
              <a:t>s</a:t>
            </a:r>
            <a:r>
              <a:rPr lang="en-US" altLang="en-US" sz="1600" i="1" baseline="-25000"/>
              <a:t>v</a:t>
            </a:r>
            <a:endParaRPr lang="en-US" altLang="en-US" sz="1600" baseline="-25000"/>
          </a:p>
        </p:txBody>
      </p:sp>
      <p:sp>
        <p:nvSpPr>
          <p:cNvPr id="7185" name="Line 17">
            <a:extLst>
              <a:ext uri="{FF2B5EF4-FFF2-40B4-BE49-F238E27FC236}">
                <a16:creationId xmlns:a16="http://schemas.microsoft.com/office/drawing/2014/main" id="{0CC8E6B4-E7CF-6701-21FE-620359BCB22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97650" y="3314700"/>
            <a:ext cx="293688" cy="1631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186" name="Object 18">
            <a:extLst>
              <a:ext uri="{FF2B5EF4-FFF2-40B4-BE49-F238E27FC236}">
                <a16:creationId xmlns:a16="http://schemas.microsoft.com/office/drawing/2014/main" id="{59B23120-B044-4522-751F-65CB19658D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6350" y="3736975"/>
          <a:ext cx="185738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80" imgH="164814" progId="Equation.3">
                  <p:embed/>
                </p:oleObj>
              </mc:Choice>
              <mc:Fallback>
                <p:oleObj name="Equation" r:id="rId6" imgW="126780" imgH="16481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0" y="3736975"/>
                        <a:ext cx="185738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7" name="Text Box 19">
            <a:extLst>
              <a:ext uri="{FF2B5EF4-FFF2-40B4-BE49-F238E27FC236}">
                <a16:creationId xmlns:a16="http://schemas.microsoft.com/office/drawing/2014/main" id="{AF660D1C-7B3D-A1F7-A19F-754E15C2F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982663"/>
            <a:ext cx="56451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2270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227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</a:rPr>
              <a:t>We talked about “stretchiness” at a point</a:t>
            </a:r>
            <a:r>
              <a:rPr lang="en-US" altLang="en-US" sz="1800" b="1"/>
              <a:t>  </a:t>
            </a:r>
            <a:r>
              <a:rPr lang="en-US" altLang="en-US" sz="1800"/>
              <a:t>as the magnitude of the first derivatives of u and 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88" name="Oval 20">
            <a:extLst>
              <a:ext uri="{FF2B5EF4-FFF2-40B4-BE49-F238E27FC236}">
                <a16:creationId xmlns:a16="http://schemas.microsoft.com/office/drawing/2014/main" id="{F92D4384-0256-A1FD-2C17-C839E9CE7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4608513"/>
            <a:ext cx="669925" cy="671512"/>
          </a:xfrm>
          <a:prstGeom prst="ellipse">
            <a:avLst/>
          </a:prstGeom>
          <a:solidFill>
            <a:schemeClr val="accent1">
              <a:alpha val="61960"/>
            </a:schemeClr>
          </a:solidFill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89" name="Line 21">
            <a:extLst>
              <a:ext uri="{FF2B5EF4-FFF2-40B4-BE49-F238E27FC236}">
                <a16:creationId xmlns:a16="http://schemas.microsoft.com/office/drawing/2014/main" id="{96061962-4413-F607-C102-5FAAF69FF6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0625" y="5133975"/>
            <a:ext cx="304800" cy="2667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0" name="Oval 22">
            <a:extLst>
              <a:ext uri="{FF2B5EF4-FFF2-40B4-BE49-F238E27FC236}">
                <a16:creationId xmlns:a16="http://schemas.microsoft.com/office/drawing/2014/main" id="{73DEDC6D-7794-0FEF-4059-00F8C910D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75" y="647700"/>
            <a:ext cx="2705100" cy="277495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7191" name="Group 23">
            <a:extLst>
              <a:ext uri="{FF2B5EF4-FFF2-40B4-BE49-F238E27FC236}">
                <a16:creationId xmlns:a16="http://schemas.microsoft.com/office/drawing/2014/main" id="{8692F9B2-E337-372C-465F-6EB512E770AD}"/>
              </a:ext>
            </a:extLst>
          </p:cNvPr>
          <p:cNvGrpSpPr>
            <a:grpSpLocks/>
          </p:cNvGrpSpPr>
          <p:nvPr/>
        </p:nvGrpSpPr>
        <p:grpSpPr bwMode="auto">
          <a:xfrm>
            <a:off x="1812925" y="2206625"/>
            <a:ext cx="1281113" cy="1236663"/>
            <a:chOff x="1382" y="901"/>
            <a:chExt cx="1108" cy="1088"/>
          </a:xfrm>
        </p:grpSpPr>
        <p:pic>
          <p:nvPicPr>
            <p:cNvPr id="7201" name="Picture 24">
              <a:extLst>
                <a:ext uri="{FF2B5EF4-FFF2-40B4-BE49-F238E27FC236}">
                  <a16:creationId xmlns:a16="http://schemas.microsoft.com/office/drawing/2014/main" id="{E30A271A-3BF6-0A24-C026-3C2AB899E8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5" y="901"/>
              <a:ext cx="1105" cy="1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02" name="Line 25">
              <a:extLst>
                <a:ext uri="{FF2B5EF4-FFF2-40B4-BE49-F238E27FC236}">
                  <a16:creationId xmlns:a16="http://schemas.microsoft.com/office/drawing/2014/main" id="{5E554A98-DE9B-3924-79CF-F3FF7896A7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2" y="1989"/>
              <a:ext cx="110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3" name="Line 26">
              <a:extLst>
                <a:ext uri="{FF2B5EF4-FFF2-40B4-BE49-F238E27FC236}">
                  <a16:creationId xmlns:a16="http://schemas.microsoft.com/office/drawing/2014/main" id="{0E2A5B39-F70D-55EE-F980-4449E9DD6E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2" y="901"/>
              <a:ext cx="3" cy="108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92" name="Rectangle 27">
            <a:extLst>
              <a:ext uri="{FF2B5EF4-FFF2-40B4-BE49-F238E27FC236}">
                <a16:creationId xmlns:a16="http://schemas.microsoft.com/office/drawing/2014/main" id="{393ABD8F-A0B2-D2A6-222B-8B09FE6BF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3214688"/>
            <a:ext cx="457200" cy="457200"/>
          </a:xfrm>
          <a:prstGeom prst="rect">
            <a:avLst/>
          </a:prstGeom>
          <a:solidFill>
            <a:schemeClr val="accent1">
              <a:alpha val="67842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93" name="Line 28">
            <a:extLst>
              <a:ext uri="{FF2B5EF4-FFF2-40B4-BE49-F238E27FC236}">
                <a16:creationId xmlns:a16="http://schemas.microsoft.com/office/drawing/2014/main" id="{E7DD2DA2-6049-A7A1-B6F2-64CC4B0C31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36925" y="2332038"/>
            <a:ext cx="3019425" cy="411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4" name="Line 29">
            <a:extLst>
              <a:ext uri="{FF2B5EF4-FFF2-40B4-BE49-F238E27FC236}">
                <a16:creationId xmlns:a16="http://schemas.microsoft.com/office/drawing/2014/main" id="{04C02FAB-C002-01FE-5B11-6CCE4E9227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0563" y="3443288"/>
            <a:ext cx="146050" cy="11652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5" name="Rectangle 30">
            <a:extLst>
              <a:ext uri="{FF2B5EF4-FFF2-40B4-BE49-F238E27FC236}">
                <a16:creationId xmlns:a16="http://schemas.microsoft.com/office/drawing/2014/main" id="{C9E7BACC-A8CD-0AE0-ECC5-76DFB0C03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0100" y="1463675"/>
            <a:ext cx="485775" cy="1377950"/>
          </a:xfrm>
          <a:prstGeom prst="rect">
            <a:avLst/>
          </a:prstGeom>
          <a:solidFill>
            <a:schemeClr val="accent1">
              <a:alpha val="67842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96" name="Line 31">
            <a:extLst>
              <a:ext uri="{FF2B5EF4-FFF2-40B4-BE49-F238E27FC236}">
                <a16:creationId xmlns:a16="http://schemas.microsoft.com/office/drawing/2014/main" id="{6F237D67-F1A5-73E2-CE3E-D88BB7FD2B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0925" y="1143000"/>
            <a:ext cx="0" cy="1030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7" name="Line 32">
            <a:extLst>
              <a:ext uri="{FF2B5EF4-FFF2-40B4-BE49-F238E27FC236}">
                <a16:creationId xmlns:a16="http://schemas.microsoft.com/office/drawing/2014/main" id="{7E39E359-0DC2-3FDF-95C1-6DC8A9A8E7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0925" y="216693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8" name="Text Box 33">
            <a:extLst>
              <a:ext uri="{FF2B5EF4-FFF2-40B4-BE49-F238E27FC236}">
                <a16:creationId xmlns:a16="http://schemas.microsoft.com/office/drawing/2014/main" id="{20DABD70-53C8-3A7E-9766-0F03A3BB4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4538" y="2474913"/>
            <a:ext cx="577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in </a:t>
            </a:r>
            <a:r>
              <a:rPr lang="en-US" altLang="en-US" sz="1800" b="1" i="1"/>
              <a:t>v</a:t>
            </a:r>
          </a:p>
        </p:txBody>
      </p:sp>
      <p:graphicFrame>
        <p:nvGraphicFramePr>
          <p:cNvPr id="7199" name="Object 34">
            <a:extLst>
              <a:ext uri="{FF2B5EF4-FFF2-40B4-BE49-F238E27FC236}">
                <a16:creationId xmlns:a16="http://schemas.microsoft.com/office/drawing/2014/main" id="{C548571A-CB14-E2FD-3988-372F68995E88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223125" y="785813"/>
          <a:ext cx="296863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3024" imgH="215713" progId="Equation.3">
                  <p:embed/>
                </p:oleObj>
              </mc:Choice>
              <mc:Fallback>
                <p:oleObj name="Equation" r:id="rId9" imgW="203024" imgH="215713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25" y="785813"/>
                        <a:ext cx="296863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0" name="Object 35">
            <a:extLst>
              <a:ext uri="{FF2B5EF4-FFF2-40B4-BE49-F238E27FC236}">
                <a16:creationId xmlns:a16="http://schemas.microsoft.com/office/drawing/2014/main" id="{4791FB7E-B509-0FCD-0957-1296731514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21675" y="2011363"/>
          <a:ext cx="29686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3112" imgH="228501" progId="Equation.3">
                  <p:embed/>
                </p:oleObj>
              </mc:Choice>
              <mc:Fallback>
                <p:oleObj name="Equation" r:id="rId11" imgW="203112" imgH="228501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1675" y="2011363"/>
                        <a:ext cx="296863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GT_LOCAL_DATA\academic\dissertation\math\mapping3d_1.tif">
            <a:extLst>
              <a:ext uri="{FF2B5EF4-FFF2-40B4-BE49-F238E27FC236}">
                <a16:creationId xmlns:a16="http://schemas.microsoft.com/office/drawing/2014/main" id="{D3D14F62-7DE0-FAD7-500A-265107D07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25" y="3921125"/>
            <a:ext cx="3063875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 descr="Image15">
            <a:extLst>
              <a:ext uri="{FF2B5EF4-FFF2-40B4-BE49-F238E27FC236}">
                <a16:creationId xmlns:a16="http://schemas.microsoft.com/office/drawing/2014/main" id="{6A0CAED5-6B55-8D2B-F959-DE7B1431B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3443288"/>
            <a:ext cx="3116263" cy="298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Rectangle 4">
            <a:extLst>
              <a:ext uri="{FF2B5EF4-FFF2-40B4-BE49-F238E27FC236}">
                <a16:creationId xmlns:a16="http://schemas.microsoft.com/office/drawing/2014/main" id="{CB10D579-6F0A-9409-C0D5-2A93F52D92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First form: in plane deformations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6D6B2A7D-89B1-F671-6976-2D39138CE39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90821593-186A-BD7F-19C7-E12ACB1C2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429000"/>
            <a:ext cx="14287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5CDAEA9A-FC1D-2230-76E9-249A61A14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429000"/>
            <a:ext cx="14287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4" name="Rectangle 8">
            <a:extLst>
              <a:ext uri="{FF2B5EF4-FFF2-40B4-BE49-F238E27FC236}">
                <a16:creationId xmlns:a16="http://schemas.microsoft.com/office/drawing/2014/main" id="{0F0F62A0-B17F-8C00-7E7D-E6A5DB4C1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429000"/>
            <a:ext cx="14287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5" name="Rectangle 9">
            <a:extLst>
              <a:ext uri="{FF2B5EF4-FFF2-40B4-BE49-F238E27FC236}">
                <a16:creationId xmlns:a16="http://schemas.microsoft.com/office/drawing/2014/main" id="{C12C7048-9975-A00A-97EC-05D1C9766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6" name="Line 10">
            <a:extLst>
              <a:ext uri="{FF2B5EF4-FFF2-40B4-BE49-F238E27FC236}">
                <a16:creationId xmlns:a16="http://schemas.microsoft.com/office/drawing/2014/main" id="{328CB193-1E2B-CDD8-071E-7C5AF78FBD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975" y="6088063"/>
            <a:ext cx="1547813" cy="449262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7" name="Oval 11">
            <a:extLst>
              <a:ext uri="{FF2B5EF4-FFF2-40B4-BE49-F238E27FC236}">
                <a16:creationId xmlns:a16="http://schemas.microsoft.com/office/drawing/2014/main" id="{DC69769C-15B6-2933-1AA9-8208851C6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300" y="4910138"/>
            <a:ext cx="92075" cy="904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82E28B63-10C4-D338-8588-418A540EE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483235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</a:t>
            </a:r>
          </a:p>
        </p:txBody>
      </p:sp>
      <p:sp>
        <p:nvSpPr>
          <p:cNvPr id="9229" name="Line 13">
            <a:extLst>
              <a:ext uri="{FF2B5EF4-FFF2-40B4-BE49-F238E27FC236}">
                <a16:creationId xmlns:a16="http://schemas.microsoft.com/office/drawing/2014/main" id="{C27E0C83-07EF-E738-0E11-0755DF0B44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11975" y="4064000"/>
            <a:ext cx="774700" cy="869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0" name="Line 14">
            <a:extLst>
              <a:ext uri="{FF2B5EF4-FFF2-40B4-BE49-F238E27FC236}">
                <a16:creationId xmlns:a16="http://schemas.microsoft.com/office/drawing/2014/main" id="{C4B407EF-22ED-7BA1-4C19-8DC2E412FF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7850" y="4965700"/>
            <a:ext cx="1125538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1" name="Rectangle 15">
            <a:extLst>
              <a:ext uri="{FF2B5EF4-FFF2-40B4-BE49-F238E27FC236}">
                <a16:creationId xmlns:a16="http://schemas.microsoft.com/office/drawing/2014/main" id="{312DEFB6-A2BB-D1F5-5CED-6BACA9D3D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3" y="5073650"/>
            <a:ext cx="3841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i="1">
                <a:latin typeface="Symbol" panose="05050102010706020507" pitchFamily="18" charset="2"/>
              </a:rPr>
              <a:t>s</a:t>
            </a:r>
            <a:r>
              <a:rPr lang="en-US" altLang="en-US" sz="1600" i="1" baseline="-25000"/>
              <a:t>u</a:t>
            </a:r>
            <a:endParaRPr lang="en-US" altLang="en-US" sz="1600" baseline="-25000"/>
          </a:p>
        </p:txBody>
      </p:sp>
      <p:sp>
        <p:nvSpPr>
          <p:cNvPr id="9232" name="Rectangle 16">
            <a:extLst>
              <a:ext uri="{FF2B5EF4-FFF2-40B4-BE49-F238E27FC236}">
                <a16:creationId xmlns:a16="http://schemas.microsoft.com/office/drawing/2014/main" id="{62CF1523-8797-09F7-6635-A45F4A4E0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925" y="4451350"/>
            <a:ext cx="3762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i="1">
                <a:latin typeface="Symbol" panose="05050102010706020507" pitchFamily="18" charset="2"/>
              </a:rPr>
              <a:t>s</a:t>
            </a:r>
            <a:r>
              <a:rPr lang="en-US" altLang="en-US" sz="1600" i="1" baseline="-25000"/>
              <a:t>v</a:t>
            </a:r>
            <a:endParaRPr lang="en-US" altLang="en-US" sz="1600" baseline="-25000"/>
          </a:p>
        </p:txBody>
      </p:sp>
      <p:sp>
        <p:nvSpPr>
          <p:cNvPr id="9233" name="Line 17">
            <a:extLst>
              <a:ext uri="{FF2B5EF4-FFF2-40B4-BE49-F238E27FC236}">
                <a16:creationId xmlns:a16="http://schemas.microsoft.com/office/drawing/2014/main" id="{DD685F40-B37F-529B-899F-67CE3387135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97650" y="3314700"/>
            <a:ext cx="293688" cy="1631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9234" name="Object 18">
            <a:extLst>
              <a:ext uri="{FF2B5EF4-FFF2-40B4-BE49-F238E27FC236}">
                <a16:creationId xmlns:a16="http://schemas.microsoft.com/office/drawing/2014/main" id="{DAE0FA40-66F9-2B2D-3FC5-566313729D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6350" y="3736975"/>
          <a:ext cx="185738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80" imgH="164814" progId="Equation.3">
                  <p:embed/>
                </p:oleObj>
              </mc:Choice>
              <mc:Fallback>
                <p:oleObj name="Equation" r:id="rId6" imgW="126780" imgH="16481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0" y="3736975"/>
                        <a:ext cx="185738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5" name="Text Box 19">
            <a:extLst>
              <a:ext uri="{FF2B5EF4-FFF2-40B4-BE49-F238E27FC236}">
                <a16:creationId xmlns:a16="http://schemas.microsoft.com/office/drawing/2014/main" id="{0EA72977-3291-D4BC-C8F5-3B55B8B5F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982663"/>
            <a:ext cx="56451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2270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227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</a:rPr>
              <a:t>We talked about “stretchiness” at a point</a:t>
            </a:r>
            <a:r>
              <a:rPr lang="en-US" altLang="en-US" sz="1800" b="1"/>
              <a:t>  </a:t>
            </a:r>
            <a:r>
              <a:rPr lang="en-US" altLang="en-US" sz="1800"/>
              <a:t>as the magnitude of the first derivatives of u and 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36" name="Oval 20">
            <a:extLst>
              <a:ext uri="{FF2B5EF4-FFF2-40B4-BE49-F238E27FC236}">
                <a16:creationId xmlns:a16="http://schemas.microsoft.com/office/drawing/2014/main" id="{9AF13650-53C8-1D1A-02E6-63C588650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4608513"/>
            <a:ext cx="669925" cy="671512"/>
          </a:xfrm>
          <a:prstGeom prst="ellipse">
            <a:avLst/>
          </a:prstGeom>
          <a:solidFill>
            <a:schemeClr val="accent1">
              <a:alpha val="61960"/>
            </a:schemeClr>
          </a:solidFill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37" name="Line 21">
            <a:extLst>
              <a:ext uri="{FF2B5EF4-FFF2-40B4-BE49-F238E27FC236}">
                <a16:creationId xmlns:a16="http://schemas.microsoft.com/office/drawing/2014/main" id="{CE475873-0CA0-7256-1E68-CC608C8034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0625" y="5133975"/>
            <a:ext cx="304800" cy="2667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8" name="Oval 22">
            <a:extLst>
              <a:ext uri="{FF2B5EF4-FFF2-40B4-BE49-F238E27FC236}">
                <a16:creationId xmlns:a16="http://schemas.microsoft.com/office/drawing/2014/main" id="{9EE7DE47-240C-BA5D-FBF2-4B4A12E10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75" y="647700"/>
            <a:ext cx="2705100" cy="277495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9239" name="Group 23">
            <a:extLst>
              <a:ext uri="{FF2B5EF4-FFF2-40B4-BE49-F238E27FC236}">
                <a16:creationId xmlns:a16="http://schemas.microsoft.com/office/drawing/2014/main" id="{B11B3F8C-33C3-A973-BD82-CD0D0F722E25}"/>
              </a:ext>
            </a:extLst>
          </p:cNvPr>
          <p:cNvGrpSpPr>
            <a:grpSpLocks/>
          </p:cNvGrpSpPr>
          <p:nvPr/>
        </p:nvGrpSpPr>
        <p:grpSpPr bwMode="auto">
          <a:xfrm>
            <a:off x="1812925" y="2206625"/>
            <a:ext cx="1281113" cy="1236663"/>
            <a:chOff x="1382" y="901"/>
            <a:chExt cx="1108" cy="1088"/>
          </a:xfrm>
        </p:grpSpPr>
        <p:pic>
          <p:nvPicPr>
            <p:cNvPr id="9249" name="Picture 24">
              <a:extLst>
                <a:ext uri="{FF2B5EF4-FFF2-40B4-BE49-F238E27FC236}">
                  <a16:creationId xmlns:a16="http://schemas.microsoft.com/office/drawing/2014/main" id="{040A010A-CA83-9174-686B-B638B55C72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5" y="901"/>
              <a:ext cx="1105" cy="1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50" name="Line 25">
              <a:extLst>
                <a:ext uri="{FF2B5EF4-FFF2-40B4-BE49-F238E27FC236}">
                  <a16:creationId xmlns:a16="http://schemas.microsoft.com/office/drawing/2014/main" id="{0A5E606A-C845-19C8-68ED-97B14DDCAE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2" y="1989"/>
              <a:ext cx="110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1" name="Line 26">
              <a:extLst>
                <a:ext uri="{FF2B5EF4-FFF2-40B4-BE49-F238E27FC236}">
                  <a16:creationId xmlns:a16="http://schemas.microsoft.com/office/drawing/2014/main" id="{8CC3B688-A416-ECAA-A86C-6BC068BD87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2" y="901"/>
              <a:ext cx="3" cy="108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40" name="Rectangle 27">
            <a:extLst>
              <a:ext uri="{FF2B5EF4-FFF2-40B4-BE49-F238E27FC236}">
                <a16:creationId xmlns:a16="http://schemas.microsoft.com/office/drawing/2014/main" id="{4D03615D-3C31-70D9-126F-81421A413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3214688"/>
            <a:ext cx="457200" cy="457200"/>
          </a:xfrm>
          <a:prstGeom prst="rect">
            <a:avLst/>
          </a:prstGeom>
          <a:solidFill>
            <a:schemeClr val="accent1">
              <a:alpha val="67842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41" name="Line 28">
            <a:extLst>
              <a:ext uri="{FF2B5EF4-FFF2-40B4-BE49-F238E27FC236}">
                <a16:creationId xmlns:a16="http://schemas.microsoft.com/office/drawing/2014/main" id="{D0B9EA26-770C-1AA6-59F8-EA1EF91107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36925" y="2332038"/>
            <a:ext cx="3019425" cy="411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2" name="Line 29">
            <a:extLst>
              <a:ext uri="{FF2B5EF4-FFF2-40B4-BE49-F238E27FC236}">
                <a16:creationId xmlns:a16="http://schemas.microsoft.com/office/drawing/2014/main" id="{522B965B-C2A1-F9A5-7853-8F20E9E6F5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0563" y="3443288"/>
            <a:ext cx="146050" cy="11652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3" name="Line 31">
            <a:extLst>
              <a:ext uri="{FF2B5EF4-FFF2-40B4-BE49-F238E27FC236}">
                <a16:creationId xmlns:a16="http://schemas.microsoft.com/office/drawing/2014/main" id="{EE42BDC8-A4F0-4E6B-61DB-975484A0D1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0925" y="1143000"/>
            <a:ext cx="0" cy="1030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4" name="Line 32">
            <a:extLst>
              <a:ext uri="{FF2B5EF4-FFF2-40B4-BE49-F238E27FC236}">
                <a16:creationId xmlns:a16="http://schemas.microsoft.com/office/drawing/2014/main" id="{2F4E608C-82A5-444A-74A1-BC505C03C3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0925" y="216693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5" name="Text Box 33">
            <a:extLst>
              <a:ext uri="{FF2B5EF4-FFF2-40B4-BE49-F238E27FC236}">
                <a16:creationId xmlns:a16="http://schemas.microsoft.com/office/drawing/2014/main" id="{A4516088-88BA-1323-98D5-BA32C708D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438" y="2514600"/>
            <a:ext cx="1543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in u</a:t>
            </a:r>
            <a:r>
              <a:rPr lang="en-US" altLang="en-US" sz="1800" b="1" i="1"/>
              <a:t>v (shear)</a:t>
            </a:r>
          </a:p>
        </p:txBody>
      </p:sp>
      <p:sp>
        <p:nvSpPr>
          <p:cNvPr id="9246" name="Freeform 34">
            <a:extLst>
              <a:ext uri="{FF2B5EF4-FFF2-40B4-BE49-F238E27FC236}">
                <a16:creationId xmlns:a16="http://schemas.microsoft.com/office/drawing/2014/main" id="{9786CBBF-DE38-5CA8-9D78-4D01A5DD0763}"/>
              </a:ext>
            </a:extLst>
          </p:cNvPr>
          <p:cNvSpPr>
            <a:spLocks/>
          </p:cNvSpPr>
          <p:nvPr/>
        </p:nvSpPr>
        <p:spPr bwMode="auto">
          <a:xfrm>
            <a:off x="7040563" y="1874838"/>
            <a:ext cx="823912" cy="555625"/>
          </a:xfrm>
          <a:custGeom>
            <a:avLst/>
            <a:gdLst>
              <a:gd name="T0" fmla="*/ 0 w 519"/>
              <a:gd name="T1" fmla="*/ 2147483646 h 350"/>
              <a:gd name="T2" fmla="*/ 2147483646 w 519"/>
              <a:gd name="T3" fmla="*/ 0 h 350"/>
              <a:gd name="T4" fmla="*/ 2147483646 w 519"/>
              <a:gd name="T5" fmla="*/ 2147483646 h 350"/>
              <a:gd name="T6" fmla="*/ 2147483646 w 519"/>
              <a:gd name="T7" fmla="*/ 2147483646 h 350"/>
              <a:gd name="T8" fmla="*/ 0 w 519"/>
              <a:gd name="T9" fmla="*/ 2147483646 h 350"/>
              <a:gd name="T10" fmla="*/ 0 w 519"/>
              <a:gd name="T11" fmla="*/ 2147483646 h 35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9"/>
              <a:gd name="T19" fmla="*/ 0 h 350"/>
              <a:gd name="T20" fmla="*/ 519 w 519"/>
              <a:gd name="T21" fmla="*/ 350 h 3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9" h="350">
                <a:moveTo>
                  <a:pt x="0" y="345"/>
                </a:moveTo>
                <a:lnTo>
                  <a:pt x="154" y="0"/>
                </a:lnTo>
                <a:lnTo>
                  <a:pt x="519" y="4"/>
                </a:lnTo>
                <a:lnTo>
                  <a:pt x="346" y="350"/>
                </a:lnTo>
                <a:lnTo>
                  <a:pt x="0" y="350"/>
                </a:lnTo>
                <a:lnTo>
                  <a:pt x="0" y="345"/>
                </a:lnTo>
                <a:close/>
              </a:path>
            </a:pathLst>
          </a:custGeom>
          <a:solidFill>
            <a:schemeClr val="accent1">
              <a:alpha val="67842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247" name="Object 35">
            <a:extLst>
              <a:ext uri="{FF2B5EF4-FFF2-40B4-BE49-F238E27FC236}">
                <a16:creationId xmlns:a16="http://schemas.microsoft.com/office/drawing/2014/main" id="{E0574F7C-6F0D-D05F-3957-E73DB1A57366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223125" y="785813"/>
          <a:ext cx="296863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3024" imgH="215713" progId="Equation.3">
                  <p:embed/>
                </p:oleObj>
              </mc:Choice>
              <mc:Fallback>
                <p:oleObj name="Equation" r:id="rId9" imgW="203024" imgH="215713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25" y="785813"/>
                        <a:ext cx="296863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8" name="Object 36">
            <a:extLst>
              <a:ext uri="{FF2B5EF4-FFF2-40B4-BE49-F238E27FC236}">
                <a16:creationId xmlns:a16="http://schemas.microsoft.com/office/drawing/2014/main" id="{EEB7A151-DD09-0945-FDDB-86B17E7E9B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21675" y="2011363"/>
          <a:ext cx="29686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3112" imgH="228501" progId="Equation.3">
                  <p:embed/>
                </p:oleObj>
              </mc:Choice>
              <mc:Fallback>
                <p:oleObj name="Equation" r:id="rId11" imgW="203112" imgH="228501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1675" y="2011363"/>
                        <a:ext cx="296863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GT_LOCAL_DATA\academic\dissertation\math\mapping3d_1.tif">
            <a:extLst>
              <a:ext uri="{FF2B5EF4-FFF2-40B4-BE49-F238E27FC236}">
                <a16:creationId xmlns:a16="http://schemas.microsoft.com/office/drawing/2014/main" id="{14BB6152-8B68-E50B-A57A-7E295D657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25" y="3921125"/>
            <a:ext cx="3063875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 descr="Image15">
            <a:extLst>
              <a:ext uri="{FF2B5EF4-FFF2-40B4-BE49-F238E27FC236}">
                <a16:creationId xmlns:a16="http://schemas.microsoft.com/office/drawing/2014/main" id="{6603F156-29F2-7EA3-E3EA-8029FEFFD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3443288"/>
            <a:ext cx="3116263" cy="298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Rectangle 4">
            <a:extLst>
              <a:ext uri="{FF2B5EF4-FFF2-40B4-BE49-F238E27FC236}">
                <a16:creationId xmlns:a16="http://schemas.microsoft.com/office/drawing/2014/main" id="{9B14D32D-C60E-0471-8948-2F6730B8E7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First form: in plane deformations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1E8FFD69-94E1-00BF-5F65-DE6B8591BF0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E5B08B56-4930-4321-908C-1DAE10CC2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429000"/>
            <a:ext cx="14287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39931969-4413-06FC-F59A-165107BE1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429000"/>
            <a:ext cx="14287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20" name="Rectangle 8">
            <a:extLst>
              <a:ext uri="{FF2B5EF4-FFF2-40B4-BE49-F238E27FC236}">
                <a16:creationId xmlns:a16="http://schemas.microsoft.com/office/drawing/2014/main" id="{59FE9CE1-60F6-6C2E-B6D6-D0EB0DCFD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429000"/>
            <a:ext cx="14287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21" name="Rectangle 9">
            <a:extLst>
              <a:ext uri="{FF2B5EF4-FFF2-40B4-BE49-F238E27FC236}">
                <a16:creationId xmlns:a16="http://schemas.microsoft.com/office/drawing/2014/main" id="{D7C45C41-93D3-1EE1-271B-A580427A6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22" name="Line 10">
            <a:extLst>
              <a:ext uri="{FF2B5EF4-FFF2-40B4-BE49-F238E27FC236}">
                <a16:creationId xmlns:a16="http://schemas.microsoft.com/office/drawing/2014/main" id="{426A3EA0-532C-B808-EF7C-A750AAA1CFC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975" y="6088063"/>
            <a:ext cx="1547813" cy="449262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3" name="Oval 11">
            <a:extLst>
              <a:ext uri="{FF2B5EF4-FFF2-40B4-BE49-F238E27FC236}">
                <a16:creationId xmlns:a16="http://schemas.microsoft.com/office/drawing/2014/main" id="{1A833D69-6C79-E7F3-89C7-60B204D18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300" y="4910138"/>
            <a:ext cx="92075" cy="904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24" name="Rectangle 12">
            <a:extLst>
              <a:ext uri="{FF2B5EF4-FFF2-40B4-BE49-F238E27FC236}">
                <a16:creationId xmlns:a16="http://schemas.microsoft.com/office/drawing/2014/main" id="{59764878-6532-8DB3-CCE5-F965771A9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483235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</a:t>
            </a:r>
          </a:p>
        </p:txBody>
      </p:sp>
      <p:sp>
        <p:nvSpPr>
          <p:cNvPr id="13325" name="Line 13">
            <a:extLst>
              <a:ext uri="{FF2B5EF4-FFF2-40B4-BE49-F238E27FC236}">
                <a16:creationId xmlns:a16="http://schemas.microsoft.com/office/drawing/2014/main" id="{4D812840-E9E4-623C-C263-6307C6403A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11975" y="4064000"/>
            <a:ext cx="774700" cy="869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6" name="Line 14">
            <a:extLst>
              <a:ext uri="{FF2B5EF4-FFF2-40B4-BE49-F238E27FC236}">
                <a16:creationId xmlns:a16="http://schemas.microsoft.com/office/drawing/2014/main" id="{A1063C53-08BC-F499-DBB7-5C813F2B91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7850" y="4965700"/>
            <a:ext cx="1125538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7" name="Rectangle 15">
            <a:extLst>
              <a:ext uri="{FF2B5EF4-FFF2-40B4-BE49-F238E27FC236}">
                <a16:creationId xmlns:a16="http://schemas.microsoft.com/office/drawing/2014/main" id="{4FB9EF91-B512-FA54-DE93-3D9ACC4B6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3" y="5073650"/>
            <a:ext cx="3841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i="1">
                <a:latin typeface="Symbol" panose="05050102010706020507" pitchFamily="18" charset="2"/>
              </a:rPr>
              <a:t>s</a:t>
            </a:r>
            <a:r>
              <a:rPr lang="en-US" altLang="en-US" sz="1600" i="1" baseline="-25000"/>
              <a:t>u</a:t>
            </a:r>
            <a:endParaRPr lang="en-US" altLang="en-US" sz="1600" baseline="-25000"/>
          </a:p>
        </p:txBody>
      </p:sp>
      <p:sp>
        <p:nvSpPr>
          <p:cNvPr id="13328" name="Rectangle 16">
            <a:extLst>
              <a:ext uri="{FF2B5EF4-FFF2-40B4-BE49-F238E27FC236}">
                <a16:creationId xmlns:a16="http://schemas.microsoft.com/office/drawing/2014/main" id="{09D6F1E5-949B-5B61-F733-CAB8E4B26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925" y="4451350"/>
            <a:ext cx="3762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i="1">
                <a:latin typeface="Symbol" panose="05050102010706020507" pitchFamily="18" charset="2"/>
              </a:rPr>
              <a:t>s</a:t>
            </a:r>
            <a:r>
              <a:rPr lang="en-US" altLang="en-US" sz="1600" i="1" baseline="-25000"/>
              <a:t>v</a:t>
            </a:r>
            <a:endParaRPr lang="en-US" altLang="en-US" sz="1600" baseline="-25000"/>
          </a:p>
        </p:txBody>
      </p:sp>
      <p:sp>
        <p:nvSpPr>
          <p:cNvPr id="13329" name="Line 17">
            <a:extLst>
              <a:ext uri="{FF2B5EF4-FFF2-40B4-BE49-F238E27FC236}">
                <a16:creationId xmlns:a16="http://schemas.microsoft.com/office/drawing/2014/main" id="{8C096DA3-18C2-D4CD-00B8-FD6EBA295C6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97650" y="3314700"/>
            <a:ext cx="293688" cy="1631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3330" name="Object 18">
            <a:extLst>
              <a:ext uri="{FF2B5EF4-FFF2-40B4-BE49-F238E27FC236}">
                <a16:creationId xmlns:a16="http://schemas.microsoft.com/office/drawing/2014/main" id="{4BB64A12-2DA9-5A2D-208A-204EB998BD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6350" y="3736975"/>
          <a:ext cx="185738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80" imgH="164814" progId="Equation.3">
                  <p:embed/>
                </p:oleObj>
              </mc:Choice>
              <mc:Fallback>
                <p:oleObj name="Equation" r:id="rId6" imgW="126780" imgH="16481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0" y="3736975"/>
                        <a:ext cx="185738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1" name="Text Box 19">
            <a:extLst>
              <a:ext uri="{FF2B5EF4-FFF2-40B4-BE49-F238E27FC236}">
                <a16:creationId xmlns:a16="http://schemas.microsoft.com/office/drawing/2014/main" id="{998468BC-289F-A9A1-274F-E5A90044C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982663"/>
            <a:ext cx="56451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2270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227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</a:rPr>
              <a:t>We talked about “stretchiness” at a point</a:t>
            </a:r>
            <a:r>
              <a:rPr lang="en-US" altLang="en-US" sz="1800" b="1"/>
              <a:t>  </a:t>
            </a:r>
            <a:r>
              <a:rPr lang="en-US" altLang="en-US" sz="1800"/>
              <a:t>as the magnitude of the first derivatives of u and 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32" name="Oval 20">
            <a:extLst>
              <a:ext uri="{FF2B5EF4-FFF2-40B4-BE49-F238E27FC236}">
                <a16:creationId xmlns:a16="http://schemas.microsoft.com/office/drawing/2014/main" id="{C247744A-390C-5553-B70A-22CAB60AB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4608513"/>
            <a:ext cx="669925" cy="671512"/>
          </a:xfrm>
          <a:prstGeom prst="ellipse">
            <a:avLst/>
          </a:prstGeom>
          <a:solidFill>
            <a:schemeClr val="accent1">
              <a:alpha val="61960"/>
            </a:schemeClr>
          </a:solidFill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33" name="Line 21">
            <a:extLst>
              <a:ext uri="{FF2B5EF4-FFF2-40B4-BE49-F238E27FC236}">
                <a16:creationId xmlns:a16="http://schemas.microsoft.com/office/drawing/2014/main" id="{3B8325DF-2666-935D-B385-6647F961FD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0625" y="5133975"/>
            <a:ext cx="304800" cy="2667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4" name="Oval 22">
            <a:extLst>
              <a:ext uri="{FF2B5EF4-FFF2-40B4-BE49-F238E27FC236}">
                <a16:creationId xmlns:a16="http://schemas.microsoft.com/office/drawing/2014/main" id="{45F746EB-FDA5-62EC-B555-7FD8B1F0F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75" y="647700"/>
            <a:ext cx="2705100" cy="277495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35" name="Line 28">
            <a:extLst>
              <a:ext uri="{FF2B5EF4-FFF2-40B4-BE49-F238E27FC236}">
                <a16:creationId xmlns:a16="http://schemas.microsoft.com/office/drawing/2014/main" id="{90CC55C5-95EA-4073-616E-C4E79BDD8F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36925" y="2332038"/>
            <a:ext cx="3019425" cy="411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6" name="Line 29">
            <a:extLst>
              <a:ext uri="{FF2B5EF4-FFF2-40B4-BE49-F238E27FC236}">
                <a16:creationId xmlns:a16="http://schemas.microsoft.com/office/drawing/2014/main" id="{4092E535-EEA9-6EAD-6B87-CCA04E443F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0563" y="3443288"/>
            <a:ext cx="146050" cy="11652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7" name="Line 30">
            <a:extLst>
              <a:ext uri="{FF2B5EF4-FFF2-40B4-BE49-F238E27FC236}">
                <a16:creationId xmlns:a16="http://schemas.microsoft.com/office/drawing/2014/main" id="{5A23613F-BF64-2C2C-D116-A4035429BB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0925" y="1143000"/>
            <a:ext cx="0" cy="1030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8" name="Line 31">
            <a:extLst>
              <a:ext uri="{FF2B5EF4-FFF2-40B4-BE49-F238E27FC236}">
                <a16:creationId xmlns:a16="http://schemas.microsoft.com/office/drawing/2014/main" id="{8BE985F3-BBD7-D0BB-39A9-42CB360371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0925" y="216693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9" name="Freeform 32">
            <a:extLst>
              <a:ext uri="{FF2B5EF4-FFF2-40B4-BE49-F238E27FC236}">
                <a16:creationId xmlns:a16="http://schemas.microsoft.com/office/drawing/2014/main" id="{533D48E1-A528-6EB5-598B-F4FE60372E16}"/>
              </a:ext>
            </a:extLst>
          </p:cNvPr>
          <p:cNvSpPr>
            <a:spLocks/>
          </p:cNvSpPr>
          <p:nvPr/>
        </p:nvSpPr>
        <p:spPr bwMode="auto">
          <a:xfrm>
            <a:off x="6675438" y="1776413"/>
            <a:ext cx="1417637" cy="784225"/>
          </a:xfrm>
          <a:custGeom>
            <a:avLst/>
            <a:gdLst>
              <a:gd name="T0" fmla="*/ 0 w 519"/>
              <a:gd name="T1" fmla="*/ 2147483646 h 350"/>
              <a:gd name="T2" fmla="*/ 2147483646 w 519"/>
              <a:gd name="T3" fmla="*/ 0 h 350"/>
              <a:gd name="T4" fmla="*/ 2147483646 w 519"/>
              <a:gd name="T5" fmla="*/ 2147483646 h 350"/>
              <a:gd name="T6" fmla="*/ 2147483646 w 519"/>
              <a:gd name="T7" fmla="*/ 2147483646 h 350"/>
              <a:gd name="T8" fmla="*/ 0 w 519"/>
              <a:gd name="T9" fmla="*/ 2147483646 h 350"/>
              <a:gd name="T10" fmla="*/ 0 w 519"/>
              <a:gd name="T11" fmla="*/ 2147483646 h 35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9"/>
              <a:gd name="T19" fmla="*/ 0 h 350"/>
              <a:gd name="T20" fmla="*/ 519 w 519"/>
              <a:gd name="T21" fmla="*/ 350 h 3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9" h="350">
                <a:moveTo>
                  <a:pt x="0" y="345"/>
                </a:moveTo>
                <a:lnTo>
                  <a:pt x="154" y="0"/>
                </a:lnTo>
                <a:lnTo>
                  <a:pt x="519" y="4"/>
                </a:lnTo>
                <a:lnTo>
                  <a:pt x="346" y="350"/>
                </a:lnTo>
                <a:lnTo>
                  <a:pt x="0" y="350"/>
                </a:lnTo>
                <a:lnTo>
                  <a:pt x="0" y="345"/>
                </a:lnTo>
                <a:close/>
              </a:path>
            </a:pathLst>
          </a:custGeom>
          <a:solidFill>
            <a:schemeClr val="accent1">
              <a:alpha val="67842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340" name="Object 34">
            <a:extLst>
              <a:ext uri="{FF2B5EF4-FFF2-40B4-BE49-F238E27FC236}">
                <a16:creationId xmlns:a16="http://schemas.microsoft.com/office/drawing/2014/main" id="{563B5E01-2AA2-87D0-5967-4C44CCDA0B56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223125" y="785813"/>
          <a:ext cx="296863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24" imgH="215713" progId="Equation.3">
                  <p:embed/>
                </p:oleObj>
              </mc:Choice>
              <mc:Fallback>
                <p:oleObj name="Equation" r:id="rId8" imgW="203024" imgH="215713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25" y="785813"/>
                        <a:ext cx="296863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1" name="Object 35">
            <a:extLst>
              <a:ext uri="{FF2B5EF4-FFF2-40B4-BE49-F238E27FC236}">
                <a16:creationId xmlns:a16="http://schemas.microsoft.com/office/drawing/2014/main" id="{E6E5B9B7-8D20-B23C-AE85-F8E0BAA789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21675" y="2011363"/>
          <a:ext cx="29686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112" imgH="228501" progId="Equation.3">
                  <p:embed/>
                </p:oleObj>
              </mc:Choice>
              <mc:Fallback>
                <p:oleObj name="Equation" r:id="rId10" imgW="203112" imgH="228501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1675" y="2011363"/>
                        <a:ext cx="296863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42" name="Group 64">
            <a:extLst>
              <a:ext uri="{FF2B5EF4-FFF2-40B4-BE49-F238E27FC236}">
                <a16:creationId xmlns:a16="http://schemas.microsoft.com/office/drawing/2014/main" id="{E3AA6CEF-08D3-0996-8F4A-EA55B115498F}"/>
              </a:ext>
            </a:extLst>
          </p:cNvPr>
          <p:cNvGrpSpPr>
            <a:grpSpLocks/>
          </p:cNvGrpSpPr>
          <p:nvPr/>
        </p:nvGrpSpPr>
        <p:grpSpPr bwMode="auto">
          <a:xfrm>
            <a:off x="1584325" y="1857375"/>
            <a:ext cx="2133600" cy="2135188"/>
            <a:chOff x="998" y="1390"/>
            <a:chExt cx="951" cy="1125"/>
          </a:xfrm>
        </p:grpSpPr>
        <p:grpSp>
          <p:nvGrpSpPr>
            <p:cNvPr id="13368" name="Group 23">
              <a:extLst>
                <a:ext uri="{FF2B5EF4-FFF2-40B4-BE49-F238E27FC236}">
                  <a16:creationId xmlns:a16="http://schemas.microsoft.com/office/drawing/2014/main" id="{D8255662-A816-8CA5-F5AC-C314DED762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2" y="1390"/>
              <a:ext cx="807" cy="779"/>
              <a:chOff x="1382" y="901"/>
              <a:chExt cx="1108" cy="1088"/>
            </a:xfrm>
          </p:grpSpPr>
          <p:pic>
            <p:nvPicPr>
              <p:cNvPr id="13373" name="Picture 24">
                <a:extLst>
                  <a:ext uri="{FF2B5EF4-FFF2-40B4-BE49-F238E27FC236}">
                    <a16:creationId xmlns:a16="http://schemas.microsoft.com/office/drawing/2014/main" id="{F030EDB7-5691-20BD-1B37-3DF76485FF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85" y="901"/>
                <a:ext cx="1105" cy="1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374" name="Line 25">
                <a:extLst>
                  <a:ext uri="{FF2B5EF4-FFF2-40B4-BE49-F238E27FC236}">
                    <a16:creationId xmlns:a16="http://schemas.microsoft.com/office/drawing/2014/main" id="{E3ADC6BB-2E1B-AFFB-B795-09981AC6B4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82" y="1989"/>
                <a:ext cx="110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75" name="Line 26">
                <a:extLst>
                  <a:ext uri="{FF2B5EF4-FFF2-40B4-BE49-F238E27FC236}">
                    <a16:creationId xmlns:a16="http://schemas.microsoft.com/office/drawing/2014/main" id="{47C58240-9F06-EEEF-FA22-C6D552FBD7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82" y="901"/>
                <a:ext cx="3" cy="108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369" name="Rectangle 27">
              <a:extLst>
                <a:ext uri="{FF2B5EF4-FFF2-40B4-BE49-F238E27FC236}">
                  <a16:creationId xmlns:a16="http://schemas.microsoft.com/office/drawing/2014/main" id="{F5B6D711-8D37-71DD-101E-7FCCC0C72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2025"/>
              <a:ext cx="288" cy="288"/>
            </a:xfrm>
            <a:prstGeom prst="rect">
              <a:avLst/>
            </a:prstGeom>
            <a:solidFill>
              <a:schemeClr val="accent1">
                <a:alpha val="67842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3370" name="Line 36">
              <a:extLst>
                <a:ext uri="{FF2B5EF4-FFF2-40B4-BE49-F238E27FC236}">
                  <a16:creationId xmlns:a16="http://schemas.microsoft.com/office/drawing/2014/main" id="{B47E1A09-5845-5AC1-988D-9583D3E024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4" y="2156"/>
              <a:ext cx="237" cy="3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Line 37">
              <a:extLst>
                <a:ext uri="{FF2B5EF4-FFF2-40B4-BE49-F238E27FC236}">
                  <a16:creationId xmlns:a16="http://schemas.microsoft.com/office/drawing/2014/main" id="{C7E56077-76C9-0212-FD7E-072D0AF982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4" y="1906"/>
              <a:ext cx="436" cy="2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2" name="Rectangle 38">
              <a:extLst>
                <a:ext uri="{FF2B5EF4-FFF2-40B4-BE49-F238E27FC236}">
                  <a16:creationId xmlns:a16="http://schemas.microsoft.com/office/drawing/2014/main" id="{276EBBD7-AE60-9C95-9DF5-EB084686A5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517620">
              <a:off x="998" y="2021"/>
              <a:ext cx="288" cy="288"/>
            </a:xfrm>
            <a:prstGeom prst="rect">
              <a:avLst/>
            </a:prstGeom>
            <a:solidFill>
              <a:srgbClr val="008000">
                <a:alpha val="6784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13343" name="Rectangle 39">
            <a:extLst>
              <a:ext uri="{FF2B5EF4-FFF2-40B4-BE49-F238E27FC236}">
                <a16:creationId xmlns:a16="http://schemas.microsoft.com/office/drawing/2014/main" id="{2C9690D9-3EA8-AD2F-7C0A-66C68C448BDD}"/>
              </a:ext>
            </a:extLst>
          </p:cNvPr>
          <p:cNvSpPr>
            <a:spLocks noChangeArrowheads="1"/>
          </p:cNvSpPr>
          <p:nvPr/>
        </p:nvSpPr>
        <p:spPr bwMode="auto">
          <a:xfrm rot="3517620">
            <a:off x="6891338" y="1398588"/>
            <a:ext cx="920750" cy="1555750"/>
          </a:xfrm>
          <a:prstGeom prst="rect">
            <a:avLst/>
          </a:prstGeom>
          <a:solidFill>
            <a:srgbClr val="008000">
              <a:alpha val="67842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44" name="Rectangle 41">
            <a:extLst>
              <a:ext uri="{FF2B5EF4-FFF2-40B4-BE49-F238E27FC236}">
                <a16:creationId xmlns:a16="http://schemas.microsoft.com/office/drawing/2014/main" id="{BDEF9172-1684-149B-2498-0F4BEA096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4633913"/>
            <a:ext cx="14287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45" name="Rectangle 42">
            <a:extLst>
              <a:ext uri="{FF2B5EF4-FFF2-40B4-BE49-F238E27FC236}">
                <a16:creationId xmlns:a16="http://schemas.microsoft.com/office/drawing/2014/main" id="{C88FDE80-C8D9-F82C-5970-A78B5A17C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4633913"/>
            <a:ext cx="14287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46" name="Rectangle 43">
            <a:extLst>
              <a:ext uri="{FF2B5EF4-FFF2-40B4-BE49-F238E27FC236}">
                <a16:creationId xmlns:a16="http://schemas.microsoft.com/office/drawing/2014/main" id="{EE40735B-4715-C463-0265-27E65F65A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4633913"/>
            <a:ext cx="14287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47" name="Oval 47">
            <a:extLst>
              <a:ext uri="{FF2B5EF4-FFF2-40B4-BE49-F238E27FC236}">
                <a16:creationId xmlns:a16="http://schemas.microsoft.com/office/drawing/2014/main" id="{8596F738-A499-49E6-0863-722C029F2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7475" y="4965700"/>
            <a:ext cx="92075" cy="904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48" name="Rectangle 48">
            <a:extLst>
              <a:ext uri="{FF2B5EF4-FFF2-40B4-BE49-F238E27FC236}">
                <a16:creationId xmlns:a16="http://schemas.microsoft.com/office/drawing/2014/main" id="{65E8CB74-6D6E-1F20-7E1D-8F30C01D9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9825" y="4887913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</a:t>
            </a:r>
          </a:p>
        </p:txBody>
      </p:sp>
      <p:grpSp>
        <p:nvGrpSpPr>
          <p:cNvPr id="13349" name="Group 63">
            <a:extLst>
              <a:ext uri="{FF2B5EF4-FFF2-40B4-BE49-F238E27FC236}">
                <a16:creationId xmlns:a16="http://schemas.microsoft.com/office/drawing/2014/main" id="{F7C772D3-CFAA-DAEC-BDE7-D48CBC6035AA}"/>
              </a:ext>
            </a:extLst>
          </p:cNvPr>
          <p:cNvGrpSpPr>
            <a:grpSpLocks/>
          </p:cNvGrpSpPr>
          <p:nvPr/>
        </p:nvGrpSpPr>
        <p:grpSpPr bwMode="auto">
          <a:xfrm>
            <a:off x="727075" y="4092575"/>
            <a:ext cx="3614738" cy="2514600"/>
            <a:chOff x="165" y="2559"/>
            <a:chExt cx="2277" cy="1584"/>
          </a:xfrm>
        </p:grpSpPr>
        <p:pic>
          <p:nvPicPr>
            <p:cNvPr id="13353" name="Picture 40" descr="C:\GT_LOCAL_DATA\academic\dissertation\math\mapping2d_1.tif">
              <a:extLst>
                <a:ext uri="{FF2B5EF4-FFF2-40B4-BE49-F238E27FC236}">
                  <a16:creationId xmlns:a16="http://schemas.microsoft.com/office/drawing/2014/main" id="{125A0F5D-8E8C-CB60-1385-82AF72F46E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r:link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2559"/>
              <a:ext cx="1584" cy="1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54" name="Rectangle 45">
              <a:extLst>
                <a:ext uri="{FF2B5EF4-FFF2-40B4-BE49-F238E27FC236}">
                  <a16:creationId xmlns:a16="http://schemas.microsoft.com/office/drawing/2014/main" id="{E4F3DBF8-EA66-E9F7-9B8F-6A1342236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0" y="3477"/>
              <a:ext cx="2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Symbol" panose="05050102010706020507" pitchFamily="18" charset="2"/>
                </a:rPr>
                <a:t>s</a:t>
              </a:r>
            </a:p>
          </p:txBody>
        </p:sp>
        <p:sp>
          <p:nvSpPr>
            <p:cNvPr id="13355" name="Line 49">
              <a:extLst>
                <a:ext uri="{FF2B5EF4-FFF2-40B4-BE49-F238E27FC236}">
                  <a16:creationId xmlns:a16="http://schemas.microsoft.com/office/drawing/2014/main" id="{158E7260-E2B8-FD98-F49F-2F1AFE5DA5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3" y="3627"/>
              <a:ext cx="0" cy="33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6" name="Oval 50">
              <a:extLst>
                <a:ext uri="{FF2B5EF4-FFF2-40B4-BE49-F238E27FC236}">
                  <a16:creationId xmlns:a16="http://schemas.microsoft.com/office/drawing/2014/main" id="{0946E5F1-2F67-A457-0FDC-0E0EF0DD1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3582"/>
              <a:ext cx="58" cy="5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13357" name="Group 51">
              <a:extLst>
                <a:ext uri="{FF2B5EF4-FFF2-40B4-BE49-F238E27FC236}">
                  <a16:creationId xmlns:a16="http://schemas.microsoft.com/office/drawing/2014/main" id="{40F94D60-D492-F914-932B-014DE7208F67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882" y="3597"/>
              <a:ext cx="321" cy="58"/>
              <a:chOff x="2459" y="2776"/>
              <a:chExt cx="321" cy="58"/>
            </a:xfrm>
          </p:grpSpPr>
          <p:sp>
            <p:nvSpPr>
              <p:cNvPr id="13366" name="Line 52">
                <a:extLst>
                  <a:ext uri="{FF2B5EF4-FFF2-40B4-BE49-F238E27FC236}">
                    <a16:creationId xmlns:a16="http://schemas.microsoft.com/office/drawing/2014/main" id="{712DDEC3-B5AD-F7AA-D0AF-97DA87D247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59" y="2806"/>
                <a:ext cx="321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7" name="Oval 53">
                <a:extLst>
                  <a:ext uri="{FF2B5EF4-FFF2-40B4-BE49-F238E27FC236}">
                    <a16:creationId xmlns:a16="http://schemas.microsoft.com/office/drawing/2014/main" id="{DD4FBC7C-D2F7-05FF-C127-F376EB4FCA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3" y="2776"/>
                <a:ext cx="57" cy="58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</p:grpSp>
        <p:graphicFrame>
          <p:nvGraphicFramePr>
            <p:cNvPr id="13358" name="Object 54">
              <a:extLst>
                <a:ext uri="{FF2B5EF4-FFF2-40B4-BE49-F238E27FC236}">
                  <a16:creationId xmlns:a16="http://schemas.microsoft.com/office/drawing/2014/main" id="{5DABFB02-EA03-65E2-9A8E-E57077B612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33" y="3557"/>
            <a:ext cx="175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90335" imgH="177646" progId="Equation.3">
                    <p:embed/>
                  </p:oleObj>
                </mc:Choice>
                <mc:Fallback>
                  <p:oleObj name="Equation" r:id="rId15" imgW="190335" imgH="177646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3" y="3557"/>
                          <a:ext cx="175" cy="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59" name="Rectangle 55">
              <a:extLst>
                <a:ext uri="{FF2B5EF4-FFF2-40B4-BE49-F238E27FC236}">
                  <a16:creationId xmlns:a16="http://schemas.microsoft.com/office/drawing/2014/main" id="{7DC5F890-4066-13DC-53B4-1E526415D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" y="34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u</a:t>
              </a:r>
            </a:p>
          </p:txBody>
        </p:sp>
        <p:sp>
          <p:nvSpPr>
            <p:cNvPr id="13360" name="Line 56">
              <a:extLst>
                <a:ext uri="{FF2B5EF4-FFF2-40B4-BE49-F238E27FC236}">
                  <a16:creationId xmlns:a16="http://schemas.microsoft.com/office/drawing/2014/main" id="{0E62569B-61B1-8A89-B4A5-698DBDB812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8" y="3612"/>
              <a:ext cx="503" cy="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1" name="Oval 57">
              <a:extLst>
                <a:ext uri="{FF2B5EF4-FFF2-40B4-BE49-F238E27FC236}">
                  <a16:creationId xmlns:a16="http://schemas.microsoft.com/office/drawing/2014/main" id="{59D6DD0E-0325-2C98-3173-B5EF61146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3582"/>
              <a:ext cx="58" cy="5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pSp>
          <p:nvGrpSpPr>
            <p:cNvPr id="13362" name="Group 58">
              <a:extLst>
                <a:ext uri="{FF2B5EF4-FFF2-40B4-BE49-F238E27FC236}">
                  <a16:creationId xmlns:a16="http://schemas.microsoft.com/office/drawing/2014/main" id="{B51DAC41-DE72-6782-2852-83C047D225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6" y="3327"/>
              <a:ext cx="321" cy="58"/>
              <a:chOff x="4229" y="3794"/>
              <a:chExt cx="321" cy="58"/>
            </a:xfrm>
          </p:grpSpPr>
          <p:sp>
            <p:nvSpPr>
              <p:cNvPr id="13364" name="Line 59">
                <a:extLst>
                  <a:ext uri="{FF2B5EF4-FFF2-40B4-BE49-F238E27FC236}">
                    <a16:creationId xmlns:a16="http://schemas.microsoft.com/office/drawing/2014/main" id="{F059C6EB-78DB-F327-7299-28CACE55A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9" y="3824"/>
                <a:ext cx="32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5" name="Oval 60">
                <a:extLst>
                  <a:ext uri="{FF2B5EF4-FFF2-40B4-BE49-F238E27FC236}">
                    <a16:creationId xmlns:a16="http://schemas.microsoft.com/office/drawing/2014/main" id="{8B14B916-F3F2-B2CF-9A46-ABED2D4B85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3" y="3794"/>
                <a:ext cx="57" cy="5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</p:grpSp>
        <p:graphicFrame>
          <p:nvGraphicFramePr>
            <p:cNvPr id="13363" name="Object 61">
              <a:extLst>
                <a:ext uri="{FF2B5EF4-FFF2-40B4-BE49-F238E27FC236}">
                  <a16:creationId xmlns:a16="http://schemas.microsoft.com/office/drawing/2014/main" id="{198BA2C0-2AEA-CAF2-920F-8FB41C701B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2" y="3119"/>
            <a:ext cx="186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02936" imgH="177569" progId="Equation.3">
                    <p:embed/>
                  </p:oleObj>
                </mc:Choice>
                <mc:Fallback>
                  <p:oleObj name="Equation" r:id="rId17" imgW="202936" imgH="177569" progId="Equation.3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2" y="3119"/>
                          <a:ext cx="186" cy="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50" name="Object 62">
            <a:extLst>
              <a:ext uri="{FF2B5EF4-FFF2-40B4-BE49-F238E27FC236}">
                <a16:creationId xmlns:a16="http://schemas.microsoft.com/office/drawing/2014/main" id="{C86C2EDA-DF31-A2E6-A08E-62AA57D609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8525" y="3792538"/>
          <a:ext cx="185738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6780" imgH="164814" progId="Equation.3">
                  <p:embed/>
                </p:oleObj>
              </mc:Choice>
              <mc:Fallback>
                <p:oleObj name="Equation" r:id="rId19" imgW="126780" imgH="164814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8525" y="3792538"/>
                        <a:ext cx="185738" cy="23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51" name="Line 65">
            <a:extLst>
              <a:ext uri="{FF2B5EF4-FFF2-40B4-BE49-F238E27FC236}">
                <a16:creationId xmlns:a16="http://schemas.microsoft.com/office/drawing/2014/main" id="{5950A144-B336-F62C-2B8F-E60AF05536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65263" y="3657600"/>
            <a:ext cx="50800" cy="638175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3352" name="Line 44">
            <a:extLst>
              <a:ext uri="{FF2B5EF4-FFF2-40B4-BE49-F238E27FC236}">
                <a16:creationId xmlns:a16="http://schemas.microsoft.com/office/drawing/2014/main" id="{CB848F8A-68A3-4DB6-2DA4-F113A93692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49613" y="5456238"/>
            <a:ext cx="14589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3" descr="C:\GT_LOCAL_DATA\academic\dissertation\math\mapping3d_1.tif">
            <a:extLst>
              <a:ext uri="{FF2B5EF4-FFF2-40B4-BE49-F238E27FC236}">
                <a16:creationId xmlns:a16="http://schemas.microsoft.com/office/drawing/2014/main" id="{701EF820-CBAD-7B2D-F349-C2CAD22CE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25" y="2771775"/>
            <a:ext cx="3063875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4">
            <a:extLst>
              <a:ext uri="{FF2B5EF4-FFF2-40B4-BE49-F238E27FC236}">
                <a16:creationId xmlns:a16="http://schemas.microsoft.com/office/drawing/2014/main" id="{DF1A32B9-FB7F-2AAC-D64B-7BF5ACBC4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Second fundamental form</a:t>
            </a:r>
          </a:p>
        </p:txBody>
      </p:sp>
      <p:sp>
        <p:nvSpPr>
          <p:cNvPr id="15364" name="Rectangle 5">
            <a:extLst>
              <a:ext uri="{FF2B5EF4-FFF2-40B4-BE49-F238E27FC236}">
                <a16:creationId xmlns:a16="http://schemas.microsoft.com/office/drawing/2014/main" id="{E6F07F22-028E-309A-4807-BE048BAA760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15365" name="Rectangle 11">
            <a:extLst>
              <a:ext uri="{FF2B5EF4-FFF2-40B4-BE49-F238E27FC236}">
                <a16:creationId xmlns:a16="http://schemas.microsoft.com/office/drawing/2014/main" id="{883D7B59-BE82-AB63-8F01-C1AB9B07D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66" name="Line 12">
            <a:extLst>
              <a:ext uri="{FF2B5EF4-FFF2-40B4-BE49-F238E27FC236}">
                <a16:creationId xmlns:a16="http://schemas.microsoft.com/office/drawing/2014/main" id="{03D405C2-8083-F464-4F9E-B113C41F27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975" y="4938713"/>
            <a:ext cx="1547813" cy="449262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7" name="Oval 13">
            <a:extLst>
              <a:ext uri="{FF2B5EF4-FFF2-40B4-BE49-F238E27FC236}">
                <a16:creationId xmlns:a16="http://schemas.microsoft.com/office/drawing/2014/main" id="{78A36127-C8FA-7E07-A070-4F0069D24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300" y="3760788"/>
            <a:ext cx="92075" cy="904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68" name="Rectangle 14">
            <a:extLst>
              <a:ext uri="{FF2B5EF4-FFF2-40B4-BE49-F238E27FC236}">
                <a16:creationId xmlns:a16="http://schemas.microsoft.com/office/drawing/2014/main" id="{0DFB39C8-558E-7F51-BE71-14666CF33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36830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</a:t>
            </a:r>
          </a:p>
        </p:txBody>
      </p:sp>
      <p:sp>
        <p:nvSpPr>
          <p:cNvPr id="15369" name="Line 28">
            <a:extLst>
              <a:ext uri="{FF2B5EF4-FFF2-40B4-BE49-F238E27FC236}">
                <a16:creationId xmlns:a16="http://schemas.microsoft.com/office/drawing/2014/main" id="{A6B2CB66-AC51-A430-C7EA-8717120A565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7850" y="3816350"/>
            <a:ext cx="1125538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0" name="Rectangle 29">
            <a:extLst>
              <a:ext uri="{FF2B5EF4-FFF2-40B4-BE49-F238E27FC236}">
                <a16:creationId xmlns:a16="http://schemas.microsoft.com/office/drawing/2014/main" id="{8432E7DD-ECA1-B714-8BD2-1DF92473A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3" y="3924300"/>
            <a:ext cx="3841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i="1">
                <a:latin typeface="Symbol" panose="05050102010706020507" pitchFamily="18" charset="2"/>
              </a:rPr>
              <a:t>s</a:t>
            </a:r>
            <a:r>
              <a:rPr lang="en-US" altLang="en-US" sz="1600" i="1" baseline="-25000"/>
              <a:t>u</a:t>
            </a:r>
            <a:endParaRPr lang="en-US" altLang="en-US" sz="1600" baseline="-25000"/>
          </a:p>
        </p:txBody>
      </p:sp>
      <p:sp>
        <p:nvSpPr>
          <p:cNvPr id="15371" name="Text Box 30">
            <a:extLst>
              <a:ext uri="{FF2B5EF4-FFF2-40B4-BE49-F238E27FC236}">
                <a16:creationId xmlns:a16="http://schemas.microsoft.com/office/drawing/2014/main" id="{B4C675B0-04D0-F9F5-E9B4-4B091FC44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982663"/>
            <a:ext cx="6735762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2270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227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We did the same thing for all possible curvatures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(2</a:t>
            </a:r>
            <a:r>
              <a:rPr lang="en-US" altLang="en-US" sz="1800" baseline="30000"/>
              <a:t>nd</a:t>
            </a:r>
            <a:r>
              <a:rPr lang="en-US" altLang="en-US" sz="1800"/>
              <a:t> derivatives)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of  the curves of a surface…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72" name="Line 31">
            <a:extLst>
              <a:ext uri="{FF2B5EF4-FFF2-40B4-BE49-F238E27FC236}">
                <a16:creationId xmlns:a16="http://schemas.microsoft.com/office/drawing/2014/main" id="{FC6E5AAD-DA48-F689-AFD6-80BF9733ECF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4038" y="3856038"/>
            <a:ext cx="109537" cy="717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3" name="Rectangle 32">
            <a:extLst>
              <a:ext uri="{FF2B5EF4-FFF2-40B4-BE49-F238E27FC236}">
                <a16:creationId xmlns:a16="http://schemas.microsoft.com/office/drawing/2014/main" id="{07284E60-C606-F7DE-58F4-43EDDEEBE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4100513"/>
            <a:ext cx="4619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i="1">
                <a:latin typeface="Symbol" panose="05050102010706020507" pitchFamily="18" charset="2"/>
              </a:rPr>
              <a:t>s</a:t>
            </a:r>
            <a:r>
              <a:rPr lang="en-US" altLang="en-US" sz="1600" i="1" baseline="-25000"/>
              <a:t>uu</a:t>
            </a:r>
            <a:endParaRPr lang="en-US" altLang="en-US" sz="1600" baseline="-25000"/>
          </a:p>
        </p:txBody>
      </p:sp>
      <p:pic>
        <p:nvPicPr>
          <p:cNvPr id="15374" name="Picture 33" descr="curvesonsurface">
            <a:extLst>
              <a:ext uri="{FF2B5EF4-FFF2-40B4-BE49-F238E27FC236}">
                <a16:creationId xmlns:a16="http://schemas.microsoft.com/office/drawing/2014/main" id="{998BB0DE-13B1-3AE0-28BE-1DDD57E49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3088" y="2847975"/>
            <a:ext cx="4311650" cy="280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694E308-B145-B21D-5F5E-26BF2472DB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Second fundamental form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6B83D68-62A5-5D81-EBA1-E0BEC0B57AF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B6A08B54-4326-AD23-948D-FCD8BB100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13" name="Text Box 5">
            <a:extLst>
              <a:ext uri="{FF2B5EF4-FFF2-40B4-BE49-F238E27FC236}">
                <a16:creationId xmlns:a16="http://schemas.microsoft.com/office/drawing/2014/main" id="{602E06F0-8BDE-471E-222B-3160A2839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982663"/>
            <a:ext cx="6735762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2270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227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If we look at this from the frame defined by the curve tangent and the surface normal (and the vector perpendicular to both: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17414" name="Picture 6">
            <a:extLst>
              <a:ext uri="{FF2B5EF4-FFF2-40B4-BE49-F238E27FC236}">
                <a16:creationId xmlns:a16="http://schemas.microsoft.com/office/drawing/2014/main" id="{F7340C6B-9D26-243F-A427-CDCEAF814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3328988"/>
            <a:ext cx="35083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5" name="Oval 7">
            <a:extLst>
              <a:ext uri="{FF2B5EF4-FFF2-40B4-BE49-F238E27FC236}">
                <a16:creationId xmlns:a16="http://schemas.microsoft.com/office/drawing/2014/main" id="{5075D7EB-4C6F-DE0F-D507-FFB72D509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159125"/>
            <a:ext cx="3343275" cy="3184525"/>
          </a:xfrm>
          <a:prstGeom prst="ellipse">
            <a:avLst/>
          </a:prstGeom>
          <a:noFill/>
          <a:ln w="635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16" name="Arc 8">
            <a:extLst>
              <a:ext uri="{FF2B5EF4-FFF2-40B4-BE49-F238E27FC236}">
                <a16:creationId xmlns:a16="http://schemas.microsoft.com/office/drawing/2014/main" id="{66BA3A72-3184-CABD-A9E7-EA71CEE75D11}"/>
              </a:ext>
            </a:extLst>
          </p:cNvPr>
          <p:cNvSpPr>
            <a:spLocks/>
          </p:cNvSpPr>
          <p:nvPr/>
        </p:nvSpPr>
        <p:spPr bwMode="auto">
          <a:xfrm rot="2192807" flipH="1" flipV="1">
            <a:off x="1323975" y="4070350"/>
            <a:ext cx="311150" cy="503238"/>
          </a:xfrm>
          <a:custGeom>
            <a:avLst/>
            <a:gdLst>
              <a:gd name="T0" fmla="*/ 562484015 w 17663"/>
              <a:gd name="T1" fmla="*/ 0 h 20795"/>
              <a:gd name="T2" fmla="*/ 1700926921 w 17663"/>
              <a:gd name="T3" fmla="*/ 2147483646 h 20795"/>
              <a:gd name="T4" fmla="*/ 0 w 17663"/>
              <a:gd name="T5" fmla="*/ 2147483646 h 20795"/>
              <a:gd name="T6" fmla="*/ 0 60000 65536"/>
              <a:gd name="T7" fmla="*/ 0 60000 65536"/>
              <a:gd name="T8" fmla="*/ 0 60000 65536"/>
              <a:gd name="T9" fmla="*/ 0 w 17663"/>
              <a:gd name="T10" fmla="*/ 0 h 20795"/>
              <a:gd name="T11" fmla="*/ 17663 w 17663"/>
              <a:gd name="T12" fmla="*/ 20795 h 207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63" h="20795" fill="none" extrusionOk="0">
                <a:moveTo>
                  <a:pt x="5841" y="-1"/>
                </a:moveTo>
                <a:cubicBezTo>
                  <a:pt x="10626" y="1343"/>
                  <a:pt x="14802" y="4297"/>
                  <a:pt x="17663" y="8362"/>
                </a:cubicBezTo>
              </a:path>
              <a:path w="17663" h="20795" stroke="0" extrusionOk="0">
                <a:moveTo>
                  <a:pt x="5841" y="-1"/>
                </a:moveTo>
                <a:cubicBezTo>
                  <a:pt x="10626" y="1343"/>
                  <a:pt x="14802" y="4297"/>
                  <a:pt x="17663" y="8362"/>
                </a:cubicBezTo>
                <a:lnTo>
                  <a:pt x="0" y="20795"/>
                </a:lnTo>
                <a:lnTo>
                  <a:pt x="5841" y="-1"/>
                </a:lnTo>
                <a:close/>
              </a:path>
            </a:pathLst>
          </a:custGeom>
          <a:noFill/>
          <a:ln w="508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7" name="Line 9">
            <a:extLst>
              <a:ext uri="{FF2B5EF4-FFF2-40B4-BE49-F238E27FC236}">
                <a16:creationId xmlns:a16="http://schemas.microsoft.com/office/drawing/2014/main" id="{C4AC4CB6-7ED7-7A39-BE5B-13117BCBE6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8213" y="4533900"/>
            <a:ext cx="1082675" cy="7938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8" name="AutoShape 10">
            <a:extLst>
              <a:ext uri="{FF2B5EF4-FFF2-40B4-BE49-F238E27FC236}">
                <a16:creationId xmlns:a16="http://schemas.microsoft.com/office/drawing/2014/main" id="{F1096DE7-F0B7-7ED7-F393-D8E0FBD3E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608638"/>
            <a:ext cx="2347913" cy="771525"/>
          </a:xfrm>
          <a:prstGeom prst="wedgeRectCallout">
            <a:avLst>
              <a:gd name="adj1" fmla="val -37829"/>
              <a:gd name="adj2" fmla="val -18498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In plane or geodesic curvature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i="1" baseline="30000"/>
          </a:p>
        </p:txBody>
      </p:sp>
      <p:pic>
        <p:nvPicPr>
          <p:cNvPr id="17419" name="Picture 11">
            <a:extLst>
              <a:ext uri="{FF2B5EF4-FFF2-40B4-BE49-F238E27FC236}">
                <a16:creationId xmlns:a16="http://schemas.microsoft.com/office/drawing/2014/main" id="{A74D66F0-E565-53F1-6872-0E75C2943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613" y="3308350"/>
            <a:ext cx="3835400" cy="297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20" name="AutoShape 12">
            <a:extLst>
              <a:ext uri="{FF2B5EF4-FFF2-40B4-BE49-F238E27FC236}">
                <a16:creationId xmlns:a16="http://schemas.microsoft.com/office/drawing/2014/main" id="{E6234364-FF8E-D8A9-0957-49BB7EA38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8" y="2859088"/>
            <a:ext cx="1471612" cy="579437"/>
          </a:xfrm>
          <a:prstGeom prst="wedgeRectCallout">
            <a:avLst>
              <a:gd name="adj1" fmla="val -80097"/>
              <a:gd name="adj2" fmla="val 1776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Normal curvature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i="1" baseline="30000"/>
          </a:p>
        </p:txBody>
      </p:sp>
      <p:sp>
        <p:nvSpPr>
          <p:cNvPr id="17421" name="Line 14">
            <a:extLst>
              <a:ext uri="{FF2B5EF4-FFF2-40B4-BE49-F238E27FC236}">
                <a16:creationId xmlns:a16="http://schemas.microsoft.com/office/drawing/2014/main" id="{CA90B2B2-41FE-2561-9016-B8D23FB568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3050" y="4991100"/>
            <a:ext cx="822325" cy="1603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2" name="Line 15">
            <a:extLst>
              <a:ext uri="{FF2B5EF4-FFF2-40B4-BE49-F238E27FC236}">
                <a16:creationId xmlns:a16="http://schemas.microsoft.com/office/drawing/2014/main" id="{3312BEBD-4C18-D8ED-B0F9-0076CA47BEE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56350" y="3808413"/>
            <a:ext cx="250825" cy="117475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3" name="Line 17">
            <a:extLst>
              <a:ext uri="{FF2B5EF4-FFF2-40B4-BE49-F238E27FC236}">
                <a16:creationId xmlns:a16="http://schemas.microsoft.com/office/drawing/2014/main" id="{CB6EDA79-723E-3C53-05DE-7ED0AE8BDA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5113" y="3627438"/>
            <a:ext cx="846137" cy="135572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4" name="Text Box 19">
            <a:extLst>
              <a:ext uri="{FF2B5EF4-FFF2-40B4-BE49-F238E27FC236}">
                <a16:creationId xmlns:a16="http://schemas.microsoft.com/office/drawing/2014/main" id="{EBCEBAB6-212D-0BD8-9FF7-8D6ADE1EA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9650" y="3141663"/>
            <a:ext cx="735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/>
              <a:t>Curve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/>
              <a:t>tangent</a:t>
            </a:r>
          </a:p>
        </p:txBody>
      </p:sp>
      <p:sp>
        <p:nvSpPr>
          <p:cNvPr id="17425" name="Text Box 20">
            <a:extLst>
              <a:ext uri="{FF2B5EF4-FFF2-40B4-BE49-F238E27FC236}">
                <a16:creationId xmlns:a16="http://schemas.microsoft.com/office/drawing/2014/main" id="{74AD409A-F998-B84F-B0C4-F3D6D39F5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9438" y="3446463"/>
            <a:ext cx="741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/>
              <a:t>Surface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/>
              <a:t>Normal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54872AB-F60C-0620-39AF-9C9ABFE596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Second fundamental form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D3C14704-7F3B-D952-E711-5F543AF9722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65A44188-5A8F-3BAB-E633-EA11C3402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43F13D65-07B0-22B4-78E3-861E47771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982663"/>
            <a:ext cx="6735762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2270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227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Different surface curves</a:t>
            </a:r>
            <a:r>
              <a:rPr lang="en-US" altLang="en-US" sz="1600"/>
              <a:t> with a given</a:t>
            </a:r>
            <a:r>
              <a:rPr lang="en-US" altLang="en-US" sz="1600">
                <a:solidFill>
                  <a:srgbClr val="FF3300"/>
                </a:solidFill>
              </a:rPr>
              <a:t> tangent direction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have </a:t>
            </a:r>
            <a:r>
              <a:rPr lang="en-US" altLang="en-US" sz="1600">
                <a:solidFill>
                  <a:srgbClr val="FF3300"/>
                </a:solidFill>
              </a:rPr>
              <a:t>different geodesic curvatures</a:t>
            </a:r>
            <a:r>
              <a:rPr lang="en-US" altLang="en-US" sz="1600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But the</a:t>
            </a:r>
            <a:r>
              <a:rPr lang="en-US" altLang="en-US" sz="1600">
                <a:solidFill>
                  <a:srgbClr val="FF3300"/>
                </a:solidFill>
              </a:rPr>
              <a:t> same normal curvature.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The normal curvature (in a given directions)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of a curve on the surface is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a feature of the surface itself.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/>
          </a:p>
        </p:txBody>
      </p:sp>
      <p:pic>
        <p:nvPicPr>
          <p:cNvPr id="19462" name="Picture 6">
            <a:extLst>
              <a:ext uri="{FF2B5EF4-FFF2-40B4-BE49-F238E27FC236}">
                <a16:creationId xmlns:a16="http://schemas.microsoft.com/office/drawing/2014/main" id="{82C180CA-B288-73D7-FD17-6E15A5807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3328988"/>
            <a:ext cx="35083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3" name="Oval 7">
            <a:extLst>
              <a:ext uri="{FF2B5EF4-FFF2-40B4-BE49-F238E27FC236}">
                <a16:creationId xmlns:a16="http://schemas.microsoft.com/office/drawing/2014/main" id="{03292818-1A1D-21F8-699F-55F273AD9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159125"/>
            <a:ext cx="3343275" cy="3184525"/>
          </a:xfrm>
          <a:prstGeom prst="ellipse">
            <a:avLst/>
          </a:prstGeom>
          <a:noFill/>
          <a:ln w="635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19464" name="Picture 11">
            <a:extLst>
              <a:ext uri="{FF2B5EF4-FFF2-40B4-BE49-F238E27FC236}">
                <a16:creationId xmlns:a16="http://schemas.microsoft.com/office/drawing/2014/main" id="{44D70B58-2A26-6D8F-F77C-83C99AFD5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613" y="3308350"/>
            <a:ext cx="3835400" cy="297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5" name="Line 13">
            <a:extLst>
              <a:ext uri="{FF2B5EF4-FFF2-40B4-BE49-F238E27FC236}">
                <a16:creationId xmlns:a16="http://schemas.microsoft.com/office/drawing/2014/main" id="{4C0DC8A6-C312-26F9-B3CF-E1CEDBD6C6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3050" y="4991100"/>
            <a:ext cx="822325" cy="16033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6" name="Line 14">
            <a:extLst>
              <a:ext uri="{FF2B5EF4-FFF2-40B4-BE49-F238E27FC236}">
                <a16:creationId xmlns:a16="http://schemas.microsoft.com/office/drawing/2014/main" id="{4CA8678B-F56B-73A0-E221-509E5BD5B44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56350" y="3808413"/>
            <a:ext cx="250825" cy="11747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7" name="Line 15">
            <a:extLst>
              <a:ext uri="{FF2B5EF4-FFF2-40B4-BE49-F238E27FC236}">
                <a16:creationId xmlns:a16="http://schemas.microsoft.com/office/drawing/2014/main" id="{50D73033-8072-4AE0-3D1A-248E67762B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5113" y="3627438"/>
            <a:ext cx="846137" cy="135572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8" name="Line 21">
            <a:extLst>
              <a:ext uri="{FF2B5EF4-FFF2-40B4-BE49-F238E27FC236}">
                <a16:creationId xmlns:a16="http://schemas.microsoft.com/office/drawing/2014/main" id="{109CD675-CFDD-C76A-E454-307E868CBE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3925" y="3467100"/>
            <a:ext cx="838200" cy="944563"/>
          </a:xfrm>
          <a:prstGeom prst="line">
            <a:avLst/>
          </a:prstGeom>
          <a:noFill/>
          <a:ln w="63500">
            <a:solidFill>
              <a:srgbClr val="3399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9" name="Freeform 20">
            <a:extLst>
              <a:ext uri="{FF2B5EF4-FFF2-40B4-BE49-F238E27FC236}">
                <a16:creationId xmlns:a16="http://schemas.microsoft.com/office/drawing/2014/main" id="{B8781246-7752-2629-E020-011EED775C8F}"/>
              </a:ext>
            </a:extLst>
          </p:cNvPr>
          <p:cNvSpPr>
            <a:spLocks/>
          </p:cNvSpPr>
          <p:nvPr/>
        </p:nvSpPr>
        <p:spPr bwMode="auto">
          <a:xfrm>
            <a:off x="2035175" y="3870325"/>
            <a:ext cx="1774825" cy="2203450"/>
          </a:xfrm>
          <a:custGeom>
            <a:avLst/>
            <a:gdLst>
              <a:gd name="T0" fmla="*/ 2147483646 w 1118"/>
              <a:gd name="T1" fmla="*/ 2147483646 h 1388"/>
              <a:gd name="T2" fmla="*/ 2147483646 w 1118"/>
              <a:gd name="T3" fmla="*/ 2147483646 h 1388"/>
              <a:gd name="T4" fmla="*/ 2147483646 w 1118"/>
              <a:gd name="T5" fmla="*/ 2147483646 h 1388"/>
              <a:gd name="T6" fmla="*/ 2147483646 w 1118"/>
              <a:gd name="T7" fmla="*/ 2147483646 h 1388"/>
              <a:gd name="T8" fmla="*/ 2147483646 w 1118"/>
              <a:gd name="T9" fmla="*/ 2147483646 h 1388"/>
              <a:gd name="T10" fmla="*/ 2147483646 w 1118"/>
              <a:gd name="T11" fmla="*/ 2147483646 h 1388"/>
              <a:gd name="T12" fmla="*/ 2147483646 w 1118"/>
              <a:gd name="T13" fmla="*/ 2147483646 h 13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18"/>
              <a:gd name="T22" fmla="*/ 0 h 1388"/>
              <a:gd name="T23" fmla="*/ 1118 w 1118"/>
              <a:gd name="T24" fmla="*/ 1388 h 13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18" h="1388">
                <a:moveTo>
                  <a:pt x="470" y="1388"/>
                </a:moveTo>
                <a:cubicBezTo>
                  <a:pt x="460" y="1330"/>
                  <a:pt x="475" y="1164"/>
                  <a:pt x="422" y="1056"/>
                </a:cubicBezTo>
                <a:cubicBezTo>
                  <a:pt x="369" y="948"/>
                  <a:pt x="144" y="961"/>
                  <a:pt x="72" y="759"/>
                </a:cubicBezTo>
                <a:cubicBezTo>
                  <a:pt x="0" y="557"/>
                  <a:pt x="67" y="423"/>
                  <a:pt x="67" y="423"/>
                </a:cubicBezTo>
                <a:cubicBezTo>
                  <a:pt x="67" y="423"/>
                  <a:pt x="171" y="209"/>
                  <a:pt x="283" y="140"/>
                </a:cubicBezTo>
                <a:cubicBezTo>
                  <a:pt x="395" y="71"/>
                  <a:pt x="610" y="0"/>
                  <a:pt x="739" y="10"/>
                </a:cubicBezTo>
                <a:cubicBezTo>
                  <a:pt x="868" y="20"/>
                  <a:pt x="1039" y="113"/>
                  <a:pt x="1118" y="140"/>
                </a:cubicBezTo>
              </a:path>
            </a:pathLst>
          </a:custGeom>
          <a:noFill/>
          <a:ln w="38100">
            <a:solidFill>
              <a:srgbClr val="76FF4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0" name="Freeform 22">
            <a:extLst>
              <a:ext uri="{FF2B5EF4-FFF2-40B4-BE49-F238E27FC236}">
                <a16:creationId xmlns:a16="http://schemas.microsoft.com/office/drawing/2014/main" id="{61208481-C9C0-6A47-7A66-449AF12765FC}"/>
              </a:ext>
            </a:extLst>
          </p:cNvPr>
          <p:cNvSpPr>
            <a:spLocks/>
          </p:cNvSpPr>
          <p:nvPr/>
        </p:nvSpPr>
        <p:spPr bwMode="auto">
          <a:xfrm>
            <a:off x="747713" y="3406775"/>
            <a:ext cx="1779587" cy="2160588"/>
          </a:xfrm>
          <a:custGeom>
            <a:avLst/>
            <a:gdLst>
              <a:gd name="T0" fmla="*/ 0 w 1121"/>
              <a:gd name="T1" fmla="*/ 2147483646 h 1361"/>
              <a:gd name="T2" fmla="*/ 2147483646 w 1121"/>
              <a:gd name="T3" fmla="*/ 2147483646 h 1361"/>
              <a:gd name="T4" fmla="*/ 2147483646 w 1121"/>
              <a:gd name="T5" fmla="*/ 2147483646 h 1361"/>
              <a:gd name="T6" fmla="*/ 2147483646 w 1121"/>
              <a:gd name="T7" fmla="*/ 2147483646 h 1361"/>
              <a:gd name="T8" fmla="*/ 2147483646 w 1121"/>
              <a:gd name="T9" fmla="*/ 2147483646 h 1361"/>
              <a:gd name="T10" fmla="*/ 2147483646 w 1121"/>
              <a:gd name="T11" fmla="*/ 2147483646 h 1361"/>
              <a:gd name="T12" fmla="*/ 2147483646 w 1121"/>
              <a:gd name="T13" fmla="*/ 2147483646 h 13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21"/>
              <a:gd name="T22" fmla="*/ 0 h 1361"/>
              <a:gd name="T23" fmla="*/ 1121 w 1121"/>
              <a:gd name="T24" fmla="*/ 1361 h 136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21" h="1361">
                <a:moveTo>
                  <a:pt x="0" y="1328"/>
                </a:moveTo>
                <a:cubicBezTo>
                  <a:pt x="183" y="1361"/>
                  <a:pt x="309" y="1349"/>
                  <a:pt x="456" y="1214"/>
                </a:cubicBezTo>
                <a:cubicBezTo>
                  <a:pt x="603" y="1079"/>
                  <a:pt x="528" y="1160"/>
                  <a:pt x="657" y="1019"/>
                </a:cubicBezTo>
                <a:cubicBezTo>
                  <a:pt x="786" y="878"/>
                  <a:pt x="858" y="740"/>
                  <a:pt x="858" y="740"/>
                </a:cubicBezTo>
                <a:cubicBezTo>
                  <a:pt x="858" y="740"/>
                  <a:pt x="947" y="608"/>
                  <a:pt x="997" y="538"/>
                </a:cubicBezTo>
                <a:cubicBezTo>
                  <a:pt x="1047" y="468"/>
                  <a:pt x="1121" y="358"/>
                  <a:pt x="1099" y="240"/>
                </a:cubicBezTo>
                <a:cubicBezTo>
                  <a:pt x="1077" y="122"/>
                  <a:pt x="811" y="0"/>
                  <a:pt x="566" y="182"/>
                </a:cubicBezTo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1" name="AutoShape 12">
            <a:extLst>
              <a:ext uri="{FF2B5EF4-FFF2-40B4-BE49-F238E27FC236}">
                <a16:creationId xmlns:a16="http://schemas.microsoft.com/office/drawing/2014/main" id="{A9D744B1-A6F6-2B76-8D5F-157543D90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8" y="2859088"/>
            <a:ext cx="1471612" cy="579437"/>
          </a:xfrm>
          <a:prstGeom prst="wedgeRectCallout">
            <a:avLst>
              <a:gd name="adj1" fmla="val -80097"/>
              <a:gd name="adj2" fmla="val 1776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Normal curvature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i="1" baseline="30000"/>
          </a:p>
        </p:txBody>
      </p:sp>
      <p:sp>
        <p:nvSpPr>
          <p:cNvPr id="19472" name="AutoShape 19">
            <a:extLst>
              <a:ext uri="{FF2B5EF4-FFF2-40B4-BE49-F238E27FC236}">
                <a16:creationId xmlns:a16="http://schemas.microsoft.com/office/drawing/2014/main" id="{B798D0CC-4593-81EC-60DB-E2122C9DC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6263" y="2325688"/>
            <a:ext cx="1976437" cy="979487"/>
          </a:xfrm>
          <a:prstGeom prst="wedgeRectCallout">
            <a:avLst>
              <a:gd name="adj1" fmla="val 34898"/>
              <a:gd name="adj2" fmla="val 199106"/>
            </a:avLst>
          </a:prstGeom>
          <a:solidFill>
            <a:srgbClr val="FF656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i="1"/>
              <a:t>Normal curvature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i="1"/>
              <a:t>“In the plane of the surface normal”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00" i="1" baseline="30000"/>
          </a:p>
        </p:txBody>
      </p:sp>
      <p:sp>
        <p:nvSpPr>
          <p:cNvPr id="19473" name="Rectangle 25">
            <a:extLst>
              <a:ext uri="{FF2B5EF4-FFF2-40B4-BE49-F238E27FC236}">
                <a16:creationId xmlns:a16="http://schemas.microsoft.com/office/drawing/2014/main" id="{B9D72C11-2DA5-163F-5C32-CC13B37D7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725" y="5749925"/>
            <a:ext cx="1316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200" b="1">
                <a:solidFill>
                  <a:srgbClr val="FF0000"/>
                </a:solidFill>
              </a:rPr>
              <a:t>Normal 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200" b="1">
                <a:solidFill>
                  <a:srgbClr val="FF0000"/>
                </a:solidFill>
              </a:rPr>
              <a:t>curvature circle</a:t>
            </a:r>
          </a:p>
        </p:txBody>
      </p:sp>
      <p:sp>
        <p:nvSpPr>
          <p:cNvPr id="19474" name="AutoShape 26">
            <a:extLst>
              <a:ext uri="{FF2B5EF4-FFF2-40B4-BE49-F238E27FC236}">
                <a16:creationId xmlns:a16="http://schemas.microsoft.com/office/drawing/2014/main" id="{B87FDFA7-663C-8EBE-A645-6CCB586C3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1477963"/>
            <a:ext cx="2252662" cy="817562"/>
          </a:xfrm>
          <a:prstGeom prst="wedgeRectCallout">
            <a:avLst>
              <a:gd name="adj1" fmla="val -16949"/>
              <a:gd name="adj2" fmla="val 3090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Geodesic Curvature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“out of the plane”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i="1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i="1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i="1" baseline="30000"/>
          </a:p>
        </p:txBody>
      </p:sp>
      <p:sp>
        <p:nvSpPr>
          <p:cNvPr id="19475" name="Text Box 16">
            <a:extLst>
              <a:ext uri="{FF2B5EF4-FFF2-40B4-BE49-F238E27FC236}">
                <a16:creationId xmlns:a16="http://schemas.microsoft.com/office/drawing/2014/main" id="{0939AD20-456D-8B4C-F503-8E6122F71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2050" y="3294063"/>
            <a:ext cx="735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200" b="1">
                <a:solidFill>
                  <a:srgbClr val="008015"/>
                </a:solidFill>
              </a:rPr>
              <a:t>Curve 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200" b="1">
                <a:solidFill>
                  <a:srgbClr val="008015"/>
                </a:solidFill>
              </a:rPr>
              <a:t>tangent</a:t>
            </a:r>
          </a:p>
        </p:txBody>
      </p:sp>
      <p:sp>
        <p:nvSpPr>
          <p:cNvPr id="19476" name="Text Box 17">
            <a:extLst>
              <a:ext uri="{FF2B5EF4-FFF2-40B4-BE49-F238E27FC236}">
                <a16:creationId xmlns:a16="http://schemas.microsoft.com/office/drawing/2014/main" id="{EC5189B4-B021-E694-012A-012386D39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5188" y="3303588"/>
            <a:ext cx="741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/>
              <a:t>Surface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/>
              <a:t>Normal</a:t>
            </a:r>
          </a:p>
        </p:txBody>
      </p:sp>
      <p:sp>
        <p:nvSpPr>
          <p:cNvPr id="19477" name="Rectangle 29">
            <a:extLst>
              <a:ext uri="{FF2B5EF4-FFF2-40B4-BE49-F238E27FC236}">
                <a16:creationId xmlns:a16="http://schemas.microsoft.com/office/drawing/2014/main" id="{E449B388-9069-C45D-22C0-66F662928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4150" y="3968750"/>
            <a:ext cx="1316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>
                <a:solidFill>
                  <a:srgbClr val="1529EB"/>
                </a:solidFill>
              </a:rPr>
              <a:t>Geodesic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>
                <a:solidFill>
                  <a:srgbClr val="1529EB"/>
                </a:solidFill>
              </a:rPr>
              <a:t>curvature circle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48A9102-EB0F-8309-5798-858F398BC4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Second fundamental form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A7C1EB7-79F1-3D04-10F6-A9EF8D03A24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5163A47C-E806-1050-AA7B-D17CB2242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1509" name="Text Box 5">
            <a:extLst>
              <a:ext uri="{FF2B5EF4-FFF2-40B4-BE49-F238E27FC236}">
                <a16:creationId xmlns:a16="http://schemas.microsoft.com/office/drawing/2014/main" id="{069F56F6-D021-F5A6-602E-FB6C72E7B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982663"/>
            <a:ext cx="6735762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2270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227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Different surface curves</a:t>
            </a:r>
            <a:r>
              <a:rPr lang="en-US" altLang="en-US" sz="1600"/>
              <a:t> with a given</a:t>
            </a:r>
            <a:r>
              <a:rPr lang="en-US" altLang="en-US" sz="1600">
                <a:solidFill>
                  <a:srgbClr val="FF3300"/>
                </a:solidFill>
              </a:rPr>
              <a:t> tangent direction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have </a:t>
            </a:r>
            <a:r>
              <a:rPr lang="en-US" altLang="en-US" sz="1600">
                <a:solidFill>
                  <a:srgbClr val="FF3300"/>
                </a:solidFill>
              </a:rPr>
              <a:t>different geodesic curvatures</a:t>
            </a:r>
            <a:r>
              <a:rPr lang="en-US" altLang="en-US" sz="1600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But the</a:t>
            </a:r>
            <a:r>
              <a:rPr lang="en-US" altLang="en-US" sz="1600">
                <a:solidFill>
                  <a:srgbClr val="FF3300"/>
                </a:solidFill>
              </a:rPr>
              <a:t> same normal curvature.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The normal curvature (in a given directions)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of a curve on the surface is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a feature of the surface itself.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/>
          </a:p>
        </p:txBody>
      </p:sp>
      <p:pic>
        <p:nvPicPr>
          <p:cNvPr id="21510" name="Picture 6">
            <a:extLst>
              <a:ext uri="{FF2B5EF4-FFF2-40B4-BE49-F238E27FC236}">
                <a16:creationId xmlns:a16="http://schemas.microsoft.com/office/drawing/2014/main" id="{C6FE74C6-20D4-A1DB-B09C-983969998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3328988"/>
            <a:ext cx="35083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1" name="Oval 7">
            <a:extLst>
              <a:ext uri="{FF2B5EF4-FFF2-40B4-BE49-F238E27FC236}">
                <a16:creationId xmlns:a16="http://schemas.microsoft.com/office/drawing/2014/main" id="{4345EAF1-5CC6-46AF-B1DD-9C87F72FE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159125"/>
            <a:ext cx="3343275" cy="3184525"/>
          </a:xfrm>
          <a:prstGeom prst="ellipse">
            <a:avLst/>
          </a:prstGeom>
          <a:noFill/>
          <a:ln w="635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21512" name="Picture 11">
            <a:extLst>
              <a:ext uri="{FF2B5EF4-FFF2-40B4-BE49-F238E27FC236}">
                <a16:creationId xmlns:a16="http://schemas.microsoft.com/office/drawing/2014/main" id="{120E3440-C751-33D8-EE66-6EAB4EB3B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613" y="3308350"/>
            <a:ext cx="3835400" cy="297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3" name="Line 13">
            <a:extLst>
              <a:ext uri="{FF2B5EF4-FFF2-40B4-BE49-F238E27FC236}">
                <a16:creationId xmlns:a16="http://schemas.microsoft.com/office/drawing/2014/main" id="{56B8DACC-BA5F-FD6B-BC9A-7C95B48ADD9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3050" y="4991100"/>
            <a:ext cx="822325" cy="16033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4" name="Line 14">
            <a:extLst>
              <a:ext uri="{FF2B5EF4-FFF2-40B4-BE49-F238E27FC236}">
                <a16:creationId xmlns:a16="http://schemas.microsoft.com/office/drawing/2014/main" id="{44A417D1-DF64-5DEA-3993-4B9EBC7877B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56350" y="3808413"/>
            <a:ext cx="250825" cy="11747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5" name="Line 15">
            <a:extLst>
              <a:ext uri="{FF2B5EF4-FFF2-40B4-BE49-F238E27FC236}">
                <a16:creationId xmlns:a16="http://schemas.microsoft.com/office/drawing/2014/main" id="{77BAFC8E-1C89-843B-80E8-AFB3F0FF65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5113" y="3627438"/>
            <a:ext cx="846137" cy="135572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6" name="Line 21">
            <a:extLst>
              <a:ext uri="{FF2B5EF4-FFF2-40B4-BE49-F238E27FC236}">
                <a16:creationId xmlns:a16="http://schemas.microsoft.com/office/drawing/2014/main" id="{51C94BDD-7658-84C8-9753-35138B0B98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3925" y="3467100"/>
            <a:ext cx="838200" cy="944563"/>
          </a:xfrm>
          <a:prstGeom prst="line">
            <a:avLst/>
          </a:prstGeom>
          <a:noFill/>
          <a:ln w="63500">
            <a:solidFill>
              <a:srgbClr val="3399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7" name="Freeform 20">
            <a:extLst>
              <a:ext uri="{FF2B5EF4-FFF2-40B4-BE49-F238E27FC236}">
                <a16:creationId xmlns:a16="http://schemas.microsoft.com/office/drawing/2014/main" id="{CB5A7A99-F2EF-F381-AC2D-11098492CE49}"/>
              </a:ext>
            </a:extLst>
          </p:cNvPr>
          <p:cNvSpPr>
            <a:spLocks/>
          </p:cNvSpPr>
          <p:nvPr/>
        </p:nvSpPr>
        <p:spPr bwMode="auto">
          <a:xfrm>
            <a:off x="2035175" y="3870325"/>
            <a:ext cx="1774825" cy="2203450"/>
          </a:xfrm>
          <a:custGeom>
            <a:avLst/>
            <a:gdLst>
              <a:gd name="T0" fmla="*/ 2147483646 w 1118"/>
              <a:gd name="T1" fmla="*/ 2147483646 h 1388"/>
              <a:gd name="T2" fmla="*/ 2147483646 w 1118"/>
              <a:gd name="T3" fmla="*/ 2147483646 h 1388"/>
              <a:gd name="T4" fmla="*/ 2147483646 w 1118"/>
              <a:gd name="T5" fmla="*/ 2147483646 h 1388"/>
              <a:gd name="T6" fmla="*/ 2147483646 w 1118"/>
              <a:gd name="T7" fmla="*/ 2147483646 h 1388"/>
              <a:gd name="T8" fmla="*/ 2147483646 w 1118"/>
              <a:gd name="T9" fmla="*/ 2147483646 h 1388"/>
              <a:gd name="T10" fmla="*/ 2147483646 w 1118"/>
              <a:gd name="T11" fmla="*/ 2147483646 h 1388"/>
              <a:gd name="T12" fmla="*/ 2147483646 w 1118"/>
              <a:gd name="T13" fmla="*/ 2147483646 h 13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18"/>
              <a:gd name="T22" fmla="*/ 0 h 1388"/>
              <a:gd name="T23" fmla="*/ 1118 w 1118"/>
              <a:gd name="T24" fmla="*/ 1388 h 13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18" h="1388">
                <a:moveTo>
                  <a:pt x="470" y="1388"/>
                </a:moveTo>
                <a:cubicBezTo>
                  <a:pt x="460" y="1330"/>
                  <a:pt x="475" y="1164"/>
                  <a:pt x="422" y="1056"/>
                </a:cubicBezTo>
                <a:cubicBezTo>
                  <a:pt x="369" y="948"/>
                  <a:pt x="144" y="961"/>
                  <a:pt x="72" y="759"/>
                </a:cubicBezTo>
                <a:cubicBezTo>
                  <a:pt x="0" y="557"/>
                  <a:pt x="67" y="423"/>
                  <a:pt x="67" y="423"/>
                </a:cubicBezTo>
                <a:cubicBezTo>
                  <a:pt x="67" y="423"/>
                  <a:pt x="171" y="209"/>
                  <a:pt x="283" y="140"/>
                </a:cubicBezTo>
                <a:cubicBezTo>
                  <a:pt x="395" y="71"/>
                  <a:pt x="610" y="0"/>
                  <a:pt x="739" y="10"/>
                </a:cubicBezTo>
                <a:cubicBezTo>
                  <a:pt x="868" y="20"/>
                  <a:pt x="1039" y="113"/>
                  <a:pt x="1118" y="140"/>
                </a:cubicBezTo>
              </a:path>
            </a:pathLst>
          </a:custGeom>
          <a:noFill/>
          <a:ln w="38100">
            <a:solidFill>
              <a:srgbClr val="76FF4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8" name="Freeform 22">
            <a:extLst>
              <a:ext uri="{FF2B5EF4-FFF2-40B4-BE49-F238E27FC236}">
                <a16:creationId xmlns:a16="http://schemas.microsoft.com/office/drawing/2014/main" id="{6B10CC9C-DB3B-36E0-3488-5FEDBDA9684C}"/>
              </a:ext>
            </a:extLst>
          </p:cNvPr>
          <p:cNvSpPr>
            <a:spLocks/>
          </p:cNvSpPr>
          <p:nvPr/>
        </p:nvSpPr>
        <p:spPr bwMode="auto">
          <a:xfrm>
            <a:off x="747713" y="3406775"/>
            <a:ext cx="1779587" cy="2160588"/>
          </a:xfrm>
          <a:custGeom>
            <a:avLst/>
            <a:gdLst>
              <a:gd name="T0" fmla="*/ 0 w 1121"/>
              <a:gd name="T1" fmla="*/ 2147483646 h 1361"/>
              <a:gd name="T2" fmla="*/ 2147483646 w 1121"/>
              <a:gd name="T3" fmla="*/ 2147483646 h 1361"/>
              <a:gd name="T4" fmla="*/ 2147483646 w 1121"/>
              <a:gd name="T5" fmla="*/ 2147483646 h 1361"/>
              <a:gd name="T6" fmla="*/ 2147483646 w 1121"/>
              <a:gd name="T7" fmla="*/ 2147483646 h 1361"/>
              <a:gd name="T8" fmla="*/ 2147483646 w 1121"/>
              <a:gd name="T9" fmla="*/ 2147483646 h 1361"/>
              <a:gd name="T10" fmla="*/ 2147483646 w 1121"/>
              <a:gd name="T11" fmla="*/ 2147483646 h 1361"/>
              <a:gd name="T12" fmla="*/ 2147483646 w 1121"/>
              <a:gd name="T13" fmla="*/ 2147483646 h 13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21"/>
              <a:gd name="T22" fmla="*/ 0 h 1361"/>
              <a:gd name="T23" fmla="*/ 1121 w 1121"/>
              <a:gd name="T24" fmla="*/ 1361 h 136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21" h="1361">
                <a:moveTo>
                  <a:pt x="0" y="1328"/>
                </a:moveTo>
                <a:cubicBezTo>
                  <a:pt x="183" y="1361"/>
                  <a:pt x="309" y="1349"/>
                  <a:pt x="456" y="1214"/>
                </a:cubicBezTo>
                <a:cubicBezTo>
                  <a:pt x="603" y="1079"/>
                  <a:pt x="528" y="1160"/>
                  <a:pt x="657" y="1019"/>
                </a:cubicBezTo>
                <a:cubicBezTo>
                  <a:pt x="786" y="878"/>
                  <a:pt x="858" y="740"/>
                  <a:pt x="858" y="740"/>
                </a:cubicBezTo>
                <a:cubicBezTo>
                  <a:pt x="858" y="740"/>
                  <a:pt x="947" y="608"/>
                  <a:pt x="997" y="538"/>
                </a:cubicBezTo>
                <a:cubicBezTo>
                  <a:pt x="1047" y="468"/>
                  <a:pt x="1121" y="358"/>
                  <a:pt x="1099" y="240"/>
                </a:cubicBezTo>
                <a:cubicBezTo>
                  <a:pt x="1077" y="122"/>
                  <a:pt x="811" y="0"/>
                  <a:pt x="566" y="182"/>
                </a:cubicBezTo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9" name="Rectangle 25">
            <a:extLst>
              <a:ext uri="{FF2B5EF4-FFF2-40B4-BE49-F238E27FC236}">
                <a16:creationId xmlns:a16="http://schemas.microsoft.com/office/drawing/2014/main" id="{FDAC991E-5595-289A-3EAF-B2E1F736C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725" y="5749925"/>
            <a:ext cx="1316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200" b="1">
                <a:solidFill>
                  <a:srgbClr val="FF0000"/>
                </a:solidFill>
              </a:rPr>
              <a:t>Normal 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200" b="1">
                <a:solidFill>
                  <a:srgbClr val="FF0000"/>
                </a:solidFill>
              </a:rPr>
              <a:t>curvature circle</a:t>
            </a:r>
          </a:p>
        </p:txBody>
      </p:sp>
      <p:sp>
        <p:nvSpPr>
          <p:cNvPr id="21520" name="AutoShape 26">
            <a:extLst>
              <a:ext uri="{FF2B5EF4-FFF2-40B4-BE49-F238E27FC236}">
                <a16:creationId xmlns:a16="http://schemas.microsoft.com/office/drawing/2014/main" id="{C1538E6C-9103-8A2F-B8DB-23EECB223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1477963"/>
            <a:ext cx="2252662" cy="817562"/>
          </a:xfrm>
          <a:prstGeom prst="wedgeRectCallout">
            <a:avLst>
              <a:gd name="adj1" fmla="val -16949"/>
              <a:gd name="adj2" fmla="val 3090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Geodesic Curvature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“out of the plane”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i="1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i="1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i="1" baseline="30000"/>
          </a:p>
        </p:txBody>
      </p:sp>
      <p:sp>
        <p:nvSpPr>
          <p:cNvPr id="21521" name="Text Box 16">
            <a:extLst>
              <a:ext uri="{FF2B5EF4-FFF2-40B4-BE49-F238E27FC236}">
                <a16:creationId xmlns:a16="http://schemas.microsoft.com/office/drawing/2014/main" id="{60FA4185-4A42-1ED6-B784-BD8991EA9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2050" y="3294063"/>
            <a:ext cx="735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200" b="1">
                <a:solidFill>
                  <a:srgbClr val="008015"/>
                </a:solidFill>
              </a:rPr>
              <a:t>Curve 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200" b="1">
                <a:solidFill>
                  <a:srgbClr val="008015"/>
                </a:solidFill>
              </a:rPr>
              <a:t>tangent</a:t>
            </a:r>
          </a:p>
        </p:txBody>
      </p:sp>
      <p:sp>
        <p:nvSpPr>
          <p:cNvPr id="21522" name="Text Box 17">
            <a:extLst>
              <a:ext uri="{FF2B5EF4-FFF2-40B4-BE49-F238E27FC236}">
                <a16:creationId xmlns:a16="http://schemas.microsoft.com/office/drawing/2014/main" id="{FCF7F904-4D0C-DBCB-0B26-8A5E4F53F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5188" y="3303588"/>
            <a:ext cx="741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/>
              <a:t>Surface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/>
              <a:t>Normal</a:t>
            </a:r>
          </a:p>
        </p:txBody>
      </p:sp>
      <p:sp>
        <p:nvSpPr>
          <p:cNvPr id="21523" name="Rectangle 29">
            <a:extLst>
              <a:ext uri="{FF2B5EF4-FFF2-40B4-BE49-F238E27FC236}">
                <a16:creationId xmlns:a16="http://schemas.microsoft.com/office/drawing/2014/main" id="{2B9950C5-D17A-0387-EC03-098B8AC75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4150" y="3968750"/>
            <a:ext cx="1316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>
                <a:solidFill>
                  <a:srgbClr val="1529EB"/>
                </a:solidFill>
              </a:rPr>
              <a:t>Geodesic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>
                <a:solidFill>
                  <a:srgbClr val="1529EB"/>
                </a:solidFill>
              </a:rPr>
              <a:t>curvature circle</a:t>
            </a:r>
          </a:p>
        </p:txBody>
      </p:sp>
      <p:graphicFrame>
        <p:nvGraphicFramePr>
          <p:cNvPr id="21524" name="Object 15">
            <a:extLst>
              <a:ext uri="{FF2B5EF4-FFF2-40B4-BE49-F238E27FC236}">
                <a16:creationId xmlns:a16="http://schemas.microsoft.com/office/drawing/2014/main" id="{E6206304-1B2B-F069-0215-6B94CE22AF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6838" y="511175"/>
          <a:ext cx="2135187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20800" imgH="457200" progId="Equation.3">
                  <p:embed/>
                </p:oleObj>
              </mc:Choice>
              <mc:Fallback>
                <p:oleObj name="Equation" r:id="rId5" imgW="1320800" imgH="457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6838" y="511175"/>
                        <a:ext cx="2135187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95BADF7-5155-64F1-573F-18FDC70BE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Principle directions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E50733D-D969-0574-AE14-880703DD6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23556" name="Picture 6">
            <a:extLst>
              <a:ext uri="{FF2B5EF4-FFF2-40B4-BE49-F238E27FC236}">
                <a16:creationId xmlns:a16="http://schemas.microsoft.com/office/drawing/2014/main" id="{B1EBF2C7-A3E5-0130-5664-9926022DC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4124325"/>
            <a:ext cx="275113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Text Box 9">
            <a:extLst>
              <a:ext uri="{FF2B5EF4-FFF2-40B4-BE49-F238E27FC236}">
                <a16:creationId xmlns:a16="http://schemas.microsoft.com/office/drawing/2014/main" id="{2A7283FD-8FA4-6F50-20C3-6CA3ABB57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5045075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2</a:t>
            </a:r>
            <a:r>
              <a:rPr lang="en-US" altLang="en-US" sz="1400" b="1">
                <a:latin typeface="Symbol" panose="05050102010706020507" pitchFamily="18" charset="2"/>
              </a:rPr>
              <a:t>p</a:t>
            </a:r>
          </a:p>
        </p:txBody>
      </p:sp>
      <p:sp>
        <p:nvSpPr>
          <p:cNvPr id="23558" name="Text Box 10">
            <a:extLst>
              <a:ext uri="{FF2B5EF4-FFF2-40B4-BE49-F238E27FC236}">
                <a16:creationId xmlns:a16="http://schemas.microsoft.com/office/drawing/2014/main" id="{2B89288F-D263-88B6-FCA8-DABA3D3F1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50450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0</a:t>
            </a:r>
            <a:endParaRPr lang="en-US" altLang="en-US" sz="1400" b="1">
              <a:latin typeface="Symbol" panose="05050102010706020507" pitchFamily="18" charset="2"/>
            </a:endParaRPr>
          </a:p>
        </p:txBody>
      </p:sp>
      <p:sp>
        <p:nvSpPr>
          <p:cNvPr id="23559" name="Text Box 11">
            <a:extLst>
              <a:ext uri="{FF2B5EF4-FFF2-40B4-BE49-F238E27FC236}">
                <a16:creationId xmlns:a16="http://schemas.microsoft.com/office/drawing/2014/main" id="{FAD31EA2-98C6-E8DA-414F-B563FFE07F25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45244" y="4976019"/>
            <a:ext cx="9921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curvature</a:t>
            </a:r>
            <a:endParaRPr lang="en-US" altLang="en-US" sz="1400" b="1">
              <a:latin typeface="Symbol" panose="05050102010706020507" pitchFamily="18" charset="2"/>
            </a:endParaRPr>
          </a:p>
        </p:txBody>
      </p:sp>
      <p:pic>
        <p:nvPicPr>
          <p:cNvPr id="23560" name="Picture 28">
            <a:extLst>
              <a:ext uri="{FF2B5EF4-FFF2-40B4-BE49-F238E27FC236}">
                <a16:creationId xmlns:a16="http://schemas.microsoft.com/office/drawing/2014/main" id="{3ED92BB5-E892-CB31-7BF9-F105558D5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974725"/>
            <a:ext cx="2044700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1" name="Line 29">
            <a:extLst>
              <a:ext uri="{FF2B5EF4-FFF2-40B4-BE49-F238E27FC236}">
                <a16:creationId xmlns:a16="http://schemas.microsoft.com/office/drawing/2014/main" id="{CB7B266A-3DFB-1D54-14E0-EC77D7E8EDBF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884363" y="2028825"/>
            <a:ext cx="10731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2" name="Line 30">
            <a:extLst>
              <a:ext uri="{FF2B5EF4-FFF2-40B4-BE49-F238E27FC236}">
                <a16:creationId xmlns:a16="http://schemas.microsoft.com/office/drawing/2014/main" id="{47A3DA19-9E40-9D02-B6C2-DD7A85685567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884363" y="992188"/>
            <a:ext cx="1587" cy="10287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3" name="Text Box 33">
            <a:extLst>
              <a:ext uri="{FF2B5EF4-FFF2-40B4-BE49-F238E27FC236}">
                <a16:creationId xmlns:a16="http://schemas.microsoft.com/office/drawing/2014/main" id="{85646C8B-CD70-B97A-8DD9-4217CA8BE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29400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u</a:t>
            </a:r>
          </a:p>
        </p:txBody>
      </p:sp>
      <p:sp>
        <p:nvSpPr>
          <p:cNvPr id="23564" name="Text Box 34">
            <a:extLst>
              <a:ext uri="{FF2B5EF4-FFF2-40B4-BE49-F238E27FC236}">
                <a16:creationId xmlns:a16="http://schemas.microsoft.com/office/drawing/2014/main" id="{41B54C2F-EF83-DDF4-7B4E-D1EA368C3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8" y="1714500"/>
            <a:ext cx="342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v</a:t>
            </a:r>
          </a:p>
        </p:txBody>
      </p:sp>
      <p:sp>
        <p:nvSpPr>
          <p:cNvPr id="23565" name="Line 35">
            <a:extLst>
              <a:ext uri="{FF2B5EF4-FFF2-40B4-BE49-F238E27FC236}">
                <a16:creationId xmlns:a16="http://schemas.microsoft.com/office/drawing/2014/main" id="{0ACB3284-1488-2C2D-01C3-CA520F867E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89125" y="1333500"/>
            <a:ext cx="938213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6" name="Line 36">
            <a:extLst>
              <a:ext uri="{FF2B5EF4-FFF2-40B4-BE49-F238E27FC236}">
                <a16:creationId xmlns:a16="http://schemas.microsoft.com/office/drawing/2014/main" id="{FE4DBE52-93BA-11D7-F703-87B5522532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87538" y="2012950"/>
            <a:ext cx="1065212" cy="142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7" name="Text Box 37">
            <a:extLst>
              <a:ext uri="{FF2B5EF4-FFF2-40B4-BE49-F238E27FC236}">
                <a16:creationId xmlns:a16="http://schemas.microsoft.com/office/drawing/2014/main" id="{4C83369F-2745-9D0F-3269-42E45BFAC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3613" y="1182688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i="1">
                <a:latin typeface="Symbol" panose="05050102010706020507" pitchFamily="18" charset="2"/>
              </a:rPr>
              <a:t>q</a:t>
            </a:r>
            <a:r>
              <a:rPr lang="en-US" altLang="en-US" sz="1400" i="1" baseline="-25000">
                <a:latin typeface="Symbol" panose="05050102010706020507" pitchFamily="18" charset="2"/>
              </a:rPr>
              <a:t>1</a:t>
            </a:r>
            <a:endParaRPr lang="en-US" altLang="en-US" sz="1400" i="1">
              <a:latin typeface="Symbol" panose="05050102010706020507" pitchFamily="18" charset="2"/>
            </a:endParaRPr>
          </a:p>
        </p:txBody>
      </p:sp>
      <p:sp>
        <p:nvSpPr>
          <p:cNvPr id="23568" name="Text Box 38">
            <a:extLst>
              <a:ext uri="{FF2B5EF4-FFF2-40B4-BE49-F238E27FC236}">
                <a16:creationId xmlns:a16="http://schemas.microsoft.com/office/drawing/2014/main" id="{893A898C-842F-C982-A5B0-E285E4D9F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2135188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i="1">
                <a:latin typeface="Symbol" panose="05050102010706020507" pitchFamily="18" charset="2"/>
              </a:rPr>
              <a:t>q</a:t>
            </a:r>
            <a:r>
              <a:rPr lang="en-US" altLang="en-US" sz="1400" i="1" baseline="-25000">
                <a:latin typeface="Symbol" panose="05050102010706020507" pitchFamily="18" charset="2"/>
              </a:rPr>
              <a:t>2</a:t>
            </a:r>
            <a:endParaRPr lang="en-US" altLang="en-US" sz="1400" i="1">
              <a:latin typeface="Symbol" panose="05050102010706020507" pitchFamily="18" charset="2"/>
            </a:endParaRPr>
          </a:p>
        </p:txBody>
      </p:sp>
      <p:sp>
        <p:nvSpPr>
          <p:cNvPr id="23569" name="Line 39">
            <a:extLst>
              <a:ext uri="{FF2B5EF4-FFF2-40B4-BE49-F238E27FC236}">
                <a16:creationId xmlns:a16="http://schemas.microsoft.com/office/drawing/2014/main" id="{2CEF2A0A-932B-B5B8-A453-8278CE8F52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1788" y="1398588"/>
            <a:ext cx="3394075" cy="7413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0" name="Line 40">
            <a:extLst>
              <a:ext uri="{FF2B5EF4-FFF2-40B4-BE49-F238E27FC236}">
                <a16:creationId xmlns:a16="http://schemas.microsoft.com/office/drawing/2014/main" id="{2F4654DF-651E-3ED2-98B1-029CCD33AD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2275" y="2030413"/>
            <a:ext cx="2778125" cy="6588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1" name="Text Box 41">
            <a:extLst>
              <a:ext uri="{FF2B5EF4-FFF2-40B4-BE49-F238E27FC236}">
                <a16:creationId xmlns:a16="http://schemas.microsoft.com/office/drawing/2014/main" id="{53FADBB9-A6BD-AD33-C011-23378C28C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5183188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i="1">
                <a:latin typeface="Symbol" panose="05050102010706020507" pitchFamily="18" charset="2"/>
              </a:rPr>
              <a:t>q</a:t>
            </a:r>
            <a:r>
              <a:rPr lang="en-US" altLang="en-US" sz="1400" i="1" baseline="-25000">
                <a:latin typeface="Symbol" panose="05050102010706020507" pitchFamily="18" charset="2"/>
              </a:rPr>
              <a:t>1</a:t>
            </a:r>
            <a:endParaRPr lang="en-US" altLang="en-US" sz="1400" i="1">
              <a:latin typeface="Symbol" panose="05050102010706020507" pitchFamily="18" charset="2"/>
            </a:endParaRPr>
          </a:p>
        </p:txBody>
      </p:sp>
      <p:sp>
        <p:nvSpPr>
          <p:cNvPr id="23572" name="Text Box 42">
            <a:extLst>
              <a:ext uri="{FF2B5EF4-FFF2-40B4-BE49-F238E27FC236}">
                <a16:creationId xmlns:a16="http://schemas.microsoft.com/office/drawing/2014/main" id="{C41594F0-34F7-2D9B-BAD1-FE7B773EE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463" y="5227638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i="1">
                <a:latin typeface="Symbol" panose="05050102010706020507" pitchFamily="18" charset="2"/>
              </a:rPr>
              <a:t>q</a:t>
            </a:r>
            <a:r>
              <a:rPr lang="en-US" altLang="en-US" sz="1400" i="1" baseline="-25000">
                <a:latin typeface="Symbol" panose="05050102010706020507" pitchFamily="18" charset="2"/>
              </a:rPr>
              <a:t>2</a:t>
            </a:r>
            <a:endParaRPr lang="en-US" altLang="en-US" sz="1400" i="1">
              <a:latin typeface="Symbol" panose="05050102010706020507" pitchFamily="18" charset="2"/>
            </a:endParaRPr>
          </a:p>
        </p:txBody>
      </p:sp>
      <p:sp>
        <p:nvSpPr>
          <p:cNvPr id="23573" name="Line 43">
            <a:extLst>
              <a:ext uri="{FF2B5EF4-FFF2-40B4-BE49-F238E27FC236}">
                <a16:creationId xmlns:a16="http://schemas.microsoft.com/office/drawing/2014/main" id="{F17FB113-D2DC-EC67-9721-B7C8BA41A1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2925" y="4533900"/>
            <a:ext cx="0" cy="6937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4" name="Line 44">
            <a:extLst>
              <a:ext uri="{FF2B5EF4-FFF2-40B4-BE49-F238E27FC236}">
                <a16:creationId xmlns:a16="http://schemas.microsoft.com/office/drawing/2014/main" id="{61F6D0C6-DE60-2F78-4F7C-76DEE70368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9213" y="3886200"/>
            <a:ext cx="0" cy="13414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5" name="Oval 45">
            <a:extLst>
              <a:ext uri="{FF2B5EF4-FFF2-40B4-BE49-F238E27FC236}">
                <a16:creationId xmlns:a16="http://schemas.microsoft.com/office/drawing/2014/main" id="{0137425E-D727-E8F3-1081-C2544D8A9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478472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76" name="Oval 46">
            <a:extLst>
              <a:ext uri="{FF2B5EF4-FFF2-40B4-BE49-F238E27FC236}">
                <a16:creationId xmlns:a16="http://schemas.microsoft.com/office/drawing/2014/main" id="{FCC1B3E9-0696-698E-ABEF-56C50581B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475" y="4037013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77" name="Line 47">
            <a:extLst>
              <a:ext uri="{FF2B5EF4-FFF2-40B4-BE49-F238E27FC236}">
                <a16:creationId xmlns:a16="http://schemas.microsoft.com/office/drawing/2014/main" id="{D3B0FCB7-7DCD-185F-9C03-ABBA160C6E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00225" y="1549400"/>
            <a:ext cx="728663" cy="27844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8" name="Line 48">
            <a:extLst>
              <a:ext uri="{FF2B5EF4-FFF2-40B4-BE49-F238E27FC236}">
                <a16:creationId xmlns:a16="http://schemas.microsoft.com/office/drawing/2014/main" id="{DCEF8656-29E4-54EC-8CFF-28E6C04E2B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08263" y="2068513"/>
            <a:ext cx="255587" cy="1778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9" name="Text Box 49">
            <a:extLst>
              <a:ext uri="{FF2B5EF4-FFF2-40B4-BE49-F238E27FC236}">
                <a16:creationId xmlns:a16="http://schemas.microsoft.com/office/drawing/2014/main" id="{97E0F018-A664-792D-C28A-91876278C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513" y="5073650"/>
            <a:ext cx="4972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as we pick different pairs of directions, we’ll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get different pairs of curvature values…</a:t>
            </a:r>
          </a:p>
        </p:txBody>
      </p:sp>
      <p:sp>
        <p:nvSpPr>
          <p:cNvPr id="23580" name="Freeform 56">
            <a:extLst>
              <a:ext uri="{FF2B5EF4-FFF2-40B4-BE49-F238E27FC236}">
                <a16:creationId xmlns:a16="http://schemas.microsoft.com/office/drawing/2014/main" id="{F4342164-1FFA-EF22-7264-CF1588736CEC}"/>
              </a:ext>
            </a:extLst>
          </p:cNvPr>
          <p:cNvSpPr>
            <a:spLocks/>
          </p:cNvSpPr>
          <p:nvPr/>
        </p:nvSpPr>
        <p:spPr bwMode="auto">
          <a:xfrm>
            <a:off x="1039813" y="1320800"/>
            <a:ext cx="1565275" cy="1279525"/>
          </a:xfrm>
          <a:custGeom>
            <a:avLst/>
            <a:gdLst>
              <a:gd name="T0" fmla="*/ 0 w 986"/>
              <a:gd name="T1" fmla="*/ 0 h 806"/>
              <a:gd name="T2" fmla="*/ 2147483646 w 986"/>
              <a:gd name="T3" fmla="*/ 2147483646 h 806"/>
              <a:gd name="T4" fmla="*/ 0 60000 65536"/>
              <a:gd name="T5" fmla="*/ 0 60000 65536"/>
              <a:gd name="T6" fmla="*/ 0 w 986"/>
              <a:gd name="T7" fmla="*/ 0 h 806"/>
              <a:gd name="T8" fmla="*/ 986 w 986"/>
              <a:gd name="T9" fmla="*/ 806 h 80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86" h="806">
                <a:moveTo>
                  <a:pt x="0" y="0"/>
                </a:moveTo>
                <a:lnTo>
                  <a:pt x="986" y="806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3581" name="Group 61">
            <a:extLst>
              <a:ext uri="{FF2B5EF4-FFF2-40B4-BE49-F238E27FC236}">
                <a16:creationId xmlns:a16="http://schemas.microsoft.com/office/drawing/2014/main" id="{63962F7C-AE08-24FE-12DD-652870740626}"/>
              </a:ext>
            </a:extLst>
          </p:cNvPr>
          <p:cNvGrpSpPr>
            <a:grpSpLocks/>
          </p:cNvGrpSpPr>
          <p:nvPr/>
        </p:nvGrpSpPr>
        <p:grpSpPr bwMode="auto">
          <a:xfrm>
            <a:off x="4159250" y="1146175"/>
            <a:ext cx="4883150" cy="3794125"/>
            <a:chOff x="3274" y="1094"/>
            <a:chExt cx="2422" cy="2018"/>
          </a:xfrm>
        </p:grpSpPr>
        <p:pic>
          <p:nvPicPr>
            <p:cNvPr id="23586" name="Picture 26">
              <a:extLst>
                <a:ext uri="{FF2B5EF4-FFF2-40B4-BE49-F238E27FC236}">
                  <a16:creationId xmlns:a16="http://schemas.microsoft.com/office/drawing/2014/main" id="{E4A717B5-D53C-CD81-6740-0BE9CA0038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4" y="1094"/>
              <a:ext cx="2422" cy="2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87" name="Freeform 57">
              <a:extLst>
                <a:ext uri="{FF2B5EF4-FFF2-40B4-BE49-F238E27FC236}">
                  <a16:creationId xmlns:a16="http://schemas.microsoft.com/office/drawing/2014/main" id="{86198525-AF98-E8AC-FFBD-24CEB5C79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1854"/>
              <a:ext cx="1164" cy="678"/>
            </a:xfrm>
            <a:custGeom>
              <a:avLst/>
              <a:gdLst>
                <a:gd name="T0" fmla="*/ 0 w 1164"/>
                <a:gd name="T1" fmla="*/ 678 h 678"/>
                <a:gd name="T2" fmla="*/ 612 w 1164"/>
                <a:gd name="T3" fmla="*/ 249 h 678"/>
                <a:gd name="T4" fmla="*/ 1164 w 1164"/>
                <a:gd name="T5" fmla="*/ 0 h 678"/>
                <a:gd name="T6" fmla="*/ 0 60000 65536"/>
                <a:gd name="T7" fmla="*/ 0 60000 65536"/>
                <a:gd name="T8" fmla="*/ 0 60000 65536"/>
                <a:gd name="T9" fmla="*/ 0 w 1164"/>
                <a:gd name="T10" fmla="*/ 0 h 678"/>
                <a:gd name="T11" fmla="*/ 1164 w 1164"/>
                <a:gd name="T12" fmla="*/ 678 h 6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64" h="678">
                  <a:moveTo>
                    <a:pt x="0" y="678"/>
                  </a:moveTo>
                  <a:cubicBezTo>
                    <a:pt x="101" y="607"/>
                    <a:pt x="418" y="362"/>
                    <a:pt x="612" y="249"/>
                  </a:cubicBezTo>
                  <a:cubicBezTo>
                    <a:pt x="806" y="136"/>
                    <a:pt x="1049" y="52"/>
                    <a:pt x="1164" y="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82" name="Line 62">
            <a:extLst>
              <a:ext uri="{FF2B5EF4-FFF2-40B4-BE49-F238E27FC236}">
                <a16:creationId xmlns:a16="http://schemas.microsoft.com/office/drawing/2014/main" id="{14FE53B1-597F-5729-5457-BE49B3EB7D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4850" y="3638550"/>
            <a:ext cx="1752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3" name="Freeform 60">
            <a:extLst>
              <a:ext uri="{FF2B5EF4-FFF2-40B4-BE49-F238E27FC236}">
                <a16:creationId xmlns:a16="http://schemas.microsoft.com/office/drawing/2014/main" id="{32163273-4154-4FB8-6495-132106C71F84}"/>
              </a:ext>
            </a:extLst>
          </p:cNvPr>
          <p:cNvSpPr>
            <a:spLocks/>
          </p:cNvSpPr>
          <p:nvPr/>
        </p:nvSpPr>
        <p:spPr bwMode="auto">
          <a:xfrm flipV="1">
            <a:off x="763588" y="3592513"/>
            <a:ext cx="4154487" cy="2376487"/>
          </a:xfrm>
          <a:custGeom>
            <a:avLst/>
            <a:gdLst>
              <a:gd name="T0" fmla="*/ 0 w 1723"/>
              <a:gd name="T1" fmla="*/ 2147483646 h 831"/>
              <a:gd name="T2" fmla="*/ 2147483646 w 1723"/>
              <a:gd name="T3" fmla="*/ 2147483646 h 831"/>
              <a:gd name="T4" fmla="*/ 2147483646 w 1723"/>
              <a:gd name="T5" fmla="*/ 2147483646 h 831"/>
              <a:gd name="T6" fmla="*/ 2147483646 w 1723"/>
              <a:gd name="T7" fmla="*/ 2147483646 h 831"/>
              <a:gd name="T8" fmla="*/ 0 60000 65536"/>
              <a:gd name="T9" fmla="*/ 0 60000 65536"/>
              <a:gd name="T10" fmla="*/ 0 60000 65536"/>
              <a:gd name="T11" fmla="*/ 0 60000 65536"/>
              <a:gd name="T12" fmla="*/ 0 w 1723"/>
              <a:gd name="T13" fmla="*/ 0 h 831"/>
              <a:gd name="T14" fmla="*/ 1723 w 1723"/>
              <a:gd name="T15" fmla="*/ 831 h 8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23" h="831">
                <a:moveTo>
                  <a:pt x="0" y="212"/>
                </a:moveTo>
                <a:cubicBezTo>
                  <a:pt x="96" y="312"/>
                  <a:pt x="358" y="831"/>
                  <a:pt x="576" y="812"/>
                </a:cubicBezTo>
                <a:cubicBezTo>
                  <a:pt x="794" y="793"/>
                  <a:pt x="1120" y="192"/>
                  <a:pt x="1311" y="96"/>
                </a:cubicBezTo>
                <a:cubicBezTo>
                  <a:pt x="1502" y="0"/>
                  <a:pt x="1637" y="207"/>
                  <a:pt x="1723" y="236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4" name="Line 7">
            <a:extLst>
              <a:ext uri="{FF2B5EF4-FFF2-40B4-BE49-F238E27FC236}">
                <a16:creationId xmlns:a16="http://schemas.microsoft.com/office/drawing/2014/main" id="{B651537C-5818-0DCC-88F9-D1CC66E787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9613" y="5799138"/>
            <a:ext cx="3454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5" name="Line 8">
            <a:extLst>
              <a:ext uri="{FF2B5EF4-FFF2-40B4-BE49-F238E27FC236}">
                <a16:creationId xmlns:a16="http://schemas.microsoft.com/office/drawing/2014/main" id="{9532A464-0C4C-F330-4AAF-2B8CC6BB03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1038" y="3438525"/>
            <a:ext cx="17462" cy="2662238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27">
            <a:extLst>
              <a:ext uri="{FF2B5EF4-FFF2-40B4-BE49-F238E27FC236}">
                <a16:creationId xmlns:a16="http://schemas.microsoft.com/office/drawing/2014/main" id="{E0A30023-3A23-1898-8262-B8B37EC84C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363" y="4000500"/>
            <a:ext cx="0" cy="12271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D4358972-8402-32D2-CEF3-F8C7266EF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Bi- directions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D0A902F3-A94A-E63E-C0CC-18130E06D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25605" name="Picture 5">
            <a:extLst>
              <a:ext uri="{FF2B5EF4-FFF2-40B4-BE49-F238E27FC236}">
                <a16:creationId xmlns:a16="http://schemas.microsoft.com/office/drawing/2014/main" id="{A8C8CD84-45D6-361F-793B-A20A88415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" y="4124325"/>
            <a:ext cx="275113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Line 7">
            <a:extLst>
              <a:ext uri="{FF2B5EF4-FFF2-40B4-BE49-F238E27FC236}">
                <a16:creationId xmlns:a16="http://schemas.microsoft.com/office/drawing/2014/main" id="{81E3261B-09F5-5407-01C4-D9F44D53DE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3413" y="3486150"/>
            <a:ext cx="7937" cy="2614613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7" name="Text Box 8">
            <a:extLst>
              <a:ext uri="{FF2B5EF4-FFF2-40B4-BE49-F238E27FC236}">
                <a16:creationId xmlns:a16="http://schemas.microsoft.com/office/drawing/2014/main" id="{338B8718-2F56-92DA-DC19-425D766F7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5045075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2</a:t>
            </a:r>
            <a:r>
              <a:rPr lang="en-US" altLang="en-US" sz="1400" b="1">
                <a:latin typeface="Symbol" panose="05050102010706020507" pitchFamily="18" charset="2"/>
              </a:rPr>
              <a:t>p</a:t>
            </a:r>
          </a:p>
        </p:txBody>
      </p:sp>
      <p:sp>
        <p:nvSpPr>
          <p:cNvPr id="25608" name="Text Box 9">
            <a:extLst>
              <a:ext uri="{FF2B5EF4-FFF2-40B4-BE49-F238E27FC236}">
                <a16:creationId xmlns:a16="http://schemas.microsoft.com/office/drawing/2014/main" id="{C6F9546E-81FF-26AC-EC50-AEF431C95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50450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0</a:t>
            </a:r>
            <a:endParaRPr lang="en-US" altLang="en-US" sz="1400" b="1">
              <a:latin typeface="Symbol" panose="05050102010706020507" pitchFamily="18" charset="2"/>
            </a:endParaRPr>
          </a:p>
        </p:txBody>
      </p:sp>
      <p:sp>
        <p:nvSpPr>
          <p:cNvPr id="25609" name="Text Box 10">
            <a:extLst>
              <a:ext uri="{FF2B5EF4-FFF2-40B4-BE49-F238E27FC236}">
                <a16:creationId xmlns:a16="http://schemas.microsoft.com/office/drawing/2014/main" id="{7AA002EB-138C-9474-F277-C1461704D182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45244" y="4976019"/>
            <a:ext cx="9921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curvature</a:t>
            </a:r>
            <a:endParaRPr lang="en-US" altLang="en-US" sz="1400" b="1">
              <a:latin typeface="Symbol" panose="05050102010706020507" pitchFamily="18" charset="2"/>
            </a:endParaRPr>
          </a:p>
        </p:txBody>
      </p:sp>
      <p:sp>
        <p:nvSpPr>
          <p:cNvPr id="25610" name="Freeform 11">
            <a:extLst>
              <a:ext uri="{FF2B5EF4-FFF2-40B4-BE49-F238E27FC236}">
                <a16:creationId xmlns:a16="http://schemas.microsoft.com/office/drawing/2014/main" id="{275724C5-F6E0-E3B2-04E6-748A04BE932C}"/>
              </a:ext>
            </a:extLst>
          </p:cNvPr>
          <p:cNvSpPr>
            <a:spLocks/>
          </p:cNvSpPr>
          <p:nvPr/>
        </p:nvSpPr>
        <p:spPr bwMode="auto">
          <a:xfrm>
            <a:off x="754063" y="3749675"/>
            <a:ext cx="2735262" cy="1158875"/>
          </a:xfrm>
          <a:custGeom>
            <a:avLst/>
            <a:gdLst>
              <a:gd name="T0" fmla="*/ 0 w 1723"/>
              <a:gd name="T1" fmla="*/ 2147483646 h 831"/>
              <a:gd name="T2" fmla="*/ 2147483646 w 1723"/>
              <a:gd name="T3" fmla="*/ 2147483646 h 831"/>
              <a:gd name="T4" fmla="*/ 2147483646 w 1723"/>
              <a:gd name="T5" fmla="*/ 2147483646 h 831"/>
              <a:gd name="T6" fmla="*/ 2147483646 w 1723"/>
              <a:gd name="T7" fmla="*/ 2147483646 h 831"/>
              <a:gd name="T8" fmla="*/ 0 60000 65536"/>
              <a:gd name="T9" fmla="*/ 0 60000 65536"/>
              <a:gd name="T10" fmla="*/ 0 60000 65536"/>
              <a:gd name="T11" fmla="*/ 0 60000 65536"/>
              <a:gd name="T12" fmla="*/ 0 w 1723"/>
              <a:gd name="T13" fmla="*/ 0 h 831"/>
              <a:gd name="T14" fmla="*/ 1723 w 1723"/>
              <a:gd name="T15" fmla="*/ 831 h 8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23" h="831">
                <a:moveTo>
                  <a:pt x="0" y="212"/>
                </a:moveTo>
                <a:cubicBezTo>
                  <a:pt x="96" y="312"/>
                  <a:pt x="358" y="831"/>
                  <a:pt x="576" y="812"/>
                </a:cubicBezTo>
                <a:cubicBezTo>
                  <a:pt x="794" y="793"/>
                  <a:pt x="1120" y="192"/>
                  <a:pt x="1311" y="96"/>
                </a:cubicBezTo>
                <a:cubicBezTo>
                  <a:pt x="1502" y="0"/>
                  <a:pt x="1637" y="207"/>
                  <a:pt x="1723" y="236"/>
                </a:cubicBezTo>
              </a:path>
            </a:pathLst>
          </a:cu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5611" name="Picture 12">
            <a:extLst>
              <a:ext uri="{FF2B5EF4-FFF2-40B4-BE49-F238E27FC236}">
                <a16:creationId xmlns:a16="http://schemas.microsoft.com/office/drawing/2014/main" id="{867D26FE-4FD8-FA3A-A9E9-0BCAF1D3E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475" y="1736725"/>
            <a:ext cx="3844925" cy="320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12" name="Group 13">
            <a:extLst>
              <a:ext uri="{FF2B5EF4-FFF2-40B4-BE49-F238E27FC236}">
                <a16:creationId xmlns:a16="http://schemas.microsoft.com/office/drawing/2014/main" id="{E171BFCF-4DBA-BF35-4774-FD701F0893E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5988" y="974725"/>
            <a:ext cx="2044700" cy="1978025"/>
            <a:chOff x="770" y="662"/>
            <a:chExt cx="1536" cy="1486"/>
          </a:xfrm>
        </p:grpSpPr>
        <p:pic>
          <p:nvPicPr>
            <p:cNvPr id="25634" name="Picture 14">
              <a:extLst>
                <a:ext uri="{FF2B5EF4-FFF2-40B4-BE49-F238E27FC236}">
                  <a16:creationId xmlns:a16="http://schemas.microsoft.com/office/drawing/2014/main" id="{083F81A4-FB2E-F04B-C887-478C88D241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" y="662"/>
              <a:ext cx="1536" cy="1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35" name="Line 15">
              <a:extLst>
                <a:ext uri="{FF2B5EF4-FFF2-40B4-BE49-F238E27FC236}">
                  <a16:creationId xmlns:a16="http://schemas.microsoft.com/office/drawing/2014/main" id="{1FD1ADE6-229B-F1CD-6B63-9FC9A922FF5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497" y="1454"/>
              <a:ext cx="80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6" name="Line 16">
              <a:extLst>
                <a:ext uri="{FF2B5EF4-FFF2-40B4-BE49-F238E27FC236}">
                  <a16:creationId xmlns:a16="http://schemas.microsoft.com/office/drawing/2014/main" id="{092C47FE-A988-7B5B-2FF5-076DD409A83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497" y="675"/>
              <a:ext cx="2" cy="773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13" name="Text Box 17">
            <a:extLst>
              <a:ext uri="{FF2B5EF4-FFF2-40B4-BE49-F238E27FC236}">
                <a16:creationId xmlns:a16="http://schemas.microsoft.com/office/drawing/2014/main" id="{5E48B304-B873-E2CA-EA00-4457DA33F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29400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u</a:t>
            </a:r>
          </a:p>
        </p:txBody>
      </p:sp>
      <p:sp>
        <p:nvSpPr>
          <p:cNvPr id="25614" name="Text Box 18">
            <a:extLst>
              <a:ext uri="{FF2B5EF4-FFF2-40B4-BE49-F238E27FC236}">
                <a16:creationId xmlns:a16="http://schemas.microsoft.com/office/drawing/2014/main" id="{E6F850A2-CDD7-32B0-CA7E-5B835F20D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8" y="1714500"/>
            <a:ext cx="342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v</a:t>
            </a:r>
          </a:p>
        </p:txBody>
      </p:sp>
      <p:sp>
        <p:nvSpPr>
          <p:cNvPr id="25615" name="Text Box 21">
            <a:extLst>
              <a:ext uri="{FF2B5EF4-FFF2-40B4-BE49-F238E27FC236}">
                <a16:creationId xmlns:a16="http://schemas.microsoft.com/office/drawing/2014/main" id="{D86EA818-93F0-4B23-F233-C0BABA081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838" y="1373188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i="1">
                <a:latin typeface="Symbol" panose="05050102010706020507" pitchFamily="18" charset="2"/>
              </a:rPr>
              <a:t>q</a:t>
            </a:r>
            <a:r>
              <a:rPr lang="en-US" altLang="en-US" sz="1400" i="1" baseline="-25000">
                <a:latin typeface="Symbol" panose="05050102010706020507" pitchFamily="18" charset="2"/>
              </a:rPr>
              <a:t>1</a:t>
            </a:r>
            <a:endParaRPr lang="en-US" altLang="en-US" sz="1400" i="1">
              <a:latin typeface="Symbol" panose="05050102010706020507" pitchFamily="18" charset="2"/>
            </a:endParaRPr>
          </a:p>
        </p:txBody>
      </p:sp>
      <p:sp>
        <p:nvSpPr>
          <p:cNvPr id="25616" name="Text Box 22">
            <a:extLst>
              <a:ext uri="{FF2B5EF4-FFF2-40B4-BE49-F238E27FC236}">
                <a16:creationId xmlns:a16="http://schemas.microsoft.com/office/drawing/2014/main" id="{C35CFC88-8CEC-0B03-72D8-082D38D33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2135188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i="1">
                <a:latin typeface="Symbol" panose="05050102010706020507" pitchFamily="18" charset="2"/>
              </a:rPr>
              <a:t>q</a:t>
            </a:r>
            <a:r>
              <a:rPr lang="en-US" altLang="en-US" sz="1400" i="1" baseline="-25000">
                <a:latin typeface="Symbol" panose="05050102010706020507" pitchFamily="18" charset="2"/>
              </a:rPr>
              <a:t>2</a:t>
            </a:r>
            <a:endParaRPr lang="en-US" altLang="en-US" sz="1400" i="1">
              <a:latin typeface="Symbol" panose="05050102010706020507" pitchFamily="18" charset="2"/>
            </a:endParaRPr>
          </a:p>
        </p:txBody>
      </p:sp>
      <p:sp>
        <p:nvSpPr>
          <p:cNvPr id="25617" name="Line 23">
            <a:extLst>
              <a:ext uri="{FF2B5EF4-FFF2-40B4-BE49-F238E27FC236}">
                <a16:creationId xmlns:a16="http://schemas.microsoft.com/office/drawing/2014/main" id="{1A52AB3A-AD1B-7511-885F-A4EBBF4115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7225" y="1566863"/>
            <a:ext cx="5078413" cy="3143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8" name="Line 24">
            <a:extLst>
              <a:ext uri="{FF2B5EF4-FFF2-40B4-BE49-F238E27FC236}">
                <a16:creationId xmlns:a16="http://schemas.microsoft.com/office/drawing/2014/main" id="{B2901103-29BD-FE49-02EC-F08621670A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3663" y="2563813"/>
            <a:ext cx="3249612" cy="7651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9" name="Text Box 25">
            <a:extLst>
              <a:ext uri="{FF2B5EF4-FFF2-40B4-BE49-F238E27FC236}">
                <a16:creationId xmlns:a16="http://schemas.microsoft.com/office/drawing/2014/main" id="{C6448E6E-0487-6978-AB1E-8218F08CB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8" y="5183188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i="1">
                <a:latin typeface="Symbol" panose="05050102010706020507" pitchFamily="18" charset="2"/>
              </a:rPr>
              <a:t>q</a:t>
            </a:r>
            <a:r>
              <a:rPr lang="en-US" altLang="en-US" sz="1400" i="1" baseline="-25000">
                <a:latin typeface="Symbol" panose="05050102010706020507" pitchFamily="18" charset="2"/>
              </a:rPr>
              <a:t>1</a:t>
            </a:r>
            <a:endParaRPr lang="en-US" altLang="en-US" sz="1400" i="1">
              <a:latin typeface="Symbol" panose="05050102010706020507" pitchFamily="18" charset="2"/>
            </a:endParaRPr>
          </a:p>
        </p:txBody>
      </p:sp>
      <p:sp>
        <p:nvSpPr>
          <p:cNvPr id="25620" name="Text Box 26">
            <a:extLst>
              <a:ext uri="{FF2B5EF4-FFF2-40B4-BE49-F238E27FC236}">
                <a16:creationId xmlns:a16="http://schemas.microsoft.com/office/drawing/2014/main" id="{6577E17B-0EB0-B3F3-09DA-40FDEE5E6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5227638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i="1">
                <a:latin typeface="Symbol" panose="05050102010706020507" pitchFamily="18" charset="2"/>
              </a:rPr>
              <a:t>q</a:t>
            </a:r>
            <a:r>
              <a:rPr lang="en-US" altLang="en-US" sz="1400" i="1" baseline="-25000">
                <a:latin typeface="Symbol" panose="05050102010706020507" pitchFamily="18" charset="2"/>
              </a:rPr>
              <a:t>2</a:t>
            </a:r>
            <a:endParaRPr lang="en-US" altLang="en-US" sz="1400" i="1">
              <a:latin typeface="Symbol" panose="05050102010706020507" pitchFamily="18" charset="2"/>
            </a:endParaRPr>
          </a:p>
        </p:txBody>
      </p:sp>
      <p:sp>
        <p:nvSpPr>
          <p:cNvPr id="25621" name="Line 28">
            <a:extLst>
              <a:ext uri="{FF2B5EF4-FFF2-40B4-BE49-F238E27FC236}">
                <a16:creationId xmlns:a16="http://schemas.microsoft.com/office/drawing/2014/main" id="{E5C1F98D-42F0-D5A8-90E7-0EBA8ACC47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2175" y="3886200"/>
            <a:ext cx="0" cy="13414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22" name="Oval 29">
            <a:extLst>
              <a:ext uri="{FF2B5EF4-FFF2-40B4-BE49-F238E27FC236}">
                <a16:creationId xmlns:a16="http://schemas.microsoft.com/office/drawing/2014/main" id="{3CC1246F-EC72-AFF0-7BD7-0749F2ECC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478472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23" name="Oval 30">
            <a:extLst>
              <a:ext uri="{FF2B5EF4-FFF2-40B4-BE49-F238E27FC236}">
                <a16:creationId xmlns:a16="http://schemas.microsoft.com/office/drawing/2014/main" id="{261A01F7-A392-CB05-BF48-5A1930CA9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438" y="4497388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24" name="Line 31">
            <a:extLst>
              <a:ext uri="{FF2B5EF4-FFF2-40B4-BE49-F238E27FC236}">
                <a16:creationId xmlns:a16="http://schemas.microsoft.com/office/drawing/2014/main" id="{C430AF9C-8DE6-5F6D-12E7-2986207887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9463" y="1579563"/>
            <a:ext cx="1109662" cy="31575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25" name="Line 32">
            <a:extLst>
              <a:ext uri="{FF2B5EF4-FFF2-40B4-BE49-F238E27FC236}">
                <a16:creationId xmlns:a16="http://schemas.microsoft.com/office/drawing/2014/main" id="{1813B477-E37B-75EB-C0AB-834CF4BE3F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95513" y="2609850"/>
            <a:ext cx="415925" cy="1778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26" name="Text Box 33">
            <a:extLst>
              <a:ext uri="{FF2B5EF4-FFF2-40B4-BE49-F238E27FC236}">
                <a16:creationId xmlns:a16="http://schemas.microsoft.com/office/drawing/2014/main" id="{EEDDF3CB-A6B0-931B-7220-6A0AB54B8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513" y="5073650"/>
            <a:ext cx="49720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as we pick different pairs of directions, we’ll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get different pairs of curvature values…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 i="1"/>
          </a:p>
        </p:txBody>
      </p:sp>
      <p:sp>
        <p:nvSpPr>
          <p:cNvPr id="25627" name="Freeform 20">
            <a:extLst>
              <a:ext uri="{FF2B5EF4-FFF2-40B4-BE49-F238E27FC236}">
                <a16:creationId xmlns:a16="http://schemas.microsoft.com/office/drawing/2014/main" id="{7A8020FC-FFEA-70B1-CB76-CAD7F41A98D5}"/>
              </a:ext>
            </a:extLst>
          </p:cNvPr>
          <p:cNvSpPr>
            <a:spLocks/>
          </p:cNvSpPr>
          <p:nvPr/>
        </p:nvSpPr>
        <p:spPr bwMode="auto">
          <a:xfrm>
            <a:off x="1030288" y="1320800"/>
            <a:ext cx="1565275" cy="1279525"/>
          </a:xfrm>
          <a:custGeom>
            <a:avLst/>
            <a:gdLst>
              <a:gd name="T0" fmla="*/ 0 w 986"/>
              <a:gd name="T1" fmla="*/ 0 h 806"/>
              <a:gd name="T2" fmla="*/ 2147483646 w 986"/>
              <a:gd name="T3" fmla="*/ 2147483646 h 806"/>
              <a:gd name="T4" fmla="*/ 0 60000 65536"/>
              <a:gd name="T5" fmla="*/ 0 60000 65536"/>
              <a:gd name="T6" fmla="*/ 0 w 986"/>
              <a:gd name="T7" fmla="*/ 0 h 806"/>
              <a:gd name="T8" fmla="*/ 986 w 986"/>
              <a:gd name="T9" fmla="*/ 806 h 80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86" h="806">
                <a:moveTo>
                  <a:pt x="0" y="0"/>
                </a:moveTo>
                <a:lnTo>
                  <a:pt x="986" y="806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28" name="Freeform 35">
            <a:extLst>
              <a:ext uri="{FF2B5EF4-FFF2-40B4-BE49-F238E27FC236}">
                <a16:creationId xmlns:a16="http://schemas.microsoft.com/office/drawing/2014/main" id="{06E0EF84-9885-1706-C56D-1D7AE4C95065}"/>
              </a:ext>
            </a:extLst>
          </p:cNvPr>
          <p:cNvSpPr>
            <a:spLocks/>
          </p:cNvSpPr>
          <p:nvPr/>
        </p:nvSpPr>
        <p:spPr bwMode="auto">
          <a:xfrm>
            <a:off x="6038850" y="2943225"/>
            <a:ext cx="1847850" cy="1076325"/>
          </a:xfrm>
          <a:custGeom>
            <a:avLst/>
            <a:gdLst>
              <a:gd name="T0" fmla="*/ 0 w 1164"/>
              <a:gd name="T1" fmla="*/ 2147483646 h 678"/>
              <a:gd name="T2" fmla="*/ 2147483646 w 1164"/>
              <a:gd name="T3" fmla="*/ 2147483646 h 678"/>
              <a:gd name="T4" fmla="*/ 2147483646 w 1164"/>
              <a:gd name="T5" fmla="*/ 0 h 678"/>
              <a:gd name="T6" fmla="*/ 0 60000 65536"/>
              <a:gd name="T7" fmla="*/ 0 60000 65536"/>
              <a:gd name="T8" fmla="*/ 0 60000 65536"/>
              <a:gd name="T9" fmla="*/ 0 w 1164"/>
              <a:gd name="T10" fmla="*/ 0 h 678"/>
              <a:gd name="T11" fmla="*/ 1164 w 1164"/>
              <a:gd name="T12" fmla="*/ 678 h 6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64" h="678">
                <a:moveTo>
                  <a:pt x="0" y="678"/>
                </a:moveTo>
                <a:cubicBezTo>
                  <a:pt x="101" y="607"/>
                  <a:pt x="418" y="362"/>
                  <a:pt x="612" y="249"/>
                </a:cubicBezTo>
                <a:cubicBezTo>
                  <a:pt x="806" y="136"/>
                  <a:pt x="1049" y="52"/>
                  <a:pt x="1164" y="0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29" name="Freeform 19">
            <a:extLst>
              <a:ext uri="{FF2B5EF4-FFF2-40B4-BE49-F238E27FC236}">
                <a16:creationId xmlns:a16="http://schemas.microsoft.com/office/drawing/2014/main" id="{DC2CE4D5-3CF5-9820-E1F9-522CB07A4F22}"/>
              </a:ext>
            </a:extLst>
          </p:cNvPr>
          <p:cNvSpPr>
            <a:spLocks/>
          </p:cNvSpPr>
          <p:nvPr/>
        </p:nvSpPr>
        <p:spPr bwMode="auto">
          <a:xfrm>
            <a:off x="1879600" y="1157288"/>
            <a:ext cx="3175" cy="1668462"/>
          </a:xfrm>
          <a:custGeom>
            <a:avLst/>
            <a:gdLst>
              <a:gd name="T0" fmla="*/ 0 w 2"/>
              <a:gd name="T1" fmla="*/ 2147483646 h 1051"/>
              <a:gd name="T2" fmla="*/ 2147483646 w 2"/>
              <a:gd name="T3" fmla="*/ 0 h 1051"/>
              <a:gd name="T4" fmla="*/ 0 60000 65536"/>
              <a:gd name="T5" fmla="*/ 0 60000 65536"/>
              <a:gd name="T6" fmla="*/ 0 w 2"/>
              <a:gd name="T7" fmla="*/ 0 h 1051"/>
              <a:gd name="T8" fmla="*/ 2 w 2"/>
              <a:gd name="T9" fmla="*/ 1051 h 105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1051">
                <a:moveTo>
                  <a:pt x="0" y="1051"/>
                </a:moveTo>
                <a:lnTo>
                  <a:pt x="2" y="0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30" name="Freeform 36">
            <a:extLst>
              <a:ext uri="{FF2B5EF4-FFF2-40B4-BE49-F238E27FC236}">
                <a16:creationId xmlns:a16="http://schemas.microsoft.com/office/drawing/2014/main" id="{F5DA3B81-2DE5-2A3D-1EF3-95390DBE5407}"/>
              </a:ext>
            </a:extLst>
          </p:cNvPr>
          <p:cNvSpPr>
            <a:spLocks/>
          </p:cNvSpPr>
          <p:nvPr/>
        </p:nvSpPr>
        <p:spPr bwMode="auto">
          <a:xfrm>
            <a:off x="6008688" y="3262313"/>
            <a:ext cx="2133600" cy="438150"/>
          </a:xfrm>
          <a:custGeom>
            <a:avLst/>
            <a:gdLst>
              <a:gd name="T0" fmla="*/ 0 w 1344"/>
              <a:gd name="T1" fmla="*/ 2147483646 h 276"/>
              <a:gd name="T2" fmla="*/ 2147483646 w 1344"/>
              <a:gd name="T3" fmla="*/ 2147483646 h 276"/>
              <a:gd name="T4" fmla="*/ 2147483646 w 1344"/>
              <a:gd name="T5" fmla="*/ 2147483646 h 276"/>
              <a:gd name="T6" fmla="*/ 0 60000 65536"/>
              <a:gd name="T7" fmla="*/ 0 60000 65536"/>
              <a:gd name="T8" fmla="*/ 0 60000 65536"/>
              <a:gd name="T9" fmla="*/ 0 w 1344"/>
              <a:gd name="T10" fmla="*/ 0 h 276"/>
              <a:gd name="T11" fmla="*/ 1344 w 1344"/>
              <a:gd name="T12" fmla="*/ 276 h 2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44" h="276">
                <a:moveTo>
                  <a:pt x="0" y="39"/>
                </a:moveTo>
                <a:cubicBezTo>
                  <a:pt x="116" y="39"/>
                  <a:pt x="471" y="0"/>
                  <a:pt x="695" y="39"/>
                </a:cubicBezTo>
                <a:cubicBezTo>
                  <a:pt x="919" y="78"/>
                  <a:pt x="1209" y="227"/>
                  <a:pt x="1344" y="276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31" name="Freeform 38">
            <a:extLst>
              <a:ext uri="{FF2B5EF4-FFF2-40B4-BE49-F238E27FC236}">
                <a16:creationId xmlns:a16="http://schemas.microsoft.com/office/drawing/2014/main" id="{69A8A08A-E497-7049-C522-5EEBDB298314}"/>
              </a:ext>
            </a:extLst>
          </p:cNvPr>
          <p:cNvSpPr>
            <a:spLocks/>
          </p:cNvSpPr>
          <p:nvPr/>
        </p:nvSpPr>
        <p:spPr bwMode="auto">
          <a:xfrm flipV="1">
            <a:off x="763588" y="3592513"/>
            <a:ext cx="3735387" cy="1471612"/>
          </a:xfrm>
          <a:custGeom>
            <a:avLst/>
            <a:gdLst>
              <a:gd name="T0" fmla="*/ 0 w 1723"/>
              <a:gd name="T1" fmla="*/ 2147483646 h 831"/>
              <a:gd name="T2" fmla="*/ 2147483646 w 1723"/>
              <a:gd name="T3" fmla="*/ 2147483646 h 831"/>
              <a:gd name="T4" fmla="*/ 2147483646 w 1723"/>
              <a:gd name="T5" fmla="*/ 2147483646 h 831"/>
              <a:gd name="T6" fmla="*/ 2147483646 w 1723"/>
              <a:gd name="T7" fmla="*/ 2147483646 h 831"/>
              <a:gd name="T8" fmla="*/ 0 60000 65536"/>
              <a:gd name="T9" fmla="*/ 0 60000 65536"/>
              <a:gd name="T10" fmla="*/ 0 60000 65536"/>
              <a:gd name="T11" fmla="*/ 0 60000 65536"/>
              <a:gd name="T12" fmla="*/ 0 w 1723"/>
              <a:gd name="T13" fmla="*/ 0 h 831"/>
              <a:gd name="T14" fmla="*/ 1723 w 1723"/>
              <a:gd name="T15" fmla="*/ 831 h 8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23" h="831">
                <a:moveTo>
                  <a:pt x="0" y="212"/>
                </a:moveTo>
                <a:cubicBezTo>
                  <a:pt x="96" y="312"/>
                  <a:pt x="358" y="831"/>
                  <a:pt x="576" y="812"/>
                </a:cubicBezTo>
                <a:cubicBezTo>
                  <a:pt x="794" y="793"/>
                  <a:pt x="1120" y="192"/>
                  <a:pt x="1311" y="96"/>
                </a:cubicBezTo>
                <a:cubicBezTo>
                  <a:pt x="1502" y="0"/>
                  <a:pt x="1637" y="207"/>
                  <a:pt x="1723" y="236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32" name="Line 40">
            <a:extLst>
              <a:ext uri="{FF2B5EF4-FFF2-40B4-BE49-F238E27FC236}">
                <a16:creationId xmlns:a16="http://schemas.microsoft.com/office/drawing/2014/main" id="{45DAE4C5-2CB8-2C88-9B3D-05A954BBBD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4850" y="3638550"/>
            <a:ext cx="1752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33" name="Line 42">
            <a:extLst>
              <a:ext uri="{FF2B5EF4-FFF2-40B4-BE49-F238E27FC236}">
                <a16:creationId xmlns:a16="http://schemas.microsoft.com/office/drawing/2014/main" id="{1BAA8971-4F5B-7D8A-1FE3-CFC8C53601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9613" y="5799138"/>
            <a:ext cx="3454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8BD05D77-D268-8CD4-FD76-B3F43E51F8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Gaussian curvature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D42AA6CA-CA24-73E6-CA26-64F9CF97348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0F540DB3-6975-D342-0455-6B69DAED3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27653" name="Picture 5">
            <a:extLst>
              <a:ext uri="{FF2B5EF4-FFF2-40B4-BE49-F238E27FC236}">
                <a16:creationId xmlns:a16="http://schemas.microsoft.com/office/drawing/2014/main" id="{4AE13A8A-2B26-8F28-025D-5D61086B3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513" y="477838"/>
            <a:ext cx="3462337" cy="286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6" descr="C:\GT_LOCAL_DATA\academic\dissertation\math\mapping3d_1.tif">
            <a:extLst>
              <a:ext uri="{FF2B5EF4-FFF2-40B4-BE49-F238E27FC236}">
                <a16:creationId xmlns:a16="http://schemas.microsoft.com/office/drawing/2014/main" id="{7AE85C0E-4032-A246-7F32-5F955E088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25" y="3921125"/>
            <a:ext cx="3063875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5" name="Picture 7" descr="Image15">
            <a:extLst>
              <a:ext uri="{FF2B5EF4-FFF2-40B4-BE49-F238E27FC236}">
                <a16:creationId xmlns:a16="http://schemas.microsoft.com/office/drawing/2014/main" id="{670D4525-B925-E3C0-C600-6B197124F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3443288"/>
            <a:ext cx="3116263" cy="298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6" name="Line 8">
            <a:extLst>
              <a:ext uri="{FF2B5EF4-FFF2-40B4-BE49-F238E27FC236}">
                <a16:creationId xmlns:a16="http://schemas.microsoft.com/office/drawing/2014/main" id="{B261C5EA-A472-446D-D1C7-82A1E139A4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975" y="6088063"/>
            <a:ext cx="1547813" cy="449262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7" name="Oval 9">
            <a:extLst>
              <a:ext uri="{FF2B5EF4-FFF2-40B4-BE49-F238E27FC236}">
                <a16:creationId xmlns:a16="http://schemas.microsoft.com/office/drawing/2014/main" id="{F110D21E-F57B-1A75-C6C7-006AB43C2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300" y="4910138"/>
            <a:ext cx="92075" cy="904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658" name="Rectangle 10">
            <a:extLst>
              <a:ext uri="{FF2B5EF4-FFF2-40B4-BE49-F238E27FC236}">
                <a16:creationId xmlns:a16="http://schemas.microsoft.com/office/drawing/2014/main" id="{F65D9679-88C8-8180-DC13-44C1172B1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483235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</a:t>
            </a:r>
          </a:p>
        </p:txBody>
      </p:sp>
      <p:sp>
        <p:nvSpPr>
          <p:cNvPr id="27659" name="Line 11">
            <a:extLst>
              <a:ext uri="{FF2B5EF4-FFF2-40B4-BE49-F238E27FC236}">
                <a16:creationId xmlns:a16="http://schemas.microsoft.com/office/drawing/2014/main" id="{3C3B57E2-C880-7164-ACB8-CF105CB42C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11975" y="4064000"/>
            <a:ext cx="774700" cy="869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0" name="Line 12">
            <a:extLst>
              <a:ext uri="{FF2B5EF4-FFF2-40B4-BE49-F238E27FC236}">
                <a16:creationId xmlns:a16="http://schemas.microsoft.com/office/drawing/2014/main" id="{38481AEB-9CEF-7254-A49B-916ECE36AFC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7850" y="4965700"/>
            <a:ext cx="1125538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1" name="Rectangle 13">
            <a:extLst>
              <a:ext uri="{FF2B5EF4-FFF2-40B4-BE49-F238E27FC236}">
                <a16:creationId xmlns:a16="http://schemas.microsoft.com/office/drawing/2014/main" id="{FAEBAEB9-C697-D676-AE68-E4E0555F8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3" y="5073650"/>
            <a:ext cx="3841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i="1">
                <a:latin typeface="Symbol" panose="05050102010706020507" pitchFamily="18" charset="2"/>
              </a:rPr>
              <a:t>s</a:t>
            </a:r>
            <a:r>
              <a:rPr lang="en-US" altLang="en-US" sz="1600" i="1" baseline="-25000"/>
              <a:t>u</a:t>
            </a:r>
            <a:endParaRPr lang="en-US" altLang="en-US" sz="1600" baseline="-25000"/>
          </a:p>
        </p:txBody>
      </p:sp>
      <p:sp>
        <p:nvSpPr>
          <p:cNvPr id="27662" name="Rectangle 14">
            <a:extLst>
              <a:ext uri="{FF2B5EF4-FFF2-40B4-BE49-F238E27FC236}">
                <a16:creationId xmlns:a16="http://schemas.microsoft.com/office/drawing/2014/main" id="{EDBAD290-6FB5-8840-B6E3-61BA30D1E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925" y="4451350"/>
            <a:ext cx="3762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i="1">
                <a:latin typeface="Symbol" panose="05050102010706020507" pitchFamily="18" charset="2"/>
              </a:rPr>
              <a:t>s</a:t>
            </a:r>
            <a:r>
              <a:rPr lang="en-US" altLang="en-US" sz="1600" i="1" baseline="-25000"/>
              <a:t>v</a:t>
            </a:r>
            <a:endParaRPr lang="en-US" altLang="en-US" sz="1600" baseline="-25000"/>
          </a:p>
        </p:txBody>
      </p:sp>
      <p:sp>
        <p:nvSpPr>
          <p:cNvPr id="27663" name="Line 15">
            <a:extLst>
              <a:ext uri="{FF2B5EF4-FFF2-40B4-BE49-F238E27FC236}">
                <a16:creationId xmlns:a16="http://schemas.microsoft.com/office/drawing/2014/main" id="{38E4216C-B942-9529-3A52-07E3315669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97650" y="3314700"/>
            <a:ext cx="293688" cy="1631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7664" name="Object 16">
            <a:extLst>
              <a:ext uri="{FF2B5EF4-FFF2-40B4-BE49-F238E27FC236}">
                <a16:creationId xmlns:a16="http://schemas.microsoft.com/office/drawing/2014/main" id="{FCD19017-D7D9-9238-F8A2-8234223D0F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4213" y="7051675"/>
          <a:ext cx="185737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780" imgH="164814" progId="Equation.3">
                  <p:embed/>
                </p:oleObj>
              </mc:Choice>
              <mc:Fallback>
                <p:oleObj name="Equation" r:id="rId7" imgW="126780" imgH="164814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213" y="7051675"/>
                        <a:ext cx="185737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5" name="Oval 17">
            <a:extLst>
              <a:ext uri="{FF2B5EF4-FFF2-40B4-BE49-F238E27FC236}">
                <a16:creationId xmlns:a16="http://schemas.microsoft.com/office/drawing/2014/main" id="{22477F99-27AE-8BBD-160A-EB612C89A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4608513"/>
            <a:ext cx="669925" cy="671512"/>
          </a:xfrm>
          <a:prstGeom prst="ellipse">
            <a:avLst/>
          </a:prstGeom>
          <a:solidFill>
            <a:schemeClr val="accent1">
              <a:alpha val="61960"/>
            </a:schemeClr>
          </a:solidFill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666" name="Line 18">
            <a:extLst>
              <a:ext uri="{FF2B5EF4-FFF2-40B4-BE49-F238E27FC236}">
                <a16:creationId xmlns:a16="http://schemas.microsoft.com/office/drawing/2014/main" id="{AA27DBF8-D7A5-0CA5-016B-7EB9FC06FD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0625" y="5133975"/>
            <a:ext cx="304800" cy="2667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7" name="Oval 19">
            <a:extLst>
              <a:ext uri="{FF2B5EF4-FFF2-40B4-BE49-F238E27FC236}">
                <a16:creationId xmlns:a16="http://schemas.microsoft.com/office/drawing/2014/main" id="{77FC3120-0AB0-A58A-95FC-3A765BEF4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3962400"/>
            <a:ext cx="2705100" cy="277495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668" name="Line 20">
            <a:extLst>
              <a:ext uri="{FF2B5EF4-FFF2-40B4-BE49-F238E27FC236}">
                <a16:creationId xmlns:a16="http://schemas.microsoft.com/office/drawing/2014/main" id="{7C20A8D8-90DF-0753-E36E-32F179E157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95900" y="5011738"/>
            <a:ext cx="1058863" cy="857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9" name="Line 21">
            <a:extLst>
              <a:ext uri="{FF2B5EF4-FFF2-40B4-BE49-F238E27FC236}">
                <a16:creationId xmlns:a16="http://schemas.microsoft.com/office/drawing/2014/main" id="{9DE56F2C-5692-6378-57C3-C35F947A1E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8788" y="4457700"/>
            <a:ext cx="0" cy="1030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0" name="Line 22">
            <a:extLst>
              <a:ext uri="{FF2B5EF4-FFF2-40B4-BE49-F238E27FC236}">
                <a16:creationId xmlns:a16="http://schemas.microsoft.com/office/drawing/2014/main" id="{DEFDDCCA-9D38-80D4-18E2-D75A56A1CA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8788" y="548163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1" name="Freeform 23">
            <a:extLst>
              <a:ext uri="{FF2B5EF4-FFF2-40B4-BE49-F238E27FC236}">
                <a16:creationId xmlns:a16="http://schemas.microsoft.com/office/drawing/2014/main" id="{DD001918-3C5A-3EC3-ADF0-DE37B4157EF7}"/>
              </a:ext>
            </a:extLst>
          </p:cNvPr>
          <p:cNvSpPr>
            <a:spLocks/>
          </p:cNvSpPr>
          <p:nvPr/>
        </p:nvSpPr>
        <p:spPr bwMode="auto">
          <a:xfrm>
            <a:off x="3543300" y="5091113"/>
            <a:ext cx="1417638" cy="784225"/>
          </a:xfrm>
          <a:custGeom>
            <a:avLst/>
            <a:gdLst>
              <a:gd name="T0" fmla="*/ 0 w 519"/>
              <a:gd name="T1" fmla="*/ 2147483646 h 350"/>
              <a:gd name="T2" fmla="*/ 2147483646 w 519"/>
              <a:gd name="T3" fmla="*/ 0 h 350"/>
              <a:gd name="T4" fmla="*/ 2147483646 w 519"/>
              <a:gd name="T5" fmla="*/ 2147483646 h 350"/>
              <a:gd name="T6" fmla="*/ 2147483646 w 519"/>
              <a:gd name="T7" fmla="*/ 2147483646 h 350"/>
              <a:gd name="T8" fmla="*/ 0 w 519"/>
              <a:gd name="T9" fmla="*/ 2147483646 h 350"/>
              <a:gd name="T10" fmla="*/ 0 w 519"/>
              <a:gd name="T11" fmla="*/ 2147483646 h 35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19"/>
              <a:gd name="T19" fmla="*/ 0 h 350"/>
              <a:gd name="T20" fmla="*/ 519 w 519"/>
              <a:gd name="T21" fmla="*/ 350 h 3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19" h="350">
                <a:moveTo>
                  <a:pt x="0" y="345"/>
                </a:moveTo>
                <a:lnTo>
                  <a:pt x="154" y="0"/>
                </a:lnTo>
                <a:lnTo>
                  <a:pt x="519" y="4"/>
                </a:lnTo>
                <a:lnTo>
                  <a:pt x="346" y="350"/>
                </a:lnTo>
                <a:lnTo>
                  <a:pt x="0" y="350"/>
                </a:lnTo>
                <a:lnTo>
                  <a:pt x="0" y="345"/>
                </a:lnTo>
                <a:close/>
              </a:path>
            </a:pathLst>
          </a:custGeom>
          <a:solidFill>
            <a:schemeClr val="accent1">
              <a:alpha val="67842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672" name="Object 24">
            <a:extLst>
              <a:ext uri="{FF2B5EF4-FFF2-40B4-BE49-F238E27FC236}">
                <a16:creationId xmlns:a16="http://schemas.microsoft.com/office/drawing/2014/main" id="{54E36D81-D53B-9430-B18F-503C4188435E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090988" y="4100513"/>
          <a:ext cx="296862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3024" imgH="215713" progId="Equation.3">
                  <p:embed/>
                </p:oleObj>
              </mc:Choice>
              <mc:Fallback>
                <p:oleObj name="Equation" r:id="rId9" imgW="203024" imgH="215713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988" y="4100513"/>
                        <a:ext cx="296862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3" name="Object 25">
            <a:extLst>
              <a:ext uri="{FF2B5EF4-FFF2-40B4-BE49-F238E27FC236}">
                <a16:creationId xmlns:a16="http://schemas.microsoft.com/office/drawing/2014/main" id="{3C9FB275-B3C1-B03B-5B77-0BDBB1CC09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9538" y="5326063"/>
          <a:ext cx="296862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3112" imgH="228501" progId="Equation.3">
                  <p:embed/>
                </p:oleObj>
              </mc:Choice>
              <mc:Fallback>
                <p:oleObj name="Equation" r:id="rId11" imgW="203112" imgH="228501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9538" y="5326063"/>
                        <a:ext cx="296862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4" name="Rectangle 26">
            <a:extLst>
              <a:ext uri="{FF2B5EF4-FFF2-40B4-BE49-F238E27FC236}">
                <a16:creationId xmlns:a16="http://schemas.microsoft.com/office/drawing/2014/main" id="{F16B6264-A4C0-8231-824B-9FA0616D2E01}"/>
              </a:ext>
            </a:extLst>
          </p:cNvPr>
          <p:cNvSpPr>
            <a:spLocks noChangeArrowheads="1"/>
          </p:cNvSpPr>
          <p:nvPr/>
        </p:nvSpPr>
        <p:spPr bwMode="auto">
          <a:xfrm rot="3517620">
            <a:off x="3759200" y="4713288"/>
            <a:ext cx="920750" cy="1555750"/>
          </a:xfrm>
          <a:prstGeom prst="rect">
            <a:avLst/>
          </a:prstGeom>
          <a:solidFill>
            <a:srgbClr val="008000">
              <a:alpha val="67842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675" name="Text Box 27">
            <a:extLst>
              <a:ext uri="{FF2B5EF4-FFF2-40B4-BE49-F238E27FC236}">
                <a16:creationId xmlns:a16="http://schemas.microsoft.com/office/drawing/2014/main" id="{BEDEC39B-F6E1-B84F-E399-3EFC0100A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798513"/>
            <a:ext cx="4591050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We know that a parametric surface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is characterized by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“bivectors” (vectors2) describing: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0"/>
              </a:spcBef>
            </a:pPr>
            <a:r>
              <a:rPr lang="en-US" altLang="en-US" sz="1800"/>
              <a:t>It’s “acceleration” normal to the surface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/>
              <a:t>And its “stretching” within the surface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10">
            <a:extLst>
              <a:ext uri="{FF2B5EF4-FFF2-40B4-BE49-F238E27FC236}">
                <a16:creationId xmlns:a16="http://schemas.microsoft.com/office/drawing/2014/main" id="{72424473-005A-7911-2275-8EEE40F06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700" y="3654425"/>
            <a:ext cx="3844925" cy="320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Freeform 32">
            <a:extLst>
              <a:ext uri="{FF2B5EF4-FFF2-40B4-BE49-F238E27FC236}">
                <a16:creationId xmlns:a16="http://schemas.microsoft.com/office/drawing/2014/main" id="{1382421D-3576-AD98-707A-BCB872730699}"/>
              </a:ext>
            </a:extLst>
          </p:cNvPr>
          <p:cNvSpPr>
            <a:spLocks/>
          </p:cNvSpPr>
          <p:nvPr/>
        </p:nvSpPr>
        <p:spPr bwMode="auto">
          <a:xfrm>
            <a:off x="6705600" y="4394200"/>
            <a:ext cx="400050" cy="2000250"/>
          </a:xfrm>
          <a:custGeom>
            <a:avLst/>
            <a:gdLst>
              <a:gd name="T0" fmla="*/ 0 w 1164"/>
              <a:gd name="T1" fmla="*/ 2147483646 h 678"/>
              <a:gd name="T2" fmla="*/ 2147483646 w 1164"/>
              <a:gd name="T3" fmla="*/ 2147483646 h 678"/>
              <a:gd name="T4" fmla="*/ 2147483646 w 1164"/>
              <a:gd name="T5" fmla="*/ 0 h 678"/>
              <a:gd name="T6" fmla="*/ 0 60000 65536"/>
              <a:gd name="T7" fmla="*/ 0 60000 65536"/>
              <a:gd name="T8" fmla="*/ 0 60000 65536"/>
              <a:gd name="T9" fmla="*/ 0 w 1164"/>
              <a:gd name="T10" fmla="*/ 0 h 678"/>
              <a:gd name="T11" fmla="*/ 1164 w 1164"/>
              <a:gd name="T12" fmla="*/ 678 h 6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64" h="678">
                <a:moveTo>
                  <a:pt x="0" y="678"/>
                </a:moveTo>
                <a:cubicBezTo>
                  <a:pt x="101" y="607"/>
                  <a:pt x="418" y="362"/>
                  <a:pt x="612" y="249"/>
                </a:cubicBezTo>
                <a:cubicBezTo>
                  <a:pt x="806" y="136"/>
                  <a:pt x="1049" y="52"/>
                  <a:pt x="1164" y="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0" name="Freeform 34">
            <a:extLst>
              <a:ext uri="{FF2B5EF4-FFF2-40B4-BE49-F238E27FC236}">
                <a16:creationId xmlns:a16="http://schemas.microsoft.com/office/drawing/2014/main" id="{B1F4978B-1F0A-88EB-AC74-7B7AF8DFC5F3}"/>
              </a:ext>
            </a:extLst>
          </p:cNvPr>
          <p:cNvSpPr>
            <a:spLocks/>
          </p:cNvSpPr>
          <p:nvPr/>
        </p:nvSpPr>
        <p:spPr bwMode="auto">
          <a:xfrm>
            <a:off x="5905500" y="5156200"/>
            <a:ext cx="2190750" cy="476250"/>
          </a:xfrm>
          <a:custGeom>
            <a:avLst/>
            <a:gdLst>
              <a:gd name="T0" fmla="*/ 0 w 1380"/>
              <a:gd name="T1" fmla="*/ 2147483646 h 300"/>
              <a:gd name="T2" fmla="*/ 2147483646 w 1380"/>
              <a:gd name="T3" fmla="*/ 2147483646 h 300"/>
              <a:gd name="T4" fmla="*/ 2147483646 w 1380"/>
              <a:gd name="T5" fmla="*/ 2147483646 h 300"/>
              <a:gd name="T6" fmla="*/ 0 60000 65536"/>
              <a:gd name="T7" fmla="*/ 0 60000 65536"/>
              <a:gd name="T8" fmla="*/ 0 60000 65536"/>
              <a:gd name="T9" fmla="*/ 0 w 1380"/>
              <a:gd name="T10" fmla="*/ 0 h 300"/>
              <a:gd name="T11" fmla="*/ 1380 w 1380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80" h="300">
                <a:moveTo>
                  <a:pt x="0" y="24"/>
                </a:moveTo>
                <a:cubicBezTo>
                  <a:pt x="118" y="28"/>
                  <a:pt x="478" y="0"/>
                  <a:pt x="708" y="46"/>
                </a:cubicBezTo>
                <a:cubicBezTo>
                  <a:pt x="938" y="92"/>
                  <a:pt x="1240" y="247"/>
                  <a:pt x="1380" y="30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1" name="Rectangle 2">
            <a:extLst>
              <a:ext uri="{FF2B5EF4-FFF2-40B4-BE49-F238E27FC236}">
                <a16:creationId xmlns:a16="http://schemas.microsoft.com/office/drawing/2014/main" id="{77079216-1081-4397-D1AC-2C059C9984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Principle directions</a:t>
            </a:r>
          </a:p>
        </p:txBody>
      </p:sp>
      <p:sp>
        <p:nvSpPr>
          <p:cNvPr id="29702" name="Rectangle 3">
            <a:extLst>
              <a:ext uri="{FF2B5EF4-FFF2-40B4-BE49-F238E27FC236}">
                <a16:creationId xmlns:a16="http://schemas.microsoft.com/office/drawing/2014/main" id="{2A7C1662-6352-FF34-D00B-1DF796E14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29703" name="Picture 4">
            <a:extLst>
              <a:ext uri="{FF2B5EF4-FFF2-40B4-BE49-F238E27FC236}">
                <a16:creationId xmlns:a16="http://schemas.microsoft.com/office/drawing/2014/main" id="{0D860DDA-28DD-C236-219C-765D38198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4332288"/>
            <a:ext cx="3490913" cy="252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4" name="Line 5">
            <a:extLst>
              <a:ext uri="{FF2B5EF4-FFF2-40B4-BE49-F238E27FC236}">
                <a16:creationId xmlns:a16="http://schemas.microsoft.com/office/drawing/2014/main" id="{3BE21B76-F4C5-E162-AB21-7FDF06F96C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8663" y="4114800"/>
            <a:ext cx="7937" cy="1976438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5" name="Text Box 6">
            <a:extLst>
              <a:ext uri="{FF2B5EF4-FFF2-40B4-BE49-F238E27FC236}">
                <a16:creationId xmlns:a16="http://schemas.microsoft.com/office/drawing/2014/main" id="{361A4BD5-B6F2-DD4D-6481-DC6DE1532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5045075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2</a:t>
            </a:r>
            <a:r>
              <a:rPr lang="en-US" altLang="en-US" sz="1400" b="1">
                <a:latin typeface="Symbol" panose="05050102010706020507" pitchFamily="18" charset="2"/>
              </a:rPr>
              <a:t>p</a:t>
            </a:r>
          </a:p>
        </p:txBody>
      </p:sp>
      <p:sp>
        <p:nvSpPr>
          <p:cNvPr id="29706" name="Text Box 7">
            <a:extLst>
              <a:ext uri="{FF2B5EF4-FFF2-40B4-BE49-F238E27FC236}">
                <a16:creationId xmlns:a16="http://schemas.microsoft.com/office/drawing/2014/main" id="{BE2B17B2-DFDA-6EE3-4A76-60D7B71CA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50450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0</a:t>
            </a:r>
            <a:endParaRPr lang="en-US" altLang="en-US" sz="1400" b="1">
              <a:latin typeface="Symbol" panose="05050102010706020507" pitchFamily="18" charset="2"/>
            </a:endParaRPr>
          </a:p>
        </p:txBody>
      </p:sp>
      <p:sp>
        <p:nvSpPr>
          <p:cNvPr id="29707" name="Text Box 8">
            <a:extLst>
              <a:ext uri="{FF2B5EF4-FFF2-40B4-BE49-F238E27FC236}">
                <a16:creationId xmlns:a16="http://schemas.microsoft.com/office/drawing/2014/main" id="{2ADD74D1-7EA8-0877-05CD-4D0913517ABB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45244" y="4976019"/>
            <a:ext cx="9921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curvature</a:t>
            </a:r>
            <a:endParaRPr lang="en-US" altLang="en-US" sz="1400" b="1">
              <a:latin typeface="Symbol" panose="05050102010706020507" pitchFamily="18" charset="2"/>
            </a:endParaRPr>
          </a:p>
        </p:txBody>
      </p:sp>
      <p:pic>
        <p:nvPicPr>
          <p:cNvPr id="29708" name="Picture 11">
            <a:extLst>
              <a:ext uri="{FF2B5EF4-FFF2-40B4-BE49-F238E27FC236}">
                <a16:creationId xmlns:a16="http://schemas.microsoft.com/office/drawing/2014/main" id="{80A21DBD-82C3-B670-B913-DA113ED27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974725"/>
            <a:ext cx="2044700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9" name="Line 13">
            <a:extLst>
              <a:ext uri="{FF2B5EF4-FFF2-40B4-BE49-F238E27FC236}">
                <a16:creationId xmlns:a16="http://schemas.microsoft.com/office/drawing/2014/main" id="{C2FA9B7E-2DE1-D37D-6102-957E4AB4EE8C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884363" y="992188"/>
            <a:ext cx="1587" cy="10287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0" name="Text Box 14">
            <a:extLst>
              <a:ext uri="{FF2B5EF4-FFF2-40B4-BE49-F238E27FC236}">
                <a16:creationId xmlns:a16="http://schemas.microsoft.com/office/drawing/2014/main" id="{9C65B673-DEBF-412E-B1AA-DF7F2D7CA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29400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u</a:t>
            </a:r>
          </a:p>
        </p:txBody>
      </p:sp>
      <p:sp>
        <p:nvSpPr>
          <p:cNvPr id="29711" name="Text Box 15">
            <a:extLst>
              <a:ext uri="{FF2B5EF4-FFF2-40B4-BE49-F238E27FC236}">
                <a16:creationId xmlns:a16="http://schemas.microsoft.com/office/drawing/2014/main" id="{AB63B993-4B21-8772-EE81-E0937AE27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8" y="1714500"/>
            <a:ext cx="342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v</a:t>
            </a:r>
          </a:p>
        </p:txBody>
      </p:sp>
      <p:sp>
        <p:nvSpPr>
          <p:cNvPr id="29712" name="Line 17">
            <a:extLst>
              <a:ext uri="{FF2B5EF4-FFF2-40B4-BE49-F238E27FC236}">
                <a16:creationId xmlns:a16="http://schemas.microsoft.com/office/drawing/2014/main" id="{311B5F73-DC26-533E-E924-6AE3596DC5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7538" y="2027238"/>
            <a:ext cx="708025" cy="5730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3" name="Text Box 18">
            <a:extLst>
              <a:ext uri="{FF2B5EF4-FFF2-40B4-BE49-F238E27FC236}">
                <a16:creationId xmlns:a16="http://schemas.microsoft.com/office/drawing/2014/main" id="{1FEAE516-291D-8AC8-E93C-1E914648E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838" y="1373188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i="1">
                <a:latin typeface="Symbol" panose="05050102010706020507" pitchFamily="18" charset="2"/>
              </a:rPr>
              <a:t>q</a:t>
            </a:r>
            <a:r>
              <a:rPr lang="en-US" altLang="en-US" sz="1400" i="1" baseline="-25000">
                <a:latin typeface="Symbol" panose="05050102010706020507" pitchFamily="18" charset="2"/>
              </a:rPr>
              <a:t>1</a:t>
            </a:r>
            <a:endParaRPr lang="en-US" altLang="en-US" sz="1400" i="1">
              <a:latin typeface="Symbol" panose="05050102010706020507" pitchFamily="18" charset="2"/>
            </a:endParaRPr>
          </a:p>
        </p:txBody>
      </p:sp>
      <p:sp>
        <p:nvSpPr>
          <p:cNvPr id="29714" name="Text Box 19">
            <a:extLst>
              <a:ext uri="{FF2B5EF4-FFF2-40B4-BE49-F238E27FC236}">
                <a16:creationId xmlns:a16="http://schemas.microsoft.com/office/drawing/2014/main" id="{FE952108-2BB9-4B9D-9058-1BF27807C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2135188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i="1">
                <a:latin typeface="Symbol" panose="05050102010706020507" pitchFamily="18" charset="2"/>
              </a:rPr>
              <a:t>q</a:t>
            </a:r>
            <a:r>
              <a:rPr lang="en-US" altLang="en-US" sz="1400" i="1" baseline="-25000">
                <a:latin typeface="Symbol" panose="05050102010706020507" pitchFamily="18" charset="2"/>
              </a:rPr>
              <a:t>2</a:t>
            </a:r>
            <a:endParaRPr lang="en-US" altLang="en-US" sz="1400" i="1">
              <a:latin typeface="Symbol" panose="05050102010706020507" pitchFamily="18" charset="2"/>
            </a:endParaRPr>
          </a:p>
        </p:txBody>
      </p:sp>
      <p:sp>
        <p:nvSpPr>
          <p:cNvPr id="29715" name="Line 21">
            <a:extLst>
              <a:ext uri="{FF2B5EF4-FFF2-40B4-BE49-F238E27FC236}">
                <a16:creationId xmlns:a16="http://schemas.microsoft.com/office/drawing/2014/main" id="{B0BD3A75-A595-57B3-1C7C-8DF98B529E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3663" y="2563813"/>
            <a:ext cx="3249612" cy="7651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6" name="Text Box 22">
            <a:extLst>
              <a:ext uri="{FF2B5EF4-FFF2-40B4-BE49-F238E27FC236}">
                <a16:creationId xmlns:a16="http://schemas.microsoft.com/office/drawing/2014/main" id="{670249AD-1171-4391-394E-9A15DEA40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8" y="5183188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i="1">
                <a:latin typeface="Symbol" panose="05050102010706020507" pitchFamily="18" charset="2"/>
              </a:rPr>
              <a:t>q</a:t>
            </a:r>
            <a:r>
              <a:rPr lang="en-US" altLang="en-US" sz="1400" i="1" baseline="-25000">
                <a:latin typeface="Symbol" panose="05050102010706020507" pitchFamily="18" charset="2"/>
              </a:rPr>
              <a:t>1</a:t>
            </a:r>
            <a:endParaRPr lang="en-US" altLang="en-US" sz="1400" i="1">
              <a:latin typeface="Symbol" panose="05050102010706020507" pitchFamily="18" charset="2"/>
            </a:endParaRPr>
          </a:p>
        </p:txBody>
      </p:sp>
      <p:sp>
        <p:nvSpPr>
          <p:cNvPr id="29717" name="Text Box 23">
            <a:extLst>
              <a:ext uri="{FF2B5EF4-FFF2-40B4-BE49-F238E27FC236}">
                <a16:creationId xmlns:a16="http://schemas.microsoft.com/office/drawing/2014/main" id="{8800DB10-8581-4263-8E69-C092B6AB1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5227638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i="1">
                <a:latin typeface="Symbol" panose="05050102010706020507" pitchFamily="18" charset="2"/>
              </a:rPr>
              <a:t>q</a:t>
            </a:r>
            <a:r>
              <a:rPr lang="en-US" altLang="en-US" sz="1400" i="1" baseline="-25000">
                <a:latin typeface="Symbol" panose="05050102010706020507" pitchFamily="18" charset="2"/>
              </a:rPr>
              <a:t>2</a:t>
            </a:r>
            <a:endParaRPr lang="en-US" altLang="en-US" sz="1400" i="1">
              <a:latin typeface="Symbol" panose="05050102010706020507" pitchFamily="18" charset="2"/>
            </a:endParaRPr>
          </a:p>
        </p:txBody>
      </p:sp>
      <p:sp>
        <p:nvSpPr>
          <p:cNvPr id="29718" name="Line 24">
            <a:extLst>
              <a:ext uri="{FF2B5EF4-FFF2-40B4-BE49-F238E27FC236}">
                <a16:creationId xmlns:a16="http://schemas.microsoft.com/office/drawing/2014/main" id="{FA830A91-6AF6-7452-64A3-BD299CA177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363" y="4000500"/>
            <a:ext cx="0" cy="12271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9" name="Line 25">
            <a:extLst>
              <a:ext uri="{FF2B5EF4-FFF2-40B4-BE49-F238E27FC236}">
                <a16:creationId xmlns:a16="http://schemas.microsoft.com/office/drawing/2014/main" id="{6DD0973D-DBF7-E035-D31D-A53F42973C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2175" y="3886200"/>
            <a:ext cx="0" cy="13414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0" name="Oval 26">
            <a:extLst>
              <a:ext uri="{FF2B5EF4-FFF2-40B4-BE49-F238E27FC236}">
                <a16:creationId xmlns:a16="http://schemas.microsoft.com/office/drawing/2014/main" id="{061607B3-9C9D-D136-3A9D-296664918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4784725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21" name="Oval 27">
            <a:extLst>
              <a:ext uri="{FF2B5EF4-FFF2-40B4-BE49-F238E27FC236}">
                <a16:creationId xmlns:a16="http://schemas.microsoft.com/office/drawing/2014/main" id="{5C7E3932-C7F6-9E93-AD15-4A46AFD01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438" y="4497388"/>
            <a:ext cx="88900" cy="889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22" name="Line 28">
            <a:extLst>
              <a:ext uri="{FF2B5EF4-FFF2-40B4-BE49-F238E27FC236}">
                <a16:creationId xmlns:a16="http://schemas.microsoft.com/office/drawing/2014/main" id="{2686AF70-2109-8A40-56FF-667D80781F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9463" y="1579563"/>
            <a:ext cx="1109662" cy="31575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3" name="Line 29">
            <a:extLst>
              <a:ext uri="{FF2B5EF4-FFF2-40B4-BE49-F238E27FC236}">
                <a16:creationId xmlns:a16="http://schemas.microsoft.com/office/drawing/2014/main" id="{1ACA8F3B-F006-5BCA-253D-131835139C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95513" y="2609850"/>
            <a:ext cx="415925" cy="1778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4" name="Freeform 31">
            <a:extLst>
              <a:ext uri="{FF2B5EF4-FFF2-40B4-BE49-F238E27FC236}">
                <a16:creationId xmlns:a16="http://schemas.microsoft.com/office/drawing/2014/main" id="{07D3423B-627E-53CD-2F2C-D190D7241378}"/>
              </a:ext>
            </a:extLst>
          </p:cNvPr>
          <p:cNvSpPr>
            <a:spLocks/>
          </p:cNvSpPr>
          <p:nvPr/>
        </p:nvSpPr>
        <p:spPr bwMode="auto">
          <a:xfrm>
            <a:off x="1030288" y="1320800"/>
            <a:ext cx="1565275" cy="1279525"/>
          </a:xfrm>
          <a:custGeom>
            <a:avLst/>
            <a:gdLst>
              <a:gd name="T0" fmla="*/ 0 w 986"/>
              <a:gd name="T1" fmla="*/ 0 h 806"/>
              <a:gd name="T2" fmla="*/ 2147483646 w 986"/>
              <a:gd name="T3" fmla="*/ 2147483646 h 806"/>
              <a:gd name="T4" fmla="*/ 0 60000 65536"/>
              <a:gd name="T5" fmla="*/ 0 60000 65536"/>
              <a:gd name="T6" fmla="*/ 0 w 986"/>
              <a:gd name="T7" fmla="*/ 0 h 806"/>
              <a:gd name="T8" fmla="*/ 986 w 986"/>
              <a:gd name="T9" fmla="*/ 806 h 80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86" h="806">
                <a:moveTo>
                  <a:pt x="0" y="0"/>
                </a:moveTo>
                <a:lnTo>
                  <a:pt x="986" y="806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9725" name="Group 36">
            <a:extLst>
              <a:ext uri="{FF2B5EF4-FFF2-40B4-BE49-F238E27FC236}">
                <a16:creationId xmlns:a16="http://schemas.microsoft.com/office/drawing/2014/main" id="{A45C930E-29BC-CF24-F960-E22A9B2A2500}"/>
              </a:ext>
            </a:extLst>
          </p:cNvPr>
          <p:cNvGrpSpPr>
            <a:grpSpLocks/>
          </p:cNvGrpSpPr>
          <p:nvPr/>
        </p:nvGrpSpPr>
        <p:grpSpPr bwMode="auto">
          <a:xfrm>
            <a:off x="619125" y="3506788"/>
            <a:ext cx="4394200" cy="2471737"/>
            <a:chOff x="444" y="2263"/>
            <a:chExt cx="2654" cy="1497"/>
          </a:xfrm>
        </p:grpSpPr>
        <p:sp>
          <p:nvSpPr>
            <p:cNvPr id="29733" name="Line 37">
              <a:extLst>
                <a:ext uri="{FF2B5EF4-FFF2-40B4-BE49-F238E27FC236}">
                  <a16:creationId xmlns:a16="http://schemas.microsoft.com/office/drawing/2014/main" id="{71C36942-8B18-B346-CEF1-6E949B7BEB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4" y="2292"/>
              <a:ext cx="110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4" name="Freeform 38">
              <a:extLst>
                <a:ext uri="{FF2B5EF4-FFF2-40B4-BE49-F238E27FC236}">
                  <a16:creationId xmlns:a16="http://schemas.microsoft.com/office/drawing/2014/main" id="{A58EE9DF-D2BC-5131-470E-D77F870B5FA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1" y="2263"/>
              <a:ext cx="2617" cy="1497"/>
            </a:xfrm>
            <a:custGeom>
              <a:avLst/>
              <a:gdLst>
                <a:gd name="T0" fmla="*/ 0 w 1723"/>
                <a:gd name="T1" fmla="*/ 1239 h 831"/>
                <a:gd name="T2" fmla="*/ 2019 w 1723"/>
                <a:gd name="T3" fmla="*/ 4749 h 831"/>
                <a:gd name="T4" fmla="*/ 4593 w 1723"/>
                <a:gd name="T5" fmla="*/ 562 h 831"/>
                <a:gd name="T6" fmla="*/ 6037 w 1723"/>
                <a:gd name="T7" fmla="*/ 1380 h 8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23"/>
                <a:gd name="T13" fmla="*/ 0 h 831"/>
                <a:gd name="T14" fmla="*/ 1723 w 1723"/>
                <a:gd name="T15" fmla="*/ 831 h 8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23" h="831">
                  <a:moveTo>
                    <a:pt x="0" y="212"/>
                  </a:moveTo>
                  <a:cubicBezTo>
                    <a:pt x="96" y="312"/>
                    <a:pt x="358" y="831"/>
                    <a:pt x="576" y="812"/>
                  </a:cubicBezTo>
                  <a:cubicBezTo>
                    <a:pt x="794" y="793"/>
                    <a:pt x="1120" y="192"/>
                    <a:pt x="1311" y="96"/>
                  </a:cubicBezTo>
                  <a:cubicBezTo>
                    <a:pt x="1502" y="0"/>
                    <a:pt x="1637" y="207"/>
                    <a:pt x="1723" y="23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5" name="Line 39">
              <a:extLst>
                <a:ext uri="{FF2B5EF4-FFF2-40B4-BE49-F238E27FC236}">
                  <a16:creationId xmlns:a16="http://schemas.microsoft.com/office/drawing/2014/main" id="{ADA5CD73-846E-95FB-C643-1A8D73A356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" y="3653"/>
              <a:ext cx="21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726" name="Line 20">
            <a:extLst>
              <a:ext uri="{FF2B5EF4-FFF2-40B4-BE49-F238E27FC236}">
                <a16:creationId xmlns:a16="http://schemas.microsoft.com/office/drawing/2014/main" id="{4615EB9A-EF26-AF01-A9B8-313C29CA4D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7225" y="1566863"/>
            <a:ext cx="5078413" cy="3143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9727" name="Group 45">
            <a:extLst>
              <a:ext uri="{FF2B5EF4-FFF2-40B4-BE49-F238E27FC236}">
                <a16:creationId xmlns:a16="http://schemas.microsoft.com/office/drawing/2014/main" id="{5B7752AC-9814-2901-D602-A4F831837F7F}"/>
              </a:ext>
            </a:extLst>
          </p:cNvPr>
          <p:cNvGrpSpPr>
            <a:grpSpLocks/>
          </p:cNvGrpSpPr>
          <p:nvPr/>
        </p:nvGrpSpPr>
        <p:grpSpPr bwMode="auto">
          <a:xfrm>
            <a:off x="6516688" y="527050"/>
            <a:ext cx="2359025" cy="1901825"/>
            <a:chOff x="4105" y="332"/>
            <a:chExt cx="1486" cy="1198"/>
          </a:xfrm>
        </p:grpSpPr>
        <p:pic>
          <p:nvPicPr>
            <p:cNvPr id="29730" name="Picture 40">
              <a:extLst>
                <a:ext uri="{FF2B5EF4-FFF2-40B4-BE49-F238E27FC236}">
                  <a16:creationId xmlns:a16="http://schemas.microsoft.com/office/drawing/2014/main" id="{1442039E-4770-46AA-3B04-5E7BD2478B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5" y="332"/>
              <a:ext cx="1486" cy="1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31" name="Freeform 42">
              <a:extLst>
                <a:ext uri="{FF2B5EF4-FFF2-40B4-BE49-F238E27FC236}">
                  <a16:creationId xmlns:a16="http://schemas.microsoft.com/office/drawing/2014/main" id="{06579BBD-2C34-0340-D265-481E33B3D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0" y="504"/>
              <a:ext cx="468" cy="864"/>
            </a:xfrm>
            <a:custGeom>
              <a:avLst/>
              <a:gdLst>
                <a:gd name="T0" fmla="*/ 96 w 468"/>
                <a:gd name="T1" fmla="*/ 864 h 864"/>
                <a:gd name="T2" fmla="*/ 96 w 468"/>
                <a:gd name="T3" fmla="*/ 372 h 864"/>
                <a:gd name="T4" fmla="*/ 468 w 468"/>
                <a:gd name="T5" fmla="*/ 0 h 864"/>
                <a:gd name="T6" fmla="*/ 0 60000 65536"/>
                <a:gd name="T7" fmla="*/ 0 60000 65536"/>
                <a:gd name="T8" fmla="*/ 0 60000 65536"/>
                <a:gd name="T9" fmla="*/ 0 w 468"/>
                <a:gd name="T10" fmla="*/ 0 h 864"/>
                <a:gd name="T11" fmla="*/ 468 w 468"/>
                <a:gd name="T12" fmla="*/ 864 h 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8" h="864">
                  <a:moveTo>
                    <a:pt x="96" y="864"/>
                  </a:moveTo>
                  <a:cubicBezTo>
                    <a:pt x="0" y="630"/>
                    <a:pt x="34" y="516"/>
                    <a:pt x="96" y="372"/>
                  </a:cubicBezTo>
                  <a:cubicBezTo>
                    <a:pt x="252" y="24"/>
                    <a:pt x="391" y="77"/>
                    <a:pt x="468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2" name="Freeform 43">
              <a:extLst>
                <a:ext uri="{FF2B5EF4-FFF2-40B4-BE49-F238E27FC236}">
                  <a16:creationId xmlns:a16="http://schemas.microsoft.com/office/drawing/2014/main" id="{28E7182D-F74D-E87A-45BA-28A990EF3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" y="444"/>
              <a:ext cx="984" cy="666"/>
            </a:xfrm>
            <a:custGeom>
              <a:avLst/>
              <a:gdLst>
                <a:gd name="T0" fmla="*/ 0 w 984"/>
                <a:gd name="T1" fmla="*/ 0 h 666"/>
                <a:gd name="T2" fmla="*/ 528 w 984"/>
                <a:gd name="T3" fmla="*/ 126 h 666"/>
                <a:gd name="T4" fmla="*/ 900 w 984"/>
                <a:gd name="T5" fmla="*/ 666 h 666"/>
                <a:gd name="T6" fmla="*/ 0 60000 65536"/>
                <a:gd name="T7" fmla="*/ 0 60000 65536"/>
                <a:gd name="T8" fmla="*/ 0 60000 65536"/>
                <a:gd name="T9" fmla="*/ 0 w 984"/>
                <a:gd name="T10" fmla="*/ 0 h 666"/>
                <a:gd name="T11" fmla="*/ 984 w 984"/>
                <a:gd name="T12" fmla="*/ 666 h 6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84" h="666">
                  <a:moveTo>
                    <a:pt x="0" y="0"/>
                  </a:moveTo>
                  <a:cubicBezTo>
                    <a:pt x="89" y="21"/>
                    <a:pt x="378" y="15"/>
                    <a:pt x="528" y="126"/>
                  </a:cubicBezTo>
                  <a:cubicBezTo>
                    <a:pt x="984" y="468"/>
                    <a:pt x="823" y="554"/>
                    <a:pt x="900" y="66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728" name="Freeform 46">
            <a:extLst>
              <a:ext uri="{FF2B5EF4-FFF2-40B4-BE49-F238E27FC236}">
                <a16:creationId xmlns:a16="http://schemas.microsoft.com/office/drawing/2014/main" id="{E9D0DCCC-158F-4E09-E7DD-5DC39A7FC244}"/>
              </a:ext>
            </a:extLst>
          </p:cNvPr>
          <p:cNvSpPr>
            <a:spLocks/>
          </p:cNvSpPr>
          <p:nvPr/>
        </p:nvSpPr>
        <p:spPr bwMode="auto">
          <a:xfrm rot="-5400000">
            <a:off x="1069975" y="1408113"/>
            <a:ext cx="1565275" cy="1279525"/>
          </a:xfrm>
          <a:custGeom>
            <a:avLst/>
            <a:gdLst>
              <a:gd name="T0" fmla="*/ 0 w 986"/>
              <a:gd name="T1" fmla="*/ 0 h 806"/>
              <a:gd name="T2" fmla="*/ 2147483646 w 986"/>
              <a:gd name="T3" fmla="*/ 2147483646 h 806"/>
              <a:gd name="T4" fmla="*/ 0 60000 65536"/>
              <a:gd name="T5" fmla="*/ 0 60000 65536"/>
              <a:gd name="T6" fmla="*/ 0 w 986"/>
              <a:gd name="T7" fmla="*/ 0 h 806"/>
              <a:gd name="T8" fmla="*/ 986 w 986"/>
              <a:gd name="T9" fmla="*/ 806 h 80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86" h="806">
                <a:moveTo>
                  <a:pt x="0" y="0"/>
                </a:moveTo>
                <a:lnTo>
                  <a:pt x="986" y="806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9" name="Text Box 47">
            <a:extLst>
              <a:ext uri="{FF2B5EF4-FFF2-40B4-BE49-F238E27FC236}">
                <a16:creationId xmlns:a16="http://schemas.microsoft.com/office/drawing/2014/main" id="{2A70F8D4-47E2-71B6-405C-F40FE6295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2950" y="881063"/>
            <a:ext cx="3303588" cy="311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For each point on a surface there are 2 directions where the normal curvature are at a maximum and minimum.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These two “principle directions” characterize the surface curvature at the point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F912899-937C-3EE7-DE43-CA292347E9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Gaussian Curvature: Definition and meaning #1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8CD2B11C-33A9-8127-E469-2B0ED1B3C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1748" name="AutoShape 6">
            <a:extLst>
              <a:ext uri="{FF2B5EF4-FFF2-40B4-BE49-F238E27FC236}">
                <a16:creationId xmlns:a16="http://schemas.microsoft.com/office/drawing/2014/main" id="{9229798D-743B-738A-46E3-D7524B77A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63" y="4878388"/>
            <a:ext cx="3529012" cy="1060450"/>
          </a:xfrm>
          <a:prstGeom prst="wedgeRectCallout">
            <a:avLst>
              <a:gd name="adj1" fmla="val 88370"/>
              <a:gd name="adj2" fmla="val 463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Q: What is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A: The geometric mean, or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     “multiplicative average”</a:t>
            </a:r>
            <a:endParaRPr lang="en-US" altLang="en-US" sz="1800" i="1" baseline="30000"/>
          </a:p>
        </p:txBody>
      </p:sp>
      <p:pic>
        <p:nvPicPr>
          <p:cNvPr id="31749" name="Picture 7">
            <a:extLst>
              <a:ext uri="{FF2B5EF4-FFF2-40B4-BE49-F238E27FC236}">
                <a16:creationId xmlns:a16="http://schemas.microsoft.com/office/drawing/2014/main" id="{ADF52A8A-9D10-2959-A4FF-62530B80E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822325"/>
            <a:ext cx="3019425" cy="270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1750" name="Object 9">
            <a:extLst>
              <a:ext uri="{FF2B5EF4-FFF2-40B4-BE49-F238E27FC236}">
                <a16:creationId xmlns:a16="http://schemas.microsoft.com/office/drawing/2014/main" id="{124BEECC-F804-EDE9-9215-DE210F2AE7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67450" y="4378325"/>
          <a:ext cx="1077913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8000" imgH="711200" progId="Equation.3">
                  <p:embed/>
                </p:oleObj>
              </mc:Choice>
              <mc:Fallback>
                <p:oleObj name="Equation" r:id="rId4" imgW="508000" imgH="711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7450" y="4378325"/>
                        <a:ext cx="1077913" cy="150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751" name="Picture 11">
            <a:extLst>
              <a:ext uri="{FF2B5EF4-FFF2-40B4-BE49-F238E27FC236}">
                <a16:creationId xmlns:a16="http://schemas.microsoft.com/office/drawing/2014/main" id="{A7B2804B-E643-57B2-7D64-7C5BC35DE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488" y="928688"/>
            <a:ext cx="3795712" cy="318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50507C18-710E-A128-72FE-593304E0D8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Curvature Sign characteristics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52F6D5C-83F0-A587-34D3-EDA3B991C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33796" name="Picture 6">
            <a:extLst>
              <a:ext uri="{FF2B5EF4-FFF2-40B4-BE49-F238E27FC236}">
                <a16:creationId xmlns:a16="http://schemas.microsoft.com/office/drawing/2014/main" id="{030EF191-2321-7C30-307F-10F3201E2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4124325"/>
            <a:ext cx="2751138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Line 7">
            <a:extLst>
              <a:ext uri="{FF2B5EF4-FFF2-40B4-BE49-F238E27FC236}">
                <a16:creationId xmlns:a16="http://schemas.microsoft.com/office/drawing/2014/main" id="{97C8A877-ED2F-FB56-DDAE-0AFABC8CDF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8663" y="5075238"/>
            <a:ext cx="27590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8" name="Line 8">
            <a:extLst>
              <a:ext uri="{FF2B5EF4-FFF2-40B4-BE49-F238E27FC236}">
                <a16:creationId xmlns:a16="http://schemas.microsoft.com/office/drawing/2014/main" id="{A1413FCC-4D68-901E-BD64-B9E5F08247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8663" y="4124325"/>
            <a:ext cx="7937" cy="1976438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9" name="Text Box 9">
            <a:extLst>
              <a:ext uri="{FF2B5EF4-FFF2-40B4-BE49-F238E27FC236}">
                <a16:creationId xmlns:a16="http://schemas.microsoft.com/office/drawing/2014/main" id="{FC8F354F-8978-4F1D-FB10-027DB8707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5045075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2</a:t>
            </a:r>
            <a:r>
              <a:rPr lang="en-US" altLang="en-US" sz="1400" b="1">
                <a:latin typeface="Symbol" panose="05050102010706020507" pitchFamily="18" charset="2"/>
              </a:rPr>
              <a:t>p</a:t>
            </a:r>
          </a:p>
        </p:txBody>
      </p:sp>
      <p:sp>
        <p:nvSpPr>
          <p:cNvPr id="33800" name="Text Box 10">
            <a:extLst>
              <a:ext uri="{FF2B5EF4-FFF2-40B4-BE49-F238E27FC236}">
                <a16:creationId xmlns:a16="http://schemas.microsoft.com/office/drawing/2014/main" id="{E1921CA2-552E-7DDB-F49A-00F846422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50450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0</a:t>
            </a:r>
            <a:endParaRPr lang="en-US" altLang="en-US" sz="1400" b="1">
              <a:latin typeface="Symbol" panose="05050102010706020507" pitchFamily="18" charset="2"/>
            </a:endParaRPr>
          </a:p>
        </p:txBody>
      </p:sp>
      <p:sp>
        <p:nvSpPr>
          <p:cNvPr id="33801" name="Text Box 11">
            <a:extLst>
              <a:ext uri="{FF2B5EF4-FFF2-40B4-BE49-F238E27FC236}">
                <a16:creationId xmlns:a16="http://schemas.microsoft.com/office/drawing/2014/main" id="{A55C108C-15CF-19E7-B09E-80BBF5EB4D84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45244" y="4976019"/>
            <a:ext cx="9921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curvature</a:t>
            </a:r>
            <a:endParaRPr lang="en-US" altLang="en-US" sz="1400" b="1">
              <a:latin typeface="Symbol" panose="05050102010706020507" pitchFamily="18" charset="2"/>
            </a:endParaRPr>
          </a:p>
        </p:txBody>
      </p:sp>
      <p:sp>
        <p:nvSpPr>
          <p:cNvPr id="33802" name="Freeform 12">
            <a:extLst>
              <a:ext uri="{FF2B5EF4-FFF2-40B4-BE49-F238E27FC236}">
                <a16:creationId xmlns:a16="http://schemas.microsoft.com/office/drawing/2014/main" id="{1BDD08C7-596C-A0B7-66C7-F206F35F41DF}"/>
              </a:ext>
            </a:extLst>
          </p:cNvPr>
          <p:cNvSpPr>
            <a:spLocks/>
          </p:cNvSpPr>
          <p:nvPr/>
        </p:nvSpPr>
        <p:spPr bwMode="auto">
          <a:xfrm>
            <a:off x="884238" y="3213100"/>
            <a:ext cx="2735262" cy="1319213"/>
          </a:xfrm>
          <a:custGeom>
            <a:avLst/>
            <a:gdLst>
              <a:gd name="T0" fmla="*/ 0 w 1723"/>
              <a:gd name="T1" fmla="*/ 2147483646 h 831"/>
              <a:gd name="T2" fmla="*/ 2147483646 w 1723"/>
              <a:gd name="T3" fmla="*/ 2147483646 h 831"/>
              <a:gd name="T4" fmla="*/ 2147483646 w 1723"/>
              <a:gd name="T5" fmla="*/ 2147483646 h 831"/>
              <a:gd name="T6" fmla="*/ 2147483646 w 1723"/>
              <a:gd name="T7" fmla="*/ 2147483646 h 831"/>
              <a:gd name="T8" fmla="*/ 0 60000 65536"/>
              <a:gd name="T9" fmla="*/ 0 60000 65536"/>
              <a:gd name="T10" fmla="*/ 0 60000 65536"/>
              <a:gd name="T11" fmla="*/ 0 60000 65536"/>
              <a:gd name="T12" fmla="*/ 0 w 1723"/>
              <a:gd name="T13" fmla="*/ 0 h 831"/>
              <a:gd name="T14" fmla="*/ 1723 w 1723"/>
              <a:gd name="T15" fmla="*/ 831 h 8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23" h="831">
                <a:moveTo>
                  <a:pt x="0" y="212"/>
                </a:moveTo>
                <a:cubicBezTo>
                  <a:pt x="96" y="312"/>
                  <a:pt x="358" y="831"/>
                  <a:pt x="576" y="812"/>
                </a:cubicBezTo>
                <a:cubicBezTo>
                  <a:pt x="794" y="793"/>
                  <a:pt x="1120" y="192"/>
                  <a:pt x="1311" y="96"/>
                </a:cubicBezTo>
                <a:cubicBezTo>
                  <a:pt x="1502" y="0"/>
                  <a:pt x="1637" y="207"/>
                  <a:pt x="1723" y="236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3803" name="Picture 15">
            <a:extLst>
              <a:ext uri="{FF2B5EF4-FFF2-40B4-BE49-F238E27FC236}">
                <a16:creationId xmlns:a16="http://schemas.microsoft.com/office/drawing/2014/main" id="{35E2880A-FF59-A240-D58A-410C308D7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700" y="161925"/>
            <a:ext cx="235267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4" name="Picture 17">
            <a:extLst>
              <a:ext uri="{FF2B5EF4-FFF2-40B4-BE49-F238E27FC236}">
                <a16:creationId xmlns:a16="http://schemas.microsoft.com/office/drawing/2014/main" id="{302498CB-0333-F263-96DB-089C7D4E0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613" y="2252663"/>
            <a:ext cx="2541587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5" name="Text Box 18">
            <a:extLst>
              <a:ext uri="{FF2B5EF4-FFF2-40B4-BE49-F238E27FC236}">
                <a16:creationId xmlns:a16="http://schemas.microsoft.com/office/drawing/2014/main" id="{394E41BF-8F8E-AC85-6135-5120815C1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050" y="954088"/>
            <a:ext cx="8524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accent2"/>
                </a:solidFill>
              </a:rPr>
              <a:t>positive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“bowl”</a:t>
            </a:r>
            <a:endParaRPr lang="en-US" altLang="en-US" sz="1400" b="1">
              <a:latin typeface="Symbol" panose="05050102010706020507" pitchFamily="18" charset="2"/>
            </a:endParaRPr>
          </a:p>
        </p:txBody>
      </p:sp>
      <p:sp>
        <p:nvSpPr>
          <p:cNvPr id="33806" name="Text Box 19">
            <a:extLst>
              <a:ext uri="{FF2B5EF4-FFF2-40B4-BE49-F238E27FC236}">
                <a16:creationId xmlns:a16="http://schemas.microsoft.com/office/drawing/2014/main" id="{FD19BC87-B264-7FC2-7C14-829FFE151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0" y="2987675"/>
            <a:ext cx="92233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FF3300"/>
                </a:solidFill>
              </a:rPr>
              <a:t>negative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“saddle”</a:t>
            </a:r>
            <a:endParaRPr lang="en-US" altLang="en-US" sz="1400" b="1">
              <a:latin typeface="Symbol" panose="05050102010706020507" pitchFamily="18" charset="2"/>
            </a:endParaRPr>
          </a:p>
        </p:txBody>
      </p:sp>
      <p:grpSp>
        <p:nvGrpSpPr>
          <p:cNvPr id="33807" name="Group 30">
            <a:extLst>
              <a:ext uri="{FF2B5EF4-FFF2-40B4-BE49-F238E27FC236}">
                <a16:creationId xmlns:a16="http://schemas.microsoft.com/office/drawing/2014/main" id="{691194FF-72DF-BDB8-A2CF-43CC3E6B2BB4}"/>
              </a:ext>
            </a:extLst>
          </p:cNvPr>
          <p:cNvGrpSpPr>
            <a:grpSpLocks/>
          </p:cNvGrpSpPr>
          <p:nvPr/>
        </p:nvGrpSpPr>
        <p:grpSpPr bwMode="auto">
          <a:xfrm>
            <a:off x="4608513" y="4643438"/>
            <a:ext cx="4351337" cy="2011362"/>
            <a:chOff x="2903" y="2925"/>
            <a:chExt cx="2741" cy="1267"/>
          </a:xfrm>
        </p:grpSpPr>
        <p:pic>
          <p:nvPicPr>
            <p:cNvPr id="33814" name="Picture 16">
              <a:extLst>
                <a:ext uri="{FF2B5EF4-FFF2-40B4-BE49-F238E27FC236}">
                  <a16:creationId xmlns:a16="http://schemas.microsoft.com/office/drawing/2014/main" id="{418E7FCC-31D9-B6ED-BE2A-A486013CD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3" y="2925"/>
              <a:ext cx="1511" cy="1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15" name="Text Box 20">
              <a:extLst>
                <a:ext uri="{FF2B5EF4-FFF2-40B4-BE49-F238E27FC236}">
                  <a16:creationId xmlns:a16="http://schemas.microsoft.com/office/drawing/2014/main" id="{DAB541EF-EB45-C538-4E8B-A6B972A1A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3" y="3326"/>
              <a:ext cx="1150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chemeClr val="accent2"/>
                  </a:solidFill>
                </a:rPr>
                <a:t>positive</a:t>
              </a:r>
            </a:p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“dome”</a:t>
              </a:r>
            </a:p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/>
                <a:t>(“double negative”)</a:t>
              </a:r>
              <a:endParaRPr lang="en-US" altLang="en-US" sz="1400" b="1">
                <a:latin typeface="Symbol" panose="05050102010706020507" pitchFamily="18" charset="2"/>
              </a:endParaRPr>
            </a:p>
          </p:txBody>
        </p:sp>
      </p:grpSp>
      <p:sp>
        <p:nvSpPr>
          <p:cNvPr id="33808" name="Line 21">
            <a:extLst>
              <a:ext uri="{FF2B5EF4-FFF2-40B4-BE49-F238E27FC236}">
                <a16:creationId xmlns:a16="http://schemas.microsoft.com/office/drawing/2014/main" id="{BE985876-0FE2-CAC2-D81E-DEC56EE848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7900" y="1568450"/>
            <a:ext cx="2144713" cy="18208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9" name="Line 22">
            <a:extLst>
              <a:ext uri="{FF2B5EF4-FFF2-40B4-BE49-F238E27FC236}">
                <a16:creationId xmlns:a16="http://schemas.microsoft.com/office/drawing/2014/main" id="{06E0899B-6667-A95A-D8C7-63926A235D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33763" y="3387725"/>
            <a:ext cx="1985962" cy="11890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0" name="Line 23">
            <a:extLst>
              <a:ext uri="{FF2B5EF4-FFF2-40B4-BE49-F238E27FC236}">
                <a16:creationId xmlns:a16="http://schemas.microsoft.com/office/drawing/2014/main" id="{82E365B8-73DB-2E43-51EF-45B6E3E048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8713" y="5559425"/>
            <a:ext cx="1682750" cy="2667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1" name="Text Box 27">
            <a:extLst>
              <a:ext uri="{FF2B5EF4-FFF2-40B4-BE49-F238E27FC236}">
                <a16:creationId xmlns:a16="http://schemas.microsoft.com/office/drawing/2014/main" id="{B6C65BF0-870A-E870-B9BA-61CFFCCBA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982663"/>
            <a:ext cx="6735762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2270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227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7013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whether they curve in the </a:t>
            </a:r>
            <a:r>
              <a:rPr lang="en-US" altLang="en-US" sz="1800">
                <a:solidFill>
                  <a:schemeClr val="accent2"/>
                </a:solidFill>
              </a:rPr>
              <a:t>same direction</a:t>
            </a:r>
            <a:r>
              <a:rPr lang="en-US" altLang="en-US" sz="1800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relative to the normal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or in </a:t>
            </a:r>
            <a:r>
              <a:rPr lang="en-US" altLang="en-US" sz="1800">
                <a:solidFill>
                  <a:srgbClr val="FF3300"/>
                </a:solidFill>
              </a:rPr>
              <a:t>opposing directions</a:t>
            </a:r>
            <a:r>
              <a:rPr lang="en-US" altLang="en-US" sz="1800"/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3812" name="Freeform 28">
            <a:extLst>
              <a:ext uri="{FF2B5EF4-FFF2-40B4-BE49-F238E27FC236}">
                <a16:creationId xmlns:a16="http://schemas.microsoft.com/office/drawing/2014/main" id="{F7B1FE07-78A7-D66D-9DF0-9A64AE29A69F}"/>
              </a:ext>
            </a:extLst>
          </p:cNvPr>
          <p:cNvSpPr>
            <a:spLocks/>
          </p:cNvSpPr>
          <p:nvPr/>
        </p:nvSpPr>
        <p:spPr bwMode="auto">
          <a:xfrm>
            <a:off x="884238" y="5538788"/>
            <a:ext cx="2735262" cy="1319212"/>
          </a:xfrm>
          <a:custGeom>
            <a:avLst/>
            <a:gdLst>
              <a:gd name="T0" fmla="*/ 0 w 1723"/>
              <a:gd name="T1" fmla="*/ 2147483646 h 831"/>
              <a:gd name="T2" fmla="*/ 2147483646 w 1723"/>
              <a:gd name="T3" fmla="*/ 2147483646 h 831"/>
              <a:gd name="T4" fmla="*/ 2147483646 w 1723"/>
              <a:gd name="T5" fmla="*/ 2147483646 h 831"/>
              <a:gd name="T6" fmla="*/ 2147483646 w 1723"/>
              <a:gd name="T7" fmla="*/ 2147483646 h 831"/>
              <a:gd name="T8" fmla="*/ 0 60000 65536"/>
              <a:gd name="T9" fmla="*/ 0 60000 65536"/>
              <a:gd name="T10" fmla="*/ 0 60000 65536"/>
              <a:gd name="T11" fmla="*/ 0 60000 65536"/>
              <a:gd name="T12" fmla="*/ 0 w 1723"/>
              <a:gd name="T13" fmla="*/ 0 h 831"/>
              <a:gd name="T14" fmla="*/ 1723 w 1723"/>
              <a:gd name="T15" fmla="*/ 831 h 8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23" h="831">
                <a:moveTo>
                  <a:pt x="0" y="212"/>
                </a:moveTo>
                <a:cubicBezTo>
                  <a:pt x="96" y="312"/>
                  <a:pt x="358" y="831"/>
                  <a:pt x="576" y="812"/>
                </a:cubicBezTo>
                <a:cubicBezTo>
                  <a:pt x="794" y="793"/>
                  <a:pt x="1120" y="192"/>
                  <a:pt x="1311" y="96"/>
                </a:cubicBezTo>
                <a:cubicBezTo>
                  <a:pt x="1502" y="0"/>
                  <a:pt x="1637" y="207"/>
                  <a:pt x="1723" y="236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3" name="Freeform 29">
            <a:extLst>
              <a:ext uri="{FF2B5EF4-FFF2-40B4-BE49-F238E27FC236}">
                <a16:creationId xmlns:a16="http://schemas.microsoft.com/office/drawing/2014/main" id="{4DAB647D-2063-9C7B-C948-72BDE7E7B025}"/>
              </a:ext>
            </a:extLst>
          </p:cNvPr>
          <p:cNvSpPr>
            <a:spLocks/>
          </p:cNvSpPr>
          <p:nvPr/>
        </p:nvSpPr>
        <p:spPr bwMode="auto">
          <a:xfrm>
            <a:off x="884238" y="4403725"/>
            <a:ext cx="2735262" cy="1319213"/>
          </a:xfrm>
          <a:custGeom>
            <a:avLst/>
            <a:gdLst>
              <a:gd name="T0" fmla="*/ 0 w 1723"/>
              <a:gd name="T1" fmla="*/ 2147483646 h 831"/>
              <a:gd name="T2" fmla="*/ 2147483646 w 1723"/>
              <a:gd name="T3" fmla="*/ 2147483646 h 831"/>
              <a:gd name="T4" fmla="*/ 2147483646 w 1723"/>
              <a:gd name="T5" fmla="*/ 2147483646 h 831"/>
              <a:gd name="T6" fmla="*/ 2147483646 w 1723"/>
              <a:gd name="T7" fmla="*/ 2147483646 h 831"/>
              <a:gd name="T8" fmla="*/ 0 60000 65536"/>
              <a:gd name="T9" fmla="*/ 0 60000 65536"/>
              <a:gd name="T10" fmla="*/ 0 60000 65536"/>
              <a:gd name="T11" fmla="*/ 0 60000 65536"/>
              <a:gd name="T12" fmla="*/ 0 w 1723"/>
              <a:gd name="T13" fmla="*/ 0 h 831"/>
              <a:gd name="T14" fmla="*/ 1723 w 1723"/>
              <a:gd name="T15" fmla="*/ 831 h 8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23" h="831">
                <a:moveTo>
                  <a:pt x="0" y="212"/>
                </a:moveTo>
                <a:cubicBezTo>
                  <a:pt x="96" y="312"/>
                  <a:pt x="358" y="831"/>
                  <a:pt x="576" y="812"/>
                </a:cubicBezTo>
                <a:cubicBezTo>
                  <a:pt x="794" y="793"/>
                  <a:pt x="1120" y="192"/>
                  <a:pt x="1311" y="96"/>
                </a:cubicBezTo>
                <a:cubicBezTo>
                  <a:pt x="1502" y="0"/>
                  <a:pt x="1637" y="207"/>
                  <a:pt x="1723" y="236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8DB7E1A1-03E9-E96D-0D99-FF5F6A699E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Gaussian Curvature: Definition and meaning #1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66A8C1D-C1CA-639C-DCC7-E76527DF7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35844" name="Picture 7">
            <a:extLst>
              <a:ext uri="{FF2B5EF4-FFF2-40B4-BE49-F238E27FC236}">
                <a16:creationId xmlns:a16="http://schemas.microsoft.com/office/drawing/2014/main" id="{36B041AD-8197-8DBE-0FDD-02D0820AE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822325"/>
            <a:ext cx="3019425" cy="270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5845" name="Group 16">
            <a:extLst>
              <a:ext uri="{FF2B5EF4-FFF2-40B4-BE49-F238E27FC236}">
                <a16:creationId xmlns:a16="http://schemas.microsoft.com/office/drawing/2014/main" id="{0C1CB99A-E313-E10A-8152-89E0CBF41C51}"/>
              </a:ext>
            </a:extLst>
          </p:cNvPr>
          <p:cNvGrpSpPr>
            <a:grpSpLocks/>
          </p:cNvGrpSpPr>
          <p:nvPr/>
        </p:nvGrpSpPr>
        <p:grpSpPr bwMode="auto">
          <a:xfrm>
            <a:off x="4465638" y="754063"/>
            <a:ext cx="5197475" cy="3433762"/>
            <a:chOff x="1498" y="1416"/>
            <a:chExt cx="4262" cy="2897"/>
          </a:xfrm>
        </p:grpSpPr>
        <p:graphicFrame>
          <p:nvGraphicFramePr>
            <p:cNvPr id="35848" name="Object 4">
              <a:extLst>
                <a:ext uri="{FF2B5EF4-FFF2-40B4-BE49-F238E27FC236}">
                  <a16:creationId xmlns:a16="http://schemas.microsoft.com/office/drawing/2014/main" id="{6255574D-435F-0EE9-9550-BADE3E055C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31" y="2758"/>
            <a:ext cx="713" cy="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33169" imgH="710891" progId="Equation.3">
                    <p:embed/>
                  </p:oleObj>
                </mc:Choice>
                <mc:Fallback>
                  <p:oleObj name="Equation" r:id="rId4" imgW="533169" imgH="710891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1" y="2758"/>
                          <a:ext cx="713" cy="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5849" name="Picture 8">
              <a:extLst>
                <a:ext uri="{FF2B5EF4-FFF2-40B4-BE49-F238E27FC236}">
                  <a16:creationId xmlns:a16="http://schemas.microsoft.com/office/drawing/2014/main" id="{44BAF458-5E0B-6319-233A-EAC483B446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8" y="1416"/>
              <a:ext cx="4262" cy="2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0" name="Line 10">
              <a:extLst>
                <a:ext uri="{FF2B5EF4-FFF2-40B4-BE49-F238E27FC236}">
                  <a16:creationId xmlns:a16="http://schemas.microsoft.com/office/drawing/2014/main" id="{6E6D0A78-1491-B70D-0DE8-F17F525EC6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2131"/>
              <a:ext cx="778" cy="3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1" name="Rectangle 11">
              <a:extLst>
                <a:ext uri="{FF2B5EF4-FFF2-40B4-BE49-F238E27FC236}">
                  <a16:creationId xmlns:a16="http://schemas.microsoft.com/office/drawing/2014/main" id="{2FDDA7A6-3EA7-C3EA-D6D1-CEBB72DF7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8" y="2133"/>
              <a:ext cx="209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b="1" i="1">
                  <a:solidFill>
                    <a:srgbClr val="FF0000"/>
                  </a:solidFill>
                </a:rPr>
                <a:t>r</a:t>
              </a:r>
            </a:p>
          </p:txBody>
        </p:sp>
      </p:grpSp>
      <p:graphicFrame>
        <p:nvGraphicFramePr>
          <p:cNvPr id="35846" name="Object 21">
            <a:extLst>
              <a:ext uri="{FF2B5EF4-FFF2-40B4-BE49-F238E27FC236}">
                <a16:creationId xmlns:a16="http://schemas.microsoft.com/office/drawing/2014/main" id="{425FDFAB-D534-6773-C0E7-ED5988F562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35725" y="4594225"/>
          <a:ext cx="1328738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01700" imgH="1346200" progId="Equation.3">
                  <p:embed/>
                </p:oleObj>
              </mc:Choice>
              <mc:Fallback>
                <p:oleObj name="Equation" r:id="rId7" imgW="901700" imgH="1346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5725" y="4594225"/>
                        <a:ext cx="1328738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AutoShape 22">
            <a:extLst>
              <a:ext uri="{FF2B5EF4-FFF2-40B4-BE49-F238E27FC236}">
                <a16:creationId xmlns:a16="http://schemas.microsoft.com/office/drawing/2014/main" id="{E7870397-64AD-DDD2-1D3C-B5B36D36E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63" y="4878388"/>
            <a:ext cx="3529012" cy="1060450"/>
          </a:xfrm>
          <a:prstGeom prst="wedgeRectCallout">
            <a:avLst>
              <a:gd name="adj1" fmla="val 88370"/>
              <a:gd name="adj2" fmla="val 463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Example: what are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i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For a sphere of radius 10??</a:t>
            </a:r>
            <a:endParaRPr lang="en-US" altLang="en-US" sz="1800" i="1" baseline="30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E9D4576-B489-4C75-E7F3-FE20996043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Gaussian Curvature: Definition and meaning #1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A2543894-EB80-9DC9-A5B1-14A4EE782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37892" name="Object 11">
            <a:extLst>
              <a:ext uri="{FF2B5EF4-FFF2-40B4-BE49-F238E27FC236}">
                <a16:creationId xmlns:a16="http://schemas.microsoft.com/office/drawing/2014/main" id="{9C891F2D-C0A6-9D87-C13A-95FAFDB620AD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909638" y="4330700"/>
          <a:ext cx="1563687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5800" imgH="660400" progId="Equation.3">
                  <p:embed/>
                </p:oleObj>
              </mc:Choice>
              <mc:Fallback>
                <p:oleObj name="Equation" r:id="rId3" imgW="685800" imgH="660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638" y="4330700"/>
                        <a:ext cx="1563687" cy="150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893" name="Picture 17">
            <a:extLst>
              <a:ext uri="{FF2B5EF4-FFF2-40B4-BE49-F238E27FC236}">
                <a16:creationId xmlns:a16="http://schemas.microsoft.com/office/drawing/2014/main" id="{42A2DBD0-2665-208E-A972-8473BD1DF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155700"/>
            <a:ext cx="3019425" cy="270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7894" name="Object 19">
            <a:extLst>
              <a:ext uri="{FF2B5EF4-FFF2-40B4-BE49-F238E27FC236}">
                <a16:creationId xmlns:a16="http://schemas.microsoft.com/office/drawing/2014/main" id="{1C8E7D94-9AAC-587E-6C2F-A06A26D6F981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6913563" y="1590675"/>
          <a:ext cx="869950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3169" imgH="710891" progId="Equation.3">
                  <p:embed/>
                </p:oleObj>
              </mc:Choice>
              <mc:Fallback>
                <p:oleObj name="Equation" r:id="rId6" imgW="533169" imgH="710891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3563" y="1590675"/>
                        <a:ext cx="869950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895" name="Picture 20">
            <a:extLst>
              <a:ext uri="{FF2B5EF4-FFF2-40B4-BE49-F238E27FC236}">
                <a16:creationId xmlns:a16="http://schemas.microsoft.com/office/drawing/2014/main" id="{B7756E4C-8650-AEC6-9555-8DA4B3E1F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525" y="0"/>
            <a:ext cx="5197475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6" name="Line 21">
            <a:extLst>
              <a:ext uri="{FF2B5EF4-FFF2-40B4-BE49-F238E27FC236}">
                <a16:creationId xmlns:a16="http://schemas.microsoft.com/office/drawing/2014/main" id="{364BA88C-20A6-A0DF-24A0-184B78F7EF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7913" y="781050"/>
            <a:ext cx="130175" cy="5111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7" name="Rectangle 22">
            <a:extLst>
              <a:ext uri="{FF2B5EF4-FFF2-40B4-BE49-F238E27FC236}">
                <a16:creationId xmlns:a16="http://schemas.microsoft.com/office/drawing/2014/main" id="{86747473-126D-F274-B43A-FEEE341CC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9038" y="992188"/>
            <a:ext cx="25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i="1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37898" name="Freeform 23">
            <a:extLst>
              <a:ext uri="{FF2B5EF4-FFF2-40B4-BE49-F238E27FC236}">
                <a16:creationId xmlns:a16="http://schemas.microsoft.com/office/drawing/2014/main" id="{981F9FBD-017B-9D8F-214D-EADDBDB3A021}"/>
              </a:ext>
            </a:extLst>
          </p:cNvPr>
          <p:cNvSpPr>
            <a:spLocks/>
          </p:cNvSpPr>
          <p:nvPr/>
        </p:nvSpPr>
        <p:spPr bwMode="auto">
          <a:xfrm>
            <a:off x="5534025" y="390525"/>
            <a:ext cx="1485900" cy="1485900"/>
          </a:xfrm>
          <a:custGeom>
            <a:avLst/>
            <a:gdLst>
              <a:gd name="T0" fmla="*/ 2147483646 w 936"/>
              <a:gd name="T1" fmla="*/ 2147483646 h 936"/>
              <a:gd name="T2" fmla="*/ 2147483646 w 936"/>
              <a:gd name="T3" fmla="*/ 2147483646 h 936"/>
              <a:gd name="T4" fmla="*/ 0 w 936"/>
              <a:gd name="T5" fmla="*/ 0 h 936"/>
              <a:gd name="T6" fmla="*/ 0 60000 65536"/>
              <a:gd name="T7" fmla="*/ 0 60000 65536"/>
              <a:gd name="T8" fmla="*/ 0 60000 65536"/>
              <a:gd name="T9" fmla="*/ 0 w 936"/>
              <a:gd name="T10" fmla="*/ 0 h 936"/>
              <a:gd name="T11" fmla="*/ 936 w 936"/>
              <a:gd name="T12" fmla="*/ 936 h 9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36" h="936">
                <a:moveTo>
                  <a:pt x="936" y="936"/>
                </a:moveTo>
                <a:cubicBezTo>
                  <a:pt x="896" y="548"/>
                  <a:pt x="580" y="364"/>
                  <a:pt x="424" y="208"/>
                </a:cubicBezTo>
                <a:cubicBezTo>
                  <a:pt x="268" y="52"/>
                  <a:pt x="88" y="43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9" name="Freeform 24">
            <a:extLst>
              <a:ext uri="{FF2B5EF4-FFF2-40B4-BE49-F238E27FC236}">
                <a16:creationId xmlns:a16="http://schemas.microsoft.com/office/drawing/2014/main" id="{0EDC238B-3431-1BE0-F3E6-FA74B91389DF}"/>
              </a:ext>
            </a:extLst>
          </p:cNvPr>
          <p:cNvSpPr>
            <a:spLocks/>
          </p:cNvSpPr>
          <p:nvPr/>
        </p:nvSpPr>
        <p:spPr bwMode="auto">
          <a:xfrm>
            <a:off x="5545138" y="569913"/>
            <a:ext cx="1427162" cy="915987"/>
          </a:xfrm>
          <a:custGeom>
            <a:avLst/>
            <a:gdLst>
              <a:gd name="T0" fmla="*/ 0 w 899"/>
              <a:gd name="T1" fmla="*/ 2147483646 h 577"/>
              <a:gd name="T2" fmla="*/ 2147483646 w 899"/>
              <a:gd name="T3" fmla="*/ 2147483646 h 577"/>
              <a:gd name="T4" fmla="*/ 2147483646 w 899"/>
              <a:gd name="T5" fmla="*/ 2147483646 h 577"/>
              <a:gd name="T6" fmla="*/ 0 60000 65536"/>
              <a:gd name="T7" fmla="*/ 0 60000 65536"/>
              <a:gd name="T8" fmla="*/ 0 60000 65536"/>
              <a:gd name="T9" fmla="*/ 0 w 899"/>
              <a:gd name="T10" fmla="*/ 0 h 577"/>
              <a:gd name="T11" fmla="*/ 899 w 899"/>
              <a:gd name="T12" fmla="*/ 577 h 5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99" h="577">
                <a:moveTo>
                  <a:pt x="0" y="577"/>
                </a:moveTo>
                <a:cubicBezTo>
                  <a:pt x="86" y="496"/>
                  <a:pt x="363" y="178"/>
                  <a:pt x="513" y="89"/>
                </a:cubicBezTo>
                <a:cubicBezTo>
                  <a:pt x="663" y="0"/>
                  <a:pt x="819" y="53"/>
                  <a:pt x="899" y="43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7900" name="Group 26">
            <a:extLst>
              <a:ext uri="{FF2B5EF4-FFF2-40B4-BE49-F238E27FC236}">
                <a16:creationId xmlns:a16="http://schemas.microsoft.com/office/drawing/2014/main" id="{764A1F70-6A44-7270-6491-3318001ED582}"/>
              </a:ext>
            </a:extLst>
          </p:cNvPr>
          <p:cNvGrpSpPr>
            <a:grpSpLocks/>
          </p:cNvGrpSpPr>
          <p:nvPr/>
        </p:nvGrpSpPr>
        <p:grpSpPr bwMode="auto">
          <a:xfrm>
            <a:off x="4268788" y="3698875"/>
            <a:ext cx="4216400" cy="2968625"/>
            <a:chOff x="4105" y="332"/>
            <a:chExt cx="1486" cy="1198"/>
          </a:xfrm>
        </p:grpSpPr>
        <p:pic>
          <p:nvPicPr>
            <p:cNvPr id="37903" name="Picture 27">
              <a:extLst>
                <a:ext uri="{FF2B5EF4-FFF2-40B4-BE49-F238E27FC236}">
                  <a16:creationId xmlns:a16="http://schemas.microsoft.com/office/drawing/2014/main" id="{FBDF26E9-5032-FE00-1A3C-60AADEA99D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5" y="332"/>
              <a:ext cx="1486" cy="1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04" name="Freeform 28">
              <a:extLst>
                <a:ext uri="{FF2B5EF4-FFF2-40B4-BE49-F238E27FC236}">
                  <a16:creationId xmlns:a16="http://schemas.microsoft.com/office/drawing/2014/main" id="{36EC15BC-ADC9-5C67-30EB-C72BF1607D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0" y="504"/>
              <a:ext cx="468" cy="864"/>
            </a:xfrm>
            <a:custGeom>
              <a:avLst/>
              <a:gdLst>
                <a:gd name="T0" fmla="*/ 96 w 468"/>
                <a:gd name="T1" fmla="*/ 864 h 864"/>
                <a:gd name="T2" fmla="*/ 96 w 468"/>
                <a:gd name="T3" fmla="*/ 372 h 864"/>
                <a:gd name="T4" fmla="*/ 468 w 468"/>
                <a:gd name="T5" fmla="*/ 0 h 864"/>
                <a:gd name="T6" fmla="*/ 0 60000 65536"/>
                <a:gd name="T7" fmla="*/ 0 60000 65536"/>
                <a:gd name="T8" fmla="*/ 0 60000 65536"/>
                <a:gd name="T9" fmla="*/ 0 w 468"/>
                <a:gd name="T10" fmla="*/ 0 h 864"/>
                <a:gd name="T11" fmla="*/ 468 w 468"/>
                <a:gd name="T12" fmla="*/ 864 h 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8" h="864">
                  <a:moveTo>
                    <a:pt x="96" y="864"/>
                  </a:moveTo>
                  <a:cubicBezTo>
                    <a:pt x="0" y="630"/>
                    <a:pt x="34" y="516"/>
                    <a:pt x="96" y="372"/>
                  </a:cubicBezTo>
                  <a:cubicBezTo>
                    <a:pt x="252" y="24"/>
                    <a:pt x="391" y="77"/>
                    <a:pt x="468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5" name="Freeform 29">
              <a:extLst>
                <a:ext uri="{FF2B5EF4-FFF2-40B4-BE49-F238E27FC236}">
                  <a16:creationId xmlns:a16="http://schemas.microsoft.com/office/drawing/2014/main" id="{D4EAE6E2-2081-32C9-F1C0-25B34CF1F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" y="444"/>
              <a:ext cx="984" cy="666"/>
            </a:xfrm>
            <a:custGeom>
              <a:avLst/>
              <a:gdLst>
                <a:gd name="T0" fmla="*/ 0 w 984"/>
                <a:gd name="T1" fmla="*/ 0 h 666"/>
                <a:gd name="T2" fmla="*/ 528 w 984"/>
                <a:gd name="T3" fmla="*/ 126 h 666"/>
                <a:gd name="T4" fmla="*/ 900 w 984"/>
                <a:gd name="T5" fmla="*/ 666 h 666"/>
                <a:gd name="T6" fmla="*/ 0 60000 65536"/>
                <a:gd name="T7" fmla="*/ 0 60000 65536"/>
                <a:gd name="T8" fmla="*/ 0 60000 65536"/>
                <a:gd name="T9" fmla="*/ 0 w 984"/>
                <a:gd name="T10" fmla="*/ 0 h 666"/>
                <a:gd name="T11" fmla="*/ 984 w 984"/>
                <a:gd name="T12" fmla="*/ 666 h 6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84" h="666">
                  <a:moveTo>
                    <a:pt x="0" y="0"/>
                  </a:moveTo>
                  <a:cubicBezTo>
                    <a:pt x="89" y="21"/>
                    <a:pt x="378" y="15"/>
                    <a:pt x="528" y="126"/>
                  </a:cubicBezTo>
                  <a:cubicBezTo>
                    <a:pt x="984" y="468"/>
                    <a:pt x="823" y="554"/>
                    <a:pt x="900" y="66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901" name="Rectangle 30">
            <a:extLst>
              <a:ext uri="{FF2B5EF4-FFF2-40B4-BE49-F238E27FC236}">
                <a16:creationId xmlns:a16="http://schemas.microsoft.com/office/drawing/2014/main" id="{00BF7D02-207F-CB68-871F-E96CFE3BD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913" y="4011613"/>
            <a:ext cx="352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i="1">
                <a:solidFill>
                  <a:srgbClr val="FF0000"/>
                </a:solidFill>
              </a:rPr>
              <a:t>r1</a:t>
            </a:r>
          </a:p>
        </p:txBody>
      </p:sp>
      <p:sp>
        <p:nvSpPr>
          <p:cNvPr id="37902" name="Rectangle 31">
            <a:extLst>
              <a:ext uri="{FF2B5EF4-FFF2-40B4-BE49-F238E27FC236}">
                <a16:creationId xmlns:a16="http://schemas.microsoft.com/office/drawing/2014/main" id="{E78486A0-C86D-8D50-F92D-15A1CB179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363" y="4487863"/>
            <a:ext cx="352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 i="1">
                <a:solidFill>
                  <a:srgbClr val="FF0000"/>
                </a:solidFill>
              </a:rPr>
              <a:t>r2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AB4749C-4C01-DF5E-5AEA-CA62A7F77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Gaussian Curvature: Definition and meaning #1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2E95BE57-587F-6745-EC5A-981936170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39940" name="Picture 4">
            <a:extLst>
              <a:ext uri="{FF2B5EF4-FFF2-40B4-BE49-F238E27FC236}">
                <a16:creationId xmlns:a16="http://schemas.microsoft.com/office/drawing/2014/main" id="{04F626F0-2DBB-0D65-561F-6530B3368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822325"/>
            <a:ext cx="3019425" cy="270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12">
            <a:extLst>
              <a:ext uri="{FF2B5EF4-FFF2-40B4-BE49-F238E27FC236}">
                <a16:creationId xmlns:a16="http://schemas.microsoft.com/office/drawing/2014/main" id="{220932FA-B767-D662-8E20-22CA61FC4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800" y="3567113"/>
            <a:ext cx="5041900" cy="329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2" name="AutoShape 13">
            <a:extLst>
              <a:ext uri="{FF2B5EF4-FFF2-40B4-BE49-F238E27FC236}">
                <a16:creationId xmlns:a16="http://schemas.microsoft.com/office/drawing/2014/main" id="{24AD2CE5-C374-2A87-C869-E4E96A44B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913" y="1701800"/>
            <a:ext cx="3529012" cy="1060450"/>
          </a:xfrm>
          <a:prstGeom prst="wedgeRectCallout">
            <a:avLst>
              <a:gd name="adj1" fmla="val -16935"/>
              <a:gd name="adj2" fmla="val 16407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Equivalent Gaussian curvatures</a:t>
            </a:r>
          </a:p>
        </p:txBody>
      </p:sp>
      <p:sp>
        <p:nvSpPr>
          <p:cNvPr id="39943" name="Line 14">
            <a:extLst>
              <a:ext uri="{FF2B5EF4-FFF2-40B4-BE49-F238E27FC236}">
                <a16:creationId xmlns:a16="http://schemas.microsoft.com/office/drawing/2014/main" id="{6A842070-06B9-7D73-1995-D139B965F7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25863" y="2751138"/>
            <a:ext cx="982662" cy="280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7EBE24EE-E54E-3CE8-7DE7-04BA1EBAF8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Gaussian Curvature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2807B96D-AF48-0484-0BEC-B13A1FDD2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41988" name="Picture 4">
            <a:extLst>
              <a:ext uri="{FF2B5EF4-FFF2-40B4-BE49-F238E27FC236}">
                <a16:creationId xmlns:a16="http://schemas.microsoft.com/office/drawing/2014/main" id="{E8E271D9-D582-1932-8763-D85380DA6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822325"/>
            <a:ext cx="3019425" cy="270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9" name="Picture 5">
            <a:extLst>
              <a:ext uri="{FF2B5EF4-FFF2-40B4-BE49-F238E27FC236}">
                <a16:creationId xmlns:a16="http://schemas.microsoft.com/office/drawing/2014/main" id="{3C74CF64-BC02-A215-9083-18E2C3E07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3765550"/>
            <a:ext cx="3341688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0" name="Picture 6">
            <a:extLst>
              <a:ext uri="{FF2B5EF4-FFF2-40B4-BE49-F238E27FC236}">
                <a16:creationId xmlns:a16="http://schemas.microsoft.com/office/drawing/2014/main" id="{01B9468A-D911-76AF-3FBA-769478DBA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925" y="0"/>
            <a:ext cx="3656013" cy="311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1" name="Text Box 7">
            <a:extLst>
              <a:ext uri="{FF2B5EF4-FFF2-40B4-BE49-F238E27FC236}">
                <a16:creationId xmlns:a16="http://schemas.microsoft.com/office/drawing/2014/main" id="{04F21F5D-C79E-0E61-2835-D594ACAA1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8" y="4346575"/>
            <a:ext cx="755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“OK”</a:t>
            </a:r>
          </a:p>
        </p:txBody>
      </p:sp>
      <p:sp>
        <p:nvSpPr>
          <p:cNvPr id="41992" name="Text Box 8">
            <a:extLst>
              <a:ext uri="{FF2B5EF4-FFF2-40B4-BE49-F238E27FC236}">
                <a16:creationId xmlns:a16="http://schemas.microsoft.com/office/drawing/2014/main" id="{6CD63AC7-B704-6E16-2BC5-6E97CAF9D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5883275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“TOO MUCH”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CD0659F3-5653-185B-C32F-6BACF1B6E1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Gaussian Curvature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903B0555-D2D0-8D61-700A-44573149F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44036" name="Picture 4">
            <a:extLst>
              <a:ext uri="{FF2B5EF4-FFF2-40B4-BE49-F238E27FC236}">
                <a16:creationId xmlns:a16="http://schemas.microsoft.com/office/drawing/2014/main" id="{950BB86F-71D0-F971-2A8E-E0D5DD8C2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822325"/>
            <a:ext cx="3019425" cy="270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7" name="Picture 5">
            <a:extLst>
              <a:ext uri="{FF2B5EF4-FFF2-40B4-BE49-F238E27FC236}">
                <a16:creationId xmlns:a16="http://schemas.microsoft.com/office/drawing/2014/main" id="{E46E8471-C826-791C-C04D-A3A6393D3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3765550"/>
            <a:ext cx="3341688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Picture 6">
            <a:extLst>
              <a:ext uri="{FF2B5EF4-FFF2-40B4-BE49-F238E27FC236}">
                <a16:creationId xmlns:a16="http://schemas.microsoft.com/office/drawing/2014/main" id="{11B0547F-1C5E-BF5E-BD8A-489D4D815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075" y="1228725"/>
            <a:ext cx="4941888" cy="420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9" name="AutoShape 7">
            <a:extLst>
              <a:ext uri="{FF2B5EF4-FFF2-40B4-BE49-F238E27FC236}">
                <a16:creationId xmlns:a16="http://schemas.microsoft.com/office/drawing/2014/main" id="{EEBAB3B4-6565-4267-0F7B-60B2892DB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38" y="3095625"/>
            <a:ext cx="1547812" cy="685800"/>
          </a:xfrm>
          <a:prstGeom prst="wedgeRectCallout">
            <a:avLst>
              <a:gd name="adj1" fmla="val 149282"/>
              <a:gd name="adj2" fmla="val 26342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System I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$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i="1" baseline="30000"/>
          </a:p>
        </p:txBody>
      </p:sp>
      <p:sp>
        <p:nvSpPr>
          <p:cNvPr id="44040" name="AutoShape 8">
            <a:extLst>
              <a:ext uri="{FF2B5EF4-FFF2-40B4-BE49-F238E27FC236}">
                <a16:creationId xmlns:a16="http://schemas.microsoft.com/office/drawing/2014/main" id="{51E766CC-FF67-CB4D-989E-EC47291BF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8" y="6065838"/>
            <a:ext cx="1547812" cy="685800"/>
          </a:xfrm>
          <a:prstGeom prst="wedgeRectCallout">
            <a:avLst>
              <a:gd name="adj1" fmla="val 59028"/>
              <a:gd name="adj2" fmla="val -6319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System II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$$$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i="1" baseline="300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4">
            <a:extLst>
              <a:ext uri="{FF2B5EF4-FFF2-40B4-BE49-F238E27FC236}">
                <a16:creationId xmlns:a16="http://schemas.microsoft.com/office/drawing/2014/main" id="{5DDF11AF-1082-0DC2-DE18-B9962D9ED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481263"/>
            <a:ext cx="5275263" cy="449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3" name="Picture 8">
            <a:extLst>
              <a:ext uri="{FF2B5EF4-FFF2-40B4-BE49-F238E27FC236}">
                <a16:creationId xmlns:a16="http://schemas.microsoft.com/office/drawing/2014/main" id="{CD98175A-4A31-0757-E4A6-093EDB17B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588" y="590550"/>
            <a:ext cx="2151062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AutoShape 9">
            <a:extLst>
              <a:ext uri="{FF2B5EF4-FFF2-40B4-BE49-F238E27FC236}">
                <a16:creationId xmlns:a16="http://schemas.microsoft.com/office/drawing/2014/main" id="{E6029AD4-0E53-9B8E-71B8-B51449B8E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708025"/>
            <a:ext cx="1997075" cy="512763"/>
          </a:xfrm>
          <a:prstGeom prst="wedgeRectCallout">
            <a:avLst>
              <a:gd name="adj1" fmla="val 106120"/>
              <a:gd name="adj2" fmla="val 8869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System I - $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i="1" baseline="30000"/>
          </a:p>
        </p:txBody>
      </p:sp>
      <p:sp>
        <p:nvSpPr>
          <p:cNvPr id="46085" name="AutoShape 10">
            <a:extLst>
              <a:ext uri="{FF2B5EF4-FFF2-40B4-BE49-F238E27FC236}">
                <a16:creationId xmlns:a16="http://schemas.microsoft.com/office/drawing/2014/main" id="{DE150B77-579D-79F3-9686-4F4F42073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813" y="2559050"/>
            <a:ext cx="1881187" cy="512763"/>
          </a:xfrm>
          <a:prstGeom prst="wedgeRectCallout">
            <a:avLst>
              <a:gd name="adj1" fmla="val -44685"/>
              <a:gd name="adj2" fmla="val -10975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System II - $$$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i="1" baseline="30000"/>
          </a:p>
        </p:txBody>
      </p:sp>
      <p:sp>
        <p:nvSpPr>
          <p:cNvPr id="46086" name="Rectangle 2">
            <a:extLst>
              <a:ext uri="{FF2B5EF4-FFF2-40B4-BE49-F238E27FC236}">
                <a16:creationId xmlns:a16="http://schemas.microsoft.com/office/drawing/2014/main" id="{E1C39FFA-583F-028B-396E-EE25BA9AD8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en-US" altLang="en-US"/>
              <a:t>Gaussian Curvature</a:t>
            </a:r>
          </a:p>
        </p:txBody>
      </p:sp>
      <p:sp>
        <p:nvSpPr>
          <p:cNvPr id="46087" name="Rectangle 3">
            <a:extLst>
              <a:ext uri="{FF2B5EF4-FFF2-40B4-BE49-F238E27FC236}">
                <a16:creationId xmlns:a16="http://schemas.microsoft.com/office/drawing/2014/main" id="{54EFAC8F-6DBD-0570-D5A6-09C9C8C72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46088" name="Picture 5">
            <a:extLst>
              <a:ext uri="{FF2B5EF4-FFF2-40B4-BE49-F238E27FC236}">
                <a16:creationId xmlns:a16="http://schemas.microsoft.com/office/drawing/2014/main" id="{BDBD16C8-61BA-5A63-D74D-C6DDC0E7C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" y="4381500"/>
            <a:ext cx="353060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9" name="Picture 6">
            <a:extLst>
              <a:ext uri="{FF2B5EF4-FFF2-40B4-BE49-F238E27FC236}">
                <a16:creationId xmlns:a16="http://schemas.microsoft.com/office/drawing/2014/main" id="{147FC536-646E-60BE-D1BB-B9EE1A096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3" y="0"/>
            <a:ext cx="40259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82185A95-7AFA-6758-1585-220F84D328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Interpretations of </a:t>
            </a:r>
            <a:br>
              <a:rPr lang="en-US" altLang="en-US" sz="2400"/>
            </a:br>
            <a:r>
              <a:rPr lang="en-US" altLang="en-US" sz="2400"/>
              <a:t>positive and negative gaussian curvature</a:t>
            </a:r>
          </a:p>
        </p:txBody>
      </p:sp>
      <p:pic>
        <p:nvPicPr>
          <p:cNvPr id="48131" name="Picture 9">
            <a:extLst>
              <a:ext uri="{FF2B5EF4-FFF2-40B4-BE49-F238E27FC236}">
                <a16:creationId xmlns:a16="http://schemas.microsoft.com/office/drawing/2014/main" id="{71850D91-D8AC-4069-9FA1-7E43FC877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8" y="1120775"/>
            <a:ext cx="1841500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2" name="Picture 10">
            <a:extLst>
              <a:ext uri="{FF2B5EF4-FFF2-40B4-BE49-F238E27FC236}">
                <a16:creationId xmlns:a16="http://schemas.microsoft.com/office/drawing/2014/main" id="{0ACF5018-04A1-A2AE-62A1-6F265CBE0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138" y="1033463"/>
            <a:ext cx="1931987" cy="159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3" name="Text Box 11">
            <a:extLst>
              <a:ext uri="{FF2B5EF4-FFF2-40B4-BE49-F238E27FC236}">
                <a16:creationId xmlns:a16="http://schemas.microsoft.com/office/drawing/2014/main" id="{8B155E16-D100-841D-56F6-98CB1C72B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4025" y="1419225"/>
            <a:ext cx="481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48134" name="Text Box 12">
            <a:extLst>
              <a:ext uri="{FF2B5EF4-FFF2-40B4-BE49-F238E27FC236}">
                <a16:creationId xmlns:a16="http://schemas.microsoft.com/office/drawing/2014/main" id="{8300501D-3996-DBCC-014E-FF65A7529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1419225"/>
            <a:ext cx="354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FF3300"/>
                </a:solidFill>
              </a:rPr>
              <a:t>-</a:t>
            </a:r>
          </a:p>
        </p:txBody>
      </p:sp>
      <p:pic>
        <p:nvPicPr>
          <p:cNvPr id="48135" name="Picture 14" descr="Mvc-001s">
            <a:extLst>
              <a:ext uri="{FF2B5EF4-FFF2-40B4-BE49-F238E27FC236}">
                <a16:creationId xmlns:a16="http://schemas.microsoft.com/office/drawing/2014/main" id="{717A2C59-9CC9-C036-F796-038410C8D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2214563"/>
            <a:ext cx="10909300" cy="818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6" name="Picture 16" descr="p11308">
            <a:extLst>
              <a:ext uri="{FF2B5EF4-FFF2-40B4-BE49-F238E27FC236}">
                <a16:creationId xmlns:a16="http://schemas.microsoft.com/office/drawing/2014/main" id="{8EDA6CFE-C7A2-8DBD-258D-B65A8139B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8" y="4141788"/>
            <a:ext cx="427672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7" name="Picture 18" descr="0088%20The%20Sail%20on%20Dinner%20Cruise">
            <a:extLst>
              <a:ext uri="{FF2B5EF4-FFF2-40B4-BE49-F238E27FC236}">
                <a16:creationId xmlns:a16="http://schemas.microsoft.com/office/drawing/2014/main" id="{8B313A46-B145-4116-9240-0D4D040F7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288" y="2719388"/>
            <a:ext cx="28321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>
            <a:extLst>
              <a:ext uri="{FF2B5EF4-FFF2-40B4-BE49-F238E27FC236}">
                <a16:creationId xmlns:a16="http://schemas.microsoft.com/office/drawing/2014/main" id="{049B8075-6926-487B-B385-833264733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Gaussian curvature: Definition and Meaning #2</a:t>
            </a:r>
          </a:p>
        </p:txBody>
      </p:sp>
      <p:sp>
        <p:nvSpPr>
          <p:cNvPr id="50179" name="Rectangle 4">
            <a:extLst>
              <a:ext uri="{FF2B5EF4-FFF2-40B4-BE49-F238E27FC236}">
                <a16:creationId xmlns:a16="http://schemas.microsoft.com/office/drawing/2014/main" id="{7A5FC5BE-60B4-A879-5B0E-D10342B489B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50180" name="Text Box 28">
            <a:extLst>
              <a:ext uri="{FF2B5EF4-FFF2-40B4-BE49-F238E27FC236}">
                <a16:creationId xmlns:a16="http://schemas.microsoft.com/office/drawing/2014/main" id="{FE824B7D-C4B7-1469-6F1F-006CD6200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838" y="2901950"/>
            <a:ext cx="4965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The “opening or closing of the surface”</a:t>
            </a:r>
          </a:p>
        </p:txBody>
      </p:sp>
      <p:pic>
        <p:nvPicPr>
          <p:cNvPr id="50181" name="Picture 35" descr="Mvc-001s">
            <a:extLst>
              <a:ext uri="{FF2B5EF4-FFF2-40B4-BE49-F238E27FC236}">
                <a16:creationId xmlns:a16="http://schemas.microsoft.com/office/drawing/2014/main" id="{EDBEDE3A-9B1C-7ADC-D873-BCBFB9A26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463" y="3681413"/>
            <a:ext cx="3840162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2" name="Picture 36" descr="p11308">
            <a:extLst>
              <a:ext uri="{FF2B5EF4-FFF2-40B4-BE49-F238E27FC236}">
                <a16:creationId xmlns:a16="http://schemas.microsoft.com/office/drawing/2014/main" id="{52E850D8-DC21-6202-93F0-77BF8037A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" y="3638550"/>
            <a:ext cx="427672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3" name="Picture 37">
            <a:extLst>
              <a:ext uri="{FF2B5EF4-FFF2-40B4-BE49-F238E27FC236}">
                <a16:creationId xmlns:a16="http://schemas.microsoft.com/office/drawing/2014/main" id="{204427E8-6A41-A1FE-CC13-7FA97B95D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8" y="1120775"/>
            <a:ext cx="1841500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4" name="Picture 38">
            <a:extLst>
              <a:ext uri="{FF2B5EF4-FFF2-40B4-BE49-F238E27FC236}">
                <a16:creationId xmlns:a16="http://schemas.microsoft.com/office/drawing/2014/main" id="{0C1A79DA-8F1C-B089-2A40-6C7726AE9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138" y="1033463"/>
            <a:ext cx="1931987" cy="159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5" name="Text Box 39">
            <a:extLst>
              <a:ext uri="{FF2B5EF4-FFF2-40B4-BE49-F238E27FC236}">
                <a16:creationId xmlns:a16="http://schemas.microsoft.com/office/drawing/2014/main" id="{42C6409A-357C-44B4-9355-3FC611970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4025" y="1419225"/>
            <a:ext cx="481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50186" name="Text Box 40">
            <a:extLst>
              <a:ext uri="{FF2B5EF4-FFF2-40B4-BE49-F238E27FC236}">
                <a16:creationId xmlns:a16="http://schemas.microsoft.com/office/drawing/2014/main" id="{AAF49B9A-A4CD-B965-E661-8D089FA61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1419225"/>
            <a:ext cx="354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FF3300"/>
                </a:solidFill>
              </a:rPr>
              <a:t>-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D1A79354-4A96-C3FA-28FC-EAF9B648F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Gaussian curvature: Definition and Meaning #2</a:t>
            </a:r>
          </a:p>
        </p:txBody>
      </p:sp>
      <p:sp>
        <p:nvSpPr>
          <p:cNvPr id="52227" name="Text Box 4">
            <a:extLst>
              <a:ext uri="{FF2B5EF4-FFF2-40B4-BE49-F238E27FC236}">
                <a16:creationId xmlns:a16="http://schemas.microsoft.com/office/drawing/2014/main" id="{19C9A6A9-BF89-0D19-3A0F-632A4559F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838" y="2901950"/>
            <a:ext cx="4965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The “opening or closing of the surface”</a:t>
            </a:r>
          </a:p>
        </p:txBody>
      </p:sp>
      <p:pic>
        <p:nvPicPr>
          <p:cNvPr id="52228" name="Picture 8">
            <a:extLst>
              <a:ext uri="{FF2B5EF4-FFF2-40B4-BE49-F238E27FC236}">
                <a16:creationId xmlns:a16="http://schemas.microsoft.com/office/drawing/2014/main" id="{DC99E543-BDD2-FA0A-07DF-D57F0522F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138" y="1033463"/>
            <a:ext cx="1931987" cy="159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9" name="Text Box 9">
            <a:extLst>
              <a:ext uri="{FF2B5EF4-FFF2-40B4-BE49-F238E27FC236}">
                <a16:creationId xmlns:a16="http://schemas.microsoft.com/office/drawing/2014/main" id="{FD21247E-35C7-B749-3C9A-04F7989E4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4025" y="1419225"/>
            <a:ext cx="481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52230" name="Text Box 10">
            <a:extLst>
              <a:ext uri="{FF2B5EF4-FFF2-40B4-BE49-F238E27FC236}">
                <a16:creationId xmlns:a16="http://schemas.microsoft.com/office/drawing/2014/main" id="{2EEA3CDF-DB87-8AEF-DFA2-CAC2FFA18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1419225"/>
            <a:ext cx="354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FF3300"/>
                </a:solidFill>
              </a:rPr>
              <a:t>-</a:t>
            </a:r>
          </a:p>
        </p:txBody>
      </p:sp>
      <p:pic>
        <p:nvPicPr>
          <p:cNvPr id="52231" name="Picture 11">
            <a:extLst>
              <a:ext uri="{FF2B5EF4-FFF2-40B4-BE49-F238E27FC236}">
                <a16:creationId xmlns:a16="http://schemas.microsoft.com/office/drawing/2014/main" id="{B766F599-3DCD-181F-47B2-EB381FED7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3384550"/>
            <a:ext cx="2368550" cy="190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2" name="Picture 12">
            <a:extLst>
              <a:ext uri="{FF2B5EF4-FFF2-40B4-BE49-F238E27FC236}">
                <a16:creationId xmlns:a16="http://schemas.microsoft.com/office/drawing/2014/main" id="{C2B894F5-2A0A-1408-402D-9AF746911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25" y="5110163"/>
            <a:ext cx="2043113" cy="170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3" name="Picture 15">
            <a:extLst>
              <a:ext uri="{FF2B5EF4-FFF2-40B4-BE49-F238E27FC236}">
                <a16:creationId xmlns:a16="http://schemas.microsoft.com/office/drawing/2014/main" id="{FA5FBB12-90FB-77EC-E1B9-278D15318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925" y="5046663"/>
            <a:ext cx="1828800" cy="14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4" name="Picture 16">
            <a:extLst>
              <a:ext uri="{FF2B5EF4-FFF2-40B4-BE49-F238E27FC236}">
                <a16:creationId xmlns:a16="http://schemas.microsoft.com/office/drawing/2014/main" id="{D37D0EFD-D001-1F40-DB09-B7F3E7568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588" y="3478213"/>
            <a:ext cx="1828800" cy="135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5" name="Picture 17">
            <a:extLst>
              <a:ext uri="{FF2B5EF4-FFF2-40B4-BE49-F238E27FC236}">
                <a16:creationId xmlns:a16="http://schemas.microsoft.com/office/drawing/2014/main" id="{56DF305C-6195-ADE1-84B5-147146893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8" y="909638"/>
            <a:ext cx="2398712" cy="201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0DF50137-7A01-629C-2D47-0C9003AFBA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Gaussian curvature: Definition and Meaning #2</a:t>
            </a:r>
          </a:p>
        </p:txBody>
      </p:sp>
      <p:sp>
        <p:nvSpPr>
          <p:cNvPr id="54275" name="Text Box 3">
            <a:extLst>
              <a:ext uri="{FF2B5EF4-FFF2-40B4-BE49-F238E27FC236}">
                <a16:creationId xmlns:a16="http://schemas.microsoft.com/office/drawing/2014/main" id="{6DE16456-76E0-F284-00EE-9627AD921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838" y="2901950"/>
            <a:ext cx="4965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The “opening or closing of the surface”</a:t>
            </a:r>
          </a:p>
        </p:txBody>
      </p:sp>
      <p:pic>
        <p:nvPicPr>
          <p:cNvPr id="54276" name="Picture 5">
            <a:extLst>
              <a:ext uri="{FF2B5EF4-FFF2-40B4-BE49-F238E27FC236}">
                <a16:creationId xmlns:a16="http://schemas.microsoft.com/office/drawing/2014/main" id="{EA475BAD-7AE2-A4DC-4DAE-FF07B138C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138" y="1033463"/>
            <a:ext cx="1931987" cy="159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7" name="Text Box 6">
            <a:extLst>
              <a:ext uri="{FF2B5EF4-FFF2-40B4-BE49-F238E27FC236}">
                <a16:creationId xmlns:a16="http://schemas.microsoft.com/office/drawing/2014/main" id="{65975299-930C-971C-479D-D162B55F4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4025" y="1419225"/>
            <a:ext cx="481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54278" name="Text Box 7">
            <a:extLst>
              <a:ext uri="{FF2B5EF4-FFF2-40B4-BE49-F238E27FC236}">
                <a16:creationId xmlns:a16="http://schemas.microsoft.com/office/drawing/2014/main" id="{EF65312A-90E3-F51B-DF0F-A971F7E97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1419225"/>
            <a:ext cx="354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FF3300"/>
                </a:solidFill>
              </a:rPr>
              <a:t>-</a:t>
            </a:r>
          </a:p>
        </p:txBody>
      </p:sp>
      <p:pic>
        <p:nvPicPr>
          <p:cNvPr id="54279" name="Picture 15" descr="Old-woman">
            <a:extLst>
              <a:ext uri="{FF2B5EF4-FFF2-40B4-BE49-F238E27FC236}">
                <a16:creationId xmlns:a16="http://schemas.microsoft.com/office/drawing/2014/main" id="{DAFA4450-44A5-8FF2-D7F5-8BFE5CD7D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3775" y="3481388"/>
            <a:ext cx="233045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80" name="Picture 16">
            <a:extLst>
              <a:ext uri="{FF2B5EF4-FFF2-40B4-BE49-F238E27FC236}">
                <a16:creationId xmlns:a16="http://schemas.microsoft.com/office/drawing/2014/main" id="{5D6DF90B-3D6F-F2CE-FFBB-EB2B7D186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8" y="909638"/>
            <a:ext cx="2398712" cy="201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81" name="Picture 18" descr="Thurston_Cutest_Kid_Winner1">
            <a:extLst>
              <a:ext uri="{FF2B5EF4-FFF2-40B4-BE49-F238E27FC236}">
                <a16:creationId xmlns:a16="http://schemas.microsoft.com/office/drawing/2014/main" id="{08CE10B3-EBA4-821C-CFF6-53343221C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3289300"/>
            <a:ext cx="3856037" cy="562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82" name="Rectangle 19">
            <a:extLst>
              <a:ext uri="{FF2B5EF4-FFF2-40B4-BE49-F238E27FC236}">
                <a16:creationId xmlns:a16="http://schemas.microsoft.com/office/drawing/2014/main" id="{DE065ADF-1FD2-CAED-43A2-451287A82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7175" y="6686550"/>
            <a:ext cx="5629275" cy="22764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4283" name="Rectangle 20">
            <a:extLst>
              <a:ext uri="{FF2B5EF4-FFF2-40B4-BE49-F238E27FC236}">
                <a16:creationId xmlns:a16="http://schemas.microsoft.com/office/drawing/2014/main" id="{43B9F5D6-A4E4-A32D-B629-984C42E65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9450" y="3419475"/>
            <a:ext cx="2286000" cy="4552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4284" name="Rectangle 21">
            <a:extLst>
              <a:ext uri="{FF2B5EF4-FFF2-40B4-BE49-F238E27FC236}">
                <a16:creationId xmlns:a16="http://schemas.microsoft.com/office/drawing/2014/main" id="{EB202E5F-EBC1-1BCC-45B0-C24FCED34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3609975"/>
            <a:ext cx="2286000" cy="4552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3" descr="pizza_pepperoni_pizza">
            <a:extLst>
              <a:ext uri="{FF2B5EF4-FFF2-40B4-BE49-F238E27FC236}">
                <a16:creationId xmlns:a16="http://schemas.microsoft.com/office/drawing/2014/main" id="{C32E9F07-26AE-8922-CCE7-54DB635EB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74963"/>
            <a:ext cx="350520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3" name="Picture 4" descr="Photo">
            <a:extLst>
              <a:ext uri="{FF2B5EF4-FFF2-40B4-BE49-F238E27FC236}">
                <a16:creationId xmlns:a16="http://schemas.microsoft.com/office/drawing/2014/main" id="{C52D7A04-295B-0FC8-7D96-F51CE0D7C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175" y="3041650"/>
            <a:ext cx="3341688" cy="330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Text Box 5">
            <a:extLst>
              <a:ext uri="{FF2B5EF4-FFF2-40B4-BE49-F238E27FC236}">
                <a16:creationId xmlns:a16="http://schemas.microsoft.com/office/drawing/2014/main" id="{22DC1352-8D45-7873-4321-39980F07B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6400800"/>
            <a:ext cx="1898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Always positive</a:t>
            </a:r>
          </a:p>
        </p:txBody>
      </p:sp>
      <p:sp>
        <p:nvSpPr>
          <p:cNvPr id="56325" name="Text Box 6">
            <a:extLst>
              <a:ext uri="{FF2B5EF4-FFF2-40B4-BE49-F238E27FC236}">
                <a16:creationId xmlns:a16="http://schemas.microsoft.com/office/drawing/2014/main" id="{501D664F-F115-35D1-E87E-BFCE69578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9938" y="6400800"/>
            <a:ext cx="1962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Always negative</a:t>
            </a:r>
          </a:p>
        </p:txBody>
      </p:sp>
      <p:sp>
        <p:nvSpPr>
          <p:cNvPr id="56326" name="Rectangle 9">
            <a:extLst>
              <a:ext uri="{FF2B5EF4-FFF2-40B4-BE49-F238E27FC236}">
                <a16:creationId xmlns:a16="http://schemas.microsoft.com/office/drawing/2014/main" id="{BB5D1A4F-9A26-1808-C35F-9A42A9DB1B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2400"/>
              <a:t>Interpretations of </a:t>
            </a:r>
            <a:br>
              <a:rPr lang="en-US" altLang="en-US" sz="2400"/>
            </a:br>
            <a:r>
              <a:rPr lang="en-US" altLang="en-US" sz="2400"/>
              <a:t>positive and negative gaussian curvature</a:t>
            </a:r>
          </a:p>
        </p:txBody>
      </p:sp>
      <p:pic>
        <p:nvPicPr>
          <p:cNvPr id="56327" name="Picture 10">
            <a:extLst>
              <a:ext uri="{FF2B5EF4-FFF2-40B4-BE49-F238E27FC236}">
                <a16:creationId xmlns:a16="http://schemas.microsoft.com/office/drawing/2014/main" id="{0E00A50F-C231-A3B0-E0F6-7031B7546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8" y="1120775"/>
            <a:ext cx="1841500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8" name="Picture 11">
            <a:extLst>
              <a:ext uri="{FF2B5EF4-FFF2-40B4-BE49-F238E27FC236}">
                <a16:creationId xmlns:a16="http://schemas.microsoft.com/office/drawing/2014/main" id="{4ABDC922-D395-FFFC-B290-C219ACEDF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138" y="1033463"/>
            <a:ext cx="1931987" cy="159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9" name="Text Box 12">
            <a:extLst>
              <a:ext uri="{FF2B5EF4-FFF2-40B4-BE49-F238E27FC236}">
                <a16:creationId xmlns:a16="http://schemas.microsoft.com/office/drawing/2014/main" id="{8B5A92B8-28B4-F63F-6A59-52939A25F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4025" y="1419225"/>
            <a:ext cx="481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56330" name="Text Box 13">
            <a:extLst>
              <a:ext uri="{FF2B5EF4-FFF2-40B4-BE49-F238E27FC236}">
                <a16:creationId xmlns:a16="http://schemas.microsoft.com/office/drawing/2014/main" id="{6D426D79-24FE-16CA-72F0-AFA667E46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1419225"/>
            <a:ext cx="354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FF3300"/>
                </a:solidFill>
              </a:rPr>
              <a:t>-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FFE55755-E0C4-A74D-C0A4-8ED517B642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Gaussian curvature: Definition and Meaning #2</a:t>
            </a:r>
          </a:p>
        </p:txBody>
      </p:sp>
      <p:sp>
        <p:nvSpPr>
          <p:cNvPr id="58371" name="Text Box 3">
            <a:extLst>
              <a:ext uri="{FF2B5EF4-FFF2-40B4-BE49-F238E27FC236}">
                <a16:creationId xmlns:a16="http://schemas.microsoft.com/office/drawing/2014/main" id="{487C2AF1-B452-50A6-86AD-96F511CCF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838" y="2901950"/>
            <a:ext cx="4965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The “opening or closing of the surface”</a:t>
            </a:r>
          </a:p>
        </p:txBody>
      </p:sp>
      <p:pic>
        <p:nvPicPr>
          <p:cNvPr id="58372" name="Picture 4">
            <a:extLst>
              <a:ext uri="{FF2B5EF4-FFF2-40B4-BE49-F238E27FC236}">
                <a16:creationId xmlns:a16="http://schemas.microsoft.com/office/drawing/2014/main" id="{1D1F32BD-712B-C5A0-05A6-52DD80E5C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8" y="1120775"/>
            <a:ext cx="1841500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3" name="Picture 5">
            <a:extLst>
              <a:ext uri="{FF2B5EF4-FFF2-40B4-BE49-F238E27FC236}">
                <a16:creationId xmlns:a16="http://schemas.microsoft.com/office/drawing/2014/main" id="{A4400CC1-030B-F389-46AB-B8816CE80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138" y="1033463"/>
            <a:ext cx="1931987" cy="159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4" name="Text Box 6">
            <a:extLst>
              <a:ext uri="{FF2B5EF4-FFF2-40B4-BE49-F238E27FC236}">
                <a16:creationId xmlns:a16="http://schemas.microsoft.com/office/drawing/2014/main" id="{A77523DB-5866-83F3-E257-A61C0BFE1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4025" y="1419225"/>
            <a:ext cx="481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58375" name="Text Box 7">
            <a:extLst>
              <a:ext uri="{FF2B5EF4-FFF2-40B4-BE49-F238E27FC236}">
                <a16:creationId xmlns:a16="http://schemas.microsoft.com/office/drawing/2014/main" id="{85BD7826-A605-8403-1CDF-1DD44AB66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1419225"/>
            <a:ext cx="354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FF3300"/>
                </a:solidFill>
              </a:rPr>
              <a:t>-</a:t>
            </a:r>
          </a:p>
        </p:txBody>
      </p:sp>
      <p:pic>
        <p:nvPicPr>
          <p:cNvPr id="58376" name="Picture 12">
            <a:extLst>
              <a:ext uri="{FF2B5EF4-FFF2-40B4-BE49-F238E27FC236}">
                <a16:creationId xmlns:a16="http://schemas.microsoft.com/office/drawing/2014/main" id="{34243738-C311-6A46-F89B-693F517A6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300" y="3427413"/>
            <a:ext cx="2479675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7" name="Picture 13">
            <a:extLst>
              <a:ext uri="{FF2B5EF4-FFF2-40B4-BE49-F238E27FC236}">
                <a16:creationId xmlns:a16="http://schemas.microsoft.com/office/drawing/2014/main" id="{81466507-98F9-187C-6BD3-C02DDA954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3584575"/>
            <a:ext cx="2630488" cy="233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8" name="Text Box 14">
            <a:extLst>
              <a:ext uri="{FF2B5EF4-FFF2-40B4-BE49-F238E27FC236}">
                <a16:creationId xmlns:a16="http://schemas.microsoft.com/office/drawing/2014/main" id="{806BEE9D-F616-E3EF-D23F-A7880B26D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25" y="5935663"/>
            <a:ext cx="2398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Parallel geodesics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</a:rPr>
              <a:t>converge</a:t>
            </a:r>
          </a:p>
        </p:txBody>
      </p:sp>
      <p:sp>
        <p:nvSpPr>
          <p:cNvPr id="58379" name="Text Box 15">
            <a:extLst>
              <a:ext uri="{FF2B5EF4-FFF2-40B4-BE49-F238E27FC236}">
                <a16:creationId xmlns:a16="http://schemas.microsoft.com/office/drawing/2014/main" id="{29BF8ABC-79C1-5108-40C3-D0DF444AD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0600" y="5935663"/>
            <a:ext cx="2398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Parallel geodesics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3300"/>
                </a:solidFill>
              </a:rPr>
              <a:t>diverge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FB50C87-AE20-233D-BAF9-3910C3DBA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Special note on negative curvature surfaces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B9CF51C-8A92-B8F8-C65E-217B9025C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60420" name="Group 4">
            <a:extLst>
              <a:ext uri="{FF2B5EF4-FFF2-40B4-BE49-F238E27FC236}">
                <a16:creationId xmlns:a16="http://schemas.microsoft.com/office/drawing/2014/main" id="{0A800B91-DA2C-66D2-BBE0-F61DE18195A5}"/>
              </a:ext>
            </a:extLst>
          </p:cNvPr>
          <p:cNvGrpSpPr>
            <a:grpSpLocks/>
          </p:cNvGrpSpPr>
          <p:nvPr/>
        </p:nvGrpSpPr>
        <p:grpSpPr bwMode="auto">
          <a:xfrm>
            <a:off x="728663" y="4124325"/>
            <a:ext cx="2759075" cy="1990725"/>
            <a:chOff x="479" y="2038"/>
            <a:chExt cx="1738" cy="1254"/>
          </a:xfrm>
        </p:grpSpPr>
        <p:pic>
          <p:nvPicPr>
            <p:cNvPr id="60436" name="Picture 5">
              <a:extLst>
                <a:ext uri="{FF2B5EF4-FFF2-40B4-BE49-F238E27FC236}">
                  <a16:creationId xmlns:a16="http://schemas.microsoft.com/office/drawing/2014/main" id="{8E756DD9-AA59-3E85-EE20-5EF5F50111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" y="2038"/>
              <a:ext cx="1733" cy="1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37" name="Line 6">
              <a:extLst>
                <a:ext uri="{FF2B5EF4-FFF2-40B4-BE49-F238E27FC236}">
                  <a16:creationId xmlns:a16="http://schemas.microsoft.com/office/drawing/2014/main" id="{9F8A9B57-2491-5BE0-C605-475017EFD1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" y="2637"/>
              <a:ext cx="173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8" name="Line 7">
              <a:extLst>
                <a:ext uri="{FF2B5EF4-FFF2-40B4-BE49-F238E27FC236}">
                  <a16:creationId xmlns:a16="http://schemas.microsoft.com/office/drawing/2014/main" id="{84B69BC2-AD1E-8714-D770-46CD0A5209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" y="2038"/>
              <a:ext cx="5" cy="1245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0421" name="Text Box 8">
            <a:extLst>
              <a:ext uri="{FF2B5EF4-FFF2-40B4-BE49-F238E27FC236}">
                <a16:creationId xmlns:a16="http://schemas.microsoft.com/office/drawing/2014/main" id="{5F2AD804-DCA8-916C-54C8-C461C3D1C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5045075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2</a:t>
            </a:r>
            <a:r>
              <a:rPr lang="en-US" altLang="en-US" sz="1400" b="1">
                <a:latin typeface="Symbol" panose="05050102010706020507" pitchFamily="18" charset="2"/>
              </a:rPr>
              <a:t>p</a:t>
            </a:r>
          </a:p>
        </p:txBody>
      </p:sp>
      <p:sp>
        <p:nvSpPr>
          <p:cNvPr id="60422" name="Text Box 9">
            <a:extLst>
              <a:ext uri="{FF2B5EF4-FFF2-40B4-BE49-F238E27FC236}">
                <a16:creationId xmlns:a16="http://schemas.microsoft.com/office/drawing/2014/main" id="{9D34ECDF-D2B8-0E32-DA08-26A1692E7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50450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0</a:t>
            </a:r>
            <a:endParaRPr lang="en-US" altLang="en-US" sz="1400" b="1">
              <a:latin typeface="Symbol" panose="05050102010706020507" pitchFamily="18" charset="2"/>
            </a:endParaRPr>
          </a:p>
        </p:txBody>
      </p:sp>
      <p:sp>
        <p:nvSpPr>
          <p:cNvPr id="60423" name="Text Box 10">
            <a:extLst>
              <a:ext uri="{FF2B5EF4-FFF2-40B4-BE49-F238E27FC236}">
                <a16:creationId xmlns:a16="http://schemas.microsoft.com/office/drawing/2014/main" id="{5B23F80C-39AB-EA5F-C37B-9D8737568C1B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45244" y="4976019"/>
            <a:ext cx="9921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curvature</a:t>
            </a:r>
            <a:endParaRPr lang="en-US" altLang="en-US" sz="1400" b="1">
              <a:latin typeface="Symbol" panose="05050102010706020507" pitchFamily="18" charset="2"/>
            </a:endParaRPr>
          </a:p>
        </p:txBody>
      </p:sp>
      <p:sp>
        <p:nvSpPr>
          <p:cNvPr id="60424" name="Freeform 11">
            <a:extLst>
              <a:ext uri="{FF2B5EF4-FFF2-40B4-BE49-F238E27FC236}">
                <a16:creationId xmlns:a16="http://schemas.microsoft.com/office/drawing/2014/main" id="{30705C3D-5F5C-8F28-3B70-DF5D6581280E}"/>
              </a:ext>
            </a:extLst>
          </p:cNvPr>
          <p:cNvSpPr>
            <a:spLocks/>
          </p:cNvSpPr>
          <p:nvPr/>
        </p:nvSpPr>
        <p:spPr bwMode="auto">
          <a:xfrm>
            <a:off x="754063" y="4441825"/>
            <a:ext cx="2735262" cy="1319213"/>
          </a:xfrm>
          <a:custGeom>
            <a:avLst/>
            <a:gdLst>
              <a:gd name="T0" fmla="*/ 0 w 1723"/>
              <a:gd name="T1" fmla="*/ 2147483646 h 831"/>
              <a:gd name="T2" fmla="*/ 2147483646 w 1723"/>
              <a:gd name="T3" fmla="*/ 2147483646 h 831"/>
              <a:gd name="T4" fmla="*/ 2147483646 w 1723"/>
              <a:gd name="T5" fmla="*/ 2147483646 h 831"/>
              <a:gd name="T6" fmla="*/ 2147483646 w 1723"/>
              <a:gd name="T7" fmla="*/ 2147483646 h 831"/>
              <a:gd name="T8" fmla="*/ 0 60000 65536"/>
              <a:gd name="T9" fmla="*/ 0 60000 65536"/>
              <a:gd name="T10" fmla="*/ 0 60000 65536"/>
              <a:gd name="T11" fmla="*/ 0 60000 65536"/>
              <a:gd name="T12" fmla="*/ 0 w 1723"/>
              <a:gd name="T13" fmla="*/ 0 h 831"/>
              <a:gd name="T14" fmla="*/ 1723 w 1723"/>
              <a:gd name="T15" fmla="*/ 831 h 8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23" h="831">
                <a:moveTo>
                  <a:pt x="0" y="212"/>
                </a:moveTo>
                <a:cubicBezTo>
                  <a:pt x="96" y="312"/>
                  <a:pt x="358" y="831"/>
                  <a:pt x="576" y="812"/>
                </a:cubicBezTo>
                <a:cubicBezTo>
                  <a:pt x="794" y="793"/>
                  <a:pt x="1120" y="192"/>
                  <a:pt x="1311" y="96"/>
                </a:cubicBezTo>
                <a:cubicBezTo>
                  <a:pt x="1502" y="0"/>
                  <a:pt x="1637" y="207"/>
                  <a:pt x="1723" y="236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0425" name="Picture 12">
            <a:extLst>
              <a:ext uri="{FF2B5EF4-FFF2-40B4-BE49-F238E27FC236}">
                <a16:creationId xmlns:a16="http://schemas.microsoft.com/office/drawing/2014/main" id="{6EDB5858-E03C-CC5D-A6AB-80CD7B600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613" y="2252663"/>
            <a:ext cx="2541587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6" name="Text Box 13">
            <a:extLst>
              <a:ext uri="{FF2B5EF4-FFF2-40B4-BE49-F238E27FC236}">
                <a16:creationId xmlns:a16="http://schemas.microsoft.com/office/drawing/2014/main" id="{B87E1E8B-37B4-FF76-3697-C57ECBCE1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0" y="2987675"/>
            <a:ext cx="92233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FF3300"/>
                </a:solidFill>
              </a:rPr>
              <a:t>negative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“saddle”</a:t>
            </a:r>
            <a:endParaRPr lang="en-US" altLang="en-US" sz="1400" b="1">
              <a:latin typeface="Symbol" panose="05050102010706020507" pitchFamily="18" charset="2"/>
            </a:endParaRPr>
          </a:p>
        </p:txBody>
      </p:sp>
      <p:sp>
        <p:nvSpPr>
          <p:cNvPr id="60427" name="Line 14">
            <a:extLst>
              <a:ext uri="{FF2B5EF4-FFF2-40B4-BE49-F238E27FC236}">
                <a16:creationId xmlns:a16="http://schemas.microsoft.com/office/drawing/2014/main" id="{DABEDC60-4715-BC18-890E-235BA1AE52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3938" y="3387725"/>
            <a:ext cx="1855787" cy="14398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8" name="AutoShape 15">
            <a:extLst>
              <a:ext uri="{FF2B5EF4-FFF2-40B4-BE49-F238E27FC236}">
                <a16:creationId xmlns:a16="http://schemas.microsoft.com/office/drawing/2014/main" id="{D30EF4DE-632E-BBFA-81AE-79E3F9BEE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362325"/>
            <a:ext cx="1471612" cy="579438"/>
          </a:xfrm>
          <a:prstGeom prst="wedgeRectCallout">
            <a:avLst>
              <a:gd name="adj1" fmla="val 41477"/>
              <a:gd name="adj2" fmla="val 24095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/>
              <a:t>What’s going on here??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i="1" baseline="30000"/>
          </a:p>
        </p:txBody>
      </p:sp>
      <p:sp>
        <p:nvSpPr>
          <p:cNvPr id="60429" name="AutoShape 16">
            <a:extLst>
              <a:ext uri="{FF2B5EF4-FFF2-40B4-BE49-F238E27FC236}">
                <a16:creationId xmlns:a16="http://schemas.microsoft.com/office/drawing/2014/main" id="{B007D195-1C67-E2DA-242A-2225331BD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360738"/>
            <a:ext cx="1471612" cy="579437"/>
          </a:xfrm>
          <a:prstGeom prst="wedgeRectCallout">
            <a:avLst>
              <a:gd name="adj1" fmla="val -54315"/>
              <a:gd name="adj2" fmla="val 23986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/>
              <a:t>What’s going on here??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i="1" baseline="30000"/>
          </a:p>
        </p:txBody>
      </p:sp>
      <p:grpSp>
        <p:nvGrpSpPr>
          <p:cNvPr id="60430" name="Group 17">
            <a:extLst>
              <a:ext uri="{FF2B5EF4-FFF2-40B4-BE49-F238E27FC236}">
                <a16:creationId xmlns:a16="http://schemas.microsoft.com/office/drawing/2014/main" id="{7F09B71A-895F-B770-816B-FB3503CE036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98550" y="1157288"/>
            <a:ext cx="2044700" cy="1978025"/>
            <a:chOff x="770" y="662"/>
            <a:chExt cx="1536" cy="1486"/>
          </a:xfrm>
        </p:grpSpPr>
        <p:pic>
          <p:nvPicPr>
            <p:cNvPr id="60433" name="Picture 18">
              <a:extLst>
                <a:ext uri="{FF2B5EF4-FFF2-40B4-BE49-F238E27FC236}">
                  <a16:creationId xmlns:a16="http://schemas.microsoft.com/office/drawing/2014/main" id="{4C0D7362-E51D-17C7-8103-1D52294D59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" y="662"/>
              <a:ext cx="1536" cy="1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34" name="Line 19">
              <a:extLst>
                <a:ext uri="{FF2B5EF4-FFF2-40B4-BE49-F238E27FC236}">
                  <a16:creationId xmlns:a16="http://schemas.microsoft.com/office/drawing/2014/main" id="{88E66A00-6971-93B1-68F1-763281B96AD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497" y="1454"/>
              <a:ext cx="80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5" name="Line 20">
              <a:extLst>
                <a:ext uri="{FF2B5EF4-FFF2-40B4-BE49-F238E27FC236}">
                  <a16:creationId xmlns:a16="http://schemas.microsoft.com/office/drawing/2014/main" id="{DD463F9D-7BD5-AFD5-EE3E-CDC7BA802D4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497" y="675"/>
              <a:ext cx="2" cy="77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0431" name="Text Box 21">
            <a:extLst>
              <a:ext uri="{FF2B5EF4-FFF2-40B4-BE49-F238E27FC236}">
                <a16:creationId xmlns:a16="http://schemas.microsoft.com/office/drawing/2014/main" id="{0C1660BF-0467-1C7E-2FF2-E29CC1EFC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555750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i="1">
                <a:latin typeface="Symbol" panose="05050102010706020507" pitchFamily="18" charset="2"/>
              </a:rPr>
              <a:t>q</a:t>
            </a:r>
            <a:r>
              <a:rPr lang="en-US" altLang="en-US" sz="1400" i="1" baseline="-25000">
                <a:latin typeface="Symbol" panose="05050102010706020507" pitchFamily="18" charset="2"/>
              </a:rPr>
              <a:t>1</a:t>
            </a:r>
            <a:endParaRPr lang="en-US" altLang="en-US" sz="1400" i="1">
              <a:latin typeface="Symbol" panose="05050102010706020507" pitchFamily="18" charset="2"/>
            </a:endParaRPr>
          </a:p>
        </p:txBody>
      </p:sp>
      <p:sp>
        <p:nvSpPr>
          <p:cNvPr id="60432" name="Text Box 22">
            <a:extLst>
              <a:ext uri="{FF2B5EF4-FFF2-40B4-BE49-F238E27FC236}">
                <a16:creationId xmlns:a16="http://schemas.microsoft.com/office/drawing/2014/main" id="{6208C7A2-E6DC-69EF-1C63-260EF472C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8" y="2317750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i="1">
                <a:latin typeface="Symbol" panose="05050102010706020507" pitchFamily="18" charset="2"/>
              </a:rPr>
              <a:t>q</a:t>
            </a:r>
            <a:r>
              <a:rPr lang="en-US" altLang="en-US" sz="1400" i="1" baseline="-25000">
                <a:latin typeface="Symbol" panose="05050102010706020507" pitchFamily="18" charset="2"/>
              </a:rPr>
              <a:t>2</a:t>
            </a:r>
            <a:endParaRPr lang="en-US" altLang="en-US" sz="1400" i="1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8">
            <a:extLst>
              <a:ext uri="{FF2B5EF4-FFF2-40B4-BE49-F238E27FC236}">
                <a16:creationId xmlns:a16="http://schemas.microsoft.com/office/drawing/2014/main" id="{77228CC1-3575-B015-6A5D-04CA97054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213" y="2332038"/>
            <a:ext cx="283845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7" name="Rectangle 3">
            <a:extLst>
              <a:ext uri="{FF2B5EF4-FFF2-40B4-BE49-F238E27FC236}">
                <a16:creationId xmlns:a16="http://schemas.microsoft.com/office/drawing/2014/main" id="{7F02AD48-C38D-BAEC-49CD-C41268991D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Special note on negative curvature surfaces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32715FD2-4F7D-4AE7-3DB6-FD0CEDAC8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3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pSp>
        <p:nvGrpSpPr>
          <p:cNvPr id="62469" name="Group 5">
            <a:extLst>
              <a:ext uri="{FF2B5EF4-FFF2-40B4-BE49-F238E27FC236}">
                <a16:creationId xmlns:a16="http://schemas.microsoft.com/office/drawing/2014/main" id="{433F4F95-DA19-14AD-1721-EBD5B3A0C071}"/>
              </a:ext>
            </a:extLst>
          </p:cNvPr>
          <p:cNvGrpSpPr>
            <a:grpSpLocks/>
          </p:cNvGrpSpPr>
          <p:nvPr/>
        </p:nvGrpSpPr>
        <p:grpSpPr bwMode="auto">
          <a:xfrm>
            <a:off x="728663" y="4124325"/>
            <a:ext cx="2759075" cy="1990725"/>
            <a:chOff x="479" y="2038"/>
            <a:chExt cx="1738" cy="1254"/>
          </a:xfrm>
        </p:grpSpPr>
        <p:pic>
          <p:nvPicPr>
            <p:cNvPr id="62487" name="Picture 6">
              <a:extLst>
                <a:ext uri="{FF2B5EF4-FFF2-40B4-BE49-F238E27FC236}">
                  <a16:creationId xmlns:a16="http://schemas.microsoft.com/office/drawing/2014/main" id="{C880EC1B-0197-45AF-3E55-6413F4FE30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" y="2038"/>
              <a:ext cx="1733" cy="1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488" name="Line 7">
              <a:extLst>
                <a:ext uri="{FF2B5EF4-FFF2-40B4-BE49-F238E27FC236}">
                  <a16:creationId xmlns:a16="http://schemas.microsoft.com/office/drawing/2014/main" id="{6CFC1B50-5BA9-C272-B7CC-F20A5620A1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" y="2637"/>
              <a:ext cx="173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89" name="Line 8">
              <a:extLst>
                <a:ext uri="{FF2B5EF4-FFF2-40B4-BE49-F238E27FC236}">
                  <a16:creationId xmlns:a16="http://schemas.microsoft.com/office/drawing/2014/main" id="{7EC1850B-6005-34FC-975B-20907A2D01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" y="2038"/>
              <a:ext cx="5" cy="1245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470" name="Text Box 9">
            <a:extLst>
              <a:ext uri="{FF2B5EF4-FFF2-40B4-BE49-F238E27FC236}">
                <a16:creationId xmlns:a16="http://schemas.microsoft.com/office/drawing/2014/main" id="{2A27FB33-F50E-F4E1-6A0C-6CEBF5B7F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5045075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2</a:t>
            </a:r>
            <a:r>
              <a:rPr lang="en-US" altLang="en-US" sz="1400" b="1">
                <a:latin typeface="Symbol" panose="05050102010706020507" pitchFamily="18" charset="2"/>
              </a:rPr>
              <a:t>p</a:t>
            </a:r>
          </a:p>
        </p:txBody>
      </p:sp>
      <p:sp>
        <p:nvSpPr>
          <p:cNvPr id="62471" name="Text Box 10">
            <a:extLst>
              <a:ext uri="{FF2B5EF4-FFF2-40B4-BE49-F238E27FC236}">
                <a16:creationId xmlns:a16="http://schemas.microsoft.com/office/drawing/2014/main" id="{3C3EE9AB-1FE2-57B9-5BC4-B74C1095F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50450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0</a:t>
            </a:r>
            <a:endParaRPr lang="en-US" altLang="en-US" sz="1400" b="1">
              <a:latin typeface="Symbol" panose="05050102010706020507" pitchFamily="18" charset="2"/>
            </a:endParaRPr>
          </a:p>
        </p:txBody>
      </p:sp>
      <p:sp>
        <p:nvSpPr>
          <p:cNvPr id="62472" name="Text Box 11">
            <a:extLst>
              <a:ext uri="{FF2B5EF4-FFF2-40B4-BE49-F238E27FC236}">
                <a16:creationId xmlns:a16="http://schemas.microsoft.com/office/drawing/2014/main" id="{1305C8C7-2246-7779-32CB-7876221A8791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45244" y="4976019"/>
            <a:ext cx="9921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curvature</a:t>
            </a:r>
            <a:endParaRPr lang="en-US" altLang="en-US" sz="1400" b="1">
              <a:latin typeface="Symbol" panose="05050102010706020507" pitchFamily="18" charset="2"/>
            </a:endParaRPr>
          </a:p>
        </p:txBody>
      </p:sp>
      <p:sp>
        <p:nvSpPr>
          <p:cNvPr id="62473" name="Freeform 12">
            <a:extLst>
              <a:ext uri="{FF2B5EF4-FFF2-40B4-BE49-F238E27FC236}">
                <a16:creationId xmlns:a16="http://schemas.microsoft.com/office/drawing/2014/main" id="{806B63FB-4AE9-AC4C-E479-AF03A04DA09A}"/>
              </a:ext>
            </a:extLst>
          </p:cNvPr>
          <p:cNvSpPr>
            <a:spLocks/>
          </p:cNvSpPr>
          <p:nvPr/>
        </p:nvSpPr>
        <p:spPr bwMode="auto">
          <a:xfrm>
            <a:off x="754063" y="4600575"/>
            <a:ext cx="2735262" cy="1319213"/>
          </a:xfrm>
          <a:custGeom>
            <a:avLst/>
            <a:gdLst>
              <a:gd name="T0" fmla="*/ 0 w 1723"/>
              <a:gd name="T1" fmla="*/ 2147483646 h 831"/>
              <a:gd name="T2" fmla="*/ 2147483646 w 1723"/>
              <a:gd name="T3" fmla="*/ 2147483646 h 831"/>
              <a:gd name="T4" fmla="*/ 2147483646 w 1723"/>
              <a:gd name="T5" fmla="*/ 2147483646 h 831"/>
              <a:gd name="T6" fmla="*/ 2147483646 w 1723"/>
              <a:gd name="T7" fmla="*/ 2147483646 h 831"/>
              <a:gd name="T8" fmla="*/ 0 60000 65536"/>
              <a:gd name="T9" fmla="*/ 0 60000 65536"/>
              <a:gd name="T10" fmla="*/ 0 60000 65536"/>
              <a:gd name="T11" fmla="*/ 0 60000 65536"/>
              <a:gd name="T12" fmla="*/ 0 w 1723"/>
              <a:gd name="T13" fmla="*/ 0 h 831"/>
              <a:gd name="T14" fmla="*/ 1723 w 1723"/>
              <a:gd name="T15" fmla="*/ 831 h 8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23" h="831">
                <a:moveTo>
                  <a:pt x="0" y="212"/>
                </a:moveTo>
                <a:cubicBezTo>
                  <a:pt x="96" y="312"/>
                  <a:pt x="358" y="831"/>
                  <a:pt x="576" y="812"/>
                </a:cubicBezTo>
                <a:cubicBezTo>
                  <a:pt x="794" y="793"/>
                  <a:pt x="1120" y="192"/>
                  <a:pt x="1311" y="96"/>
                </a:cubicBezTo>
                <a:cubicBezTo>
                  <a:pt x="1502" y="0"/>
                  <a:pt x="1637" y="207"/>
                  <a:pt x="1723" y="236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4" name="Text Box 13">
            <a:extLst>
              <a:ext uri="{FF2B5EF4-FFF2-40B4-BE49-F238E27FC236}">
                <a16:creationId xmlns:a16="http://schemas.microsoft.com/office/drawing/2014/main" id="{C2305392-9CCA-2595-45D6-60FC15963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0" y="2987675"/>
            <a:ext cx="92233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FF3300"/>
                </a:solidFill>
              </a:rPr>
              <a:t>negative</a:t>
            </a: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“saddle”</a:t>
            </a:r>
            <a:endParaRPr lang="en-US" altLang="en-US" sz="1400" b="1">
              <a:latin typeface="Symbol" panose="05050102010706020507" pitchFamily="18" charset="2"/>
            </a:endParaRPr>
          </a:p>
        </p:txBody>
      </p:sp>
      <p:sp>
        <p:nvSpPr>
          <p:cNvPr id="62475" name="Line 14">
            <a:extLst>
              <a:ext uri="{FF2B5EF4-FFF2-40B4-BE49-F238E27FC236}">
                <a16:creationId xmlns:a16="http://schemas.microsoft.com/office/drawing/2014/main" id="{6F4A05C0-A114-E25E-6BF4-C988E34DE3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3938" y="3387725"/>
            <a:ext cx="1855787" cy="14398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76" name="Group 17">
            <a:extLst>
              <a:ext uri="{FF2B5EF4-FFF2-40B4-BE49-F238E27FC236}">
                <a16:creationId xmlns:a16="http://schemas.microsoft.com/office/drawing/2014/main" id="{DBC7154B-8999-0670-65FB-F3C1A65942D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98550" y="1157288"/>
            <a:ext cx="2044700" cy="1978025"/>
            <a:chOff x="770" y="662"/>
            <a:chExt cx="1536" cy="1486"/>
          </a:xfrm>
        </p:grpSpPr>
        <p:pic>
          <p:nvPicPr>
            <p:cNvPr id="62484" name="Picture 18">
              <a:extLst>
                <a:ext uri="{FF2B5EF4-FFF2-40B4-BE49-F238E27FC236}">
                  <a16:creationId xmlns:a16="http://schemas.microsoft.com/office/drawing/2014/main" id="{5281551C-86AA-7591-F802-C50A80DC38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" y="662"/>
              <a:ext cx="1536" cy="1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485" name="Line 19">
              <a:extLst>
                <a:ext uri="{FF2B5EF4-FFF2-40B4-BE49-F238E27FC236}">
                  <a16:creationId xmlns:a16="http://schemas.microsoft.com/office/drawing/2014/main" id="{CAA7EE2D-B371-C3DC-BA43-172477DB1E4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497" y="1454"/>
              <a:ext cx="80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86" name="Line 20">
              <a:extLst>
                <a:ext uri="{FF2B5EF4-FFF2-40B4-BE49-F238E27FC236}">
                  <a16:creationId xmlns:a16="http://schemas.microsoft.com/office/drawing/2014/main" id="{061D8C33-B9E8-132F-58D4-6876FEBCF92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497" y="675"/>
              <a:ext cx="2" cy="77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477" name="Text Box 21">
            <a:extLst>
              <a:ext uri="{FF2B5EF4-FFF2-40B4-BE49-F238E27FC236}">
                <a16:creationId xmlns:a16="http://schemas.microsoft.com/office/drawing/2014/main" id="{E54357CD-B2C0-5FD6-439F-0029799C3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555750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i="1">
                <a:latin typeface="Symbol" panose="05050102010706020507" pitchFamily="18" charset="2"/>
              </a:rPr>
              <a:t>q</a:t>
            </a:r>
            <a:r>
              <a:rPr lang="en-US" altLang="en-US" sz="1400" i="1" baseline="-25000">
                <a:latin typeface="Symbol" panose="05050102010706020507" pitchFamily="18" charset="2"/>
              </a:rPr>
              <a:t>1</a:t>
            </a:r>
            <a:endParaRPr lang="en-US" altLang="en-US" sz="1400" i="1">
              <a:latin typeface="Symbol" panose="05050102010706020507" pitchFamily="18" charset="2"/>
            </a:endParaRPr>
          </a:p>
        </p:txBody>
      </p:sp>
      <p:sp>
        <p:nvSpPr>
          <p:cNvPr id="62478" name="Text Box 22">
            <a:extLst>
              <a:ext uri="{FF2B5EF4-FFF2-40B4-BE49-F238E27FC236}">
                <a16:creationId xmlns:a16="http://schemas.microsoft.com/office/drawing/2014/main" id="{1F9401AB-ED47-FEEA-51D9-7A70B73C5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8" y="2317750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i="1">
                <a:latin typeface="Symbol" panose="05050102010706020507" pitchFamily="18" charset="2"/>
              </a:rPr>
              <a:t>q</a:t>
            </a:r>
            <a:r>
              <a:rPr lang="en-US" altLang="en-US" sz="1400" i="1" baseline="-25000">
                <a:latin typeface="Symbol" panose="05050102010706020507" pitchFamily="18" charset="2"/>
              </a:rPr>
              <a:t>2</a:t>
            </a:r>
            <a:endParaRPr lang="en-US" altLang="en-US" sz="1400" i="1">
              <a:latin typeface="Symbol" panose="05050102010706020507" pitchFamily="18" charset="2"/>
            </a:endParaRPr>
          </a:p>
        </p:txBody>
      </p:sp>
      <p:sp>
        <p:nvSpPr>
          <p:cNvPr id="62479" name="Line 23">
            <a:extLst>
              <a:ext uri="{FF2B5EF4-FFF2-40B4-BE49-F238E27FC236}">
                <a16:creationId xmlns:a16="http://schemas.microsoft.com/office/drawing/2014/main" id="{B2EE644C-1066-45C0-E4D6-B2C63A02637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75425" y="2835275"/>
            <a:ext cx="914400" cy="6096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0" name="Line 24">
            <a:extLst>
              <a:ext uri="{FF2B5EF4-FFF2-40B4-BE49-F238E27FC236}">
                <a16:creationId xmlns:a16="http://schemas.microsoft.com/office/drawing/2014/main" id="{CD40903B-20C3-9EF7-7343-5B0390D0C1C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13638" y="2352675"/>
            <a:ext cx="44450" cy="103822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1" name="Text Box 25">
            <a:extLst>
              <a:ext uri="{FF2B5EF4-FFF2-40B4-BE49-F238E27FC236}">
                <a16:creationId xmlns:a16="http://schemas.microsoft.com/office/drawing/2014/main" id="{D9CF7E72-E745-F0D9-0247-FEAAA5612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1763" y="5035550"/>
            <a:ext cx="1835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0 curvature,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Asymptotic lines</a:t>
            </a:r>
          </a:p>
        </p:txBody>
      </p:sp>
      <p:sp>
        <p:nvSpPr>
          <p:cNvPr id="62482" name="Line 26">
            <a:extLst>
              <a:ext uri="{FF2B5EF4-FFF2-40B4-BE49-F238E27FC236}">
                <a16:creationId xmlns:a16="http://schemas.microsoft.com/office/drawing/2014/main" id="{3D0510A0-1211-A173-D780-BFE8C18601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3275" y="1455738"/>
            <a:ext cx="388938" cy="746125"/>
          </a:xfrm>
          <a:prstGeom prst="line">
            <a:avLst/>
          </a:prstGeom>
          <a:noFill/>
          <a:ln w="25400">
            <a:solidFill>
              <a:srgbClr val="3399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3" name="Line 27">
            <a:extLst>
              <a:ext uri="{FF2B5EF4-FFF2-40B4-BE49-F238E27FC236}">
                <a16:creationId xmlns:a16="http://schemas.microsoft.com/office/drawing/2014/main" id="{4ABB953C-0C89-01A0-58A8-5A22B199668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28788" y="1449388"/>
            <a:ext cx="344487" cy="768350"/>
          </a:xfrm>
          <a:prstGeom prst="line">
            <a:avLst/>
          </a:prstGeom>
          <a:noFill/>
          <a:ln w="25400">
            <a:solidFill>
              <a:srgbClr val="3399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>
            <a:extLst>
              <a:ext uri="{FF2B5EF4-FFF2-40B4-BE49-F238E27FC236}">
                <a16:creationId xmlns:a16="http://schemas.microsoft.com/office/drawing/2014/main" id="{D812BDBF-B0D1-FE95-3F80-B6C32A1DE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en-US" altLang="en-US" sz="3200"/>
              <a:t>Ruled Surfaces</a:t>
            </a:r>
          </a:p>
        </p:txBody>
      </p:sp>
      <p:pic>
        <p:nvPicPr>
          <p:cNvPr id="64515" name="Picture 16">
            <a:extLst>
              <a:ext uri="{FF2B5EF4-FFF2-40B4-BE49-F238E27FC236}">
                <a16:creationId xmlns:a16="http://schemas.microsoft.com/office/drawing/2014/main" id="{A758AFBB-DA26-A302-354C-C1953B113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151063"/>
            <a:ext cx="3943350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6" name="Text Box 17">
            <a:extLst>
              <a:ext uri="{FF2B5EF4-FFF2-40B4-BE49-F238E27FC236}">
                <a16:creationId xmlns:a16="http://schemas.microsoft.com/office/drawing/2014/main" id="{3063D66B-E69B-A5C5-5854-210ACAE39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" y="5407025"/>
            <a:ext cx="3308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The envelope of a line along </a:t>
            </a:r>
            <a:br>
              <a:rPr lang="en-US" altLang="en-US" sz="1800" b="1"/>
            </a:br>
            <a:r>
              <a:rPr lang="en-US" altLang="en-US" sz="1800" b="1"/>
              <a:t>a curve in space</a:t>
            </a:r>
          </a:p>
        </p:txBody>
      </p:sp>
      <p:pic>
        <p:nvPicPr>
          <p:cNvPr id="64517" name="Picture 18">
            <a:extLst>
              <a:ext uri="{FF2B5EF4-FFF2-40B4-BE49-F238E27FC236}">
                <a16:creationId xmlns:a16="http://schemas.microsoft.com/office/drawing/2014/main" id="{1010A7FE-E456-184D-1587-5AC47F397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0" y="2141538"/>
            <a:ext cx="3933825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8" name="Text Box 19">
            <a:extLst>
              <a:ext uri="{FF2B5EF4-FFF2-40B4-BE49-F238E27FC236}">
                <a16:creationId xmlns:a16="http://schemas.microsoft.com/office/drawing/2014/main" id="{90F49051-F9F9-8E59-86E7-7176BCF3E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6088" y="5407025"/>
            <a:ext cx="2393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pointwise joining of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2 curves</a:t>
            </a:r>
          </a:p>
        </p:txBody>
      </p:sp>
      <p:pic>
        <p:nvPicPr>
          <p:cNvPr id="64519" name="Picture 20">
            <a:extLst>
              <a:ext uri="{FF2B5EF4-FFF2-40B4-BE49-F238E27FC236}">
                <a16:creationId xmlns:a16="http://schemas.microsoft.com/office/drawing/2014/main" id="{3914CA84-8CF6-681F-65F2-5F391BC1B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87575"/>
            <a:ext cx="4211638" cy="306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11">
            <a:extLst>
              <a:ext uri="{FF2B5EF4-FFF2-40B4-BE49-F238E27FC236}">
                <a16:creationId xmlns:a16="http://schemas.microsoft.com/office/drawing/2014/main" id="{009F4BE8-DD2E-D89C-10AC-BBF295A09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801688"/>
            <a:ext cx="3178175" cy="229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3" name="Text Box 4">
            <a:extLst>
              <a:ext uri="{FF2B5EF4-FFF2-40B4-BE49-F238E27FC236}">
                <a16:creationId xmlns:a16="http://schemas.microsoft.com/office/drawing/2014/main" id="{9DFB4A24-50AE-1263-21FF-3B2A493EC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3" y="3986213"/>
            <a:ext cx="1047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positive</a:t>
            </a:r>
          </a:p>
        </p:txBody>
      </p:sp>
      <p:sp>
        <p:nvSpPr>
          <p:cNvPr id="66564" name="Text Box 5">
            <a:extLst>
              <a:ext uri="{FF2B5EF4-FFF2-40B4-BE49-F238E27FC236}">
                <a16:creationId xmlns:a16="http://schemas.microsoft.com/office/drawing/2014/main" id="{F09B9DAB-43F8-652A-C32C-0335DAA3E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8363" y="4414838"/>
            <a:ext cx="1111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negative</a:t>
            </a:r>
          </a:p>
        </p:txBody>
      </p:sp>
      <p:sp>
        <p:nvSpPr>
          <p:cNvPr id="66565" name="Rectangle 6">
            <a:extLst>
              <a:ext uri="{FF2B5EF4-FFF2-40B4-BE49-F238E27FC236}">
                <a16:creationId xmlns:a16="http://schemas.microsoft.com/office/drawing/2014/main" id="{6D134A94-4CC7-0A2E-95F8-37D99A2974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en-US" altLang="en-US" sz="3200"/>
              <a:t>Developable Surfaces</a:t>
            </a:r>
          </a:p>
        </p:txBody>
      </p:sp>
      <p:pic>
        <p:nvPicPr>
          <p:cNvPr id="66566" name="Picture 7">
            <a:extLst>
              <a:ext uri="{FF2B5EF4-FFF2-40B4-BE49-F238E27FC236}">
                <a16:creationId xmlns:a16="http://schemas.microsoft.com/office/drawing/2014/main" id="{A8F00B95-9981-0935-FE93-A28E9F52B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882650"/>
            <a:ext cx="1841500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7" name="Picture 8">
            <a:extLst>
              <a:ext uri="{FF2B5EF4-FFF2-40B4-BE49-F238E27FC236}">
                <a16:creationId xmlns:a16="http://schemas.microsoft.com/office/drawing/2014/main" id="{DF7B56E4-35B7-087E-E992-B4C769C0E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9338" y="1262063"/>
            <a:ext cx="3014662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8" name="Text Box 9">
            <a:extLst>
              <a:ext uri="{FF2B5EF4-FFF2-40B4-BE49-F238E27FC236}">
                <a16:creationId xmlns:a16="http://schemas.microsoft.com/office/drawing/2014/main" id="{4256567D-B5FA-3AA6-D194-CB646CDF6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800" y="2522538"/>
            <a:ext cx="481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66569" name="Text Box 10">
            <a:extLst>
              <a:ext uri="{FF2B5EF4-FFF2-40B4-BE49-F238E27FC236}">
                <a16:creationId xmlns:a16="http://schemas.microsoft.com/office/drawing/2014/main" id="{344F76CC-039A-8C9A-75C2-8CE3D3B49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0763" y="3916363"/>
            <a:ext cx="3540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FF3300"/>
                </a:solidFill>
              </a:rPr>
              <a:t>-</a:t>
            </a:r>
          </a:p>
        </p:txBody>
      </p:sp>
      <p:sp>
        <p:nvSpPr>
          <p:cNvPr id="66570" name="Text Box 12">
            <a:extLst>
              <a:ext uri="{FF2B5EF4-FFF2-40B4-BE49-F238E27FC236}">
                <a16:creationId xmlns:a16="http://schemas.microsoft.com/office/drawing/2014/main" id="{64C4B108-7678-CA44-F267-B60C05DDD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3475" y="3033713"/>
            <a:ext cx="1504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Always zero</a:t>
            </a:r>
          </a:p>
        </p:txBody>
      </p:sp>
      <p:sp>
        <p:nvSpPr>
          <p:cNvPr id="66571" name="Text Box 13">
            <a:extLst>
              <a:ext uri="{FF2B5EF4-FFF2-40B4-BE49-F238E27FC236}">
                <a16:creationId xmlns:a16="http://schemas.microsoft.com/office/drawing/2014/main" id="{F8913789-E516-18B6-20AA-645075B94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2522538"/>
            <a:ext cx="466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008000"/>
                </a:solidFill>
              </a:rPr>
              <a:t>0</a:t>
            </a:r>
          </a:p>
        </p:txBody>
      </p:sp>
      <p:graphicFrame>
        <p:nvGraphicFramePr>
          <p:cNvPr id="66572" name="Object 15">
            <a:extLst>
              <a:ext uri="{FF2B5EF4-FFF2-40B4-BE49-F238E27FC236}">
                <a16:creationId xmlns:a16="http://schemas.microsoft.com/office/drawing/2014/main" id="{EA19E37E-1FD6-4B55-C77C-20A6E98C6D98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88938" y="4960938"/>
          <a:ext cx="2414587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0" imgH="1016000" progId="Equation.3">
                  <p:embed/>
                </p:oleObj>
              </mc:Choice>
              <mc:Fallback>
                <p:oleObj name="Equation" r:id="rId6" imgW="2286000" imgH="10160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4960938"/>
                        <a:ext cx="2414587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6573" name="Picture 17">
            <a:extLst>
              <a:ext uri="{FF2B5EF4-FFF2-40B4-BE49-F238E27FC236}">
                <a16:creationId xmlns:a16="http://schemas.microsoft.com/office/drawing/2014/main" id="{44AADF94-52EB-1232-F59F-CA63699DA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88" y="2433638"/>
            <a:ext cx="1893887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12">
            <a:extLst>
              <a:ext uri="{FF2B5EF4-FFF2-40B4-BE49-F238E27FC236}">
                <a16:creationId xmlns:a16="http://schemas.microsoft.com/office/drawing/2014/main" id="{8C9B803F-8F7B-5239-B897-76B089DA8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801688"/>
            <a:ext cx="3178175" cy="229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1" name="Text Box 13">
            <a:extLst>
              <a:ext uri="{FF2B5EF4-FFF2-40B4-BE49-F238E27FC236}">
                <a16:creationId xmlns:a16="http://schemas.microsoft.com/office/drawing/2014/main" id="{F4332BE7-87CA-1D2B-C66A-64CD53902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3475" y="3033713"/>
            <a:ext cx="1504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Always zero</a:t>
            </a:r>
          </a:p>
        </p:txBody>
      </p:sp>
      <p:sp>
        <p:nvSpPr>
          <p:cNvPr id="68612" name="Text Box 14">
            <a:extLst>
              <a:ext uri="{FF2B5EF4-FFF2-40B4-BE49-F238E27FC236}">
                <a16:creationId xmlns:a16="http://schemas.microsoft.com/office/drawing/2014/main" id="{29120CDA-20B0-73CD-1ED5-EDA8EB05C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2522538"/>
            <a:ext cx="466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008000"/>
                </a:solidFill>
              </a:rPr>
              <a:t>0</a:t>
            </a:r>
          </a:p>
        </p:txBody>
      </p:sp>
      <p:sp>
        <p:nvSpPr>
          <p:cNvPr id="68613" name="Rectangle 2">
            <a:extLst>
              <a:ext uri="{FF2B5EF4-FFF2-40B4-BE49-F238E27FC236}">
                <a16:creationId xmlns:a16="http://schemas.microsoft.com/office/drawing/2014/main" id="{7D701C24-23E7-0065-B7CA-3A7F19D7F3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Gaussian curvature: Definition and Meaning #2</a:t>
            </a:r>
          </a:p>
        </p:txBody>
      </p:sp>
      <p:pic>
        <p:nvPicPr>
          <p:cNvPr id="68614" name="Picture 4">
            <a:extLst>
              <a:ext uri="{FF2B5EF4-FFF2-40B4-BE49-F238E27FC236}">
                <a16:creationId xmlns:a16="http://schemas.microsoft.com/office/drawing/2014/main" id="{597C77A9-D78F-D019-B736-00F778791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8" y="1120775"/>
            <a:ext cx="1841500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5" name="Picture 5">
            <a:extLst>
              <a:ext uri="{FF2B5EF4-FFF2-40B4-BE49-F238E27FC236}">
                <a16:creationId xmlns:a16="http://schemas.microsoft.com/office/drawing/2014/main" id="{5B883D14-3AE9-217F-797D-D266EB97E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138" y="1033463"/>
            <a:ext cx="1931987" cy="159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6" name="Text Box 6">
            <a:extLst>
              <a:ext uri="{FF2B5EF4-FFF2-40B4-BE49-F238E27FC236}">
                <a16:creationId xmlns:a16="http://schemas.microsoft.com/office/drawing/2014/main" id="{8EFFC7AB-8AAB-7CBA-FBFE-53361EF2C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2759075"/>
            <a:ext cx="481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68617" name="Text Box 7">
            <a:extLst>
              <a:ext uri="{FF2B5EF4-FFF2-40B4-BE49-F238E27FC236}">
                <a16:creationId xmlns:a16="http://schemas.microsoft.com/office/drawing/2014/main" id="{361C6145-1E0B-E03D-0275-B21DD5B7D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113" y="2843213"/>
            <a:ext cx="3540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FF3300"/>
                </a:solidFill>
              </a:rPr>
              <a:t>-</a:t>
            </a:r>
          </a:p>
        </p:txBody>
      </p:sp>
      <p:pic>
        <p:nvPicPr>
          <p:cNvPr id="68618" name="Picture 8">
            <a:extLst>
              <a:ext uri="{FF2B5EF4-FFF2-40B4-BE49-F238E27FC236}">
                <a16:creationId xmlns:a16="http://schemas.microsoft.com/office/drawing/2014/main" id="{242186FE-0B29-23C0-D17F-2A97FB1CB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3384550"/>
            <a:ext cx="2368550" cy="190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9" name="Picture 9">
            <a:extLst>
              <a:ext uri="{FF2B5EF4-FFF2-40B4-BE49-F238E27FC236}">
                <a16:creationId xmlns:a16="http://schemas.microsoft.com/office/drawing/2014/main" id="{1464EFA3-38DD-072B-A64A-9294833D3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25" y="5110163"/>
            <a:ext cx="2043113" cy="170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20" name="Picture 10">
            <a:extLst>
              <a:ext uri="{FF2B5EF4-FFF2-40B4-BE49-F238E27FC236}">
                <a16:creationId xmlns:a16="http://schemas.microsoft.com/office/drawing/2014/main" id="{7CE16706-75BD-CD06-AB27-FD2552648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925" y="5046663"/>
            <a:ext cx="1828800" cy="14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21" name="Picture 11">
            <a:extLst>
              <a:ext uri="{FF2B5EF4-FFF2-40B4-BE49-F238E27FC236}">
                <a16:creationId xmlns:a16="http://schemas.microsoft.com/office/drawing/2014/main" id="{847A46B1-5B60-6FA3-944D-E5CE47EB3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588" y="3478213"/>
            <a:ext cx="1828800" cy="135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>
            <a:extLst>
              <a:ext uri="{FF2B5EF4-FFF2-40B4-BE49-F238E27FC236}">
                <a16:creationId xmlns:a16="http://schemas.microsoft.com/office/drawing/2014/main" id="{E6DF36BE-ECED-1BAD-C828-AB1F5CFE3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801688"/>
            <a:ext cx="3178175" cy="229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Rectangle 5">
            <a:extLst>
              <a:ext uri="{FF2B5EF4-FFF2-40B4-BE49-F238E27FC236}">
                <a16:creationId xmlns:a16="http://schemas.microsoft.com/office/drawing/2014/main" id="{D0F4EFE5-1117-E98A-1E6D-D6640649F1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en-US" altLang="en-US" sz="3200"/>
              <a:t>Developable Surfaces</a:t>
            </a:r>
          </a:p>
        </p:txBody>
      </p:sp>
      <p:sp>
        <p:nvSpPr>
          <p:cNvPr id="70660" name="Text Box 10">
            <a:extLst>
              <a:ext uri="{FF2B5EF4-FFF2-40B4-BE49-F238E27FC236}">
                <a16:creationId xmlns:a16="http://schemas.microsoft.com/office/drawing/2014/main" id="{7DCFA360-E104-B45E-41A5-459389E86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3475" y="3033713"/>
            <a:ext cx="1504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Always zero</a:t>
            </a:r>
          </a:p>
        </p:txBody>
      </p:sp>
      <p:sp>
        <p:nvSpPr>
          <p:cNvPr id="70661" name="Text Box 11">
            <a:extLst>
              <a:ext uri="{FF2B5EF4-FFF2-40B4-BE49-F238E27FC236}">
                <a16:creationId xmlns:a16="http://schemas.microsoft.com/office/drawing/2014/main" id="{432BF563-9898-90CD-1BCE-25595DF5B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2522538"/>
            <a:ext cx="466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008000"/>
                </a:solidFill>
              </a:rPr>
              <a:t>0</a:t>
            </a:r>
          </a:p>
        </p:txBody>
      </p:sp>
      <p:graphicFrame>
        <p:nvGraphicFramePr>
          <p:cNvPr id="70662" name="Object 13">
            <a:extLst>
              <a:ext uri="{FF2B5EF4-FFF2-40B4-BE49-F238E27FC236}">
                <a16:creationId xmlns:a16="http://schemas.microsoft.com/office/drawing/2014/main" id="{D9711495-E3AB-83C2-22F3-0BAFAEACACD7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450850" y="1298575"/>
          <a:ext cx="2414588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0" imgH="1016000" progId="Equation.3">
                  <p:embed/>
                </p:oleObj>
              </mc:Choice>
              <mc:Fallback>
                <p:oleObj name="Equation" r:id="rId4" imgW="2286000" imgH="1016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1298575"/>
                        <a:ext cx="2414588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0663" name="Picture 14">
            <a:extLst>
              <a:ext uri="{FF2B5EF4-FFF2-40B4-BE49-F238E27FC236}">
                <a16:creationId xmlns:a16="http://schemas.microsoft.com/office/drawing/2014/main" id="{49CB65DA-8D04-B327-E430-C8D27DFC8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3714750"/>
            <a:ext cx="3765550" cy="282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4" name="Picture 15">
            <a:extLst>
              <a:ext uri="{FF2B5EF4-FFF2-40B4-BE49-F238E27FC236}">
                <a16:creationId xmlns:a16="http://schemas.microsoft.com/office/drawing/2014/main" id="{77AB516E-27B4-4D20-EE45-57602B0C6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813" y="3714750"/>
            <a:ext cx="3765550" cy="282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5" name="Freeform 16">
            <a:extLst>
              <a:ext uri="{FF2B5EF4-FFF2-40B4-BE49-F238E27FC236}">
                <a16:creationId xmlns:a16="http://schemas.microsoft.com/office/drawing/2014/main" id="{28025658-B566-A452-3E2E-5146C2F46717}"/>
              </a:ext>
            </a:extLst>
          </p:cNvPr>
          <p:cNvSpPr>
            <a:spLocks/>
          </p:cNvSpPr>
          <p:nvPr/>
        </p:nvSpPr>
        <p:spPr bwMode="auto">
          <a:xfrm>
            <a:off x="6629400" y="5873750"/>
            <a:ext cx="387350" cy="273050"/>
          </a:xfrm>
          <a:custGeom>
            <a:avLst/>
            <a:gdLst>
              <a:gd name="T0" fmla="*/ 0 w 244"/>
              <a:gd name="T1" fmla="*/ 2147483646 h 172"/>
              <a:gd name="T2" fmla="*/ 2147483646 w 244"/>
              <a:gd name="T3" fmla="*/ 0 h 172"/>
              <a:gd name="T4" fmla="*/ 2147483646 w 244"/>
              <a:gd name="T5" fmla="*/ 2147483646 h 172"/>
              <a:gd name="T6" fmla="*/ 2147483646 w 244"/>
              <a:gd name="T7" fmla="*/ 2147483646 h 172"/>
              <a:gd name="T8" fmla="*/ 0 w 244"/>
              <a:gd name="T9" fmla="*/ 2147483646 h 1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4"/>
              <a:gd name="T16" fmla="*/ 0 h 172"/>
              <a:gd name="T17" fmla="*/ 244 w 244"/>
              <a:gd name="T18" fmla="*/ 172 h 1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4" h="172">
                <a:moveTo>
                  <a:pt x="0" y="118"/>
                </a:moveTo>
                <a:lnTo>
                  <a:pt x="94" y="0"/>
                </a:lnTo>
                <a:lnTo>
                  <a:pt x="244" y="48"/>
                </a:lnTo>
                <a:lnTo>
                  <a:pt x="140" y="172"/>
                </a:lnTo>
                <a:lnTo>
                  <a:pt x="0" y="11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6" name="Freeform 17">
            <a:extLst>
              <a:ext uri="{FF2B5EF4-FFF2-40B4-BE49-F238E27FC236}">
                <a16:creationId xmlns:a16="http://schemas.microsoft.com/office/drawing/2014/main" id="{BFE00CB2-4906-DF3A-0010-3F2CD5411222}"/>
              </a:ext>
            </a:extLst>
          </p:cNvPr>
          <p:cNvSpPr>
            <a:spLocks/>
          </p:cNvSpPr>
          <p:nvPr/>
        </p:nvSpPr>
        <p:spPr bwMode="auto">
          <a:xfrm>
            <a:off x="6975475" y="5445125"/>
            <a:ext cx="387350" cy="273050"/>
          </a:xfrm>
          <a:custGeom>
            <a:avLst/>
            <a:gdLst>
              <a:gd name="T0" fmla="*/ 0 w 244"/>
              <a:gd name="T1" fmla="*/ 2147483646 h 172"/>
              <a:gd name="T2" fmla="*/ 2147483646 w 244"/>
              <a:gd name="T3" fmla="*/ 0 h 172"/>
              <a:gd name="T4" fmla="*/ 2147483646 w 244"/>
              <a:gd name="T5" fmla="*/ 2147483646 h 172"/>
              <a:gd name="T6" fmla="*/ 2147483646 w 244"/>
              <a:gd name="T7" fmla="*/ 2147483646 h 172"/>
              <a:gd name="T8" fmla="*/ 0 w 244"/>
              <a:gd name="T9" fmla="*/ 2147483646 h 1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4"/>
              <a:gd name="T16" fmla="*/ 0 h 172"/>
              <a:gd name="T17" fmla="*/ 244 w 244"/>
              <a:gd name="T18" fmla="*/ 172 h 1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4" h="172">
                <a:moveTo>
                  <a:pt x="0" y="118"/>
                </a:moveTo>
                <a:lnTo>
                  <a:pt x="94" y="0"/>
                </a:lnTo>
                <a:lnTo>
                  <a:pt x="244" y="48"/>
                </a:lnTo>
                <a:lnTo>
                  <a:pt x="140" y="172"/>
                </a:lnTo>
                <a:lnTo>
                  <a:pt x="0" y="11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7" name="Freeform 18">
            <a:extLst>
              <a:ext uri="{FF2B5EF4-FFF2-40B4-BE49-F238E27FC236}">
                <a16:creationId xmlns:a16="http://schemas.microsoft.com/office/drawing/2014/main" id="{2273EEC6-6907-D9F0-512C-50567A1D42CD}"/>
              </a:ext>
            </a:extLst>
          </p:cNvPr>
          <p:cNvSpPr>
            <a:spLocks/>
          </p:cNvSpPr>
          <p:nvPr/>
        </p:nvSpPr>
        <p:spPr bwMode="auto">
          <a:xfrm>
            <a:off x="7273925" y="5048250"/>
            <a:ext cx="387350" cy="273050"/>
          </a:xfrm>
          <a:custGeom>
            <a:avLst/>
            <a:gdLst>
              <a:gd name="T0" fmla="*/ 0 w 244"/>
              <a:gd name="T1" fmla="*/ 2147483646 h 172"/>
              <a:gd name="T2" fmla="*/ 2147483646 w 244"/>
              <a:gd name="T3" fmla="*/ 0 h 172"/>
              <a:gd name="T4" fmla="*/ 2147483646 w 244"/>
              <a:gd name="T5" fmla="*/ 2147483646 h 172"/>
              <a:gd name="T6" fmla="*/ 2147483646 w 244"/>
              <a:gd name="T7" fmla="*/ 2147483646 h 172"/>
              <a:gd name="T8" fmla="*/ 0 w 244"/>
              <a:gd name="T9" fmla="*/ 2147483646 h 1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4"/>
              <a:gd name="T16" fmla="*/ 0 h 172"/>
              <a:gd name="T17" fmla="*/ 244 w 244"/>
              <a:gd name="T18" fmla="*/ 172 h 1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4" h="172">
                <a:moveTo>
                  <a:pt x="0" y="118"/>
                </a:moveTo>
                <a:lnTo>
                  <a:pt x="94" y="0"/>
                </a:lnTo>
                <a:lnTo>
                  <a:pt x="244" y="48"/>
                </a:lnTo>
                <a:lnTo>
                  <a:pt x="140" y="172"/>
                </a:lnTo>
                <a:lnTo>
                  <a:pt x="0" y="11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8" name="Freeform 19">
            <a:extLst>
              <a:ext uri="{FF2B5EF4-FFF2-40B4-BE49-F238E27FC236}">
                <a16:creationId xmlns:a16="http://schemas.microsoft.com/office/drawing/2014/main" id="{83CBFB78-CDEC-7435-A08A-B3620FDE4FA1}"/>
              </a:ext>
            </a:extLst>
          </p:cNvPr>
          <p:cNvSpPr>
            <a:spLocks/>
          </p:cNvSpPr>
          <p:nvPr/>
        </p:nvSpPr>
        <p:spPr bwMode="auto">
          <a:xfrm>
            <a:off x="7553325" y="4673600"/>
            <a:ext cx="387350" cy="273050"/>
          </a:xfrm>
          <a:custGeom>
            <a:avLst/>
            <a:gdLst>
              <a:gd name="T0" fmla="*/ 0 w 244"/>
              <a:gd name="T1" fmla="*/ 2147483646 h 172"/>
              <a:gd name="T2" fmla="*/ 2147483646 w 244"/>
              <a:gd name="T3" fmla="*/ 0 h 172"/>
              <a:gd name="T4" fmla="*/ 2147483646 w 244"/>
              <a:gd name="T5" fmla="*/ 2147483646 h 172"/>
              <a:gd name="T6" fmla="*/ 2147483646 w 244"/>
              <a:gd name="T7" fmla="*/ 2147483646 h 172"/>
              <a:gd name="T8" fmla="*/ 0 w 244"/>
              <a:gd name="T9" fmla="*/ 2147483646 h 1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4"/>
              <a:gd name="T16" fmla="*/ 0 h 172"/>
              <a:gd name="T17" fmla="*/ 244 w 244"/>
              <a:gd name="T18" fmla="*/ 172 h 1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4" h="172">
                <a:moveTo>
                  <a:pt x="0" y="118"/>
                </a:moveTo>
                <a:lnTo>
                  <a:pt x="94" y="0"/>
                </a:lnTo>
                <a:lnTo>
                  <a:pt x="244" y="48"/>
                </a:lnTo>
                <a:lnTo>
                  <a:pt x="140" y="172"/>
                </a:lnTo>
                <a:lnTo>
                  <a:pt x="0" y="11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9" name="Text Box 20">
            <a:extLst>
              <a:ext uri="{FF2B5EF4-FFF2-40B4-BE49-F238E27FC236}">
                <a16:creationId xmlns:a16="http://schemas.microsoft.com/office/drawing/2014/main" id="{4828CA2C-CC5D-15EC-48E7-B0D15F5F6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75" y="6208713"/>
            <a:ext cx="2419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The surface normals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are parallel</a:t>
            </a:r>
          </a:p>
        </p:txBody>
      </p:sp>
      <p:sp>
        <p:nvSpPr>
          <p:cNvPr id="70670" name="Text Box 21">
            <a:extLst>
              <a:ext uri="{FF2B5EF4-FFF2-40B4-BE49-F238E27FC236}">
                <a16:creationId xmlns:a16="http://schemas.microsoft.com/office/drawing/2014/main" id="{45D292C9-980A-16F3-066C-6F8537C62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9025" y="6208713"/>
            <a:ext cx="1797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And lie in a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common plane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>
            <a:extLst>
              <a:ext uri="{FF2B5EF4-FFF2-40B4-BE49-F238E27FC236}">
                <a16:creationId xmlns:a16="http://schemas.microsoft.com/office/drawing/2014/main" id="{7F4F826A-D840-ED4A-6DCA-DBD17B176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801688"/>
            <a:ext cx="3178175" cy="229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7" name="Rectangle 3">
            <a:extLst>
              <a:ext uri="{FF2B5EF4-FFF2-40B4-BE49-F238E27FC236}">
                <a16:creationId xmlns:a16="http://schemas.microsoft.com/office/drawing/2014/main" id="{7F681F0C-0235-7255-52FB-B48BE10A67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en-US" altLang="en-US" sz="3200"/>
              <a:t>Developable Surfaces</a:t>
            </a:r>
          </a:p>
        </p:txBody>
      </p:sp>
      <p:sp>
        <p:nvSpPr>
          <p:cNvPr id="72708" name="Text Box 4">
            <a:extLst>
              <a:ext uri="{FF2B5EF4-FFF2-40B4-BE49-F238E27FC236}">
                <a16:creationId xmlns:a16="http://schemas.microsoft.com/office/drawing/2014/main" id="{742AF00E-AB90-8891-6BBE-B437F160C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3475" y="3033713"/>
            <a:ext cx="1504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Always zero</a:t>
            </a:r>
          </a:p>
        </p:txBody>
      </p:sp>
      <p:sp>
        <p:nvSpPr>
          <p:cNvPr id="72709" name="Text Box 5">
            <a:extLst>
              <a:ext uri="{FF2B5EF4-FFF2-40B4-BE49-F238E27FC236}">
                <a16:creationId xmlns:a16="http://schemas.microsoft.com/office/drawing/2014/main" id="{7984ED9C-4F48-68D5-8AAC-272FDB98B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2522538"/>
            <a:ext cx="466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008000"/>
                </a:solidFill>
              </a:rPr>
              <a:t>0</a:t>
            </a:r>
          </a:p>
        </p:txBody>
      </p:sp>
      <p:pic>
        <p:nvPicPr>
          <p:cNvPr id="72710" name="Picture 15">
            <a:extLst>
              <a:ext uri="{FF2B5EF4-FFF2-40B4-BE49-F238E27FC236}">
                <a16:creationId xmlns:a16="http://schemas.microsoft.com/office/drawing/2014/main" id="{D3FF1F2D-8860-B149-F8E7-9AD900B42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" y="4202113"/>
            <a:ext cx="2970213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1" name="Picture 16">
            <a:extLst>
              <a:ext uri="{FF2B5EF4-FFF2-40B4-BE49-F238E27FC236}">
                <a16:creationId xmlns:a16="http://schemas.microsoft.com/office/drawing/2014/main" id="{17C0497B-C471-AD84-07AA-228A5571A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975" y="4202113"/>
            <a:ext cx="2970213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2" name="Picture 17">
            <a:extLst>
              <a:ext uri="{FF2B5EF4-FFF2-40B4-BE49-F238E27FC236}">
                <a16:creationId xmlns:a16="http://schemas.microsoft.com/office/drawing/2014/main" id="{5D46A492-9481-C697-43A7-78B032C8A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413" y="4202113"/>
            <a:ext cx="2970212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13" name="Line 18">
            <a:extLst>
              <a:ext uri="{FF2B5EF4-FFF2-40B4-BE49-F238E27FC236}">
                <a16:creationId xmlns:a16="http://schemas.microsoft.com/office/drawing/2014/main" id="{81C48ECB-043E-60DD-9A10-63923FEE62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8163" y="5059363"/>
            <a:ext cx="5032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4" name="Line 19">
            <a:extLst>
              <a:ext uri="{FF2B5EF4-FFF2-40B4-BE49-F238E27FC236}">
                <a16:creationId xmlns:a16="http://schemas.microsoft.com/office/drawing/2014/main" id="{2CD2A864-D917-E962-BB78-1A26A6C66B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1863" y="5059363"/>
            <a:ext cx="5032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5" name="Text Box 20">
            <a:extLst>
              <a:ext uri="{FF2B5EF4-FFF2-40B4-BE49-F238E27FC236}">
                <a16:creationId xmlns:a16="http://schemas.microsoft.com/office/drawing/2014/main" id="{FE93B915-6E33-6D70-1DD1-2370A4457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2450" y="6210300"/>
            <a:ext cx="338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The limit of a family of planes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51566FAA-39AF-B1B5-4383-CD2A516B1C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en-US" altLang="en-US" sz="3200"/>
              <a:t>Developable Surface Types</a:t>
            </a:r>
          </a:p>
        </p:txBody>
      </p:sp>
      <p:pic>
        <p:nvPicPr>
          <p:cNvPr id="74755" name="Picture 8">
            <a:extLst>
              <a:ext uri="{FF2B5EF4-FFF2-40B4-BE49-F238E27FC236}">
                <a16:creationId xmlns:a16="http://schemas.microsoft.com/office/drawing/2014/main" id="{1F018335-A466-A143-FE3E-64877FE47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3706813"/>
            <a:ext cx="3338512" cy="272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6" name="Picture 9">
            <a:extLst>
              <a:ext uri="{FF2B5EF4-FFF2-40B4-BE49-F238E27FC236}">
                <a16:creationId xmlns:a16="http://schemas.microsoft.com/office/drawing/2014/main" id="{169A6F8D-C2D4-5115-01E6-474108330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0" y="3711575"/>
            <a:ext cx="3667125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7" name="Picture 10">
            <a:extLst>
              <a:ext uri="{FF2B5EF4-FFF2-40B4-BE49-F238E27FC236}">
                <a16:creationId xmlns:a16="http://schemas.microsoft.com/office/drawing/2014/main" id="{325BF757-270D-FF58-AE9B-FC067B08F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3" y="1001713"/>
            <a:ext cx="3133725" cy="255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8" name="Freeform 13">
            <a:extLst>
              <a:ext uri="{FF2B5EF4-FFF2-40B4-BE49-F238E27FC236}">
                <a16:creationId xmlns:a16="http://schemas.microsoft.com/office/drawing/2014/main" id="{1F348462-3788-67C5-6774-5FEB4952BC28}"/>
              </a:ext>
            </a:extLst>
          </p:cNvPr>
          <p:cNvSpPr>
            <a:spLocks/>
          </p:cNvSpPr>
          <p:nvPr/>
        </p:nvSpPr>
        <p:spPr bwMode="auto">
          <a:xfrm>
            <a:off x="5227638" y="1568450"/>
            <a:ext cx="2520950" cy="1347788"/>
          </a:xfrm>
          <a:custGeom>
            <a:avLst/>
            <a:gdLst>
              <a:gd name="T0" fmla="*/ 0 w 244"/>
              <a:gd name="T1" fmla="*/ 2147483646 h 172"/>
              <a:gd name="T2" fmla="*/ 2147483646 w 244"/>
              <a:gd name="T3" fmla="*/ 0 h 172"/>
              <a:gd name="T4" fmla="*/ 2147483646 w 244"/>
              <a:gd name="T5" fmla="*/ 2147483646 h 172"/>
              <a:gd name="T6" fmla="*/ 2147483646 w 244"/>
              <a:gd name="T7" fmla="*/ 2147483646 h 172"/>
              <a:gd name="T8" fmla="*/ 0 w 244"/>
              <a:gd name="T9" fmla="*/ 2147483646 h 1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4"/>
              <a:gd name="T16" fmla="*/ 0 h 172"/>
              <a:gd name="T17" fmla="*/ 244 w 244"/>
              <a:gd name="T18" fmla="*/ 172 h 1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4" h="172">
                <a:moveTo>
                  <a:pt x="0" y="118"/>
                </a:moveTo>
                <a:lnTo>
                  <a:pt x="94" y="0"/>
                </a:lnTo>
                <a:lnTo>
                  <a:pt x="244" y="48"/>
                </a:lnTo>
                <a:lnTo>
                  <a:pt x="140" y="172"/>
                </a:lnTo>
                <a:lnTo>
                  <a:pt x="0" y="118"/>
                </a:lnTo>
                <a:close/>
              </a:path>
            </a:pathLst>
          </a:custGeom>
          <a:solidFill>
            <a:srgbClr val="C0C0C0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4759" name="Line 14">
            <a:extLst>
              <a:ext uri="{FF2B5EF4-FFF2-40B4-BE49-F238E27FC236}">
                <a16:creationId xmlns:a16="http://schemas.microsoft.com/office/drawing/2014/main" id="{E74C73EE-376A-7F66-7924-399F61B68A4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7638" y="2492375"/>
            <a:ext cx="1760537" cy="509588"/>
          </a:xfrm>
          <a:prstGeom prst="line">
            <a:avLst/>
          </a:prstGeom>
          <a:noFill/>
          <a:ln w="38100">
            <a:solidFill>
              <a:srgbClr val="9933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60" name="Line 15">
            <a:extLst>
              <a:ext uri="{FF2B5EF4-FFF2-40B4-BE49-F238E27FC236}">
                <a16:creationId xmlns:a16="http://schemas.microsoft.com/office/drawing/2014/main" id="{507E26E8-0A4F-1CF1-1A24-BF0AD65661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26050" y="1393825"/>
            <a:ext cx="1150938" cy="1090613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>
            <a:extLst>
              <a:ext uri="{FF2B5EF4-FFF2-40B4-BE49-F238E27FC236}">
                <a16:creationId xmlns:a16="http://schemas.microsoft.com/office/drawing/2014/main" id="{C8A8DB72-D06D-0C46-2B16-2B07415B9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801688"/>
            <a:ext cx="3178175" cy="229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3" name="Rectangle 3">
            <a:extLst>
              <a:ext uri="{FF2B5EF4-FFF2-40B4-BE49-F238E27FC236}">
                <a16:creationId xmlns:a16="http://schemas.microsoft.com/office/drawing/2014/main" id="{E61B55A2-490C-6F3A-76B1-D8666236A6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en-US" altLang="en-US" sz="3200"/>
              <a:t>Developable Surfaces</a:t>
            </a:r>
          </a:p>
        </p:txBody>
      </p:sp>
      <p:sp>
        <p:nvSpPr>
          <p:cNvPr id="76804" name="Text Box 4">
            <a:extLst>
              <a:ext uri="{FF2B5EF4-FFF2-40B4-BE49-F238E27FC236}">
                <a16:creationId xmlns:a16="http://schemas.microsoft.com/office/drawing/2014/main" id="{95BB8E43-F7C7-F188-1472-9348436D0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3033713"/>
            <a:ext cx="1504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Always zero</a:t>
            </a:r>
          </a:p>
        </p:txBody>
      </p:sp>
      <p:sp>
        <p:nvSpPr>
          <p:cNvPr id="76805" name="Text Box 5">
            <a:extLst>
              <a:ext uri="{FF2B5EF4-FFF2-40B4-BE49-F238E27FC236}">
                <a16:creationId xmlns:a16="http://schemas.microsoft.com/office/drawing/2014/main" id="{251AE444-379B-5151-2993-C54AA37F1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1763" y="2522538"/>
            <a:ext cx="466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008000"/>
                </a:solidFill>
              </a:rPr>
              <a:t>0</a:t>
            </a:r>
          </a:p>
        </p:txBody>
      </p:sp>
      <p:pic>
        <p:nvPicPr>
          <p:cNvPr id="76806" name="Picture 12" descr="devcomposite1">
            <a:extLst>
              <a:ext uri="{FF2B5EF4-FFF2-40B4-BE49-F238E27FC236}">
                <a16:creationId xmlns:a16="http://schemas.microsoft.com/office/drawing/2014/main" id="{B3E9C6A3-3622-8DB4-9A1E-F2F393437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50" y="3568700"/>
            <a:ext cx="4032250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7" name="Picture 13" descr="devcomposite0">
            <a:extLst>
              <a:ext uri="{FF2B5EF4-FFF2-40B4-BE49-F238E27FC236}">
                <a16:creationId xmlns:a16="http://schemas.microsoft.com/office/drawing/2014/main" id="{1072A219-ECD0-4CE8-EDD6-1C33072B2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713" y="3733800"/>
            <a:ext cx="4186237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9E08D173-758E-4405-BFA8-58DCE6B474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en-US" altLang="en-US" sz="3200"/>
              <a:t>Ruled Surfaces</a:t>
            </a:r>
          </a:p>
        </p:txBody>
      </p:sp>
      <p:sp>
        <p:nvSpPr>
          <p:cNvPr id="78851" name="Text Box 4">
            <a:extLst>
              <a:ext uri="{FF2B5EF4-FFF2-40B4-BE49-F238E27FC236}">
                <a16:creationId xmlns:a16="http://schemas.microsoft.com/office/drawing/2014/main" id="{E5053AA4-8143-0B7C-789A-95980BBCD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" y="5407025"/>
            <a:ext cx="3308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The envelope of a line along </a:t>
            </a:r>
            <a:br>
              <a:rPr lang="en-US" altLang="en-US" sz="1800" b="1"/>
            </a:br>
            <a:r>
              <a:rPr lang="en-US" altLang="en-US" sz="1800" b="1"/>
              <a:t>a curve in space</a:t>
            </a:r>
          </a:p>
        </p:txBody>
      </p:sp>
      <p:sp>
        <p:nvSpPr>
          <p:cNvPr id="78852" name="Text Box 6">
            <a:extLst>
              <a:ext uri="{FF2B5EF4-FFF2-40B4-BE49-F238E27FC236}">
                <a16:creationId xmlns:a16="http://schemas.microsoft.com/office/drawing/2014/main" id="{4F3D1C3C-1FA4-B3A0-8DDC-BC0DEDDA3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6088" y="5407025"/>
            <a:ext cx="2393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pointwise joining of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2 curves</a:t>
            </a:r>
          </a:p>
        </p:txBody>
      </p:sp>
      <p:pic>
        <p:nvPicPr>
          <p:cNvPr id="78853" name="Picture 9">
            <a:extLst>
              <a:ext uri="{FF2B5EF4-FFF2-40B4-BE49-F238E27FC236}">
                <a16:creationId xmlns:a16="http://schemas.microsoft.com/office/drawing/2014/main" id="{F4CD4D49-CCF6-1C92-E67C-B9B26BDFD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1313"/>
            <a:ext cx="4748213" cy="356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A88D8758-A7EF-11C8-3FC7-719FC7F55F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en-US" altLang="en-US" sz="3200"/>
              <a:t>Deformed Surfaces</a:t>
            </a:r>
          </a:p>
        </p:txBody>
      </p:sp>
      <p:pic>
        <p:nvPicPr>
          <p:cNvPr id="80899" name="Picture 2">
            <a:extLst>
              <a:ext uri="{FF2B5EF4-FFF2-40B4-BE49-F238E27FC236}">
                <a16:creationId xmlns:a16="http://schemas.microsoft.com/office/drawing/2014/main" id="{8F54F813-F2A9-6A1A-BFA4-2D28F420C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740025"/>
            <a:ext cx="4572000" cy="411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0" name="Picture 3">
            <a:extLst>
              <a:ext uri="{FF2B5EF4-FFF2-40B4-BE49-F238E27FC236}">
                <a16:creationId xmlns:a16="http://schemas.microsoft.com/office/drawing/2014/main" id="{DB527BE2-3409-8A41-8AE6-D17628696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55900"/>
            <a:ext cx="4411663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9274</TotalTime>
  <Words>2690</Words>
  <Application>Microsoft Office PowerPoint</Application>
  <PresentationFormat>On-screen Show (4:3)</PresentationFormat>
  <Paragraphs>694</Paragraphs>
  <Slides>75</Slides>
  <Notes>75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0" baseType="lpstr">
      <vt:lpstr>Arial</vt:lpstr>
      <vt:lpstr>Symbol</vt:lpstr>
      <vt:lpstr>SymbolProp BT</vt:lpstr>
      <vt:lpstr>Default Design</vt:lpstr>
      <vt:lpstr>Equation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Algebras and Calculus of Numbers and Shapes</vt:lpstr>
      <vt:lpstr>Calculus</vt:lpstr>
      <vt:lpstr>Calculus</vt:lpstr>
      <vt:lpstr>Parametric Curves</vt:lpstr>
      <vt:lpstr>Parametric Curves</vt:lpstr>
      <vt:lpstr>Parametric Curves</vt:lpstr>
      <vt:lpstr>Parametric Curves</vt:lpstr>
      <vt:lpstr>Parametric Curves</vt:lpstr>
      <vt:lpstr>Parametric Curves</vt:lpstr>
      <vt:lpstr>Parametric Curves</vt:lpstr>
      <vt:lpstr>Parametric Curves</vt:lpstr>
      <vt:lpstr>Reparameterization</vt:lpstr>
      <vt:lpstr>Reparameterization</vt:lpstr>
      <vt:lpstr>Parametric Curves</vt:lpstr>
      <vt:lpstr>Parametric Curves</vt:lpstr>
      <vt:lpstr>Classic Case: The “unit speed” Helix in 3D</vt:lpstr>
      <vt:lpstr>First form: in plane deformations</vt:lpstr>
      <vt:lpstr>First form: in plane deformations</vt:lpstr>
      <vt:lpstr>First form: in plane deformations</vt:lpstr>
      <vt:lpstr>First form: in plane deformations</vt:lpstr>
      <vt:lpstr>Second fundamental form</vt:lpstr>
      <vt:lpstr>Second fundamental form</vt:lpstr>
      <vt:lpstr>Second fundamental form</vt:lpstr>
      <vt:lpstr>Second fundamental form</vt:lpstr>
      <vt:lpstr>Principle directions</vt:lpstr>
      <vt:lpstr>Bi- directions</vt:lpstr>
      <vt:lpstr>Gaussian curvature</vt:lpstr>
      <vt:lpstr>Principle directions</vt:lpstr>
      <vt:lpstr>Gaussian Curvature: Definition and meaning #1</vt:lpstr>
      <vt:lpstr>Curvature Sign characteristics</vt:lpstr>
      <vt:lpstr>Gaussian Curvature: Definition and meaning #1</vt:lpstr>
      <vt:lpstr>Gaussian Curvature: Definition and meaning #1</vt:lpstr>
      <vt:lpstr>Gaussian Curvature: Definition and meaning #1</vt:lpstr>
      <vt:lpstr>Gaussian Curvature</vt:lpstr>
      <vt:lpstr>Gaussian Curvature</vt:lpstr>
      <vt:lpstr>Gaussian Curvature</vt:lpstr>
      <vt:lpstr>Interpretations of  positive and negative gaussian curvature</vt:lpstr>
      <vt:lpstr>Gaussian curvature: Definition and Meaning #2</vt:lpstr>
      <vt:lpstr>Gaussian curvature: Definition and Meaning #2</vt:lpstr>
      <vt:lpstr>Gaussian curvature: Definition and Meaning #2</vt:lpstr>
      <vt:lpstr>Interpretations of  positive and negative gaussian curvature</vt:lpstr>
      <vt:lpstr>Gaussian curvature: Definition and Meaning #2</vt:lpstr>
      <vt:lpstr>Special note on negative curvature surfaces</vt:lpstr>
      <vt:lpstr>Special note on negative curvature surfaces</vt:lpstr>
      <vt:lpstr>Ruled Surfaces</vt:lpstr>
      <vt:lpstr>Developable Surfaces</vt:lpstr>
      <vt:lpstr>Gaussian curvature: Definition and Meaning #2</vt:lpstr>
      <vt:lpstr>Developable Surfaces</vt:lpstr>
      <vt:lpstr>Developable Surfaces</vt:lpstr>
      <vt:lpstr>Developable Surface Types</vt:lpstr>
      <vt:lpstr>Developable Surfaces</vt:lpstr>
      <vt:lpstr>Ruled Surfaces</vt:lpstr>
      <vt:lpstr>Deformed Surfaces</vt:lpstr>
    </vt:vector>
  </TitlesOfParts>
  <Company>Gehry Technologies,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System Administrator</dc:creator>
  <cp:lastModifiedBy>Shelden, Dennis Robert</cp:lastModifiedBy>
  <cp:revision>152</cp:revision>
  <dcterms:created xsi:type="dcterms:W3CDTF">2005-12-03T23:42:03Z</dcterms:created>
  <dcterms:modified xsi:type="dcterms:W3CDTF">2026-02-24T16:42:17Z</dcterms:modified>
</cp:coreProperties>
</file>