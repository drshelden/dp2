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5" r:id="rId2"/>
    <p:sldId id="287" r:id="rId3"/>
    <p:sldId id="288" r:id="rId4"/>
    <p:sldId id="296" r:id="rId5"/>
    <p:sldId id="297" r:id="rId6"/>
    <p:sldId id="289" r:id="rId7"/>
    <p:sldId id="299" r:id="rId8"/>
    <p:sldId id="291" r:id="rId9"/>
    <p:sldId id="293" r:id="rId10"/>
    <p:sldId id="292" r:id="rId11"/>
    <p:sldId id="294" r:id="rId12"/>
    <p:sldId id="295" r:id="rId13"/>
    <p:sldId id="298" r:id="rId14"/>
    <p:sldId id="300" r:id="rId15"/>
    <p:sldId id="301" r:id="rId16"/>
    <p:sldId id="30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FFF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08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59E53E-DFF5-4F15-B4C8-D56550F347A2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4A3E1-1EB7-4AC9-8368-CCF859F812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372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2EEC6-6EB1-0BA5-2BE0-BD259C0BB2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3D22AA-DF88-A9B1-90E8-25DB354BDE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E7F5F-F832-5995-F295-A27977EB6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C7FF1-2989-456F-8CD9-061F5D4C1D5B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FB75C-F8AF-8B81-C695-CA6AC98F0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584AE-AB41-0A80-1AA0-5FA836A72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7229A-1F37-4A61-970B-6EDE413C8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92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B8D5F-4EB0-F620-2BF6-5B44E0B5C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25BE9-F226-3DEF-59D8-DE5EB04B9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C9EFC-00AA-A290-AE1D-B92602D32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C7FF1-2989-456F-8CD9-061F5D4C1D5B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2AC30F-060C-AC79-8DDD-2DE98963D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6AF4E-CE8B-6526-0FCF-4917C95A3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7229A-1F37-4A61-970B-6EDE413C8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99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93D6C-A3CA-3224-3722-FE2412178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EDD4B-9BD2-EA23-54D8-98BF2E8B6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906E2-1914-0802-84A5-6798CDAEF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C7FF1-2989-456F-8CD9-061F5D4C1D5B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93854D-D2ED-CFEC-AFF3-A5DA4C7CE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59FDB-5D0D-C551-147C-B45264BB3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7229A-1F37-4A61-970B-6EDE413C8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959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FAAFC-3000-8435-CA62-884EC1148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69DA5-C6E3-A2E2-D8D0-05E94B158F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530784-9662-422E-3ACF-B7EDEA931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8F893-58F1-7805-D70C-F5F34F985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C7FF1-2989-456F-8CD9-061F5D4C1D5B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DE29D5-99B3-FC11-61B7-E70FDE861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25C53F-A802-5C44-B6A7-937356CA5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7229A-1F37-4A61-970B-6EDE413C8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651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53602-6989-7756-CE4D-00C262D2B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44AC5-1169-A78D-2988-86EBE07FE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D11594-0192-4B7B-E7FD-9C95F3117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3A00FF-3347-E924-0507-DCB7BA89A9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C7F9CE-8ED6-BA68-499C-87A68A12E8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C7E2E9-AE2D-0A0E-5741-B2A2C6BF1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C7FF1-2989-456F-8CD9-061F5D4C1D5B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4FE7CB-7C7B-71A2-0582-64A70E6A6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B56FAC-137E-5220-77C2-5793D38E9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7229A-1F37-4A61-970B-6EDE413C8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046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AA2E3-BEA1-520C-365D-3F0B28841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9FDCEC-CB56-A981-F690-C6ACECCF5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C7FF1-2989-456F-8CD9-061F5D4C1D5B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A4AE5F-DA60-4C39-F294-2D098C6C7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64C205-66AA-DBFB-6F14-61CFCD073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7229A-1F37-4A61-970B-6EDE413C8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86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D6965D-48D7-F8AC-3A1E-75FBFF75F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C7FF1-2989-456F-8CD9-061F5D4C1D5B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B8A4AE-B2D8-A1E8-F5F4-45D5084C7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2A06D-1878-ECF5-ED56-50E8E342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7229A-1F37-4A61-970B-6EDE413C8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798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E0A4-F80A-BECE-0492-1004D40A9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337EE-F8C3-05FA-C3A8-964ACD821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564BE4-A5EE-7D2D-996A-4644BD1F5D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5290BA-0E94-D00F-BA71-AD1A9DC15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C7FF1-2989-456F-8CD9-061F5D4C1D5B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761214-F34C-0D5E-DC56-094AF678C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EF039-F653-D57C-CE9E-9AF9D6757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7229A-1F37-4A61-970B-6EDE413C8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363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C4566-B1C2-467A-DAF4-FF07F5895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85F945-83E1-03F9-8BF0-27CAED50CB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6BCF49-333F-929E-12CE-0806B74840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3B7FC9-079B-846B-82BD-E456E2700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C7FF1-2989-456F-8CD9-061F5D4C1D5B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F3287-A32F-838C-11C5-788D04B95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E5DF51-AEC3-7E3A-20F2-824236303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7229A-1F37-4A61-970B-6EDE413C8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84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C9A8F-B9FB-54EE-EF19-2DB4C6738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285AA2-88FB-0B2D-A920-1F3A059D75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C8C7A-EBA7-B2D5-9353-E4396A2AA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C7FF1-2989-456F-8CD9-061F5D4C1D5B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4F68-CA65-48E0-5D89-C67ACC030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792F26-5640-AD65-A200-5377D935A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7229A-1F37-4A61-970B-6EDE413C8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225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E1B7E5-F058-5486-0A2A-4388F0A6D2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894323-3456-E862-A301-C21FFCD310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5C096E-0414-7AF4-61BB-6252DCE7B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5C7FF1-2989-456F-8CD9-061F5D4C1D5B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1F7E6-7AB1-B2C6-D5E3-18D0E849D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DA893-A387-0E61-0398-F8F806FB2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17229A-1F37-4A61-970B-6EDE413C8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712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17157B-5CB8-470A-60B7-A7DBFDCD0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A84F8-F795-1D33-05AF-3E3C57C6D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984265-045C-00B4-DC5E-02C61C7A5F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5C7FF1-2989-456F-8CD9-061F5D4C1D5B}" type="datetimeFigureOut">
              <a:rPr lang="en-US" smtClean="0"/>
              <a:t>2/26/2025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30D87-930C-003E-5302-89DFAF41A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7C5CF-A376-6676-A296-E38295413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17229A-1F37-4A61-970B-6EDE413C80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557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8CE67-024A-4639-E02E-DFEA409C5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0973" cy="800735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Advanced Design Scripting &amp; Parametrics – </a:t>
            </a:r>
            <a:br>
              <a:rPr lang="en-US" dirty="0"/>
            </a:br>
            <a:r>
              <a:rPr lang="en-US" dirty="0"/>
              <a:t>Class 07 – Meshes and BREPs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1FEFBD-4C7C-FF57-62E8-CF9F43C9D6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266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8CE67-024A-4639-E02E-DFEA409C5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0735"/>
          </a:xfrm>
        </p:spPr>
        <p:txBody>
          <a:bodyPr/>
          <a:lstStyle/>
          <a:p>
            <a:r>
              <a:rPr lang="en-US" dirty="0"/>
              <a:t>Today – key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48D96-004F-6DE9-F64C-3762EAB4D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5860"/>
            <a:ext cx="10515600" cy="5011103"/>
          </a:xfrm>
        </p:spPr>
        <p:txBody>
          <a:bodyPr>
            <a:normAutofit/>
          </a:bodyPr>
          <a:lstStyle/>
          <a:p>
            <a:r>
              <a:rPr lang="en-US" dirty="0"/>
              <a:t>Meshes</a:t>
            </a:r>
          </a:p>
          <a:p>
            <a:r>
              <a:rPr lang="en-US" dirty="0"/>
              <a:t>Boundary Representations (BREPS)</a:t>
            </a:r>
          </a:p>
          <a:p>
            <a:r>
              <a:rPr lang="en-US" dirty="0"/>
              <a:t>Surface curvature if we have time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157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DE11F-EBE1-D8B8-75D8-33B1D6B90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52CC0-B993-257B-E0EE-607BDA2DF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0735"/>
          </a:xfrm>
        </p:spPr>
        <p:txBody>
          <a:bodyPr/>
          <a:lstStyle/>
          <a:p>
            <a:r>
              <a:rPr lang="en-US" dirty="0"/>
              <a:t>Meshes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B3628-5E67-B524-A8A6-A863D9675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5860"/>
            <a:ext cx="7370852" cy="50111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Meshes are collections of triangles (and sometimes “quads”), assembled into contiguous closed or open configurations.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Several triangles can share a common vertex, so there are efficient ways of making these references between triangles and vertices.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Vertices can have additional information, including:</a:t>
            </a:r>
          </a:p>
          <a:p>
            <a:r>
              <a:rPr lang="en-US" sz="2000" dirty="0"/>
              <a:t> Color</a:t>
            </a:r>
          </a:p>
          <a:p>
            <a:r>
              <a:rPr lang="en-US" sz="2000" dirty="0"/>
              <a:t>Effective normal</a:t>
            </a:r>
          </a:p>
          <a:p>
            <a:r>
              <a:rPr lang="en-US" sz="2000" dirty="0"/>
              <a:t>Positioning in 2D texture space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27A90A-8F91-E672-BFF8-495C91FAB15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9DA3AA"/>
              </a:clrFrom>
              <a:clrTo>
                <a:srgbClr val="9DA3A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25594" y="1073149"/>
            <a:ext cx="4366406" cy="4481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563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EA5C2-A618-ECE0-D035-6CB5FABF8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93F0CAD0-24B2-B141-1D35-A2FF79F8A15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9DA3AA"/>
              </a:clrFrom>
              <a:clrTo>
                <a:srgbClr val="9DA3A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0"/>
            <a:ext cx="5372594" cy="50259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53A193-0F33-7888-86D7-39B53A2C2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7550" y="365125"/>
            <a:ext cx="5556250" cy="498475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Mesh elements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849D74-DB55-7DE5-BBBB-B830B42DA043}"/>
              </a:ext>
            </a:extLst>
          </p:cNvPr>
          <p:cNvSpPr txBox="1"/>
          <p:nvPr/>
        </p:nvSpPr>
        <p:spPr>
          <a:xfrm>
            <a:off x="5797550" y="1047750"/>
            <a:ext cx="5638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Comprised of: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b="1" dirty="0"/>
              <a:t>Vertices</a:t>
            </a:r>
            <a:r>
              <a:rPr lang="en-US" dirty="0"/>
              <a:t> – each has:</a:t>
            </a:r>
            <a:endParaRPr lang="en-US" b="1" dirty="0"/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dirty="0"/>
              <a:t>an </a:t>
            </a:r>
            <a:r>
              <a:rPr lang="en-US" b="1" i="1" dirty="0"/>
              <a:t>index</a:t>
            </a:r>
            <a:r>
              <a:rPr lang="en-US" dirty="0"/>
              <a:t> (integer) corresponding to its index in </a:t>
            </a:r>
            <a:br>
              <a:rPr lang="en-US" dirty="0"/>
            </a:br>
            <a:r>
              <a:rPr lang="en-US" dirty="0"/>
              <a:t>the vertex array</a:t>
            </a:r>
          </a:p>
          <a:p>
            <a:pPr lvl="1">
              <a:tabLst>
                <a:tab pos="228600" algn="l"/>
              </a:tabLst>
            </a:pPr>
            <a:r>
              <a:rPr lang="en-US" dirty="0"/>
              <a:t>and optionally: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dirty="0"/>
              <a:t>A </a:t>
            </a:r>
            <a:r>
              <a:rPr lang="en-US" b="1" i="1" dirty="0"/>
              <a:t>normal</a:t>
            </a:r>
            <a:r>
              <a:rPr lang="en-US" dirty="0"/>
              <a:t> (Vector3f)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dirty="0"/>
              <a:t>A </a:t>
            </a:r>
            <a:r>
              <a:rPr lang="en-US" b="1" i="1" dirty="0"/>
              <a:t>texture coordinate</a:t>
            </a:r>
            <a:r>
              <a:rPr lang="en-US" dirty="0"/>
              <a:t> (Point2f)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dirty="0"/>
              <a:t>A </a:t>
            </a:r>
            <a:r>
              <a:rPr lang="en-US" b="1" i="1" dirty="0"/>
              <a:t>color </a:t>
            </a:r>
            <a:r>
              <a:rPr lang="en-US" dirty="0"/>
              <a:t>(Color)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b="1" dirty="0"/>
              <a:t>Faces </a:t>
            </a:r>
            <a:r>
              <a:rPr lang="en-US" dirty="0"/>
              <a:t> - each has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dirty="0"/>
              <a:t>4 vertex </a:t>
            </a:r>
            <a:r>
              <a:rPr lang="en-US" b="1" i="1" dirty="0"/>
              <a:t>indices</a:t>
            </a:r>
            <a:r>
              <a:rPr lang="en-US" dirty="0"/>
              <a:t> A, B, C, D (integers), </a:t>
            </a:r>
            <a:br>
              <a:rPr lang="en-US" dirty="0"/>
            </a:br>
            <a:r>
              <a:rPr lang="en-US" dirty="0"/>
              <a:t>where the C and D can be duplicates</a:t>
            </a:r>
            <a:br>
              <a:rPr lang="en-US" dirty="0"/>
            </a:br>
            <a:r>
              <a:rPr lang="en-US" dirty="0"/>
              <a:t>can  be duplicates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dirty="0"/>
              <a:t>An implied surface </a:t>
            </a:r>
            <a:r>
              <a:rPr lang="en-US" b="1" i="1" dirty="0"/>
              <a:t>normal </a:t>
            </a:r>
            <a:r>
              <a:rPr lang="en-US" dirty="0"/>
              <a:t>(Vector3f), with a direction “pointing out” defined by the cross product of the vectors AB and BC</a:t>
            </a:r>
          </a:p>
          <a:p>
            <a:pPr marL="285750" indent="-285750"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b="1" dirty="0"/>
              <a:t>Edges </a:t>
            </a:r>
            <a:r>
              <a:rPr lang="en-US" dirty="0"/>
              <a:t>– implied, which can be: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dirty="0"/>
              <a:t>Internal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dirty="0"/>
              <a:t>“Naked”</a:t>
            </a:r>
          </a:p>
          <a:p>
            <a:pPr marL="742950" lvl="1" indent="-285750">
              <a:buFont typeface="Arial" panose="020B0604020202020204" pitchFamily="34" charset="0"/>
              <a:buChar char="•"/>
              <a:tabLst>
                <a:tab pos="228600" algn="l"/>
              </a:tabLst>
            </a:pPr>
            <a:r>
              <a:rPr lang="en-US" dirty="0"/>
              <a:t>Non-manifold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761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F23EB-6D29-F8EF-3D84-5B27DB370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E1C0DD1B-3E71-D336-AA53-BB662912007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9DA3AA"/>
              </a:clrFrom>
              <a:clrTo>
                <a:srgbClr val="9DA3A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0"/>
            <a:ext cx="5372594" cy="50259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3FFAC6-E622-1492-520A-90269CEFB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7550" y="365125"/>
            <a:ext cx="5556250" cy="498475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Mesh elements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569EF9-EC19-CBBA-75A4-C29CD15E26F3}"/>
              </a:ext>
            </a:extLst>
          </p:cNvPr>
          <p:cNvSpPr txBox="1"/>
          <p:nvPr/>
        </p:nvSpPr>
        <p:spPr>
          <a:xfrm>
            <a:off x="5797550" y="1047750"/>
            <a:ext cx="5638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 mesh can be: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Closed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Non-manifold (almost never is)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942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CBA3D0F-7EC0-CB97-7E91-A018F8B4D92E}"/>
              </a:ext>
            </a:extLst>
          </p:cNvPr>
          <p:cNvSpPr/>
          <p:nvPr/>
        </p:nvSpPr>
        <p:spPr>
          <a:xfrm>
            <a:off x="6220234" y="1972310"/>
            <a:ext cx="2213780" cy="228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B719A6-44AD-60E9-8181-FF3C9AFA06A1}"/>
              </a:ext>
            </a:extLst>
          </p:cNvPr>
          <p:cNvSpPr/>
          <p:nvPr/>
        </p:nvSpPr>
        <p:spPr>
          <a:xfrm>
            <a:off x="6220234" y="3869690"/>
            <a:ext cx="2213780" cy="2286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1C77DDC-59AB-3DAD-7BED-0CC8A626422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E9EBEF"/>
              </a:clrFrom>
              <a:clrTo>
                <a:srgbClr val="E9EBEF">
                  <a:alpha val="0"/>
                </a:srgbClr>
              </a:clrTo>
            </a:clrChange>
          </a:blip>
          <a:srcRect l="2663"/>
          <a:stretch/>
        </p:blipFill>
        <p:spPr>
          <a:xfrm>
            <a:off x="6060214" y="548845"/>
            <a:ext cx="2373800" cy="615400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917D102-DC5D-8587-AD17-204CA12F3E8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DA3AA"/>
              </a:clrFrom>
              <a:clrTo>
                <a:srgbClr val="9DA3A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0"/>
            <a:ext cx="5372594" cy="5025975"/>
          </a:xfrm>
          <a:prstGeom prst="rect">
            <a:avLst/>
          </a:prstGeom>
        </p:spPr>
      </p:pic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9DCCF252-CBE1-183C-2BED-3690D17AE39B}"/>
              </a:ext>
            </a:extLst>
          </p:cNvPr>
          <p:cNvSpPr/>
          <p:nvPr/>
        </p:nvSpPr>
        <p:spPr>
          <a:xfrm>
            <a:off x="944880" y="754380"/>
            <a:ext cx="2400300" cy="2606040"/>
          </a:xfrm>
          <a:custGeom>
            <a:avLst/>
            <a:gdLst>
              <a:gd name="connsiteX0" fmla="*/ 2400300 w 2400300"/>
              <a:gd name="connsiteY0" fmla="*/ 0 h 2606040"/>
              <a:gd name="connsiteX1" fmla="*/ 22860 w 2400300"/>
              <a:gd name="connsiteY1" fmla="*/ 121920 h 2606040"/>
              <a:gd name="connsiteX2" fmla="*/ 0 w 2400300"/>
              <a:gd name="connsiteY2" fmla="*/ 2606040 h 2606040"/>
              <a:gd name="connsiteX3" fmla="*/ 1889760 w 2400300"/>
              <a:gd name="connsiteY3" fmla="*/ 464820 h 2606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606040">
                <a:moveTo>
                  <a:pt x="2400300" y="0"/>
                </a:moveTo>
                <a:lnTo>
                  <a:pt x="22860" y="121920"/>
                </a:lnTo>
                <a:lnTo>
                  <a:pt x="0" y="2606040"/>
                </a:lnTo>
                <a:lnTo>
                  <a:pt x="1889760" y="464820"/>
                </a:lnTo>
              </a:path>
            </a:pathLst>
          </a:custGeom>
          <a:noFill/>
          <a:ln>
            <a:solidFill>
              <a:srgbClr val="0070C0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220D8099-4437-B9CE-5A00-1BA48DED5415}"/>
              </a:ext>
            </a:extLst>
          </p:cNvPr>
          <p:cNvSpPr/>
          <p:nvPr/>
        </p:nvSpPr>
        <p:spPr>
          <a:xfrm>
            <a:off x="1242060" y="1005840"/>
            <a:ext cx="2674620" cy="2781300"/>
          </a:xfrm>
          <a:custGeom>
            <a:avLst/>
            <a:gdLst>
              <a:gd name="connsiteX0" fmla="*/ 2468880 w 2674620"/>
              <a:gd name="connsiteY0" fmla="*/ 0 h 2781300"/>
              <a:gd name="connsiteX1" fmla="*/ 0 w 2674620"/>
              <a:gd name="connsiteY1" fmla="*/ 2781300 h 2781300"/>
              <a:gd name="connsiteX2" fmla="*/ 2674620 w 2674620"/>
              <a:gd name="connsiteY2" fmla="*/ 2712720 h 2781300"/>
              <a:gd name="connsiteX3" fmla="*/ 2423160 w 2674620"/>
              <a:gd name="connsiteY3" fmla="*/ 541020 h 2781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74620" h="2781300">
                <a:moveTo>
                  <a:pt x="2468880" y="0"/>
                </a:moveTo>
                <a:lnTo>
                  <a:pt x="0" y="2781300"/>
                </a:lnTo>
                <a:lnTo>
                  <a:pt x="2674620" y="2712720"/>
                </a:lnTo>
                <a:lnTo>
                  <a:pt x="2423160" y="541020"/>
                </a:lnTo>
              </a:path>
            </a:pathLst>
          </a:custGeom>
          <a:noFill/>
          <a:ln>
            <a:solidFill>
              <a:srgbClr val="0070C0"/>
            </a:solidFill>
            <a:headEnd w="lg" len="lg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CA011120-6893-874F-87D6-8FD38DC24B55}"/>
              </a:ext>
            </a:extLst>
          </p:cNvPr>
          <p:cNvCxnSpPr>
            <a:cxnSpLocks/>
          </p:cNvCxnSpPr>
          <p:nvPr/>
        </p:nvCxnSpPr>
        <p:spPr>
          <a:xfrm flipV="1">
            <a:off x="1760220" y="327660"/>
            <a:ext cx="0" cy="131826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3B37E47-934A-CA8C-CC4D-10E812BA6AE6}"/>
              </a:ext>
            </a:extLst>
          </p:cNvPr>
          <p:cNvCxnSpPr>
            <a:cxnSpLocks/>
          </p:cNvCxnSpPr>
          <p:nvPr/>
        </p:nvCxnSpPr>
        <p:spPr>
          <a:xfrm flipV="1">
            <a:off x="3116580" y="1194727"/>
            <a:ext cx="0" cy="131826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Picture 31">
            <a:extLst>
              <a:ext uri="{FF2B5EF4-FFF2-40B4-BE49-F238E27FC236}">
                <a16:creationId xmlns:a16="http://schemas.microsoft.com/office/drawing/2014/main" id="{67029CE5-34CE-C0ED-7532-CECCBC2BF46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E9EBEF"/>
              </a:clrFrom>
              <a:clrTo>
                <a:srgbClr val="E9EBEF">
                  <a:alpha val="0"/>
                </a:srgbClr>
              </a:clrTo>
            </a:clrChange>
          </a:blip>
          <a:srcRect l="1878"/>
          <a:stretch/>
        </p:blipFill>
        <p:spPr>
          <a:xfrm>
            <a:off x="8883650" y="548845"/>
            <a:ext cx="3308991" cy="2333951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EFDFBC06-1163-B831-0729-4A795704D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0707" y="78422"/>
            <a:ext cx="5556250" cy="498475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AnalyzeMesh.py</a:t>
            </a:r>
          </a:p>
        </p:txBody>
      </p:sp>
    </p:spTree>
    <p:extLst>
      <p:ext uri="{BB962C8B-B14F-4D97-AF65-F5344CB8AC3E}">
        <p14:creationId xmlns:p14="http://schemas.microsoft.com/office/powerpoint/2010/main" val="1641163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654E-8608-932D-54C3-2D13DF49F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59490FB2-2375-95C9-9F98-523282F11FC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9DA3AA"/>
              </a:clrFrom>
              <a:clrTo>
                <a:srgbClr val="9DA3A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0"/>
            <a:ext cx="5372594" cy="5025975"/>
          </a:xfrm>
          <a:prstGeom prst="rect">
            <a:avLst/>
          </a:prstGeom>
        </p:spPr>
      </p:pic>
      <p:sp>
        <p:nvSpPr>
          <p:cNvPr id="33" name="Title 1">
            <a:extLst>
              <a:ext uri="{FF2B5EF4-FFF2-40B4-BE49-F238E27FC236}">
                <a16:creationId xmlns:a16="http://schemas.microsoft.com/office/drawing/2014/main" id="{D8C9F83A-FA5A-382B-1CAF-F75637D62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0707" y="78422"/>
            <a:ext cx="5556250" cy="498475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AnalyzeMesh.gh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7A59B6-DC04-2506-8DB4-BDE4929E0B8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D4D0C8"/>
              </a:clrFrom>
              <a:clrTo>
                <a:srgbClr val="D4D0C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00807" y="896698"/>
            <a:ext cx="6793551" cy="453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5314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1EE7784-E3B7-E395-2B1F-2448D9A37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62514"/>
            <a:ext cx="2376492" cy="649372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1EBF9C1-DE7A-00E9-91AE-2E226F1833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729"/>
          <a:stretch/>
        </p:blipFill>
        <p:spPr>
          <a:xfrm>
            <a:off x="2349504" y="306155"/>
            <a:ext cx="2628896" cy="655184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64C928F-E9CA-85F4-30ED-242547A6CA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7589" y="0"/>
            <a:ext cx="2376822" cy="6858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B4B0868-FA5D-60F5-CD7C-9E0860C19E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5034" y="0"/>
            <a:ext cx="2192931" cy="6858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402C1DD-13C1-38C0-88ED-2957B98F39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1045" y="306155"/>
            <a:ext cx="2391109" cy="5420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804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8ECC5-3BA9-13AC-6CC3-B3C109D14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8A3335-D5C3-CBEC-AD8B-3CBFC894CAB3}"/>
              </a:ext>
            </a:extLst>
          </p:cNvPr>
          <p:cNvSpPr/>
          <p:nvPr/>
        </p:nvSpPr>
        <p:spPr>
          <a:xfrm>
            <a:off x="255186" y="2240518"/>
            <a:ext cx="2213780" cy="26773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10BB313-5E10-C434-383F-5BCDA88C592A}"/>
              </a:ext>
            </a:extLst>
          </p:cNvPr>
          <p:cNvGrpSpPr/>
          <p:nvPr/>
        </p:nvGrpSpPr>
        <p:grpSpPr>
          <a:xfrm>
            <a:off x="3403731" y="306155"/>
            <a:ext cx="2362530" cy="6387043"/>
            <a:chOff x="317335" y="306155"/>
            <a:chExt cx="2362530" cy="638704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A55599C-C3E8-15E1-4A56-1AAC4574F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7335" y="306155"/>
              <a:ext cx="2362530" cy="3324689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5570C47-192E-DA4A-10BF-6E6A4376BE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1846" y="3149403"/>
              <a:ext cx="1667108" cy="281979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DB71370-0D4C-0D0F-7F4C-56E21F9126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2767" y="5969197"/>
              <a:ext cx="1905266" cy="724001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4597E6FC-0B2C-56CE-7C67-322CC11A6D0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11174"/>
          <a:stretch/>
        </p:blipFill>
        <p:spPr>
          <a:xfrm>
            <a:off x="199603" y="658529"/>
            <a:ext cx="2386055" cy="459395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6A540B5-56C6-5E63-4FB0-EFE0DAE4C196}"/>
              </a:ext>
            </a:extLst>
          </p:cNvPr>
          <p:cNvSpPr txBox="1"/>
          <p:nvPr/>
        </p:nvSpPr>
        <p:spPr>
          <a:xfrm>
            <a:off x="255186" y="301505"/>
            <a:ext cx="232095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Mesh Geometries</a:t>
            </a:r>
          </a:p>
        </p:txBody>
      </p:sp>
    </p:spTree>
    <p:extLst>
      <p:ext uri="{BB962C8B-B14F-4D97-AF65-F5344CB8AC3E}">
        <p14:creationId xmlns:p14="http://schemas.microsoft.com/office/powerpoint/2010/main" val="490537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ED398-E946-FB7D-189E-B2163D1F0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7407B0C-8630-A2FB-B010-6786643326BA}"/>
              </a:ext>
            </a:extLst>
          </p:cNvPr>
          <p:cNvSpPr/>
          <p:nvPr/>
        </p:nvSpPr>
        <p:spPr>
          <a:xfrm>
            <a:off x="247328" y="2174598"/>
            <a:ext cx="2213780" cy="784502"/>
          </a:xfrm>
          <a:prstGeom prst="rect">
            <a:avLst/>
          </a:prstGeom>
          <a:solidFill>
            <a:srgbClr val="FFFF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BA0FA70-6B78-EB86-EB73-6544D6225BA5}"/>
              </a:ext>
            </a:extLst>
          </p:cNvPr>
          <p:cNvGrpSpPr>
            <a:grpSpLocks noChangeAspect="1"/>
          </p:cNvGrpSpPr>
          <p:nvPr/>
        </p:nvGrpSpPr>
        <p:grpSpPr>
          <a:xfrm>
            <a:off x="3307822" y="306155"/>
            <a:ext cx="2581638" cy="6551845"/>
            <a:chOff x="3266850" y="306155"/>
            <a:chExt cx="2924583" cy="742219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0C19687-BB82-284B-AC1E-17BE3620D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08166" y="306155"/>
              <a:ext cx="2629267" cy="1762371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B4EA9E0-71B8-E8F8-6F39-9C4A25BD5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66850" y="1850602"/>
              <a:ext cx="2924583" cy="5877745"/>
            </a:xfrm>
            <a:prstGeom prst="rect">
              <a:avLst/>
            </a:prstGeom>
          </p:spPr>
        </p:pic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7E0040C-E46D-C677-4515-5D4B81A2E0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2231" y="306155"/>
            <a:ext cx="2686425" cy="43154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3EC79DA-A4DA-6438-8F79-9BE943E07A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071" y="315681"/>
            <a:ext cx="2257740" cy="4305901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B895816-122F-247B-C0F6-0924514CAFB5}"/>
              </a:ext>
            </a:extLst>
          </p:cNvPr>
          <p:cNvSpPr/>
          <p:nvPr/>
        </p:nvSpPr>
        <p:spPr>
          <a:xfrm>
            <a:off x="4228476" y="1210931"/>
            <a:ext cx="1145074" cy="23509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Point3f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AE7C705-E281-9441-755D-B3E8F86DB98E}"/>
              </a:ext>
            </a:extLst>
          </p:cNvPr>
          <p:cNvSpPr/>
          <p:nvPr/>
        </p:nvSpPr>
        <p:spPr>
          <a:xfrm>
            <a:off x="7212675" y="1342657"/>
            <a:ext cx="1145074" cy="23509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Color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6D7D334-084A-3989-1147-4E92277DB913}"/>
              </a:ext>
            </a:extLst>
          </p:cNvPr>
          <p:cNvSpPr/>
          <p:nvPr/>
        </p:nvSpPr>
        <p:spPr>
          <a:xfrm>
            <a:off x="10182705" y="1328481"/>
            <a:ext cx="1145074" cy="23509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Vector3f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70F9EB-E720-AB01-F9C5-0634221A2053}"/>
              </a:ext>
            </a:extLst>
          </p:cNvPr>
          <p:cNvSpPr txBox="1"/>
          <p:nvPr/>
        </p:nvSpPr>
        <p:spPr>
          <a:xfrm>
            <a:off x="255186" y="301505"/>
            <a:ext cx="2320952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</a:rPr>
              <a:t>Mesh Collections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A950FEB-3B23-10E7-0E33-667B855E7382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751"/>
          <a:stretch/>
        </p:blipFill>
        <p:spPr>
          <a:xfrm>
            <a:off x="247328" y="670837"/>
            <a:ext cx="2333951" cy="255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2307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8B19F5-2460-0DA6-73FC-86900A832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8475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OBJ Definition (“1 Ordered”)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958CC7E-F3AF-20F9-3149-3DBFEFC0601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9DA3AA"/>
              </a:clrFrom>
              <a:clrTo>
                <a:srgbClr val="9DA3A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863601"/>
            <a:ext cx="4564380" cy="42699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18E04A7-76B8-7919-306E-77B64337B5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72735"/>
            <a:ext cx="3095105" cy="468123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5055E72-4598-1D3C-0DE3-753665687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4852" y="1072736"/>
            <a:ext cx="2932205" cy="232347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632AACE-48C1-07B7-8F7D-52405A818CA0}"/>
              </a:ext>
            </a:extLst>
          </p:cNvPr>
          <p:cNvSpPr txBox="1"/>
          <p:nvPr/>
        </p:nvSpPr>
        <p:spPr>
          <a:xfrm>
            <a:off x="6035039" y="703403"/>
            <a:ext cx="1958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/>
                </a:solidFill>
              </a:rPr>
              <a:t>.OBJ file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273DAE2-B892-F54D-D022-11156EBF21B6}"/>
              </a:ext>
            </a:extLst>
          </p:cNvPr>
          <p:cNvSpPr txBox="1"/>
          <p:nvPr/>
        </p:nvSpPr>
        <p:spPr>
          <a:xfrm>
            <a:off x="9239744" y="703403"/>
            <a:ext cx="1958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/>
                </a:solidFill>
              </a:rPr>
              <a:t>.MTL file</a:t>
            </a:r>
            <a:endParaRPr lang="en-US" dirty="0"/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46147A46-7B5B-BD36-0605-1553DDB879EA}"/>
              </a:ext>
            </a:extLst>
          </p:cNvPr>
          <p:cNvSpPr/>
          <p:nvPr/>
        </p:nvSpPr>
        <p:spPr>
          <a:xfrm>
            <a:off x="5735853" y="2179320"/>
            <a:ext cx="299186" cy="899160"/>
          </a:xfrm>
          <a:prstGeom prst="leftBrace">
            <a:avLst>
              <a:gd name="adj1" fmla="val 28231"/>
              <a:gd name="adj2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C3A349-C8A7-75F1-3CD4-9FDECF41E103}"/>
              </a:ext>
            </a:extLst>
          </p:cNvPr>
          <p:cNvSpPr txBox="1"/>
          <p:nvPr/>
        </p:nvSpPr>
        <p:spPr>
          <a:xfrm rot="16200000">
            <a:off x="5073134" y="2444234"/>
            <a:ext cx="914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vertices</a:t>
            </a:r>
          </a:p>
        </p:txBody>
      </p:sp>
      <p:sp>
        <p:nvSpPr>
          <p:cNvPr id="22" name="Left Brace 21">
            <a:extLst>
              <a:ext uri="{FF2B5EF4-FFF2-40B4-BE49-F238E27FC236}">
                <a16:creationId xmlns:a16="http://schemas.microsoft.com/office/drawing/2014/main" id="{CF26617F-281B-63B1-3D8A-09FF08758E47}"/>
              </a:ext>
            </a:extLst>
          </p:cNvPr>
          <p:cNvSpPr/>
          <p:nvPr/>
        </p:nvSpPr>
        <p:spPr>
          <a:xfrm>
            <a:off x="5735853" y="3233420"/>
            <a:ext cx="299186" cy="899160"/>
          </a:xfrm>
          <a:prstGeom prst="leftBrace">
            <a:avLst>
              <a:gd name="adj1" fmla="val 28231"/>
              <a:gd name="adj2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DFF6011-DE29-8AF8-392E-C566089EF583}"/>
              </a:ext>
            </a:extLst>
          </p:cNvPr>
          <p:cNvSpPr txBox="1"/>
          <p:nvPr/>
        </p:nvSpPr>
        <p:spPr>
          <a:xfrm rot="16200000">
            <a:off x="5099392" y="3498334"/>
            <a:ext cx="8624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texture</a:t>
            </a:r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DE203150-655D-E2FC-6F26-CBB6D4C49491}"/>
              </a:ext>
            </a:extLst>
          </p:cNvPr>
          <p:cNvSpPr/>
          <p:nvPr/>
        </p:nvSpPr>
        <p:spPr>
          <a:xfrm>
            <a:off x="5735853" y="4279601"/>
            <a:ext cx="299186" cy="899160"/>
          </a:xfrm>
          <a:prstGeom prst="leftBrace">
            <a:avLst>
              <a:gd name="adj1" fmla="val 28231"/>
              <a:gd name="adj2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19F26D-F7FC-62D4-CF5C-4BF8AFE46B53}"/>
              </a:ext>
            </a:extLst>
          </p:cNvPr>
          <p:cNvSpPr txBox="1"/>
          <p:nvPr/>
        </p:nvSpPr>
        <p:spPr>
          <a:xfrm rot="16200000">
            <a:off x="5057586" y="4544515"/>
            <a:ext cx="946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normals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AF553EFB-096A-8C0B-03DC-5AD05B8811A2}"/>
              </a:ext>
            </a:extLst>
          </p:cNvPr>
          <p:cNvSpPr/>
          <p:nvPr/>
        </p:nvSpPr>
        <p:spPr>
          <a:xfrm>
            <a:off x="5735853" y="5231970"/>
            <a:ext cx="299186" cy="476680"/>
          </a:xfrm>
          <a:prstGeom prst="leftBrace">
            <a:avLst>
              <a:gd name="adj1" fmla="val 28231"/>
              <a:gd name="adj2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F19FC5A-EA83-91C6-7829-BD43BE76B4EF}"/>
              </a:ext>
            </a:extLst>
          </p:cNvPr>
          <p:cNvSpPr txBox="1"/>
          <p:nvPr/>
        </p:nvSpPr>
        <p:spPr>
          <a:xfrm rot="16200000">
            <a:off x="5198491" y="5289891"/>
            <a:ext cx="664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4CAB9A-ECEF-F14E-1F9F-A2E631C73387}"/>
              </a:ext>
            </a:extLst>
          </p:cNvPr>
          <p:cNvSpPr txBox="1"/>
          <p:nvPr/>
        </p:nvSpPr>
        <p:spPr>
          <a:xfrm>
            <a:off x="7905120" y="5993130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16AA571-3398-7AD3-57F6-7F247DF985C4}"/>
              </a:ext>
            </a:extLst>
          </p:cNvPr>
          <p:cNvSpPr txBox="1"/>
          <p:nvPr/>
        </p:nvSpPr>
        <p:spPr>
          <a:xfrm>
            <a:off x="8128959" y="5993130"/>
            <a:ext cx="2616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871A20-2D3D-2B10-1317-858A54BC0017}"/>
              </a:ext>
            </a:extLst>
          </p:cNvPr>
          <p:cNvSpPr txBox="1"/>
          <p:nvPr/>
        </p:nvSpPr>
        <p:spPr>
          <a:xfrm>
            <a:off x="8321771" y="599313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C4DB61A-CFEA-A3B6-BB59-2A7CE48A1A8B}"/>
              </a:ext>
            </a:extLst>
          </p:cNvPr>
          <p:cNvCxnSpPr>
            <a:cxnSpLocks/>
          </p:cNvCxnSpPr>
          <p:nvPr/>
        </p:nvCxnSpPr>
        <p:spPr>
          <a:xfrm flipV="1">
            <a:off x="8050214" y="5708650"/>
            <a:ext cx="0" cy="351631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36B45E6-783B-689D-127B-EB1793150C14}"/>
              </a:ext>
            </a:extLst>
          </p:cNvPr>
          <p:cNvCxnSpPr>
            <a:cxnSpLocks/>
          </p:cNvCxnSpPr>
          <p:nvPr/>
        </p:nvCxnSpPr>
        <p:spPr>
          <a:xfrm flipV="1">
            <a:off x="8259764" y="5708650"/>
            <a:ext cx="0" cy="351631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60853E4-1F6E-C26E-A313-8F19BD626C8A}"/>
              </a:ext>
            </a:extLst>
          </p:cNvPr>
          <p:cNvCxnSpPr>
            <a:cxnSpLocks/>
          </p:cNvCxnSpPr>
          <p:nvPr/>
        </p:nvCxnSpPr>
        <p:spPr>
          <a:xfrm flipV="1">
            <a:off x="8469314" y="5708650"/>
            <a:ext cx="0" cy="351631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8322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62B81-4139-A96C-E4E9-E512191E7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EA9C1-41AC-FABA-94DB-2B160C564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8475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STL Definition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85159BF-A93C-768B-156B-0235C0304FB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9DA3AA"/>
              </a:clrFrom>
              <a:clrTo>
                <a:srgbClr val="9DA3A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863601"/>
            <a:ext cx="4564380" cy="426990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B6F0A89-576E-3A29-8A53-63168C28644A}"/>
              </a:ext>
            </a:extLst>
          </p:cNvPr>
          <p:cNvSpPr txBox="1"/>
          <p:nvPr/>
        </p:nvSpPr>
        <p:spPr>
          <a:xfrm>
            <a:off x="8484868" y="703403"/>
            <a:ext cx="19583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accent1"/>
                </a:solidFill>
              </a:rPr>
              <a:t>.STL file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427F9D-1502-7F4E-50B9-C8A384A28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362" y="1152207"/>
            <a:ext cx="4029638" cy="4098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882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C52A5-73EF-C950-2D97-4B43FFC09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B585F-06B5-0451-77C0-D9DECB5A3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3005"/>
            <a:ext cx="10515600" cy="498475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Making a mesh (makeMesh01.gh)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A21451-2F60-513A-CC7E-64D5F3B5A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200" y="466328"/>
            <a:ext cx="5019114" cy="5925343"/>
          </a:xfrm>
          <a:prstGeom prst="rect">
            <a:avLst/>
          </a:prstGeom>
        </p:spPr>
      </p:pic>
      <p:sp>
        <p:nvSpPr>
          <p:cNvPr id="6" name="Left Brace 5">
            <a:extLst>
              <a:ext uri="{FF2B5EF4-FFF2-40B4-BE49-F238E27FC236}">
                <a16:creationId xmlns:a16="http://schemas.microsoft.com/office/drawing/2014/main" id="{F1F1B634-4F61-BC5B-B57D-C29DBFA633B1}"/>
              </a:ext>
            </a:extLst>
          </p:cNvPr>
          <p:cNvSpPr/>
          <p:nvPr/>
        </p:nvSpPr>
        <p:spPr>
          <a:xfrm>
            <a:off x="6612153" y="3119120"/>
            <a:ext cx="299186" cy="899160"/>
          </a:xfrm>
          <a:prstGeom prst="leftBrace">
            <a:avLst>
              <a:gd name="adj1" fmla="val 28231"/>
              <a:gd name="adj2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A92C09-04AA-68FC-0F5B-46576FA80DA4}"/>
              </a:ext>
            </a:extLst>
          </p:cNvPr>
          <p:cNvSpPr txBox="1"/>
          <p:nvPr/>
        </p:nvSpPr>
        <p:spPr>
          <a:xfrm rot="16200000">
            <a:off x="5949434" y="3384034"/>
            <a:ext cx="914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vertices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FEF82272-A6F1-7213-4493-DE54B2B72814}"/>
              </a:ext>
            </a:extLst>
          </p:cNvPr>
          <p:cNvSpPr/>
          <p:nvPr/>
        </p:nvSpPr>
        <p:spPr>
          <a:xfrm>
            <a:off x="6612153" y="4300220"/>
            <a:ext cx="299186" cy="1617980"/>
          </a:xfrm>
          <a:prstGeom prst="leftBrace">
            <a:avLst>
              <a:gd name="adj1" fmla="val 28231"/>
              <a:gd name="adj2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8E7323-EB3B-661F-71EA-9E76768AC464}"/>
              </a:ext>
            </a:extLst>
          </p:cNvPr>
          <p:cNvSpPr txBox="1"/>
          <p:nvPr/>
        </p:nvSpPr>
        <p:spPr>
          <a:xfrm rot="16200000">
            <a:off x="5583695" y="4930873"/>
            <a:ext cx="1646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faces</a:t>
            </a: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BD48A96C-D5A6-DE75-47A8-DBD79B66E234}"/>
              </a:ext>
            </a:extLst>
          </p:cNvPr>
          <p:cNvSpPr/>
          <p:nvPr/>
        </p:nvSpPr>
        <p:spPr>
          <a:xfrm>
            <a:off x="6612153" y="6097270"/>
            <a:ext cx="299186" cy="294401"/>
          </a:xfrm>
          <a:prstGeom prst="leftBrace">
            <a:avLst>
              <a:gd name="adj1" fmla="val 28231"/>
              <a:gd name="adj2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365728-2040-57D8-2E97-2CA3B2C14E8D}"/>
              </a:ext>
            </a:extLst>
          </p:cNvPr>
          <p:cNvSpPr txBox="1"/>
          <p:nvPr/>
        </p:nvSpPr>
        <p:spPr>
          <a:xfrm rot="16200000">
            <a:off x="5925988" y="6128117"/>
            <a:ext cx="9618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mesh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8AD8D4F6-C0D7-CCD4-ADD2-88F75191F3CC}"/>
              </a:ext>
            </a:extLst>
          </p:cNvPr>
          <p:cNvSpPr/>
          <p:nvPr/>
        </p:nvSpPr>
        <p:spPr>
          <a:xfrm>
            <a:off x="6612153" y="680125"/>
            <a:ext cx="299186" cy="564475"/>
          </a:xfrm>
          <a:prstGeom prst="leftBrace">
            <a:avLst>
              <a:gd name="adj1" fmla="val 28231"/>
              <a:gd name="adj2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54A68F-72FF-2EA3-9D33-53B698376D87}"/>
              </a:ext>
            </a:extLst>
          </p:cNvPr>
          <p:cNvSpPr txBox="1"/>
          <p:nvPr/>
        </p:nvSpPr>
        <p:spPr>
          <a:xfrm rot="16200000">
            <a:off x="5949434" y="777696"/>
            <a:ext cx="914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index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1F608633-35A6-73DA-E508-E94C81E74BCD}"/>
              </a:ext>
            </a:extLst>
          </p:cNvPr>
          <p:cNvSpPr/>
          <p:nvPr/>
        </p:nvSpPr>
        <p:spPr>
          <a:xfrm>
            <a:off x="6612153" y="1533863"/>
            <a:ext cx="299186" cy="1303317"/>
          </a:xfrm>
          <a:prstGeom prst="leftBrace">
            <a:avLst>
              <a:gd name="adj1" fmla="val 28231"/>
              <a:gd name="adj2" fmla="val 50000"/>
            </a:avLst>
          </a:prstGeom>
          <a:ln w="190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08C588-2C1A-7BC4-BFC6-F339B7B97C06}"/>
              </a:ext>
            </a:extLst>
          </p:cNvPr>
          <p:cNvSpPr txBox="1"/>
          <p:nvPr/>
        </p:nvSpPr>
        <p:spPr>
          <a:xfrm rot="16200000">
            <a:off x="5984670" y="2000855"/>
            <a:ext cx="8445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ranges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02E6681-5418-6F63-858D-28706775E649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DA3AA"/>
              </a:clrFrom>
              <a:clrTo>
                <a:srgbClr val="9DA3A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2156" y="1012557"/>
            <a:ext cx="5497218" cy="4096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535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4B93C-F439-6A97-AD09-E02E8CEC8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F226B-2693-93AC-B324-A1DED6FC5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8475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Making a cube (makeMesh04 – cube)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B35B59-4515-F8D2-C047-CD39A4513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371" y="863600"/>
            <a:ext cx="4965796" cy="45184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A6C6A08-374A-2BEA-F075-9878DECDE53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DA3AA"/>
              </a:clrFrom>
              <a:clrTo>
                <a:srgbClr val="9DA3A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8650" y="1198805"/>
            <a:ext cx="4299418" cy="430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9590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31897-E415-5B2A-3956-380B7FF6A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BF666-DAF8-DFB8-C2C2-9A6CB2856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8475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Making a cube with colors (makeMesh05 – cube)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96B37F-7A19-9C4C-140B-9A061437E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98805"/>
            <a:ext cx="6107607" cy="17789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1FDFB48-AB9C-3FA0-7725-B9474068DFB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9DA3AA"/>
              </a:clrFrom>
              <a:clrTo>
                <a:srgbClr val="9DA3A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46100" y="1130994"/>
            <a:ext cx="4677154" cy="429190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6239AD-726C-09E0-8C69-F4D026A57BB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D4D0C8"/>
              </a:clrFrom>
              <a:clrTo>
                <a:srgbClr val="D4D0C8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841999" y="3104906"/>
            <a:ext cx="6279257" cy="3707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849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8C45A-4E34-EF3F-EDDF-FE05CF10E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BB1D3-A13A-488C-4F67-90A9B077A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0735"/>
          </a:xfrm>
        </p:spPr>
        <p:txBody>
          <a:bodyPr/>
          <a:lstStyle/>
          <a:p>
            <a:r>
              <a:rPr lang="en-US" dirty="0"/>
              <a:t>BREPs (Boundary Representations)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E3E48-C9B8-A830-B6F8-7A143E05B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5860"/>
            <a:ext cx="7370852" cy="50111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BREPs are collections of trimmed or untrimmed NURBS surfaces,</a:t>
            </a:r>
          </a:p>
          <a:p>
            <a:pPr marL="0" indent="0">
              <a:buNone/>
            </a:pPr>
            <a:r>
              <a:rPr lang="en-US" sz="2000" dirty="0"/>
              <a:t>that are connected into open or closed objects.</a:t>
            </a:r>
          </a:p>
          <a:p>
            <a:pPr marL="0" indent="0">
              <a:buNone/>
            </a:pPr>
            <a:r>
              <a:rPr lang="en-US" sz="2000" dirty="0"/>
              <a:t>In Rhino, Solids are closed BREPS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  <a:p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90F0C8-3A20-FB24-BADA-A63221B5FEB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9DA3AA"/>
              </a:clrFrom>
              <a:clrTo>
                <a:srgbClr val="9DA3A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52576" y="1476347"/>
            <a:ext cx="6239424" cy="390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52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58FCA-1C80-92EA-92C8-81F58F895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14CBE9-A2F3-B704-3B4F-B41C2C277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0735"/>
          </a:xfrm>
        </p:spPr>
        <p:txBody>
          <a:bodyPr/>
          <a:lstStyle/>
          <a:p>
            <a:r>
              <a:rPr lang="en-US" dirty="0"/>
              <a:t>BREPs (Boundary Representations)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EC749A3-3725-4EE7-3D4B-8241B59CF4F3}"/>
              </a:ext>
            </a:extLst>
          </p:cNvPr>
          <p:cNvSpPr/>
          <p:nvPr/>
        </p:nvSpPr>
        <p:spPr>
          <a:xfrm>
            <a:off x="1797485" y="1553227"/>
            <a:ext cx="1315233" cy="463463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Polysurface</a:t>
            </a:r>
            <a:r>
              <a:rPr lang="en-US" dirty="0"/>
              <a:t> (BREP)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03FB9C2-8596-5B4D-4346-2A3265E3A102}"/>
              </a:ext>
            </a:extLst>
          </p:cNvPr>
          <p:cNvSpPr/>
          <p:nvPr/>
        </p:nvSpPr>
        <p:spPr>
          <a:xfrm>
            <a:off x="657617" y="2517732"/>
            <a:ext cx="1315233" cy="463463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2DE103E-1931-AD3F-2EAB-B09301DC3E1A}"/>
              </a:ext>
            </a:extLst>
          </p:cNvPr>
          <p:cNvSpPr/>
          <p:nvPr/>
        </p:nvSpPr>
        <p:spPr>
          <a:xfrm>
            <a:off x="72295" y="3876806"/>
            <a:ext cx="1315233" cy="463463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Surface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F717D66-DF7D-5330-554A-052546712B79}"/>
              </a:ext>
            </a:extLst>
          </p:cNvPr>
          <p:cNvSpPr/>
          <p:nvPr/>
        </p:nvSpPr>
        <p:spPr>
          <a:xfrm>
            <a:off x="1475210" y="3876806"/>
            <a:ext cx="1315233" cy="463463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Edges </a:t>
            </a:r>
          </a:p>
          <a:p>
            <a:pPr algn="ctr"/>
            <a:r>
              <a:rPr lang="en-US" dirty="0"/>
              <a:t>Curve3d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5DD74E2-61D5-96E9-0170-5F9761E68C9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9DA3AA"/>
              </a:clrFrom>
              <a:clrTo>
                <a:srgbClr val="9DA3A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453617" y="1476347"/>
            <a:ext cx="6239424" cy="3905305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2263DC1-BC45-C8DE-E71D-681788F4FEEF}"/>
              </a:ext>
            </a:extLst>
          </p:cNvPr>
          <p:cNvSpPr/>
          <p:nvPr/>
        </p:nvSpPr>
        <p:spPr>
          <a:xfrm>
            <a:off x="3139126" y="3876806"/>
            <a:ext cx="1315233" cy="463463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Edges </a:t>
            </a:r>
          </a:p>
          <a:p>
            <a:pPr algn="ctr"/>
            <a:r>
              <a:rPr lang="en-US" dirty="0"/>
              <a:t>Curve2d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A57532-73CC-A7A0-77CD-B617BABA7355}"/>
              </a:ext>
            </a:extLst>
          </p:cNvPr>
          <p:cNvSpPr/>
          <p:nvPr/>
        </p:nvSpPr>
        <p:spPr>
          <a:xfrm>
            <a:off x="8705589" y="4822521"/>
            <a:ext cx="1784959" cy="1759906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894E028-4C96-2C48-2E46-49CDA9400568}"/>
              </a:ext>
            </a:extLst>
          </p:cNvPr>
          <p:cNvSpPr/>
          <p:nvPr/>
        </p:nvSpPr>
        <p:spPr>
          <a:xfrm>
            <a:off x="9106422" y="4941518"/>
            <a:ext cx="488515" cy="1121079"/>
          </a:xfrm>
          <a:custGeom>
            <a:avLst/>
            <a:gdLst>
              <a:gd name="connsiteX0" fmla="*/ 0 w 488515"/>
              <a:gd name="connsiteY0" fmla="*/ 1121079 h 1121079"/>
              <a:gd name="connsiteX1" fmla="*/ 81419 w 488515"/>
              <a:gd name="connsiteY1" fmla="*/ 275572 h 1121079"/>
              <a:gd name="connsiteX2" fmla="*/ 488515 w 488515"/>
              <a:gd name="connsiteY2" fmla="*/ 0 h 1121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8515" h="1121079">
                <a:moveTo>
                  <a:pt x="0" y="1121079"/>
                </a:moveTo>
                <a:cubicBezTo>
                  <a:pt x="0" y="791748"/>
                  <a:pt x="0" y="462418"/>
                  <a:pt x="81419" y="275572"/>
                </a:cubicBezTo>
                <a:cubicBezTo>
                  <a:pt x="162838" y="88726"/>
                  <a:pt x="446762" y="34446"/>
                  <a:pt x="488515" y="0"/>
                </a:cubicBezTo>
              </a:path>
            </a:pathLst>
          </a:cu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22F83048-9A66-992F-673A-D29E3B5E2AD9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rot="5400000">
            <a:off x="1634647" y="1697277"/>
            <a:ext cx="501042" cy="11398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314A1B5C-F4F3-2A01-5C39-8B3F848D0157}"/>
              </a:ext>
            </a:extLst>
          </p:cNvPr>
          <p:cNvCxnSpPr>
            <a:cxnSpLocks/>
            <a:stCxn id="8" idx="2"/>
            <a:endCxn id="11" idx="0"/>
          </p:cNvCxnSpPr>
          <p:nvPr/>
        </p:nvCxnSpPr>
        <p:spPr>
          <a:xfrm rot="5400000">
            <a:off x="574768" y="3136339"/>
            <a:ext cx="895611" cy="5853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D638CBF2-12A3-16A7-3438-DC65BA824054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 rot="16200000" flipH="1">
            <a:off x="1276225" y="3020203"/>
            <a:ext cx="895611" cy="81759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5E0DC0A0-C8C1-1051-0738-511E60DA4B01}"/>
              </a:ext>
            </a:extLst>
          </p:cNvPr>
          <p:cNvCxnSpPr>
            <a:cxnSpLocks/>
            <a:stCxn id="8" idx="2"/>
            <a:endCxn id="14" idx="0"/>
          </p:cNvCxnSpPr>
          <p:nvPr/>
        </p:nvCxnSpPr>
        <p:spPr>
          <a:xfrm rot="16200000" flipH="1">
            <a:off x="2108183" y="2188245"/>
            <a:ext cx="895611" cy="24815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A3724A8-8936-9183-CB12-DE712BA0155E}"/>
              </a:ext>
            </a:extLst>
          </p:cNvPr>
          <p:cNvSpPr/>
          <p:nvPr/>
        </p:nvSpPr>
        <p:spPr>
          <a:xfrm>
            <a:off x="4929337" y="3766159"/>
            <a:ext cx="1315233" cy="463463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Face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AC79BBBA-EA7C-F382-F252-B2E739CE500D}"/>
              </a:ext>
            </a:extLst>
          </p:cNvPr>
          <p:cNvSpPr/>
          <p:nvPr/>
        </p:nvSpPr>
        <p:spPr>
          <a:xfrm>
            <a:off x="4344015" y="5125233"/>
            <a:ext cx="1315233" cy="463463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Surface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16769E1-2014-13F6-2C74-8EAA708418A1}"/>
              </a:ext>
            </a:extLst>
          </p:cNvPr>
          <p:cNvSpPr/>
          <p:nvPr/>
        </p:nvSpPr>
        <p:spPr>
          <a:xfrm>
            <a:off x="5746930" y="5125233"/>
            <a:ext cx="1315233" cy="463463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Edges </a:t>
            </a:r>
          </a:p>
          <a:p>
            <a:pPr algn="ctr"/>
            <a:r>
              <a:rPr lang="en-US" dirty="0"/>
              <a:t>Curve3d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DFB03F9-2D1E-EE4F-9A86-69090986D67F}"/>
              </a:ext>
            </a:extLst>
          </p:cNvPr>
          <p:cNvSpPr/>
          <p:nvPr/>
        </p:nvSpPr>
        <p:spPr>
          <a:xfrm>
            <a:off x="7410846" y="5125233"/>
            <a:ext cx="1315233" cy="463463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Edges </a:t>
            </a:r>
          </a:p>
          <a:p>
            <a:pPr algn="ctr"/>
            <a:r>
              <a:rPr lang="en-US" dirty="0"/>
              <a:t>Curve2d</a:t>
            </a: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0B6A0795-3BD2-C458-2897-383C5826A1F4}"/>
              </a:ext>
            </a:extLst>
          </p:cNvPr>
          <p:cNvCxnSpPr>
            <a:cxnSpLocks/>
            <a:stCxn id="32" idx="2"/>
            <a:endCxn id="33" idx="0"/>
          </p:cNvCxnSpPr>
          <p:nvPr/>
        </p:nvCxnSpPr>
        <p:spPr>
          <a:xfrm rot="5400000">
            <a:off x="4846488" y="4384766"/>
            <a:ext cx="895611" cy="58532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89BC35AA-7A78-9B96-7A4D-C67EEA00C6A4}"/>
              </a:ext>
            </a:extLst>
          </p:cNvPr>
          <p:cNvCxnSpPr>
            <a:cxnSpLocks/>
            <a:stCxn id="32" idx="2"/>
            <a:endCxn id="34" idx="0"/>
          </p:cNvCxnSpPr>
          <p:nvPr/>
        </p:nvCxnSpPr>
        <p:spPr>
          <a:xfrm rot="16200000" flipH="1">
            <a:off x="5547945" y="4268630"/>
            <a:ext cx="895611" cy="81759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5E93A922-89C6-B70C-FBAF-22020C1059E4}"/>
              </a:ext>
            </a:extLst>
          </p:cNvPr>
          <p:cNvCxnSpPr>
            <a:cxnSpLocks/>
            <a:stCxn id="32" idx="2"/>
            <a:endCxn id="35" idx="0"/>
          </p:cNvCxnSpPr>
          <p:nvPr/>
        </p:nvCxnSpPr>
        <p:spPr>
          <a:xfrm rot="16200000" flipH="1">
            <a:off x="6379903" y="3436672"/>
            <a:ext cx="895611" cy="248150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2F61150C-67E9-DAEE-5320-7BC84473209F}"/>
              </a:ext>
            </a:extLst>
          </p:cNvPr>
          <p:cNvCxnSpPr>
            <a:cxnSpLocks/>
            <a:stCxn id="7" idx="2"/>
            <a:endCxn id="32" idx="0"/>
          </p:cNvCxnSpPr>
          <p:nvPr/>
        </p:nvCxnSpPr>
        <p:spPr>
          <a:xfrm rot="16200000" flipH="1">
            <a:off x="3146294" y="1325498"/>
            <a:ext cx="1749469" cy="313185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3D16C4D3-B3EF-BA22-9F4D-AB0D46C341F7}"/>
              </a:ext>
            </a:extLst>
          </p:cNvPr>
          <p:cNvCxnSpPr>
            <a:cxnSpLocks/>
            <a:stCxn id="14" idx="2"/>
            <a:endCxn id="34" idx="1"/>
          </p:cNvCxnSpPr>
          <p:nvPr/>
        </p:nvCxnSpPr>
        <p:spPr>
          <a:xfrm rot="16200000" flipH="1">
            <a:off x="4263488" y="3873523"/>
            <a:ext cx="1016696" cy="195018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0497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14176</TotalTime>
  <Words>335</Words>
  <Application>Microsoft Office PowerPoint</Application>
  <PresentationFormat>Widescreen</PresentationFormat>
  <Paragraphs>83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Office Theme</vt:lpstr>
      <vt:lpstr> Advanced Design Scripting &amp; Parametrics –  Class 07 – Meshes and BREPs</vt:lpstr>
      <vt:lpstr>Today – key concepts</vt:lpstr>
      <vt:lpstr>Meshes</vt:lpstr>
      <vt:lpstr>Mesh elements</vt:lpstr>
      <vt:lpstr>Mesh elements</vt:lpstr>
      <vt:lpstr>AnalyzeMesh.py</vt:lpstr>
      <vt:lpstr>AnalyzeMesh.gh</vt:lpstr>
      <vt:lpstr>PowerPoint Presentation</vt:lpstr>
      <vt:lpstr>PowerPoint Presentation</vt:lpstr>
      <vt:lpstr>PowerPoint Presentation</vt:lpstr>
      <vt:lpstr>OBJ Definition (“1 Ordered”)</vt:lpstr>
      <vt:lpstr>STL Definition</vt:lpstr>
      <vt:lpstr>Making a mesh (makeMesh01.gh)</vt:lpstr>
      <vt:lpstr>Making a cube (makeMesh04 – cube)</vt:lpstr>
      <vt:lpstr>Making a cube with colors (makeMesh05 – cube)</vt:lpstr>
      <vt:lpstr>BREPs (Boundary Representations)</vt:lpstr>
      <vt:lpstr>BREPs (Boundary Representations)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Dennis R. Shelden</dc:creator>
  <cp:lastModifiedBy>Shelden, Dennis Robert</cp:lastModifiedBy>
  <cp:revision>37</cp:revision>
  <dcterms:created xsi:type="dcterms:W3CDTF">2024-01-16T00:17:19Z</dcterms:created>
  <dcterms:modified xsi:type="dcterms:W3CDTF">2025-02-26T17:18:06Z</dcterms:modified>
</cp:coreProperties>
</file>