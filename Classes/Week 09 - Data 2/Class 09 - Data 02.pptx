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4" r:id="rId3"/>
    <p:sldId id="316" r:id="rId4"/>
    <p:sldId id="317" r:id="rId5"/>
    <p:sldId id="318" r:id="rId6"/>
    <p:sldId id="319" r:id="rId7"/>
    <p:sldId id="322" r:id="rId8"/>
    <p:sldId id="311" r:id="rId9"/>
    <p:sldId id="312" r:id="rId10"/>
    <p:sldId id="313" r:id="rId11"/>
    <p:sldId id="308" r:id="rId12"/>
    <p:sldId id="321" r:id="rId13"/>
    <p:sldId id="334" r:id="rId14"/>
    <p:sldId id="335" r:id="rId15"/>
    <p:sldId id="339" r:id="rId16"/>
    <p:sldId id="338" r:id="rId17"/>
    <p:sldId id="337" r:id="rId18"/>
    <p:sldId id="329" r:id="rId19"/>
    <p:sldId id="340" r:id="rId20"/>
    <p:sldId id="330" r:id="rId21"/>
    <p:sldId id="327" r:id="rId2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0" autoAdjust="0"/>
    <p:restoredTop sz="94660"/>
  </p:normalViewPr>
  <p:slideViewPr>
    <p:cSldViewPr snapToGrid="0">
      <p:cViewPr varScale="1">
        <p:scale>
          <a:sx n="73" d="100"/>
          <a:sy n="73" d="100"/>
        </p:scale>
        <p:origin x="192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8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5"/>
            <a:ext cx="66065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5"/>
            <a:ext cx="54406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3"/>
            <a:ext cx="338099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3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3"/>
            <a:ext cx="24871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705601" y="9220358"/>
            <a:ext cx="201929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20"/>
                </a:spcBef>
              </a:pPr>
              <a:t>‹#›</a:t>
            </a:fld>
            <a:endParaRPr lang="en-US"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www.w3schools.com/python/python_array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www.w3schools.com/python/python_dictionarie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w3schools.com/python/python_dictionaries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www.w3schools.com/python/python_dictionarie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w3schools.com/python/python_dictionaries.as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rhino3d.com/api/RhinoScriptSyntax/#userdata-GetUserText" TargetMode="External"/><Relationship Id="rId2" Type="http://schemas.openxmlformats.org/officeDocument/2006/relationships/hyperlink" Target="SetUserTex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rhino3d.com/api/RhinoScriptSyntax/#userdata-GetDocumentData" TargetMode="External"/><Relationship Id="rId2" Type="http://schemas.openxmlformats.org/officeDocument/2006/relationships/hyperlink" Target="https://developer.rhino3d.com/api/RhinoScriptSyntax/#userdata-SetDocument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930" y="4475202"/>
            <a:ext cx="6606540" cy="553998"/>
          </a:xfrm>
        </p:spPr>
        <p:txBody>
          <a:bodyPr/>
          <a:lstStyle/>
          <a:p>
            <a:pPr algn="ctr"/>
            <a:r>
              <a:rPr lang="en-US" b="1" dirty="0"/>
              <a:t>Data 2 - Trees</a:t>
            </a:r>
            <a:br>
              <a:rPr lang="en-US" b="1" dirty="0"/>
            </a:br>
            <a:r>
              <a:rPr lang="en-US" dirty="0"/>
              <a:t>Design Programming 2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/ General Web data (</a:t>
            </a:r>
            <a:r>
              <a:rPr lang="en-US" b="1" dirty="0" err="1"/>
              <a:t>Javascript</a:t>
            </a:r>
            <a:r>
              <a:rPr lang="en-US" b="1" dirty="0"/>
              <a:t>, JSON,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009C-7C27-EF53-8E91-51FADD69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52933"/>
            <a:ext cx="6995160" cy="276999"/>
          </a:xfrm>
        </p:spPr>
        <p:txBody>
          <a:bodyPr/>
          <a:lstStyle/>
          <a:p>
            <a:r>
              <a:rPr lang="en-US" b="1" dirty="0"/>
              <a:t>Dictionaries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900E3-5419-29D8-5FF8-8482B4D3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1129932"/>
            <a:ext cx="3667637" cy="150516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DF9FFD-CB65-B427-727C-4E29A84FA33B}"/>
              </a:ext>
            </a:extLst>
          </p:cNvPr>
          <p:cNvSpPr txBox="1">
            <a:spLocks/>
          </p:cNvSpPr>
          <p:nvPr/>
        </p:nvSpPr>
        <p:spPr>
          <a:xfrm>
            <a:off x="388620" y="3668143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8FC4B-B506-26F5-A4D1-F504E15F5E09}"/>
              </a:ext>
            </a:extLst>
          </p:cNvPr>
          <p:cNvSpPr txBox="1"/>
          <p:nvPr/>
        </p:nvSpPr>
        <p:spPr>
          <a:xfrm>
            <a:off x="388620" y="4257239"/>
            <a:ext cx="68503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   </a:t>
            </a:r>
            <a:r>
              <a:rPr lang="en-US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An Array</a:t>
            </a:r>
            <a:endParaRPr lang="en-US"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“Item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 rtl="0">
              <a:buClr>
                <a:srgbClr val="000000"/>
              </a:buClr>
              <a:buSzPts val="1800"/>
            </a:pP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“Item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 rtl="0">
              <a:buClr>
                <a:srgbClr val="000000"/>
              </a:buClr>
              <a:buSzPts val="1800"/>
            </a:pP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 rtl="0">
              <a:buClr>
                <a:srgbClr val="000000"/>
              </a:buClr>
              <a:buSzPts val="1800"/>
            </a:pP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Object_1</a:t>
            </a:r>
            <a:endParaRPr lang="en-US"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dirty="0">
                <a:solidFill>
                  <a:srgbClr val="000000"/>
                </a:solidFill>
                <a:latin typeface="Consolas"/>
                <a:sym typeface="Consolas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dirty="0">
              <a:solidFill>
                <a:srgbClr val="000000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dirty="0">
                <a:solidFill>
                  <a:srgbClr val="000000"/>
                </a:solidFill>
                <a:latin typeface="Consolas"/>
                <a:sym typeface="Consolas"/>
              </a:rPr>
              <a:t>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dirty="0">
              <a:solidFill>
                <a:srgbClr val="000000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“Item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“Item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Object_1</a:t>
            </a:r>
            <a:r>
              <a:rPr lang="en-US" dirty="0">
                <a:solidFill>
                  <a:srgbClr val="000000"/>
                </a:solidFill>
                <a:latin typeface="Consolas"/>
                <a:sym typeface="Consolas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dirty="0">
              <a:solidFill>
                <a:srgbClr val="000000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dirty="0">
              <a:solidFill>
                <a:srgbClr val="000000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7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/ General Web data (</a:t>
            </a:r>
            <a:r>
              <a:rPr lang="en-US" b="1" dirty="0" err="1"/>
              <a:t>Javascript</a:t>
            </a:r>
            <a:r>
              <a:rPr lang="en-US" b="1" dirty="0"/>
              <a:t>, JSON,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009C-7C27-EF53-8E91-51FADD69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52933"/>
            <a:ext cx="6995160" cy="276999"/>
          </a:xfrm>
        </p:spPr>
        <p:txBody>
          <a:bodyPr/>
          <a:lstStyle/>
          <a:p>
            <a:r>
              <a:rPr lang="en-US" b="1" dirty="0"/>
              <a:t>Dictionaries &amp; arrays</a:t>
            </a:r>
          </a:p>
        </p:txBody>
      </p:sp>
      <p:sp>
        <p:nvSpPr>
          <p:cNvPr id="4" name="Google Shape;143;p3">
            <a:extLst>
              <a:ext uri="{FF2B5EF4-FFF2-40B4-BE49-F238E27FC236}">
                <a16:creationId xmlns:a16="http://schemas.microsoft.com/office/drawing/2014/main" id="{9800F331-2852-72DF-A67A-CA69BDBA782D}"/>
              </a:ext>
            </a:extLst>
          </p:cNvPr>
          <p:cNvSpPr/>
          <p:nvPr/>
        </p:nvSpPr>
        <p:spPr>
          <a:xfrm>
            <a:off x="388620" y="1495800"/>
            <a:ext cx="51087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   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 An Array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1"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"Object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4"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 Flexible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4524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/ General Web data (</a:t>
            </a:r>
            <a:r>
              <a:rPr lang="en-US" b="1" dirty="0" err="1"/>
              <a:t>Javascript</a:t>
            </a:r>
            <a:r>
              <a:rPr lang="en-US" b="1" dirty="0"/>
              <a:t>, JSON, </a:t>
            </a:r>
            <a:r>
              <a:rPr lang="en-US" b="1" dirty="0" err="1"/>
              <a:t>etc</a:t>
            </a:r>
            <a:r>
              <a:rPr lang="en-US" b="1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6009C-7C27-EF53-8E91-51FADD694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52933"/>
            <a:ext cx="6995160" cy="276999"/>
          </a:xfrm>
        </p:spPr>
        <p:txBody>
          <a:bodyPr/>
          <a:lstStyle/>
          <a:p>
            <a:r>
              <a:rPr lang="en-US" b="1" dirty="0"/>
              <a:t>Nested objects</a:t>
            </a:r>
          </a:p>
        </p:txBody>
      </p:sp>
      <p:sp>
        <p:nvSpPr>
          <p:cNvPr id="4" name="Google Shape;143;p3">
            <a:extLst>
              <a:ext uri="{FF2B5EF4-FFF2-40B4-BE49-F238E27FC236}">
                <a16:creationId xmlns:a16="http://schemas.microsoft.com/office/drawing/2014/main" id="{9800F331-2852-72DF-A67A-CA69BDBA782D}"/>
              </a:ext>
            </a:extLst>
          </p:cNvPr>
          <p:cNvSpPr/>
          <p:nvPr/>
        </p:nvSpPr>
        <p:spPr>
          <a:xfrm>
            <a:off x="388620" y="1495800"/>
            <a:ext cx="5847080" cy="467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   </a:t>
            </a:r>
            <a:r>
              <a:rPr lang="en-US" sz="1800" b="0" i="0" u="none" strike="noStrike" cap="none" dirty="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 An Array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“Value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2"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{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2"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"Value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1"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“Value </a:t>
            </a:r>
            <a:r>
              <a:rPr lang="en-US" sz="1800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3"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{  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		   </a:t>
            </a:r>
            <a:r>
              <a:rPr lang="en-US" sz="1800" b="0" i="0" u="none" strike="noStrike" cap="none" dirty="0">
                <a:solidFill>
                  <a:srgbClr val="0451A5"/>
                </a:solidFill>
                <a:latin typeface="Consolas"/>
                <a:ea typeface="Consolas"/>
                <a:cs typeface="Consolas"/>
                <a:sym typeface="Consolas"/>
              </a:rPr>
              <a:t>"Key 3a"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“Value </a:t>
            </a:r>
            <a:r>
              <a:rPr lang="en-US" sz="1800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800" b="0" i="0" u="none" strike="noStrike" cap="none" dirty="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    		  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451A5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"Key 3b"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: 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“Value 2"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,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		}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}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865756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arrays (see </a:t>
            </a:r>
            <a:r>
              <a:rPr lang="en-US" b="1" dirty="0">
                <a:hlinkClick r:id="rId2"/>
              </a:rPr>
              <a:t>w3c Python Arrays</a:t>
            </a:r>
            <a:r>
              <a:rPr lang="en-US" b="1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08356-0367-17C0-4514-53B2FCB296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153"/>
          <a:stretch/>
        </p:blipFill>
        <p:spPr>
          <a:xfrm>
            <a:off x="260985" y="5029200"/>
            <a:ext cx="7258050" cy="4295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DE181B-B5E0-7773-1ACB-5A53FBBFE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85" y="857037"/>
            <a:ext cx="3820058" cy="99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A42F3-5417-FC28-1216-A0D77EE58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985" y="1847775"/>
            <a:ext cx="4696480" cy="600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138639B-B272-BB5D-F8CB-1AD991AC7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511" y="2447934"/>
            <a:ext cx="4677428" cy="9145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73A6D2-9D6E-0937-D2CB-628AC8691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1" y="3419171"/>
            <a:ext cx="6573167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78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Dictionaries (see </a:t>
            </a:r>
            <a:r>
              <a:rPr lang="en-US" b="1" dirty="0">
                <a:hlinkClick r:id="rId2"/>
              </a:rPr>
              <a:t>W3c Python Dictionaries</a:t>
            </a:r>
            <a:r>
              <a:rPr lang="en-US" b="1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1B864-7D9C-9DCE-5DD4-46FB85740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52933"/>
            <a:ext cx="6995160" cy="276999"/>
          </a:xfrm>
        </p:spPr>
        <p:txBody>
          <a:bodyPr/>
          <a:lstStyle/>
          <a:p>
            <a:r>
              <a:rPr lang="en-US" b="1" dirty="0"/>
              <a:t>Creating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79383-FAE9-0C5B-6F2F-FDF8F8324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53" y="1303529"/>
            <a:ext cx="3200847" cy="144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F712D-355D-D464-A45C-A4F6FD7DE6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805" t="-1" r="18800" b="1667"/>
          <a:stretch/>
        </p:blipFill>
        <p:spPr>
          <a:xfrm>
            <a:off x="685353" y="4356250"/>
            <a:ext cx="1454150" cy="234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A0C26-4692-2C29-A1F0-777DB58B7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21" y="3280550"/>
            <a:ext cx="5430008" cy="54300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149B30B-AE3E-14B8-9127-9B55B1EDAB26}"/>
              </a:ext>
            </a:extLst>
          </p:cNvPr>
          <p:cNvSpPr txBox="1">
            <a:spLocks/>
          </p:cNvSpPr>
          <p:nvPr/>
        </p:nvSpPr>
        <p:spPr>
          <a:xfrm>
            <a:off x="388620" y="2966342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Creating – using </a:t>
            </a:r>
            <a:r>
              <a:rPr lang="en-US" b="1" dirty="0" err="1"/>
              <a:t>dict</a:t>
            </a:r>
            <a:r>
              <a:rPr lang="en-US" b="1" dirty="0"/>
              <a:t>()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5371025-90F3-D2D6-72AE-05C1F30EEE08}"/>
              </a:ext>
            </a:extLst>
          </p:cNvPr>
          <p:cNvSpPr txBox="1">
            <a:spLocks/>
          </p:cNvSpPr>
          <p:nvPr/>
        </p:nvSpPr>
        <p:spPr>
          <a:xfrm>
            <a:off x="388620" y="4010228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Accessing individual items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44FAD1-35D2-E16A-9303-5D1873582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53" y="4647588"/>
            <a:ext cx="2057687" cy="28579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9D196F9-5702-258D-CD14-CD1CA25FB644}"/>
              </a:ext>
            </a:extLst>
          </p:cNvPr>
          <p:cNvSpPr txBox="1">
            <a:spLocks/>
          </p:cNvSpPr>
          <p:nvPr/>
        </p:nvSpPr>
        <p:spPr>
          <a:xfrm>
            <a:off x="388620" y="5663928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Accessing all items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E18EA1-66A2-0E13-6D1B-8D03E968B6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425" y="5490196"/>
            <a:ext cx="1428949" cy="3048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FD310C-F604-116F-2FBA-8992C9C10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425" y="5852997"/>
            <a:ext cx="1609950" cy="3238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89FA0D-D0F2-C5D9-6536-6ACC2FCD00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" y="6234850"/>
            <a:ext cx="2867425" cy="2648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279647-D3EF-620A-A83E-75A3274780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089" y="9103536"/>
            <a:ext cx="281026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3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Dictionaries (see </a:t>
            </a:r>
            <a:r>
              <a:rPr lang="en-US" b="1" dirty="0">
                <a:hlinkClick r:id="rId2"/>
              </a:rPr>
              <a:t>W3c Python Dictionaries</a:t>
            </a:r>
            <a:r>
              <a:rPr lang="en-US" b="1" dirty="0"/>
              <a:t>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A12273-D01A-4E65-3842-2C782EE3D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0DE5A-3068-6976-B18F-817479ECA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" y="1790248"/>
            <a:ext cx="7287642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14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“Structured” vs “Unstructured” Data 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917436"/>
            <a:ext cx="6995160" cy="4154984"/>
          </a:xfrm>
        </p:spPr>
        <p:txBody>
          <a:bodyPr/>
          <a:lstStyle/>
          <a:p>
            <a:r>
              <a:rPr lang="en-US" dirty="0"/>
              <a:t>Sometimes data associated with instances is consistent across similar instances. This sort of data is (somewhat erroneously) called “structured data” or “tabular data”, and we can represent it in a table, where</a:t>
            </a:r>
          </a:p>
          <a:p>
            <a:r>
              <a:rPr lang="en-US" dirty="0"/>
              <a:t>- Rows are individual data instances</a:t>
            </a:r>
          </a:p>
          <a:p>
            <a:r>
              <a:rPr lang="en-US" dirty="0"/>
              <a:t>- columns are the different (but consistent) key – value combinations:</a:t>
            </a:r>
          </a:p>
          <a:p>
            <a:endParaRPr lang="en-US" dirty="0"/>
          </a:p>
          <a:p>
            <a:r>
              <a:rPr lang="en-US" dirty="0"/>
              <a:t>Sometimes a specific parameter is identified as the ID of the instance. In that case this value must be unique for each instance: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4F7C68-4223-517A-4D13-C8301214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57508"/>
              </p:ext>
            </p:extLst>
          </p:nvPr>
        </p:nvGraphicFramePr>
        <p:xfrm>
          <a:off x="444500" y="3460750"/>
          <a:ext cx="5181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314801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704948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22282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735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643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8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03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51545"/>
                  </a:ext>
                </a:extLst>
              </a:tr>
            </a:tbl>
          </a:graphicData>
        </a:graphic>
      </p:graphicFrame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CAD889E-455D-5141-DF59-278BE993596F}"/>
              </a:ext>
            </a:extLst>
          </p:cNvPr>
          <p:cNvSpPr txBox="1">
            <a:spLocks/>
          </p:cNvSpPr>
          <p:nvPr/>
        </p:nvSpPr>
        <p:spPr>
          <a:xfrm>
            <a:off x="388620" y="5888990"/>
            <a:ext cx="6995160" cy="637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This is equivalent to - but not the same as - the following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[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ID :  	00001,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brand: “Ford”,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model: “Mustang”,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year: 1964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},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{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ID :  	00002,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brand: “Ford”, 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model: “Mustang”,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		year: 1967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	},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 . . .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10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Tabular data - serialization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0" y="874216"/>
            <a:ext cx="6995160" cy="3323987"/>
          </a:xfrm>
        </p:spPr>
        <p:txBody>
          <a:bodyPr/>
          <a:lstStyle/>
          <a:p>
            <a:r>
              <a:rPr lang="en-US" dirty="0"/>
              <a:t>Tabular data can be “serialized” as text with defined character separators between fields.</a:t>
            </a:r>
          </a:p>
          <a:p>
            <a:endParaRPr lang="en-US" dirty="0"/>
          </a:p>
          <a:p>
            <a:r>
              <a:rPr lang="en-US" dirty="0"/>
              <a:t>Serialize (roughly) write data out to a string or stream</a:t>
            </a:r>
          </a:p>
          <a:p>
            <a:endParaRPr lang="en-US" dirty="0"/>
          </a:p>
          <a:p>
            <a:r>
              <a:rPr lang="en-US" dirty="0"/>
              <a:t>This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4F7C68-4223-517A-4D13-C83012141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781601"/>
              </p:ext>
            </p:extLst>
          </p:nvPr>
        </p:nvGraphicFramePr>
        <p:xfrm>
          <a:off x="444500" y="2171643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4314801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6704948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5222825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07351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1472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Mustang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88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BMW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I5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8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Volkswagen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Rabbit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51545"/>
                  </a:ext>
                </a:extLst>
              </a:tr>
            </a:tbl>
          </a:graphicData>
        </a:graphic>
      </p:graphicFrame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CAD889E-455D-5141-DF59-278BE993596F}"/>
              </a:ext>
            </a:extLst>
          </p:cNvPr>
          <p:cNvSpPr txBox="1">
            <a:spLocks/>
          </p:cNvSpPr>
          <p:nvPr/>
        </p:nvSpPr>
        <p:spPr>
          <a:xfrm>
            <a:off x="388620" y="4028440"/>
            <a:ext cx="6995160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Could be serialized as follows: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 err="1"/>
              <a:t>ID,brand,model,year</a:t>
            </a:r>
            <a:r>
              <a:rPr lang="en-US" dirty="0"/>
              <a:t>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00001,Ford,Mustang,1964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00003,BMW,I5,2022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00005,Volkswagen,Rabbit,1990 &lt;</a:t>
            </a:r>
            <a:r>
              <a:rPr lang="en-US" dirty="0" err="1"/>
              <a:t>cr</a:t>
            </a:r>
            <a:r>
              <a:rPr lang="en-US" dirty="0"/>
              <a:t>&gt;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r>
              <a:rPr lang="en-US" dirty="0"/>
              <a:t>This serialization has commas between fields and is known as </a:t>
            </a:r>
            <a:br>
              <a:rPr lang="en-US" dirty="0"/>
            </a:br>
            <a:r>
              <a:rPr lang="en-US" dirty="0"/>
              <a:t>CSV (comma separated value) format.</a:t>
            </a:r>
          </a:p>
          <a:p>
            <a:pPr>
              <a:tabLst>
                <a:tab pos="228600" algn="l"/>
                <a:tab pos="457200" algn="l"/>
                <a:tab pos="685800" algn="l"/>
                <a:tab pos="914400" algn="l"/>
                <a:tab pos="1143000" algn="l"/>
              </a:tabLst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340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serialization: to JSON</a:t>
            </a: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C151A-ECA5-FACC-370E-793D64E51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2"/>
          <a:stretch/>
        </p:blipFill>
        <p:spPr>
          <a:xfrm>
            <a:off x="266700" y="3239820"/>
            <a:ext cx="5980666" cy="5163271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61E5749F-3385-8892-AC59-2568FFCAF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240" y="1128580"/>
            <a:ext cx="6995160" cy="830997"/>
          </a:xfrm>
        </p:spPr>
        <p:txBody>
          <a:bodyPr/>
          <a:lstStyle/>
          <a:p>
            <a:r>
              <a:rPr lang="en-US" dirty="0" err="1"/>
              <a:t>json.loads</a:t>
            </a:r>
            <a:r>
              <a:rPr lang="en-US" dirty="0"/>
              <a:t>(“</a:t>
            </a:r>
            <a:r>
              <a:rPr lang="en-US" dirty="0" err="1"/>
              <a:t>aString</a:t>
            </a:r>
            <a:r>
              <a:rPr lang="en-US" dirty="0"/>
              <a:t>”)</a:t>
            </a:r>
          </a:p>
          <a:p>
            <a:endParaRPr lang="en-US" dirty="0"/>
          </a:p>
          <a:p>
            <a:r>
              <a:rPr lang="en-US" dirty="0" err="1"/>
              <a:t>json.dumps</a:t>
            </a:r>
            <a:r>
              <a:rPr lang="en-US" dirty="0"/>
              <a:t>(</a:t>
            </a:r>
            <a:r>
              <a:rPr lang="en-US" dirty="0" err="1"/>
              <a:t>anObject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34573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5FE28-9DE8-6DD5-DB88-16E6E221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vs. Objects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93454C-EE74-3307-A021-B5375DF2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1248908"/>
            <a:ext cx="6995160" cy="9417963"/>
          </a:xfrm>
        </p:spPr>
        <p:txBody>
          <a:bodyPr/>
          <a:lstStyle/>
          <a:p>
            <a:r>
              <a:rPr lang="en-US" dirty="0"/>
              <a:t>Data is naturally organized in name / value or key / value pairs:</a:t>
            </a:r>
          </a:p>
          <a:p>
            <a:endParaRPr lang="en-US" dirty="0"/>
          </a:p>
          <a:p>
            <a:r>
              <a:rPr lang="en-US" dirty="0"/>
              <a:t>Key	Value</a:t>
            </a:r>
          </a:p>
          <a:p>
            <a:r>
              <a:rPr lang="en-US" dirty="0"/>
              <a:t>var1	“My text”</a:t>
            </a:r>
          </a:p>
          <a:p>
            <a:r>
              <a:rPr lang="en-US" dirty="0"/>
              <a:t>var2	“My other value”</a:t>
            </a:r>
          </a:p>
          <a:p>
            <a:endParaRPr lang="en-US" dirty="0"/>
          </a:p>
          <a:p>
            <a:r>
              <a:rPr lang="en-US" dirty="0"/>
              <a:t>A collection of name / value pairs is sometimes called a </a:t>
            </a:r>
            <a:r>
              <a:rPr lang="en-US" b="1" dirty="0"/>
              <a:t>dictionary</a:t>
            </a:r>
            <a:r>
              <a:rPr lang="en-US" dirty="0"/>
              <a:t>. It’s a very powerful and general concept so you will see either “analogies” of this concept in other contexts, or in fact actual reframing of the concept in other contexts.</a:t>
            </a:r>
          </a:p>
          <a:p>
            <a:endParaRPr lang="en-US" dirty="0"/>
          </a:p>
          <a:p>
            <a:r>
              <a:rPr lang="en-US" dirty="0"/>
              <a:t>For example, an </a:t>
            </a:r>
            <a:r>
              <a:rPr lang="en-US" b="1" dirty="0"/>
              <a:t>object instance </a:t>
            </a:r>
            <a:r>
              <a:rPr lang="en-US" dirty="0"/>
              <a:t>shares a lot with this dictionary concept, and objects and dictionaries are sometimes (not always) used interchangeably.</a:t>
            </a:r>
          </a:p>
          <a:p>
            <a:endParaRPr lang="en-US" dirty="0"/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thisdict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"brand"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"model"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"Mustang"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"year"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1964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Car: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__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__(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brand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dirty="0"/>
            </a:b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self.brand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brand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 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self.model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model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b="0" i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self.year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year</a:t>
            </a:r>
          </a:p>
          <a:p>
            <a:endParaRPr lang="en-US" dirty="0">
              <a:solidFill>
                <a:srgbClr val="A52A2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c1 = Car(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“Ford”, “Mustang”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, 1964)</a:t>
            </a:r>
          </a:p>
          <a:p>
            <a:endParaRPr lang="en-US" dirty="0"/>
          </a:p>
          <a:p>
            <a:r>
              <a:rPr lang="en-US" dirty="0"/>
              <a:t>c1.brand = “Ford”</a:t>
            </a:r>
          </a:p>
          <a:p>
            <a:r>
              <a:rPr lang="en-US" dirty="0"/>
              <a:t>c1.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dirty="0"/>
              <a:t> = “Mustang”</a:t>
            </a:r>
          </a:p>
          <a:p>
            <a:r>
              <a:rPr lang="en-US" dirty="0"/>
              <a:t>c1.</a:t>
            </a: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year</a:t>
            </a:r>
            <a:r>
              <a:rPr lang="en-US" dirty="0"/>
              <a:t> =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1964</a:t>
            </a:r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100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Dictionaries (see </a:t>
            </a:r>
            <a:r>
              <a:rPr lang="en-US" b="1" dirty="0">
                <a:hlinkClick r:id="rId2"/>
              </a:rPr>
              <a:t>W3c Python Dictionaries</a:t>
            </a:r>
            <a:r>
              <a:rPr lang="en-US" b="1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1B864-7D9C-9DCE-5DD4-46FB85740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52933"/>
            <a:ext cx="6995160" cy="276999"/>
          </a:xfrm>
        </p:spPr>
        <p:txBody>
          <a:bodyPr/>
          <a:lstStyle/>
          <a:p>
            <a:r>
              <a:rPr lang="en-US" b="1" dirty="0"/>
              <a:t>Creating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79383-FAE9-0C5B-6F2F-FDF8F8324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53" y="1303529"/>
            <a:ext cx="3200847" cy="144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F712D-355D-D464-A45C-A4F6FD7DE6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805" t="-1" r="18800" b="1667"/>
          <a:stretch/>
        </p:blipFill>
        <p:spPr>
          <a:xfrm>
            <a:off x="685353" y="4864939"/>
            <a:ext cx="1454150" cy="2341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FA0C26-4692-2C29-A1F0-777DB58B7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21" y="3280550"/>
            <a:ext cx="5430008" cy="543001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149B30B-AE3E-14B8-9127-9B55B1EDAB26}"/>
              </a:ext>
            </a:extLst>
          </p:cNvPr>
          <p:cNvSpPr txBox="1">
            <a:spLocks/>
          </p:cNvSpPr>
          <p:nvPr/>
        </p:nvSpPr>
        <p:spPr>
          <a:xfrm>
            <a:off x="388620" y="2966342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Creating – using </a:t>
            </a:r>
            <a:r>
              <a:rPr lang="en-US" b="1" dirty="0" err="1"/>
              <a:t>dict</a:t>
            </a:r>
            <a:r>
              <a:rPr lang="en-US" b="1" dirty="0"/>
              <a:t>()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5371025-90F3-D2D6-72AE-05C1F30EEE08}"/>
              </a:ext>
            </a:extLst>
          </p:cNvPr>
          <p:cNvSpPr txBox="1">
            <a:spLocks/>
          </p:cNvSpPr>
          <p:nvPr/>
        </p:nvSpPr>
        <p:spPr>
          <a:xfrm>
            <a:off x="388620" y="4518917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Accessing individual items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44FAD1-35D2-E16A-9303-5D1873582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353" y="5156277"/>
            <a:ext cx="2057687" cy="285790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C9D196F9-5702-258D-CD14-CD1CA25FB644}"/>
              </a:ext>
            </a:extLst>
          </p:cNvPr>
          <p:cNvSpPr txBox="1">
            <a:spLocks/>
          </p:cNvSpPr>
          <p:nvPr/>
        </p:nvSpPr>
        <p:spPr>
          <a:xfrm>
            <a:off x="388620" y="5663928"/>
            <a:ext cx="6995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Accessing all items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E18EA1-66A2-0E13-6D1B-8D03E968B6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425" y="5998885"/>
            <a:ext cx="1428949" cy="30484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FD310C-F604-116F-2FBA-8992C9C10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425" y="6361686"/>
            <a:ext cx="1609950" cy="3238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89FA0D-D0F2-C5D9-6536-6ACC2FCD00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0374" y="6724487"/>
            <a:ext cx="2867425" cy="26483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FA654D-B00A-D834-9A7F-E56F134AA7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5776" y="9372807"/>
            <a:ext cx="281026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47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A7440-814F-582E-4FDF-A021A25F7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E999D-6A2E-76F5-1FB3-477459683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Copy  vs. Deep copy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6F8439-5725-0B80-35C6-069F30FC4F9C}"/>
              </a:ext>
            </a:extLst>
          </p:cNvPr>
          <p:cNvSpPr txBox="1"/>
          <p:nvPr/>
        </p:nvSpPr>
        <p:spPr>
          <a:xfrm>
            <a:off x="303178" y="862851"/>
            <a:ext cx="2844048" cy="2505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data1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"value2"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F5191-42D0-79DD-5C6F-59D8ABE2FD2C}"/>
              </a:ext>
            </a:extLst>
          </p:cNvPr>
          <p:cNvSpPr txBox="1"/>
          <p:nvPr/>
        </p:nvSpPr>
        <p:spPr>
          <a:xfrm>
            <a:off x="4118164" y="862851"/>
            <a:ext cx="2844048" cy="2505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data2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"value2"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"ford"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"value3"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1964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850"/>
              </a:lnSpc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A89B1F5-EA17-C120-EEBC-7581DCB2EB32}"/>
              </a:ext>
            </a:extLst>
          </p:cNvPr>
          <p:cNvGraphicFramePr>
            <a:graphicFrameLocks noGrp="1"/>
          </p:cNvGraphicFramePr>
          <p:nvPr/>
        </p:nvGraphicFramePr>
        <p:xfrm>
          <a:off x="2364893" y="5582296"/>
          <a:ext cx="3030072" cy="110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5036">
                  <a:extLst>
                    <a:ext uri="{9D8B030D-6E8A-4147-A177-3AD203B41FA5}">
                      <a16:colId xmlns:a16="http://schemas.microsoft.com/office/drawing/2014/main" val="649759372"/>
                    </a:ext>
                  </a:extLst>
                </a:gridCol>
                <a:gridCol w="1515036">
                  <a:extLst>
                    <a:ext uri="{9D8B030D-6E8A-4147-A177-3AD203B41FA5}">
                      <a16:colId xmlns:a16="http://schemas.microsoft.com/office/drawing/2014/main" val="3109343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"value1"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"car"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354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"value2"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"ford"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771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"value3"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1964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898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11E9E8A-E259-6DE8-126A-3CEC009F6827}"/>
              </a:ext>
            </a:extLst>
          </p:cNvPr>
          <p:cNvSpPr txBox="1"/>
          <p:nvPr/>
        </p:nvSpPr>
        <p:spPr>
          <a:xfrm>
            <a:off x="463629" y="3744180"/>
            <a:ext cx="1071127" cy="1018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data1</a:t>
            </a:r>
          </a:p>
          <a:p>
            <a:pPr algn="ctr"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x000000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A0A239-6076-FDA2-3677-700DBC3A19E5}"/>
              </a:ext>
            </a:extLst>
          </p:cNvPr>
          <p:cNvSpPr txBox="1"/>
          <p:nvPr/>
        </p:nvSpPr>
        <p:spPr>
          <a:xfrm>
            <a:off x="6040420" y="3632580"/>
            <a:ext cx="1071127" cy="1018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u="sng" dirty="0"/>
              <a:t>data2</a:t>
            </a:r>
          </a:p>
          <a:p>
            <a:pPr algn="ctr">
              <a:lnSpc>
                <a:spcPts val="28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x000000</a:t>
            </a:r>
          </a:p>
          <a:p>
            <a:endParaRPr lang="en-US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2199AE7-C644-8E33-BCAE-975B02449495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rot="10800000" flipV="1">
            <a:off x="5394966" y="4141694"/>
            <a:ext cx="645455" cy="1994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C3BF452-A554-9A6D-3DC5-57709344FEE9}"/>
              </a:ext>
            </a:extLst>
          </p:cNvPr>
          <p:cNvCxnSpPr>
            <a:cxnSpLocks/>
            <a:stCxn id="14" idx="3"/>
            <a:endCxn id="12" idx="1"/>
          </p:cNvCxnSpPr>
          <p:nvPr/>
        </p:nvCxnSpPr>
        <p:spPr>
          <a:xfrm>
            <a:off x="1534756" y="4253294"/>
            <a:ext cx="830137" cy="18827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12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A32B-E9B7-F665-3A26-9F40C472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Dictionaries (see </a:t>
            </a:r>
            <a:r>
              <a:rPr lang="en-US" b="1" dirty="0">
                <a:hlinkClick r:id="rId2"/>
              </a:rPr>
              <a:t>W3c Python Dictionaries</a:t>
            </a:r>
            <a:r>
              <a:rPr lang="en-US" b="1" dirty="0"/>
              <a:t>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A12273-D01A-4E65-3842-2C782EE3D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30DE5A-3068-6976-B18F-817479ECA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79" y="1790248"/>
            <a:ext cx="7287642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38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297E-89AB-014B-DFF6-C3AB1BEA1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1C26-AA40-958F-D610-79E3932A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474C2-F05A-0C9A-3AFC-83A14EDF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12179"/>
            <a:ext cx="6995160" cy="1938992"/>
          </a:xfrm>
        </p:spPr>
        <p:txBody>
          <a:bodyPr/>
          <a:lstStyle/>
          <a:p>
            <a:r>
              <a:rPr lang="en-US" dirty="0"/>
              <a:t>Similarly, data can be saved </a:t>
            </a:r>
            <a:r>
              <a:rPr lang="en-US" b="1" dirty="0"/>
              <a:t>on specific objects </a:t>
            </a:r>
            <a:r>
              <a:rPr lang="en-US" dirty="0"/>
              <a:t>using </a:t>
            </a:r>
            <a:r>
              <a:rPr lang="en-US" dirty="0">
                <a:hlinkClick r:id="rId2" action="ppaction://hlinkfile"/>
              </a:rPr>
              <a:t>SetUserText</a:t>
            </a:r>
            <a:r>
              <a:rPr lang="en-US" dirty="0"/>
              <a:t> and related functions, </a:t>
            </a:r>
          </a:p>
          <a:p>
            <a:endParaRPr lang="en-US" dirty="0"/>
          </a:p>
          <a:p>
            <a:r>
              <a:rPr lang="en-US" dirty="0"/>
              <a:t>and can be retrieved using </a:t>
            </a:r>
            <a:r>
              <a:rPr lang="en-US" dirty="0">
                <a:hlinkClick r:id="rId3"/>
              </a:rPr>
              <a:t>GetUserText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data is persistent on the object, so it can be retrieved after the file is saved and re-opened later.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746EF-378B-2D41-ED5A-5B306E440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84" y="2996514"/>
            <a:ext cx="4525006" cy="193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B6DA1B-71B6-F879-A9C8-6C73AACB6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84" y="5175702"/>
            <a:ext cx="3848637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8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A6B7C-0D94-DA96-1AAD-FB2D5B7E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499E-97FE-E5AB-450D-AB791F1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Document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1F0F6-FC4C-D99D-C59B-60BEBCC2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12179"/>
            <a:ext cx="6995160" cy="2215991"/>
          </a:xfrm>
        </p:spPr>
        <p:txBody>
          <a:bodyPr/>
          <a:lstStyle/>
          <a:p>
            <a:r>
              <a:rPr lang="en-US" dirty="0"/>
              <a:t>Data can be saved to the document using </a:t>
            </a:r>
            <a:r>
              <a:rPr lang="en-US" dirty="0">
                <a:hlinkClick r:id="rId2"/>
              </a:rPr>
              <a:t>SetDocumentData</a:t>
            </a:r>
            <a:r>
              <a:rPr lang="en-US" dirty="0"/>
              <a:t> and related functions, </a:t>
            </a:r>
          </a:p>
          <a:p>
            <a:endParaRPr lang="en-US" dirty="0"/>
          </a:p>
          <a:p>
            <a:r>
              <a:rPr lang="en-US" dirty="0"/>
              <a:t>and can be retrieved using </a:t>
            </a:r>
            <a:r>
              <a:rPr lang="en-US" dirty="0">
                <a:hlinkClick r:id="rId3"/>
              </a:rPr>
              <a:t>GetDocumentData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This data is persistent on the file, so it can be retrieved after the file is saved and re-opened later.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F04F45-B24A-4D53-8A70-94CA09999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" y="3300670"/>
            <a:ext cx="4182059" cy="1409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9716C5-E033-4037-8C74-92C9E08BA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" y="5210245"/>
            <a:ext cx="443927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43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71C37-9B80-A100-845B-6906BA654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CA67-08BD-B2F4-75A8-DD2710A1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The “sticky dictionary”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B629F-4E26-6FD9-6F73-A8838829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12179"/>
            <a:ext cx="6995160" cy="1107996"/>
          </a:xfrm>
        </p:spPr>
        <p:txBody>
          <a:bodyPr/>
          <a:lstStyle/>
          <a:p>
            <a:r>
              <a:rPr lang="en-US" dirty="0"/>
              <a:t>In the context of Rhino and Grasshopper scripting, </a:t>
            </a:r>
            <a:r>
              <a:rPr lang="en-US" dirty="0" err="1"/>
              <a:t>scriptcontext.sticky</a:t>
            </a:r>
            <a:r>
              <a:rPr lang="en-US" dirty="0"/>
              <a:t> is a built-in, standard Python dictionary that persists during a Rhino session, allowing you to store and retrieve data between different scripts and even different components.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D5717E-1076-3155-E6FF-5A0C27FA6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33" y="2371409"/>
            <a:ext cx="3734321" cy="2476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E29B8E-CDEE-A8B6-085C-3C999C0415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4D0C8"/>
              </a:clrFrom>
              <a:clrTo>
                <a:srgbClr val="D4D0C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2458" y="5552446"/>
            <a:ext cx="6687483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68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A033-290D-8211-96EC-B1F27DBD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614614-3C95-F7BE-A4F3-770467D7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553998"/>
          </a:xfrm>
        </p:spPr>
        <p:txBody>
          <a:bodyPr/>
          <a:lstStyle/>
          <a:p>
            <a:pPr algn="ctr"/>
            <a:r>
              <a:rPr lang="en-US" b="1" dirty="0"/>
              <a:t>Getting data from the Web</a:t>
            </a:r>
            <a:br>
              <a:rPr lang="en-US" b="1" dirty="0"/>
            </a:br>
            <a:r>
              <a:rPr lang="en-US" b="1" dirty="0"/>
              <a:t>example: weather data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759103-E98B-F375-7930-A406F8C752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486"/>
          <a:stretch>
            <a:fillRect/>
          </a:stretch>
        </p:blipFill>
        <p:spPr>
          <a:xfrm>
            <a:off x="0" y="1839903"/>
            <a:ext cx="7772400" cy="707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3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47630-817E-C43B-87C6-7796AC12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4EAFB1-A208-8751-E01B-38156426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553998"/>
          </a:xfrm>
        </p:spPr>
        <p:txBody>
          <a:bodyPr/>
          <a:lstStyle/>
          <a:p>
            <a:pPr algn="ctr"/>
            <a:r>
              <a:rPr lang="en-US" b="1" dirty="0"/>
              <a:t>Getting data from the Web</a:t>
            </a:r>
            <a:br>
              <a:rPr lang="en-US" b="1" dirty="0"/>
            </a:br>
            <a:r>
              <a:rPr lang="en-US" b="1" dirty="0"/>
              <a:t>getWeather.py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B2D3CC-6D72-24AB-6801-3E878BCA7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1248908"/>
            <a:ext cx="6995160" cy="1107996"/>
          </a:xfrm>
        </p:spPr>
        <p:txBody>
          <a:bodyPr/>
          <a:lstStyle/>
          <a:p>
            <a:r>
              <a:rPr lang="en-US" dirty="0"/>
              <a:t>Lots of data is available from the web using “REST APIs”. These often return data in JSON format.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8E59416-88A5-0FA4-1DA4-28758022E98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B773B9-5035-F865-81C1-C3CC40BD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" y="2013575"/>
            <a:ext cx="6058746" cy="5744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1F18A-A5C8-9F1D-03C0-E458DA104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512"/>
          <a:stretch/>
        </p:blipFill>
        <p:spPr>
          <a:xfrm>
            <a:off x="512051" y="9143999"/>
            <a:ext cx="6590429" cy="19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8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52FBA-9E59-145B-FE08-A908E85D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019F27-5F72-1795-9168-B7B868B3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" y="402337"/>
            <a:ext cx="6995160" cy="553998"/>
          </a:xfrm>
        </p:spPr>
        <p:txBody>
          <a:bodyPr/>
          <a:lstStyle/>
          <a:p>
            <a:pPr algn="ctr"/>
            <a:r>
              <a:rPr lang="en-US" b="1" dirty="0"/>
              <a:t>Getting data from the Web</a:t>
            </a:r>
            <a:br>
              <a:rPr lang="en-US" b="1" dirty="0"/>
            </a:br>
            <a:r>
              <a:rPr lang="en-US" b="1" dirty="0"/>
              <a:t>getWeather.py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4879BC-1CD8-E687-2F2A-2EA3505F2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1248908"/>
            <a:ext cx="6995160" cy="1107996"/>
          </a:xfrm>
        </p:spPr>
        <p:txBody>
          <a:bodyPr/>
          <a:lstStyle/>
          <a:p>
            <a:r>
              <a:rPr lang="en-US" dirty="0"/>
              <a:t>Lots of data is available from the web using “REST APIs”. These often return data in JSON format.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D3D5851-B344-0C5B-9A87-A3FC3D42150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2540" rIns="0" bIns="0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9D869-1ABD-6F0B-C492-DF47B4D5D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160"/>
            <a:ext cx="7772400" cy="785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2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A518-B10C-1D63-4DE8-2DECB3FB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9812-54EA-8B50-6977-9274143C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Assignment this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25B1A-193F-BFB6-DF69-6BDA85BB4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620" y="812179"/>
            <a:ext cx="6995160" cy="1938992"/>
          </a:xfrm>
        </p:spPr>
        <p:txBody>
          <a:bodyPr/>
          <a:lstStyle/>
          <a:p>
            <a:r>
              <a:rPr lang="en-US" dirty="0"/>
              <a:t>Develop one or more data structures to manage the object data for your project.</a:t>
            </a:r>
          </a:p>
          <a:p>
            <a:endParaRPr lang="en-US" dirty="0"/>
          </a:p>
          <a:p>
            <a:r>
              <a:rPr lang="en-US" dirty="0"/>
              <a:t>Read and write this data to a file, using both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Structured / tabular data (save as .XLS or CSV)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Unstructured (JSON)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838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3689</TotalTime>
  <Words>1169</Words>
  <Application>Microsoft Office PowerPoint</Application>
  <PresentationFormat>Custom</PresentationFormat>
  <Paragraphs>233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Data 2 - Trees Design Programming 2</vt:lpstr>
      <vt:lpstr>Python / General Web data (Javascript, JSON, etc)</vt:lpstr>
      <vt:lpstr>Python / General Web data (Javascript, JSON, etc)</vt:lpstr>
      <vt:lpstr>Python / General Web data (Javascript, JSON, etc)</vt:lpstr>
      <vt:lpstr>Accessing arrays (see w3c Python Arrays)</vt:lpstr>
      <vt:lpstr>Dictionaries (see W3c Python Dictionaries)</vt:lpstr>
      <vt:lpstr>Dictionaries (see W3c Python Dictionaries)</vt:lpstr>
      <vt:lpstr>“Structured” vs “Unstructured” Data </vt:lpstr>
      <vt:lpstr>Tabular data - serialization</vt:lpstr>
      <vt:lpstr>Data serialization: to JSON</vt:lpstr>
      <vt:lpstr>Data vs. Objects</vt:lpstr>
      <vt:lpstr>Dictionaries (see W3c Python Dictionaries)</vt:lpstr>
      <vt:lpstr>Copy  vs. Deep copy</vt:lpstr>
      <vt:lpstr>Dictionaries (see W3c Python Dictionaries)</vt:lpstr>
      <vt:lpstr>Object Data</vt:lpstr>
      <vt:lpstr>Document Data</vt:lpstr>
      <vt:lpstr>The “sticky dictionary”</vt:lpstr>
      <vt:lpstr>Getting data from the Web example: weather data</vt:lpstr>
      <vt:lpstr>Getting data from the Web getWeather.py</vt:lpstr>
      <vt:lpstr>Getting data from the Web getWeather.py</vt:lpstr>
      <vt:lpstr>Assignment this week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Shelden, Dennis Robert</dc:creator>
  <cp:lastModifiedBy>Shelden, Dennis Robert</cp:lastModifiedBy>
  <cp:revision>17</cp:revision>
  <dcterms:created xsi:type="dcterms:W3CDTF">2024-02-06T11:36:29Z</dcterms:created>
  <dcterms:modified xsi:type="dcterms:W3CDTF">2026-03-24T15:10:12Z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2023-01-09T00:00:00Z</vt:filetime>
  </property>
  <property fmtid="{D5CDD505-2E9C-101B-9397-08002B2CF9AE}" pid="3" name="LastSaved">
    <vt:filetime>2024-02-06T00:00:00Z</vt:filetime>
  </property>
  <property fmtid="{D5CDD505-2E9C-101B-9397-08002B2CF9AE}" pid="4" name="Producer">
    <vt:lpwstr>Skia/PDF m76</vt:lpwstr>
  </property>
</Properties>
</file>