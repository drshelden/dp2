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331" r:id="rId3"/>
    <p:sldId id="311" r:id="rId4"/>
    <p:sldId id="312" r:id="rId5"/>
    <p:sldId id="310" r:id="rId6"/>
    <p:sldId id="335" r:id="rId7"/>
    <p:sldId id="336" r:id="rId8"/>
    <p:sldId id="332" r:id="rId9"/>
    <p:sldId id="333" r:id="rId10"/>
    <p:sldId id="315" r:id="rId11"/>
    <p:sldId id="318" r:id="rId12"/>
  </p:sldIdLst>
  <p:sldSz cx="77724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00"/>
    <a:srgbClr val="FFFF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593" autoAdjust="0"/>
    <p:restoredTop sz="94660"/>
  </p:normalViewPr>
  <p:slideViewPr>
    <p:cSldViewPr snapToGrid="0">
      <p:cViewPr>
        <p:scale>
          <a:sx n="100" d="100"/>
          <a:sy n="100" d="100"/>
        </p:scale>
        <p:origin x="1232" y="-79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2930" y="3118105"/>
            <a:ext cx="660654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65860" y="5632705"/>
            <a:ext cx="544068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1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spcBef>
                <a:spcPts val="20"/>
              </a:spcBef>
            </a:pPr>
            <a:fld id="{81D60167-4931-47E6-BA6A-407CBD079E47}" type="slidenum">
              <a:rPr lang="en-US" spc="-25" smtClean="0"/>
              <a:pPr marL="38100">
                <a:spcBef>
                  <a:spcPts val="20"/>
                </a:spcBef>
              </a:pPr>
              <a:t>‹#›</a:t>
            </a:fld>
            <a:endParaRPr lang="en-US" spc="-25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1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spcBef>
                <a:spcPts val="20"/>
              </a:spcBef>
            </a:pPr>
            <a:fld id="{81D60167-4931-47E6-BA6A-407CBD079E47}" type="slidenum">
              <a:rPr lang="en-US" spc="-25" smtClean="0"/>
              <a:pPr marL="38100">
                <a:spcBef>
                  <a:spcPts val="20"/>
                </a:spcBef>
              </a:pPr>
              <a:t>‹#›</a:t>
            </a:fld>
            <a:endParaRPr lang="en-US" spc="-25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88620" y="2313433"/>
            <a:ext cx="338099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002786" y="2313433"/>
            <a:ext cx="3380994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1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spcBef>
                <a:spcPts val="20"/>
              </a:spcBef>
            </a:pPr>
            <a:fld id="{81D60167-4931-47E6-BA6A-407CBD079E47}" type="slidenum">
              <a:rPr lang="en-US" spc="-25" smtClean="0"/>
              <a:pPr marL="38100">
                <a:spcBef>
                  <a:spcPts val="20"/>
                </a:spcBef>
              </a:pPr>
              <a:t>‹#›</a:t>
            </a:fld>
            <a:endParaRPr lang="en-US" spc="-25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1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spcBef>
                <a:spcPts val="20"/>
              </a:spcBef>
            </a:pPr>
            <a:fld id="{81D60167-4931-47E6-BA6A-407CBD079E47}" type="slidenum">
              <a:rPr lang="en-US" spc="-25" smtClean="0"/>
              <a:pPr marL="38100">
                <a:spcBef>
                  <a:spcPts val="20"/>
                </a:spcBef>
              </a:pPr>
              <a:t>‹#›</a:t>
            </a:fld>
            <a:endParaRPr lang="en-US" spc="-25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1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spcBef>
                <a:spcPts val="20"/>
              </a:spcBef>
            </a:pPr>
            <a:fld id="{81D60167-4931-47E6-BA6A-407CBD079E47}" type="slidenum">
              <a:rPr lang="en-US" spc="-25" smtClean="0"/>
              <a:pPr marL="38100">
                <a:spcBef>
                  <a:spcPts val="20"/>
                </a:spcBef>
              </a:pPr>
              <a:t>‹#›</a:t>
            </a:fld>
            <a:endParaRPr lang="en-US" spc="-25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88620" y="402337"/>
            <a:ext cx="6995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88620" y="2313433"/>
            <a:ext cx="6995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642616" y="9354313"/>
            <a:ext cx="2487168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88620" y="9354313"/>
            <a:ext cx="1787652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705601" y="9220358"/>
            <a:ext cx="201929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1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pPr marL="38100">
              <a:spcBef>
                <a:spcPts val="20"/>
              </a:spcBef>
            </a:pPr>
            <a:fld id="{81D60167-4931-47E6-BA6A-407CBD079E47}" type="slidenum">
              <a:rPr lang="en-US" spc="-25" smtClean="0"/>
              <a:pPr marL="38100">
                <a:spcBef>
                  <a:spcPts val="20"/>
                </a:spcBef>
              </a:pPr>
              <a:t>‹#›</a:t>
            </a:fld>
            <a:endParaRPr lang="en-US" spc="-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hyperlink" Target="https://www.w3schools.com/python/python_arrays.asp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F5FE28-9DE8-6DD5-DB88-16E6E22137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2930" y="4475202"/>
            <a:ext cx="6606540" cy="553998"/>
          </a:xfrm>
        </p:spPr>
        <p:txBody>
          <a:bodyPr/>
          <a:lstStyle/>
          <a:p>
            <a:pPr algn="ctr"/>
            <a:r>
              <a:rPr lang="en-US" b="1" dirty="0"/>
              <a:t>Data 1</a:t>
            </a:r>
            <a:br>
              <a:rPr lang="en-US" b="1" dirty="0"/>
            </a:br>
            <a:r>
              <a:rPr lang="en-US" dirty="0"/>
              <a:t>Advanced Design Scripting &amp; Parametrics</a:t>
            </a: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/>
        <p:txBody>
          <a:bodyPr vert="horz" wrap="square" lIns="0" tIns="2540" rIns="0" bIns="0" rtlCol="0">
            <a:spAutoFit/>
          </a:bodyPr>
          <a:lstStyle/>
          <a:p>
            <a:r>
              <a:rPr lang="en-US" dirty="0"/>
              <a:t>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DCEF5-1827-7105-2865-BE7AD1403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719300-E38C-0971-FC93-15DBD8DBC0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Structured / tabular vs unstructured data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336BB56-9805-2E00-1513-C4A384C675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8620" y="950259"/>
            <a:ext cx="6995160" cy="276999"/>
          </a:xfrm>
        </p:spPr>
        <p:txBody>
          <a:bodyPr/>
          <a:lstStyle/>
          <a:p>
            <a:r>
              <a:rPr lang="en-US" dirty="0"/>
              <a:t>Structured / tabular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E76DBD1-3D1E-BCD5-FC73-85B47069B3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996" y="1498181"/>
            <a:ext cx="3361985" cy="3647560"/>
          </a:xfrm>
          <a:prstGeom prst="rect">
            <a:avLst/>
          </a:prstGeom>
        </p:spPr>
      </p:pic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98CCA146-7395-2881-0D06-0DCB55D305E1}"/>
              </a:ext>
            </a:extLst>
          </p:cNvPr>
          <p:cNvSpPr txBox="1">
            <a:spLocks/>
          </p:cNvSpPr>
          <p:nvPr/>
        </p:nvSpPr>
        <p:spPr>
          <a:xfrm>
            <a:off x="388620" y="5416664"/>
            <a:ext cx="6995160" cy="2769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Structured / tabular</a:t>
            </a:r>
            <a:endParaRPr lang="en-US" dirty="0"/>
          </a:p>
        </p:txBody>
      </p:sp>
      <p:sp>
        <p:nvSpPr>
          <p:cNvPr id="12" name="Google Shape;143;p3">
            <a:extLst>
              <a:ext uri="{FF2B5EF4-FFF2-40B4-BE49-F238E27FC236}">
                <a16:creationId xmlns:a16="http://schemas.microsoft.com/office/drawing/2014/main" id="{5EB19916-4F9E-30DA-5253-65D31562C294}"/>
              </a:ext>
            </a:extLst>
          </p:cNvPr>
          <p:cNvSpPr/>
          <p:nvPr/>
        </p:nvSpPr>
        <p:spPr>
          <a:xfrm>
            <a:off x="307937" y="5709199"/>
            <a:ext cx="5108700" cy="3970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[   </a:t>
            </a:r>
            <a:r>
              <a:rPr lang="en-US" sz="1800" b="0" i="0" u="none" strike="noStrike" cap="none" dirty="0">
                <a:solidFill>
                  <a:srgbClr val="008000"/>
                </a:solidFill>
                <a:latin typeface="Consolas"/>
                <a:ea typeface="Consolas"/>
                <a:cs typeface="Consolas"/>
                <a:sym typeface="Consolas"/>
              </a:rPr>
              <a:t>// An Array</a:t>
            </a:r>
            <a:endParaRPr sz="18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  { 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    </a:t>
            </a:r>
            <a:r>
              <a:rPr lang="en-US" sz="1800" b="0" i="0" u="none" strike="noStrike" cap="none" dirty="0">
                <a:solidFill>
                  <a:srgbClr val="0451A5"/>
                </a:solidFill>
                <a:latin typeface="Consolas"/>
                <a:ea typeface="Consolas"/>
                <a:cs typeface="Consolas"/>
                <a:sym typeface="Consolas"/>
              </a:rPr>
              <a:t>"Key 1"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 </a:t>
            </a:r>
            <a:r>
              <a:rPr lang="en-US" sz="1800" b="0" i="0" u="none" strike="noStrike" cap="none" dirty="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"Object 1"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    </a:t>
            </a:r>
            <a:r>
              <a:rPr lang="en-US" sz="1800" b="0" i="0" u="none" strike="noStrike" cap="none" dirty="0">
                <a:solidFill>
                  <a:srgbClr val="0451A5"/>
                </a:solidFill>
                <a:latin typeface="Consolas"/>
                <a:ea typeface="Consolas"/>
                <a:cs typeface="Consolas"/>
                <a:sym typeface="Consolas"/>
              </a:rPr>
              <a:t>"Key 2"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 </a:t>
            </a:r>
            <a:r>
              <a:rPr lang="en-US" sz="1800" b="0" i="0" u="none" strike="noStrike" cap="none" dirty="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"Value 1"</a:t>
            </a:r>
            <a:endParaRPr sz="18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  },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  {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    </a:t>
            </a:r>
            <a:r>
              <a:rPr lang="en-US" sz="1800" b="0" i="0" u="none" strike="noStrike" cap="none" dirty="0">
                <a:solidFill>
                  <a:srgbClr val="0451A5"/>
                </a:solidFill>
                <a:latin typeface="Consolas"/>
                <a:ea typeface="Consolas"/>
                <a:cs typeface="Consolas"/>
                <a:sym typeface="Consolas"/>
              </a:rPr>
              <a:t>"Key 1"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 </a:t>
            </a:r>
            <a:r>
              <a:rPr lang="en-US" sz="1800" b="0" i="0" u="none" strike="noStrike" cap="none" dirty="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"Object 2"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  },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  {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>
              <a:buSzPts val="1800"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    </a:t>
            </a:r>
            <a:r>
              <a:rPr lang="en-US" sz="1800" b="0" i="0" u="none" strike="noStrike" cap="none" dirty="0">
                <a:solidFill>
                  <a:srgbClr val="0451A5"/>
                </a:solidFill>
                <a:latin typeface="Consolas"/>
                <a:ea typeface="Consolas"/>
                <a:cs typeface="Consolas"/>
                <a:sym typeface="Consolas"/>
              </a:rPr>
              <a:t>"Key 2"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 </a:t>
            </a:r>
            <a:r>
              <a:rPr lang="en-US" sz="1800" b="0" i="0" u="none" strike="noStrike" cap="none" dirty="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"Value 3"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    </a:t>
            </a:r>
            <a:r>
              <a:rPr lang="en-US" sz="1800" b="0" i="0" u="none" strike="noStrike" cap="none" dirty="0">
                <a:solidFill>
                  <a:srgbClr val="0451A5"/>
                </a:solidFill>
                <a:latin typeface="Consolas"/>
                <a:ea typeface="Consolas"/>
                <a:cs typeface="Consolas"/>
                <a:sym typeface="Consolas"/>
              </a:rPr>
              <a:t>"Key 1"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 </a:t>
            </a:r>
            <a:r>
              <a:rPr lang="en-US" sz="1800" b="0" i="0" u="none" strike="noStrike" cap="none" dirty="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"Object 3"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,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    </a:t>
            </a:r>
            <a:r>
              <a:rPr lang="en-US" sz="1800" b="0" i="0" u="none" strike="noStrike" cap="none" dirty="0">
                <a:solidFill>
                  <a:srgbClr val="0451A5"/>
                </a:solidFill>
                <a:latin typeface="Consolas"/>
                <a:ea typeface="Consolas"/>
                <a:cs typeface="Consolas"/>
                <a:sym typeface="Consolas"/>
              </a:rPr>
              <a:t>"Key 3"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 </a:t>
            </a:r>
            <a:r>
              <a:rPr lang="en-US" sz="1800" b="0" i="0" u="none" strike="noStrike" cap="none" dirty="0">
                <a:solidFill>
                  <a:srgbClr val="A31515"/>
                </a:solidFill>
                <a:latin typeface="Consolas"/>
                <a:ea typeface="Consolas"/>
                <a:cs typeface="Consolas"/>
                <a:sym typeface="Consolas"/>
              </a:rPr>
              <a:t>"Value 4"</a:t>
            </a: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 </a:t>
            </a:r>
            <a:r>
              <a:rPr lang="en-US" sz="1800" b="0" i="0" u="none" strike="noStrike" cap="none" dirty="0">
                <a:solidFill>
                  <a:srgbClr val="008000"/>
                </a:solidFill>
                <a:latin typeface="Consolas"/>
                <a:ea typeface="Consolas"/>
                <a:cs typeface="Consolas"/>
                <a:sym typeface="Consolas"/>
              </a:rPr>
              <a:t>// Flexible</a:t>
            </a:r>
            <a:endParaRPr sz="18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  } 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]</a:t>
            </a:r>
            <a:endParaRPr sz="1800" b="0" i="0" u="none" strike="noStrike" cap="none" dirty="0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1236678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F5FE28-9DE8-6DD5-DB88-16E6E2213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Structured Data </a:t>
            </a: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E93454C-EE74-3307-A021-B5375DF2DA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8620" y="917436"/>
            <a:ext cx="6995160" cy="4154984"/>
          </a:xfrm>
        </p:spPr>
        <p:txBody>
          <a:bodyPr/>
          <a:lstStyle/>
          <a:p>
            <a:r>
              <a:rPr lang="en-US" dirty="0"/>
              <a:t>Sometimes data associated with instances is consistent across similar instances. This sort of data is (somewhat erroneously) called “structured data” or “tabular data”, and we can represent it in a table, where</a:t>
            </a:r>
          </a:p>
          <a:p>
            <a:r>
              <a:rPr lang="en-US" dirty="0"/>
              <a:t>- Rows are individual data instances</a:t>
            </a:r>
          </a:p>
          <a:p>
            <a:r>
              <a:rPr lang="en-US" dirty="0"/>
              <a:t>- columns are the different (but consistent) key – value combinations:</a:t>
            </a:r>
          </a:p>
          <a:p>
            <a:endParaRPr lang="en-US" dirty="0"/>
          </a:p>
          <a:p>
            <a:r>
              <a:rPr lang="en-US" dirty="0"/>
              <a:t>Sometimes a specific parameter is identified as the ID of the instance. In that case this value must be unique for each instance: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/>
        <p:txBody>
          <a:bodyPr vert="horz" wrap="square" lIns="0" tIns="2540" rIns="0" bIns="0" rtlCol="0">
            <a:spAutoFit/>
          </a:bodyPr>
          <a:lstStyle/>
          <a:p>
            <a:r>
              <a:rPr lang="en-US" dirty="0"/>
              <a:t>8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F4F7C68-4223-517A-4D13-C83012141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8857508"/>
              </p:ext>
            </p:extLst>
          </p:nvPr>
        </p:nvGraphicFramePr>
        <p:xfrm>
          <a:off x="444500" y="3460750"/>
          <a:ext cx="5181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1431480188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670494839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452228250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42073512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brand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725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Ford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Mustang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1964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883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00002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Ford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Mustang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1967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86431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BMW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I5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2022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8817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00004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BMW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I3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2024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190344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00005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Volkswagen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Rabbit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0651545"/>
                  </a:ext>
                </a:extLst>
              </a:tr>
            </a:tbl>
          </a:graphicData>
        </a:graphic>
      </p:graphicFrame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5CAD889E-455D-5141-DF59-278BE993596F}"/>
              </a:ext>
            </a:extLst>
          </p:cNvPr>
          <p:cNvSpPr txBox="1">
            <a:spLocks/>
          </p:cNvSpPr>
          <p:nvPr/>
        </p:nvSpPr>
        <p:spPr>
          <a:xfrm>
            <a:off x="388620" y="5888990"/>
            <a:ext cx="6995160" cy="63709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This is equivalent to - but not the same as - the following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[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	{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			ID :  	00001,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			brand: “Ford”, 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			model: “Mustang”,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			year: 1964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	},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	{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			ID :  	00002,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			brand: “Ford”, 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			model: “Mustang”,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			year: 1967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	},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 . . .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endParaRPr lang="en-US" dirty="0"/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endParaRPr lang="en-US" dirty="0"/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endParaRPr lang="en-US" dirty="0"/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endParaRPr lang="en-US" dirty="0"/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endParaRPr lang="en-US" dirty="0"/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endParaRPr lang="en-US" dirty="0"/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7100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F5FE28-9DE8-6DD5-DB88-16E6E2213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Tabular data - serialization</a:t>
            </a: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E93454C-EE74-3307-A021-B5375DF2DA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6240" y="874216"/>
            <a:ext cx="6995160" cy="3323987"/>
          </a:xfrm>
        </p:spPr>
        <p:txBody>
          <a:bodyPr/>
          <a:lstStyle/>
          <a:p>
            <a:r>
              <a:rPr lang="en-US" dirty="0"/>
              <a:t>Tabular data can be “serialized” as text with defined character separators between fields.</a:t>
            </a:r>
          </a:p>
          <a:p>
            <a:endParaRPr lang="en-US" dirty="0"/>
          </a:p>
          <a:p>
            <a:r>
              <a:rPr lang="en-US" dirty="0"/>
              <a:t>Serialize (roughly) write data out to a string or stream</a:t>
            </a:r>
          </a:p>
          <a:p>
            <a:endParaRPr lang="en-US" dirty="0"/>
          </a:p>
          <a:p>
            <a:r>
              <a:rPr lang="en-US" dirty="0"/>
              <a:t>This example: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/>
        <p:txBody>
          <a:bodyPr vert="horz" wrap="square" lIns="0" tIns="2540" rIns="0" bIns="0" rtlCol="0">
            <a:spAutoFit/>
          </a:bodyPr>
          <a:lstStyle/>
          <a:p>
            <a:r>
              <a:rPr lang="en-US" dirty="0"/>
              <a:t>8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F4F7C68-4223-517A-4D13-C83012141C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1929281"/>
              </p:ext>
            </p:extLst>
          </p:nvPr>
        </p:nvGraphicFramePr>
        <p:xfrm>
          <a:off x="444500" y="2171643"/>
          <a:ext cx="5181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5400">
                  <a:extLst>
                    <a:ext uri="{9D8B030D-6E8A-4147-A177-3AD203B41FA5}">
                      <a16:colId xmlns:a16="http://schemas.microsoft.com/office/drawing/2014/main" val="1431480188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3670494839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452228250"/>
                    </a:ext>
                  </a:extLst>
                </a:gridCol>
                <a:gridCol w="1295400">
                  <a:extLst>
                    <a:ext uri="{9D8B030D-6E8A-4147-A177-3AD203B41FA5}">
                      <a16:colId xmlns:a16="http://schemas.microsoft.com/office/drawing/2014/main" val="420735127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brand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year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14725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00001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Ford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1964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883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00003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BMW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I5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2022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8817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00005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Volkswagen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Rabbit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0651545"/>
                  </a:ext>
                </a:extLst>
              </a:tr>
            </a:tbl>
          </a:graphicData>
        </a:graphic>
      </p:graphicFrame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5CAD889E-455D-5141-DF59-278BE993596F}"/>
              </a:ext>
            </a:extLst>
          </p:cNvPr>
          <p:cNvSpPr txBox="1">
            <a:spLocks/>
          </p:cNvSpPr>
          <p:nvPr/>
        </p:nvSpPr>
        <p:spPr>
          <a:xfrm>
            <a:off x="388620" y="4028440"/>
            <a:ext cx="6995160" cy="27699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Could be serialized as follows: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endParaRPr lang="en-US" dirty="0"/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 err="1"/>
              <a:t>ID,brand,model,year</a:t>
            </a:r>
            <a:r>
              <a:rPr lang="en-US" dirty="0"/>
              <a:t>\n00001,Ford,,1964\n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00003,BMW,I5,2022 &lt;</a:t>
            </a:r>
            <a:r>
              <a:rPr lang="en-US" dirty="0" err="1"/>
              <a:t>cr</a:t>
            </a:r>
            <a:r>
              <a:rPr lang="en-US" dirty="0"/>
              <a:t>&gt;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00005,Volkswagen,Rabbit,1990 &lt;</a:t>
            </a:r>
            <a:r>
              <a:rPr lang="en-US" dirty="0" err="1"/>
              <a:t>cr</a:t>
            </a:r>
            <a:r>
              <a:rPr lang="en-US" dirty="0"/>
              <a:t>&gt;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endParaRPr lang="en-US" dirty="0"/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r>
              <a:rPr lang="en-US" dirty="0"/>
              <a:t>This serialization has commas between fields and is known as </a:t>
            </a:r>
            <a:br>
              <a:rPr lang="en-US" dirty="0"/>
            </a:br>
            <a:r>
              <a:rPr lang="en-US" dirty="0"/>
              <a:t>CSV (comma separated value) format.</a:t>
            </a:r>
          </a:p>
          <a:p>
            <a:pPr>
              <a:tabLst>
                <a:tab pos="228600" algn="l"/>
                <a:tab pos="457200" algn="l"/>
                <a:tab pos="685800" algn="l"/>
                <a:tab pos="914400" algn="l"/>
                <a:tab pos="1143000" algn="l"/>
              </a:tabLst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3408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F5FE28-9DE8-6DD5-DB88-16E6E2213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Saving data out to a file</a:t>
            </a: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E93454C-EE74-3307-A021-B5375DF2DA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8620" y="876300"/>
            <a:ext cx="6995160" cy="4708981"/>
          </a:xfrm>
        </p:spPr>
        <p:txBody>
          <a:bodyPr/>
          <a:lstStyle/>
          <a:p>
            <a:pPr lvl="1"/>
            <a:r>
              <a:rPr lang="en-US" dirty="0"/>
              <a:t>Many options:</a:t>
            </a:r>
          </a:p>
          <a:p>
            <a:pPr lvl="1"/>
            <a:endParaRPr lang="en-US" dirty="0"/>
          </a:p>
          <a:p>
            <a:pPr lvl="1"/>
            <a:r>
              <a:rPr lang="en-US" dirty="0" err="1"/>
              <a:t>TTToolbox</a:t>
            </a:r>
            <a:r>
              <a:rPr lang="en-US" dirty="0"/>
              <a:t> to Excel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/>
        <p:txBody>
          <a:bodyPr vert="horz" wrap="square" lIns="0" tIns="2540" rIns="0" bIns="0" rtlCol="0">
            <a:spAutoFit/>
          </a:bodyPr>
          <a:lstStyle/>
          <a:p>
            <a:r>
              <a:rPr lang="en-US" dirty="0"/>
              <a:t>8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A5F253-A086-D1DE-2397-C3F2507CD6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915407"/>
            <a:ext cx="5612130" cy="3113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87559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C49C3-823F-7A73-86D1-F66EF2C6D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1259539-1D4E-4861-526E-B40F05D35C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620" y="402337"/>
            <a:ext cx="6995160" cy="830997"/>
          </a:xfrm>
        </p:spPr>
        <p:txBody>
          <a:bodyPr/>
          <a:lstStyle/>
          <a:p>
            <a:pPr algn="ctr"/>
            <a:r>
              <a:rPr lang="en-US" b="1" dirty="0"/>
              <a:t>Saving data out to a file</a:t>
            </a:r>
            <a:br>
              <a:rPr lang="en-US" b="1" dirty="0"/>
            </a:br>
            <a:r>
              <a:rPr lang="en-US" b="1" dirty="0"/>
              <a:t>TTOOLBOX</a:t>
            </a:r>
            <a:br>
              <a:rPr lang="en-US" b="1" dirty="0"/>
            </a:br>
            <a:r>
              <a:rPr lang="en-US" b="1" dirty="0"/>
              <a:t>basic TT XLS READ.gh</a:t>
            </a:r>
            <a:endParaRPr lang="en-US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92CF320B-5CC0-6E24-A76F-48F2567535D4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/>
        <p:txBody>
          <a:bodyPr vert="horz" wrap="square" lIns="0" tIns="2540" rIns="0" bIns="0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C7D558D-B2B3-F4BC-0CFB-008B953080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500B21E-5182-D7D6-D9D6-EC56D46E9A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527727"/>
            <a:ext cx="7772400" cy="70029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9017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A8BFF-A429-E931-9AA7-53A31AC64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521B1FE-F3E0-2197-185A-95CF96BE7A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620" y="402337"/>
            <a:ext cx="6995160" cy="830997"/>
          </a:xfrm>
        </p:spPr>
        <p:txBody>
          <a:bodyPr/>
          <a:lstStyle/>
          <a:p>
            <a:pPr algn="ctr"/>
            <a:r>
              <a:rPr lang="en-US" b="1" dirty="0"/>
              <a:t>Saving data out to a file</a:t>
            </a:r>
            <a:br>
              <a:rPr lang="en-US" b="1" dirty="0"/>
            </a:br>
            <a:r>
              <a:rPr lang="en-US" b="1" dirty="0"/>
              <a:t>TTOOLBOX</a:t>
            </a:r>
            <a:br>
              <a:rPr lang="en-US" b="1" dirty="0"/>
            </a:br>
            <a:r>
              <a:rPr lang="en-US" b="1" dirty="0"/>
              <a:t>basic TT XLS READ.gh</a:t>
            </a:r>
            <a:endParaRPr lang="en-US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F0506EB5-9350-9D75-CF5C-DA4C1BF046A4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/>
        <p:txBody>
          <a:bodyPr vert="horz" wrap="square" lIns="0" tIns="2540" rIns="0" bIns="0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6C7F8E4-F3E4-91E3-BEB0-AF9F382DCA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97324A-88C9-BA45-F309-BC5B961AE8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" y="1637982"/>
            <a:ext cx="7772400" cy="50233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77D0DB2-86A6-87F6-6AF5-BADBB906A2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2577" y="6661285"/>
            <a:ext cx="1495634" cy="31817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39383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61CDA-60B8-2194-2B81-76BCE8BF2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867D35CF-59C5-8ABC-9AD8-BDAED1AA8A33}"/>
              </a:ext>
            </a:extLst>
          </p:cNvPr>
          <p:cNvSpPr/>
          <p:nvPr/>
        </p:nvSpPr>
        <p:spPr>
          <a:xfrm>
            <a:off x="471953" y="4198015"/>
            <a:ext cx="7050677" cy="1305319"/>
          </a:xfrm>
          <a:prstGeom prst="rect">
            <a:avLst/>
          </a:prstGeom>
          <a:solidFill>
            <a:srgbClr val="FFFF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4C681D-B3A5-D219-C889-7061154AA977}"/>
              </a:ext>
            </a:extLst>
          </p:cNvPr>
          <p:cNvSpPr/>
          <p:nvPr/>
        </p:nvSpPr>
        <p:spPr>
          <a:xfrm>
            <a:off x="471953" y="5953604"/>
            <a:ext cx="7050677" cy="1305319"/>
          </a:xfrm>
          <a:prstGeom prst="rect">
            <a:avLst/>
          </a:prstGeom>
          <a:solidFill>
            <a:srgbClr val="FFFF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E7EEF2E-B48A-F5C8-ABCB-F7AE93143E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620" y="402337"/>
            <a:ext cx="6995160" cy="553998"/>
          </a:xfrm>
        </p:spPr>
        <p:txBody>
          <a:bodyPr/>
          <a:lstStyle/>
          <a:p>
            <a:pPr algn="ctr"/>
            <a:r>
              <a:rPr lang="en-US" b="1" dirty="0"/>
              <a:t>Saving data out to a file</a:t>
            </a:r>
            <a:br>
              <a:rPr lang="en-US" b="1" dirty="0"/>
            </a:br>
            <a:r>
              <a:rPr lang="en-US" b="1" dirty="0"/>
              <a:t>writeOutCSV_basic.py</a:t>
            </a:r>
            <a:endParaRPr lang="en-US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E8044579-D9D5-24B7-7F22-5D1962B79394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/>
        <p:txBody>
          <a:bodyPr vert="horz" wrap="square" lIns="0" tIns="2540" rIns="0" bIns="0" rtlCol="0">
            <a:spAutoFit/>
          </a:bodyPr>
          <a:lstStyle/>
          <a:p>
            <a:r>
              <a:rPr lang="en-US" dirty="0"/>
              <a:t>8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66CF17F-DA7F-1016-1676-EAF65D0A66FB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0" y="1037266"/>
            <a:ext cx="6507962" cy="65391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EFC75FE-5DDC-4F17-E0A7-F030381936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7336" y="7354428"/>
            <a:ext cx="3136688" cy="26084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6473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D437E-B026-58D8-9375-1CE920C0F0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C602EDC-5A8D-6854-AD94-200FB451AD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8620" y="402337"/>
            <a:ext cx="6995160" cy="553998"/>
          </a:xfrm>
        </p:spPr>
        <p:txBody>
          <a:bodyPr/>
          <a:lstStyle/>
          <a:p>
            <a:pPr algn="ctr"/>
            <a:r>
              <a:rPr lang="en-US" b="1" dirty="0"/>
              <a:t>Saving data out to a file</a:t>
            </a:r>
            <a:br>
              <a:rPr lang="en-US" b="1" dirty="0"/>
            </a:br>
            <a:r>
              <a:rPr lang="en-US" b="1" dirty="0"/>
              <a:t>writeOutCSV.py</a:t>
            </a: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0171C12-1923-E081-8923-423B186703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8620" y="876300"/>
            <a:ext cx="6995160" cy="4708981"/>
          </a:xfrm>
        </p:spPr>
        <p:txBody>
          <a:bodyPr/>
          <a:lstStyle/>
          <a:p>
            <a:pPr lvl="1"/>
            <a:r>
              <a:rPr lang="en-US" dirty="0"/>
              <a:t>Many options: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With </a:t>
            </a:r>
            <a:r>
              <a:rPr lang="en-US" b="1" dirty="0"/>
              <a:t>a simple file save</a:t>
            </a:r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10" name="object 10">
            <a:extLst>
              <a:ext uri="{FF2B5EF4-FFF2-40B4-BE49-F238E27FC236}">
                <a16:creationId xmlns:a16="http://schemas.microsoft.com/office/drawing/2014/main" id="{E19E7CF4-DEB6-C2CA-A24A-FC2F60ADA126}"/>
              </a:ext>
            </a:extLst>
          </p:cNvPr>
          <p:cNvSpPr txBox="1">
            <a:spLocks noGrp="1"/>
          </p:cNvSpPr>
          <p:nvPr>
            <p:ph type="sldNum" sz="quarter" idx="7"/>
          </p:nvPr>
        </p:nvSpPr>
        <p:spPr/>
        <p:txBody>
          <a:bodyPr vert="horz" wrap="square" lIns="0" tIns="2540" rIns="0" bIns="0" rtlCol="0">
            <a:spAutoFit/>
          </a:bodyPr>
          <a:lstStyle/>
          <a:p>
            <a:r>
              <a:rPr lang="en-US" dirty="0"/>
              <a:t>8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FE7435A-F2DA-1D31-6394-4C9F0206A4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7336" y="7354428"/>
            <a:ext cx="3136688" cy="260848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7648AFC-325A-92CC-822C-917AAB5754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62359"/>
            <a:ext cx="7772400" cy="7533681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7549717B-4C4E-1722-B6BD-E6F769AE72B2}"/>
              </a:ext>
            </a:extLst>
          </p:cNvPr>
          <p:cNvSpPr/>
          <p:nvPr/>
        </p:nvSpPr>
        <p:spPr>
          <a:xfrm>
            <a:off x="531223" y="1497874"/>
            <a:ext cx="1428206" cy="217715"/>
          </a:xfrm>
          <a:prstGeom prst="rect">
            <a:avLst/>
          </a:prstGeom>
          <a:solidFill>
            <a:srgbClr val="FFFF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14E915D-BF76-3A5B-7518-B0C145C05BBE}"/>
              </a:ext>
            </a:extLst>
          </p:cNvPr>
          <p:cNvSpPr/>
          <p:nvPr/>
        </p:nvSpPr>
        <p:spPr>
          <a:xfrm>
            <a:off x="531222" y="5129348"/>
            <a:ext cx="7050677" cy="1305319"/>
          </a:xfrm>
          <a:prstGeom prst="rect">
            <a:avLst/>
          </a:prstGeom>
          <a:solidFill>
            <a:srgbClr val="FFFF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42904B1-E339-834B-8B31-793DD5C167F1}"/>
              </a:ext>
            </a:extLst>
          </p:cNvPr>
          <p:cNvSpPr/>
          <p:nvPr/>
        </p:nvSpPr>
        <p:spPr>
          <a:xfrm>
            <a:off x="531222" y="7147786"/>
            <a:ext cx="7050677" cy="1305319"/>
          </a:xfrm>
          <a:prstGeom prst="rect">
            <a:avLst/>
          </a:prstGeom>
          <a:solidFill>
            <a:srgbClr val="FFFF00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6993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3F5FE28-9DE8-6DD5-DB88-16E6E2213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Data logging example</a:t>
            </a:r>
            <a:endParaRPr lang="en-US" dirty="0"/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xfrm>
            <a:off x="6705601" y="7720562"/>
            <a:ext cx="201929" cy="123111"/>
          </a:xfrm>
        </p:spPr>
        <p:txBody>
          <a:bodyPr vert="horz" wrap="square" lIns="0" tIns="2540" rIns="0" bIns="0" rtlCol="0">
            <a:spAutoFit/>
          </a:bodyPr>
          <a:lstStyle/>
          <a:p>
            <a:r>
              <a:rPr lang="en-US" dirty="0"/>
              <a:t>8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CA83D8FF-B03F-C7CC-5D90-872BC34391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8620" y="813637"/>
            <a:ext cx="6995160" cy="276999"/>
          </a:xfrm>
        </p:spPr>
        <p:txBody>
          <a:bodyPr/>
          <a:lstStyle/>
          <a:p>
            <a:pPr algn="ctr"/>
            <a:r>
              <a:rPr lang="en-US" dirty="0"/>
              <a:t>data logging.gh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2D21F3F-4C50-D65A-1259-437F3612B7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" y="1327533"/>
            <a:ext cx="6995161" cy="346477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AACA0EC-B1A4-4F92-FCC2-5E362F31B9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" y="5029200"/>
            <a:ext cx="2210108" cy="5887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6615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F1A32B-E9B7-F665-3A26-9F40C4724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Accessing arrays (see </a:t>
            </a:r>
            <a:r>
              <a:rPr lang="en-US" b="1" dirty="0">
                <a:hlinkClick r:id="rId2"/>
              </a:rPr>
              <a:t>w3c Python Arrays</a:t>
            </a:r>
            <a:r>
              <a:rPr lang="en-US" b="1" dirty="0"/>
              <a:t>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6208356-0367-17C0-4514-53B2FCB2960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8153"/>
          <a:stretch/>
        </p:blipFill>
        <p:spPr>
          <a:xfrm>
            <a:off x="260985" y="5029200"/>
            <a:ext cx="7258050" cy="429554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1DE181B-B5E0-7773-1ACB-5A53FBBFE2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985" y="857037"/>
            <a:ext cx="3820058" cy="99073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61A42F3-5417-FC28-1216-A0D77EE589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0985" y="1847775"/>
            <a:ext cx="4696480" cy="60015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138639B-B272-BB5D-F8CB-1AD991AC7D7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0511" y="2447934"/>
            <a:ext cx="4677428" cy="91452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B73A6D2-9D6E-0937-D2CB-628AC86911A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0511" y="3419171"/>
            <a:ext cx="6573167" cy="125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7784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3526</TotalTime>
  <Words>494</Words>
  <Application>Microsoft Office PowerPoint</Application>
  <PresentationFormat>Custom</PresentationFormat>
  <Paragraphs>153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Data 1 Advanced Design Scripting &amp; Parametrics</vt:lpstr>
      <vt:lpstr>Structured / tabular vs unstructured data</vt:lpstr>
      <vt:lpstr>Structured Data </vt:lpstr>
      <vt:lpstr>Tabular data - serialization</vt:lpstr>
      <vt:lpstr>Saving data out to a file</vt:lpstr>
      <vt:lpstr>Saving data out to a file TTOOLBOX basic TT XLS READ.gh</vt:lpstr>
      <vt:lpstr>Saving data out to a file TTOOLBOX basic TT XLS READ.gh</vt:lpstr>
      <vt:lpstr>Saving data out to a file writeOutCSV_basic.py</vt:lpstr>
      <vt:lpstr>Saving data out to a file writeOutCSV.py</vt:lpstr>
      <vt:lpstr>Data logging example</vt:lpstr>
      <vt:lpstr>Accessing arrays (see w3c Python Arrays)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Shelden, Dennis Robert</dc:creator>
  <cp:lastModifiedBy>Shelden, Dennis Robert</cp:lastModifiedBy>
  <cp:revision>27</cp:revision>
  <dcterms:created xsi:type="dcterms:W3CDTF">2024-02-06T11:36:29Z</dcterms:created>
  <dcterms:modified xsi:type="dcterms:W3CDTF">2026-03-18T17:23:43Z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2023-01-09T00:00:00Z</vt:filetime>
  </property>
  <property fmtid="{D5CDD505-2E9C-101B-9397-08002B2CF9AE}" pid="3" name="LastSaved">
    <vt:filetime>2024-02-06T00:00:00Z</vt:filetime>
  </property>
  <property fmtid="{D5CDD505-2E9C-101B-9397-08002B2CF9AE}" pid="4" name="Producer">
    <vt:lpwstr>Skia/PDF m76</vt:lpwstr>
  </property>
</Properties>
</file>