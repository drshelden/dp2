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11" r:id="rId4"/>
    <p:sldId id="312" r:id="rId5"/>
    <p:sldId id="310" r:id="rId6"/>
    <p:sldId id="335" r:id="rId7"/>
    <p:sldId id="336" r:id="rId8"/>
    <p:sldId id="332" r:id="rId9"/>
    <p:sldId id="333" r:id="rId10"/>
    <p:sldId id="315" r:id="rId11"/>
    <p:sldId id="318" r:id="rId1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9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5"/>
            <a:ext cx="66065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5"/>
            <a:ext cx="544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3"/>
            <a:ext cx="24871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5601" y="9220358"/>
            <a:ext cx="20192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hyperlink" Target="https://www.w3schools.com/python/python_array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4475202"/>
            <a:ext cx="6606540" cy="553998"/>
          </a:xfrm>
        </p:spPr>
        <p:txBody>
          <a:bodyPr/>
          <a:lstStyle/>
          <a:p>
            <a:pPr algn="ctr"/>
            <a:r>
              <a:rPr lang="en-US" b="1" dirty="0"/>
              <a:t>Data 1</a:t>
            </a:r>
            <a:br>
              <a:rPr lang="en-US" b="1" dirty="0"/>
            </a:br>
            <a:r>
              <a:rPr lang="en-US" dirty="0"/>
              <a:t>Advanced Design Scripting &amp; Parametrics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CEF5-1827-7105-2865-BE7AD140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19300-E38C-0971-FC93-15DBD8DB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Structured / tabular vs unstructured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6BB56-9805-2E00-1513-C4A384C67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950259"/>
            <a:ext cx="6995160" cy="276999"/>
          </a:xfrm>
        </p:spPr>
        <p:txBody>
          <a:bodyPr/>
          <a:lstStyle/>
          <a:p>
            <a:r>
              <a:rPr lang="en-US" dirty="0"/>
              <a:t>Structured / tabular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76DBD1-3D1E-BCD5-FC73-85B47069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96" y="1498181"/>
            <a:ext cx="3361985" cy="3647560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8CCA146-7395-2881-0D06-0DCB55D305E1}"/>
              </a:ext>
            </a:extLst>
          </p:cNvPr>
          <p:cNvSpPr txBox="1">
            <a:spLocks/>
          </p:cNvSpPr>
          <p:nvPr/>
        </p:nvSpPr>
        <p:spPr>
          <a:xfrm>
            <a:off x="388620" y="5416664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Structured / tabular</a:t>
            </a:r>
            <a:endParaRPr lang="en-US" dirty="0"/>
          </a:p>
        </p:txBody>
      </p:sp>
      <p:sp>
        <p:nvSpPr>
          <p:cNvPr id="12" name="Google Shape;143;p3">
            <a:extLst>
              <a:ext uri="{FF2B5EF4-FFF2-40B4-BE49-F238E27FC236}">
                <a16:creationId xmlns:a16="http://schemas.microsoft.com/office/drawing/2014/main" id="{5EB19916-4F9E-30DA-5253-65D31562C294}"/>
              </a:ext>
            </a:extLst>
          </p:cNvPr>
          <p:cNvSpPr/>
          <p:nvPr/>
        </p:nvSpPr>
        <p:spPr>
          <a:xfrm>
            <a:off x="307937" y="5709199"/>
            <a:ext cx="51087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   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 An Array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1"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4"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 Flexible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3667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Structured Data 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917436"/>
            <a:ext cx="6995160" cy="4154984"/>
          </a:xfrm>
        </p:spPr>
        <p:txBody>
          <a:bodyPr/>
          <a:lstStyle/>
          <a:p>
            <a:r>
              <a:rPr lang="en-US" dirty="0"/>
              <a:t>Sometimes data associated with instances is consistent across similar instances. This sort of data is (somewhat erroneously) called “structured data” or “tabular data”, and we can represent it in a table, where</a:t>
            </a:r>
          </a:p>
          <a:p>
            <a:r>
              <a:rPr lang="en-US" dirty="0"/>
              <a:t>- Rows are individual data instances</a:t>
            </a:r>
          </a:p>
          <a:p>
            <a:r>
              <a:rPr lang="en-US" dirty="0"/>
              <a:t>- columns are the different (but consistent) key – value combinations:</a:t>
            </a:r>
          </a:p>
          <a:p>
            <a:endParaRPr lang="en-US" dirty="0"/>
          </a:p>
          <a:p>
            <a:r>
              <a:rPr lang="en-US" dirty="0"/>
              <a:t>Sometimes a specific parameter is identified as the ID of the instance. In that case this value must be unique for each instance: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4F7C68-4223-517A-4D13-C8301214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57508"/>
              </p:ext>
            </p:extLst>
          </p:nvPr>
        </p:nvGraphicFramePr>
        <p:xfrm>
          <a:off x="444500" y="3460750"/>
          <a:ext cx="5181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314801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704948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22282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735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64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8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03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51545"/>
                  </a:ext>
                </a:extLst>
              </a:tr>
            </a:tbl>
          </a:graphicData>
        </a:graphic>
      </p:graphicFrame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CAD889E-455D-5141-DF59-278BE993596F}"/>
              </a:ext>
            </a:extLst>
          </p:cNvPr>
          <p:cNvSpPr txBox="1">
            <a:spLocks/>
          </p:cNvSpPr>
          <p:nvPr/>
        </p:nvSpPr>
        <p:spPr>
          <a:xfrm>
            <a:off x="388620" y="5888990"/>
            <a:ext cx="6995160" cy="637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This is equivalent to - but not the same as - the following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[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ID :  	00001,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brand: “Ford”,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model: “Mustang”,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year: 1964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},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ID :  	00002,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brand: “Ford”,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model: “Mustang”,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year: 1967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},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 . . .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1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Tabular data - serialization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0" y="874216"/>
            <a:ext cx="6995160" cy="3323987"/>
          </a:xfrm>
        </p:spPr>
        <p:txBody>
          <a:bodyPr/>
          <a:lstStyle/>
          <a:p>
            <a:r>
              <a:rPr lang="en-US" dirty="0"/>
              <a:t>Tabular data can be “serialized” as text with defined character separators between fields.</a:t>
            </a:r>
          </a:p>
          <a:p>
            <a:endParaRPr lang="en-US" dirty="0"/>
          </a:p>
          <a:p>
            <a:r>
              <a:rPr lang="en-US" dirty="0"/>
              <a:t>Serialize (roughly) write data out to a string or stream</a:t>
            </a:r>
          </a:p>
          <a:p>
            <a:endParaRPr lang="en-US" dirty="0"/>
          </a:p>
          <a:p>
            <a:r>
              <a:rPr lang="en-US" dirty="0"/>
              <a:t>This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4F7C68-4223-517A-4D13-C8301214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781601"/>
              </p:ext>
            </p:extLst>
          </p:nvPr>
        </p:nvGraphicFramePr>
        <p:xfrm>
          <a:off x="444500" y="2171643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314801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704948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22282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735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8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51545"/>
                  </a:ext>
                </a:extLst>
              </a:tr>
            </a:tbl>
          </a:graphicData>
        </a:graphic>
      </p:graphicFrame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CAD889E-455D-5141-DF59-278BE993596F}"/>
              </a:ext>
            </a:extLst>
          </p:cNvPr>
          <p:cNvSpPr txBox="1">
            <a:spLocks/>
          </p:cNvSpPr>
          <p:nvPr/>
        </p:nvSpPr>
        <p:spPr>
          <a:xfrm>
            <a:off x="388620" y="4028440"/>
            <a:ext cx="6995160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Could be serialized as follows: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 err="1"/>
              <a:t>ID,brand,model,year</a:t>
            </a:r>
            <a:r>
              <a:rPr lang="en-US" dirty="0"/>
              <a:t>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00001,Ford,Mustang,1964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00003,BMW,I5,2022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00005,Volkswagen,Rabbit,1990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This serialization has commas between fields and is known as </a:t>
            </a:r>
            <a:br>
              <a:rPr lang="en-US" dirty="0"/>
            </a:br>
            <a:r>
              <a:rPr lang="en-US" dirty="0"/>
              <a:t>CSV (comma separated value) format.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4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Saving data out to a file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76300"/>
            <a:ext cx="6995160" cy="4708981"/>
          </a:xfrm>
        </p:spPr>
        <p:txBody>
          <a:bodyPr/>
          <a:lstStyle/>
          <a:p>
            <a:pPr lvl="1"/>
            <a:r>
              <a:rPr lang="en-US" dirty="0"/>
              <a:t>Many options: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TTToolbox</a:t>
            </a:r>
            <a:r>
              <a:rPr lang="en-US" dirty="0"/>
              <a:t> to Excel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5F253-A086-D1DE-2397-C3F2507C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5407"/>
            <a:ext cx="5612130" cy="311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49C3-823F-7A73-86D1-F66EF2C6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259539-1D4E-4861-526E-B40F05D3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830997"/>
          </a:xfrm>
        </p:spPr>
        <p:txBody>
          <a:bodyPr/>
          <a:lstStyle/>
          <a:p>
            <a:pPr algn="ctr"/>
            <a:r>
              <a:rPr lang="en-US" b="1" dirty="0"/>
              <a:t>Saving data out to a file</a:t>
            </a:r>
            <a:br>
              <a:rPr lang="en-US" b="1" dirty="0"/>
            </a:br>
            <a:r>
              <a:rPr lang="en-US" b="1" dirty="0"/>
              <a:t>TTOOLBOX</a:t>
            </a:r>
            <a:br>
              <a:rPr lang="en-US" b="1" dirty="0"/>
            </a:br>
            <a:r>
              <a:rPr lang="en-US" b="1" dirty="0"/>
              <a:t>basic TT XLS READ.gh</a:t>
            </a:r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2CF320B-5CC0-6E24-A76F-48F2567535D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D558D-B2B3-F4BC-0CFB-008B95308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00B21E-5182-D7D6-D9D6-EC56D46E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727"/>
            <a:ext cx="7772400" cy="700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0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8BFF-A429-E931-9AA7-53A31AC6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1B1FE-F3E0-2197-185A-95CF96BE7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830997"/>
          </a:xfrm>
        </p:spPr>
        <p:txBody>
          <a:bodyPr/>
          <a:lstStyle/>
          <a:p>
            <a:pPr algn="ctr"/>
            <a:r>
              <a:rPr lang="en-US" b="1" dirty="0"/>
              <a:t>Saving data out to a file</a:t>
            </a:r>
            <a:br>
              <a:rPr lang="en-US" b="1" dirty="0"/>
            </a:br>
            <a:r>
              <a:rPr lang="en-US" b="1" dirty="0"/>
              <a:t>TTOOLBOX</a:t>
            </a:r>
            <a:br>
              <a:rPr lang="en-US" b="1" dirty="0"/>
            </a:br>
            <a:r>
              <a:rPr lang="en-US" b="1" dirty="0"/>
              <a:t>basic TT XLS READ.gh</a:t>
            </a:r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0506EB5-9350-9D75-CF5C-DA4C1BF046A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C7F8E4-F3E4-91E3-BEB0-AF9F382D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7324A-88C9-BA45-F309-BC5B961A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1637982"/>
            <a:ext cx="7772400" cy="5023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D0DB2-86A6-87F6-6AF5-BADBB906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77" y="6661285"/>
            <a:ext cx="1495634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3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1CDA-60B8-2194-2B81-76BCE8BF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7D35CF-59C5-8ABC-9AD8-BDAED1AA8A33}"/>
              </a:ext>
            </a:extLst>
          </p:cNvPr>
          <p:cNvSpPr/>
          <p:nvPr/>
        </p:nvSpPr>
        <p:spPr>
          <a:xfrm>
            <a:off x="471953" y="4198015"/>
            <a:ext cx="7050677" cy="1305319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4C681D-B3A5-D219-C889-7061154AA977}"/>
              </a:ext>
            </a:extLst>
          </p:cNvPr>
          <p:cNvSpPr/>
          <p:nvPr/>
        </p:nvSpPr>
        <p:spPr>
          <a:xfrm>
            <a:off x="471953" y="5953604"/>
            <a:ext cx="7050677" cy="1305319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7EEF2E-B48A-F5C8-ABCB-F7AE9314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553998"/>
          </a:xfrm>
        </p:spPr>
        <p:txBody>
          <a:bodyPr/>
          <a:lstStyle/>
          <a:p>
            <a:pPr algn="ctr"/>
            <a:r>
              <a:rPr lang="en-US" b="1" dirty="0"/>
              <a:t>Saving data out to a file</a:t>
            </a:r>
            <a:br>
              <a:rPr lang="en-US" b="1" dirty="0"/>
            </a:br>
            <a:r>
              <a:rPr lang="en-US" b="1" dirty="0"/>
              <a:t>writeOutCSV_basic.py</a:t>
            </a:r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8044579-D9D5-24B7-7F22-5D1962B7939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6CF17F-DA7F-1016-1676-EAF65D0A66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037266"/>
            <a:ext cx="6507962" cy="6539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FC75FE-5DDC-4F17-E0A7-F03038193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336" y="7354428"/>
            <a:ext cx="3136688" cy="260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437E-B026-58D8-9375-1CE920C0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602EDC-5A8D-6854-AD94-200FB451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553998"/>
          </a:xfrm>
        </p:spPr>
        <p:txBody>
          <a:bodyPr/>
          <a:lstStyle/>
          <a:p>
            <a:pPr algn="ctr"/>
            <a:r>
              <a:rPr lang="en-US" b="1" dirty="0"/>
              <a:t>Saving data out to a file</a:t>
            </a:r>
            <a:br>
              <a:rPr lang="en-US" b="1" dirty="0"/>
            </a:br>
            <a:r>
              <a:rPr lang="en-US" b="1" dirty="0"/>
              <a:t>writeOutCSV.py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171C12-1923-E081-8923-423B1867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76300"/>
            <a:ext cx="6995160" cy="4708981"/>
          </a:xfrm>
        </p:spPr>
        <p:txBody>
          <a:bodyPr/>
          <a:lstStyle/>
          <a:p>
            <a:pPr lvl="1"/>
            <a:r>
              <a:rPr lang="en-US" dirty="0"/>
              <a:t>Many options: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With </a:t>
            </a:r>
            <a:r>
              <a:rPr lang="en-US" b="1" dirty="0"/>
              <a:t>a simple file save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19E7CF4-DEB6-C2CA-A24A-FC2F60ADA1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7435A-F2DA-1D31-6394-4C9F0206A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36" y="7354428"/>
            <a:ext cx="3136688" cy="2608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648AFC-325A-92CC-822C-917AAB575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2359"/>
            <a:ext cx="7772400" cy="75336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49717B-4C4E-1722-B6BD-E6F769AE72B2}"/>
              </a:ext>
            </a:extLst>
          </p:cNvPr>
          <p:cNvSpPr/>
          <p:nvPr/>
        </p:nvSpPr>
        <p:spPr>
          <a:xfrm>
            <a:off x="531223" y="1497874"/>
            <a:ext cx="1428206" cy="217715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E915D-BF76-3A5B-7518-B0C145C05BBE}"/>
              </a:ext>
            </a:extLst>
          </p:cNvPr>
          <p:cNvSpPr/>
          <p:nvPr/>
        </p:nvSpPr>
        <p:spPr>
          <a:xfrm>
            <a:off x="531222" y="5129348"/>
            <a:ext cx="7050677" cy="1305319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2904B1-E339-834B-8B31-793DD5C167F1}"/>
              </a:ext>
            </a:extLst>
          </p:cNvPr>
          <p:cNvSpPr/>
          <p:nvPr/>
        </p:nvSpPr>
        <p:spPr>
          <a:xfrm>
            <a:off x="531222" y="7147786"/>
            <a:ext cx="7050677" cy="1305319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9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logging example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705601" y="7720562"/>
            <a:ext cx="201929" cy="123111"/>
          </a:xfrm>
        </p:spPr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83D8FF-B03F-C7CC-5D90-872BC3439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13637"/>
            <a:ext cx="6995160" cy="276999"/>
          </a:xfrm>
        </p:spPr>
        <p:txBody>
          <a:bodyPr/>
          <a:lstStyle/>
          <a:p>
            <a:pPr algn="ctr"/>
            <a:r>
              <a:rPr lang="en-US" dirty="0"/>
              <a:t>data logging.gh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21F3F-4C50-D65A-1259-437F3612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327533"/>
            <a:ext cx="6995161" cy="34647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ACA0EC-B1A4-4F92-FCC2-5E362F31B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5029200"/>
            <a:ext cx="2210108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61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arrays (see </a:t>
            </a:r>
            <a:r>
              <a:rPr lang="en-US" b="1" dirty="0">
                <a:hlinkClick r:id="rId2"/>
              </a:rPr>
              <a:t>w3c Python Arrays</a:t>
            </a:r>
            <a:r>
              <a:rPr lang="en-US" b="1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08356-0367-17C0-4514-53B2FCB296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53"/>
          <a:stretch/>
        </p:blipFill>
        <p:spPr>
          <a:xfrm>
            <a:off x="260985" y="5029200"/>
            <a:ext cx="7258050" cy="4295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DE181B-B5E0-7773-1ACB-5A53FBBFE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857037"/>
            <a:ext cx="3820058" cy="99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A42F3-5417-FC28-1216-A0D77EE58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" y="1847775"/>
            <a:ext cx="4696480" cy="600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38639B-B272-BB5D-F8CB-1AD991AC7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11" y="2447934"/>
            <a:ext cx="4677428" cy="9145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73A6D2-9D6E-0937-D2CB-628AC8691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1" y="3419171"/>
            <a:ext cx="6573167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7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2190</TotalTime>
  <Words>500</Words>
  <Application>Microsoft Office PowerPoint</Application>
  <PresentationFormat>Custom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Data 1 Advanced Design Scripting &amp; Parametrics</vt:lpstr>
      <vt:lpstr>Structured / tabular vs unstructured data</vt:lpstr>
      <vt:lpstr>Structured Data </vt:lpstr>
      <vt:lpstr>Tabular data - serialization</vt:lpstr>
      <vt:lpstr>Saving data out to a file</vt:lpstr>
      <vt:lpstr>Saving data out to a file TTOOLBOX basic TT XLS READ.gh</vt:lpstr>
      <vt:lpstr>Saving data out to a file TTOOLBOX basic TT XLS READ.gh</vt:lpstr>
      <vt:lpstr>Saving data out to a file writeOutCSV_basic.py</vt:lpstr>
      <vt:lpstr>Saving data out to a file writeOutCSV.py</vt:lpstr>
      <vt:lpstr>Data logging example</vt:lpstr>
      <vt:lpstr>Accessing arrays (see w3c Python Arrays)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Shelden, Dennis Robert</dc:creator>
  <cp:lastModifiedBy>Shelden, Dennis Robert</cp:lastModifiedBy>
  <cp:revision>26</cp:revision>
  <dcterms:created xsi:type="dcterms:W3CDTF">2024-02-06T11:36:29Z</dcterms:created>
  <dcterms:modified xsi:type="dcterms:W3CDTF">2026-03-17T15:28:13Z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2023-01-09T00:00:00Z</vt:filetime>
  </property>
  <property fmtid="{D5CDD505-2E9C-101B-9397-08002B2CF9AE}" pid="3" name="LastSaved">
    <vt:filetime>2024-02-06T00:00:00Z</vt:filetime>
  </property>
  <property fmtid="{D5CDD505-2E9C-101B-9397-08002B2CF9AE}" pid="4" name="Producer">
    <vt:lpwstr>Skia/PDF m76</vt:lpwstr>
  </property>
</Properties>
</file>