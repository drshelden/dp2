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08" r:id="rId3"/>
    <p:sldId id="326" r:id="rId4"/>
    <p:sldId id="327" r:id="rId5"/>
    <p:sldId id="316" r:id="rId6"/>
    <p:sldId id="310" r:id="rId7"/>
    <p:sldId id="311" r:id="rId8"/>
    <p:sldId id="313" r:id="rId9"/>
    <p:sldId id="314" r:id="rId10"/>
    <p:sldId id="312" r:id="rId11"/>
    <p:sldId id="315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73" d="100"/>
          <a:sy n="73" d="100"/>
        </p:scale>
        <p:origin x="1228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5"/>
            <a:ext cx="66065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5"/>
            <a:ext cx="54406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3"/>
            <a:ext cx="338099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3"/>
            <a:ext cx="338099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7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3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3"/>
            <a:ext cx="24871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3"/>
            <a:ext cx="178765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05601" y="9220358"/>
            <a:ext cx="201929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5FE28-9DE8-6DD5-DB88-16E6E2213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930" y="4475202"/>
            <a:ext cx="6606540" cy="553998"/>
          </a:xfrm>
        </p:spPr>
        <p:txBody>
          <a:bodyPr/>
          <a:lstStyle/>
          <a:p>
            <a:pPr algn="ctr"/>
            <a:r>
              <a:rPr lang="en-US" b="1" dirty="0"/>
              <a:t>Curves and Surfaces</a:t>
            </a:r>
            <a:br>
              <a:rPr lang="en-US" b="1" dirty="0"/>
            </a:br>
            <a:r>
              <a:rPr lang="en-US" dirty="0"/>
              <a:t>Advanced Scripting &amp; </a:t>
            </a:r>
            <a:r>
              <a:rPr lang="en-US" dirty="0" err="1"/>
              <a:t>Parametrics</a:t>
            </a:r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5FE28-9DE8-6DD5-DB88-16E6E221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Curves and Surfaces</a:t>
            </a:r>
            <a:br>
              <a:rPr lang="en-US" b="1" dirty="0"/>
            </a:br>
            <a:r>
              <a:rPr lang="en-US" dirty="0"/>
              <a:t>Design Programming 2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93454C-EE74-3307-A021-B5375DF2D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2313433"/>
            <a:ext cx="6995160" cy="4154984"/>
          </a:xfrm>
        </p:spPr>
        <p:txBody>
          <a:bodyPr/>
          <a:lstStyle/>
          <a:p>
            <a:r>
              <a:rPr lang="en-US" dirty="0"/>
              <a:t>Agenda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word on final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 to Transformation Matrices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in grasshopper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General theory of curves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Bezier and NURBS curves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Rhino curve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2 weeks Surfaces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General theory of surfaces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Bezier and NURBS surfaces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Rhino curve functionality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Surface curvature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9100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DACD3-5C8C-E59B-42CB-2ECB14D83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B01105-4D7F-0E79-0EE7-886018B76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2313433"/>
            <a:ext cx="6995160" cy="1661993"/>
          </a:xfrm>
        </p:spPr>
        <p:txBody>
          <a:bodyPr/>
          <a:lstStyle/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 algn="ctr"/>
            <a:r>
              <a:rPr lang="en-US" dirty="0"/>
              <a:t>Final Projects</a:t>
            </a:r>
          </a:p>
          <a:p>
            <a:pPr lvl="1" algn="ctr"/>
            <a:r>
              <a:rPr lang="en-US" dirty="0"/>
              <a:t>Have an initial proposal ready when we get back Feb 24</a:t>
            </a:r>
          </a:p>
          <a:p>
            <a:pPr lvl="1" algn="ctr"/>
            <a:endParaRPr lang="en-US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30ED2D3-B3D0-699E-EA63-0C9F87C8B3E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294439-168C-6EF5-F8D9-39914EA8F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91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64876-7A86-A071-FACC-998EA9081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>
            <a:extLst>
              <a:ext uri="{FF2B5EF4-FFF2-40B4-BE49-F238E27FC236}">
                <a16:creationId xmlns:a16="http://schemas.microsoft.com/office/drawing/2014/main" id="{EC390B3B-0199-EB8E-EDC4-8098EB1F589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5FA60F-4D62-0354-713E-57CB50DD0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Curves – tying it all together</a:t>
            </a:r>
          </a:p>
        </p:txBody>
      </p:sp>
      <p:grpSp>
        <p:nvGrpSpPr>
          <p:cNvPr id="6" name="Group 17">
            <a:extLst>
              <a:ext uri="{FF2B5EF4-FFF2-40B4-BE49-F238E27FC236}">
                <a16:creationId xmlns:a16="http://schemas.microsoft.com/office/drawing/2014/main" id="{638CFEEA-5719-04AF-DED3-2AEB0F49FA0E}"/>
              </a:ext>
            </a:extLst>
          </p:cNvPr>
          <p:cNvGrpSpPr>
            <a:grpSpLocks/>
          </p:cNvGrpSpPr>
          <p:nvPr/>
        </p:nvGrpSpPr>
        <p:grpSpPr bwMode="auto">
          <a:xfrm>
            <a:off x="0" y="7585963"/>
            <a:ext cx="7550151" cy="2070100"/>
            <a:chOff x="317" y="1354"/>
            <a:chExt cx="4756" cy="1304"/>
          </a:xfrm>
        </p:grpSpPr>
        <p:graphicFrame>
          <p:nvGraphicFramePr>
            <p:cNvPr id="7" name="Object 11">
              <a:extLst>
                <a:ext uri="{FF2B5EF4-FFF2-40B4-BE49-F238E27FC236}">
                  <a16:creationId xmlns:a16="http://schemas.microsoft.com/office/drawing/2014/main" id="{5CD13B36-CFB1-E1B6-B8A3-0E46DD334D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4471259"/>
                </p:ext>
              </p:extLst>
            </p:nvPr>
          </p:nvGraphicFramePr>
          <p:xfrm>
            <a:off x="317" y="1354"/>
            <a:ext cx="4756" cy="1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2" imgW="3949826" imgH="1085913" progId="Excel.Sheet.8">
                    <p:embed/>
                  </p:oleObj>
                </mc:Choice>
                <mc:Fallback>
                  <p:oleObj name="Worksheet" r:id="rId2" imgW="3949826" imgH="1085913" progId="Excel.Sheet.8">
                    <p:embed/>
                    <p:pic>
                      <p:nvPicPr>
                        <p:cNvPr id="243723" name="Object 11">
                          <a:extLst>
                            <a:ext uri="{FF2B5EF4-FFF2-40B4-BE49-F238E27FC236}">
                              <a16:creationId xmlns:a16="http://schemas.microsoft.com/office/drawing/2014/main" id="{ADCDB903-6830-B456-AC9B-BDBC94034C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" y="1354"/>
                          <a:ext cx="4756" cy="1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12">
              <a:extLst>
                <a:ext uri="{FF2B5EF4-FFF2-40B4-BE49-F238E27FC236}">
                  <a16:creationId xmlns:a16="http://schemas.microsoft.com/office/drawing/2014/main" id="{D04DE23A-BE59-3E7C-9322-925ED21E9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" y="1526"/>
              <a:ext cx="5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b="0" dirty="0" err="1"/>
                <a:t>Fx</a:t>
              </a:r>
              <a:r>
                <a:rPr lang="en-US" altLang="en-US" sz="2400" b="0" dirty="0"/>
                <a:t>(</a:t>
              </a:r>
              <a:r>
                <a:rPr lang="en-US" altLang="en-US" sz="2400" b="0" i="1" dirty="0"/>
                <a:t>t</a:t>
              </a:r>
              <a:r>
                <a:rPr lang="en-US" altLang="en-US" sz="2400" b="0" dirty="0"/>
                <a:t>)</a:t>
              </a:r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09FCFBF6-0B3B-EA55-905E-425D2564D4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1801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8409A9C2-C626-1DFB-906C-5BB1D9CB2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2045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44B39123-B8C0-CDE5-28E8-6D5C2C44E2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" y="1781"/>
              <a:ext cx="5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b="0" dirty="0"/>
                <a:t>Fy(</a:t>
              </a:r>
              <a:r>
                <a:rPr lang="en-US" altLang="en-US" sz="2400" b="0" i="1" dirty="0"/>
                <a:t>t</a:t>
              </a:r>
              <a:r>
                <a:rPr lang="en-US" altLang="en-US" sz="2400" b="0" dirty="0"/>
                <a:t>)</a:t>
              </a:r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85EF9C9C-291B-BC6C-DAE6-09708DB1D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" y="2006"/>
              <a:ext cx="5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b="0" dirty="0"/>
                <a:t>Fz(</a:t>
              </a:r>
              <a:r>
                <a:rPr lang="en-US" altLang="en-US" sz="2400" b="0" i="1" dirty="0"/>
                <a:t>t</a:t>
              </a:r>
              <a:r>
                <a:rPr lang="en-US" altLang="en-US" sz="2400" b="0" dirty="0"/>
                <a:t>)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90E14A2-DCF4-83B8-8A57-DEC1934E480E}"/>
              </a:ext>
            </a:extLst>
          </p:cNvPr>
          <p:cNvSpPr txBox="1"/>
          <p:nvPr/>
        </p:nvSpPr>
        <p:spPr>
          <a:xfrm>
            <a:off x="600891" y="1219200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transform function</a:t>
            </a:r>
          </a:p>
        </p:txBody>
      </p:sp>
      <p:graphicFrame>
        <p:nvGraphicFramePr>
          <p:cNvPr id="18" name="Object 11">
            <a:extLst>
              <a:ext uri="{FF2B5EF4-FFF2-40B4-BE49-F238E27FC236}">
                <a16:creationId xmlns:a16="http://schemas.microsoft.com/office/drawing/2014/main" id="{77536F13-AFEA-ABEC-8AA1-2962445828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995604"/>
              </p:ext>
            </p:extLst>
          </p:nvPr>
        </p:nvGraphicFramePr>
        <p:xfrm>
          <a:off x="-166688" y="1976438"/>
          <a:ext cx="7550151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949826" imgH="1092451" progId="Excel.Sheet.8">
                  <p:embed/>
                </p:oleObj>
              </mc:Choice>
              <mc:Fallback>
                <p:oleObj name="Worksheet" r:id="rId4" imgW="3949826" imgH="1092451" progId="Excel.Sheet.8">
                  <p:embed/>
                  <p:pic>
                    <p:nvPicPr>
                      <p:cNvPr id="243723" name="Object 11">
                        <a:extLst>
                          <a:ext uri="{FF2B5EF4-FFF2-40B4-BE49-F238E27FC236}">
                            <a16:creationId xmlns:a16="http://schemas.microsoft.com/office/drawing/2014/main" id="{ADCDB903-6830-B456-AC9B-BDBC94034C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66688" y="1976438"/>
                        <a:ext cx="7550151" cy="208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17">
            <a:extLst>
              <a:ext uri="{FF2B5EF4-FFF2-40B4-BE49-F238E27FC236}">
                <a16:creationId xmlns:a16="http://schemas.microsoft.com/office/drawing/2014/main" id="{21B68861-EB0F-FCE3-21B2-230C15B61236}"/>
              </a:ext>
            </a:extLst>
          </p:cNvPr>
          <p:cNvGrpSpPr>
            <a:grpSpLocks/>
          </p:cNvGrpSpPr>
          <p:nvPr/>
        </p:nvGrpSpPr>
        <p:grpSpPr bwMode="auto">
          <a:xfrm>
            <a:off x="-166689" y="4760579"/>
            <a:ext cx="7550151" cy="2070100"/>
            <a:chOff x="317" y="1354"/>
            <a:chExt cx="4756" cy="1304"/>
          </a:xfrm>
        </p:grpSpPr>
        <p:graphicFrame>
          <p:nvGraphicFramePr>
            <p:cNvPr id="25" name="Object 11">
              <a:extLst>
                <a:ext uri="{FF2B5EF4-FFF2-40B4-BE49-F238E27FC236}">
                  <a16:creationId xmlns:a16="http://schemas.microsoft.com/office/drawing/2014/main" id="{61296A3F-D8E5-254D-C8F9-9703386E9B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7653601"/>
                </p:ext>
              </p:extLst>
            </p:nvPr>
          </p:nvGraphicFramePr>
          <p:xfrm>
            <a:off x="317" y="1354"/>
            <a:ext cx="4756" cy="1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6" imgW="3949826" imgH="1085913" progId="Excel.Sheet.8">
                    <p:embed/>
                  </p:oleObj>
                </mc:Choice>
                <mc:Fallback>
                  <p:oleObj name="Worksheet" r:id="rId6" imgW="3949826" imgH="1085913" progId="Excel.Sheet.8">
                    <p:embed/>
                    <p:pic>
                      <p:nvPicPr>
                        <p:cNvPr id="243723" name="Object 11">
                          <a:extLst>
                            <a:ext uri="{FF2B5EF4-FFF2-40B4-BE49-F238E27FC236}">
                              <a16:creationId xmlns:a16="http://schemas.microsoft.com/office/drawing/2014/main" id="{ADCDB903-6830-B456-AC9B-BDBC94034C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" y="1354"/>
                          <a:ext cx="4756" cy="1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12">
              <a:extLst>
                <a:ext uri="{FF2B5EF4-FFF2-40B4-BE49-F238E27FC236}">
                  <a16:creationId xmlns:a16="http://schemas.microsoft.com/office/drawing/2014/main" id="{B1069F1B-AEA0-F24E-A70D-A7984208D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" y="1526"/>
              <a:ext cx="10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200" b="0"/>
                <a:t>Some complicated</a:t>
              </a:r>
            </a:p>
            <a:p>
              <a:r>
                <a:rPr lang="en-US" altLang="en-US" sz="1200" b="0"/>
                <a:t>function</a:t>
              </a:r>
              <a:r>
                <a:rPr lang="en-US" altLang="en-US" sz="1200" b="0" baseline="-25000"/>
                <a:t>x</a:t>
              </a:r>
              <a:r>
                <a:rPr lang="en-US" altLang="en-US" sz="1200" b="0"/>
                <a:t>(x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, y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, z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)</a:t>
              </a:r>
            </a:p>
          </p:txBody>
        </p:sp>
        <p:sp>
          <p:nvSpPr>
            <p:cNvPr id="27" name="Text Box 13">
              <a:extLst>
                <a:ext uri="{FF2B5EF4-FFF2-40B4-BE49-F238E27FC236}">
                  <a16:creationId xmlns:a16="http://schemas.microsoft.com/office/drawing/2014/main" id="{525AF78A-52EB-5998-259D-A061E76E1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" y="1757"/>
              <a:ext cx="10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200" b="0"/>
                <a:t>Some complicated</a:t>
              </a:r>
            </a:p>
            <a:p>
              <a:r>
                <a:rPr lang="en-US" altLang="en-US" sz="1200" b="0"/>
                <a:t>function</a:t>
              </a:r>
              <a:r>
                <a:rPr lang="en-US" altLang="en-US" sz="1200" b="0" baseline="-25000"/>
                <a:t>y</a:t>
              </a:r>
              <a:r>
                <a:rPr lang="en-US" altLang="en-US" sz="1200" b="0"/>
                <a:t>(x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, y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, z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)</a:t>
              </a:r>
            </a:p>
          </p:txBody>
        </p:sp>
        <p:sp>
          <p:nvSpPr>
            <p:cNvPr id="28" name="Text Box 14">
              <a:extLst>
                <a:ext uri="{FF2B5EF4-FFF2-40B4-BE49-F238E27FC236}">
                  <a16:creationId xmlns:a16="http://schemas.microsoft.com/office/drawing/2014/main" id="{4D82E391-78C0-C373-6008-FA72AEC90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" y="2016"/>
              <a:ext cx="10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200" b="0"/>
                <a:t>Some complicated</a:t>
              </a:r>
            </a:p>
            <a:p>
              <a:r>
                <a:rPr lang="en-US" altLang="en-US" sz="1200" b="0"/>
                <a:t>function</a:t>
              </a:r>
              <a:r>
                <a:rPr lang="en-US" altLang="en-US" sz="1200" b="0" baseline="-25000"/>
                <a:t>z</a:t>
              </a:r>
              <a:r>
                <a:rPr lang="en-US" altLang="en-US" sz="1200" b="0"/>
                <a:t>(x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, y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, z</a:t>
              </a:r>
              <a:r>
                <a:rPr lang="en-US" altLang="en-US" sz="1200" b="0" baseline="-25000"/>
                <a:t>old</a:t>
              </a:r>
              <a:r>
                <a:rPr lang="en-US" altLang="en-US" sz="1200" b="0"/>
                <a:t>)</a:t>
              </a:r>
            </a:p>
          </p:txBody>
        </p:sp>
        <p:sp>
          <p:nvSpPr>
            <p:cNvPr id="29" name="Line 15">
              <a:extLst>
                <a:ext uri="{FF2B5EF4-FFF2-40B4-BE49-F238E27FC236}">
                  <a16:creationId xmlns:a16="http://schemas.microsoft.com/office/drawing/2014/main" id="{756E23B6-00A7-3648-8F4D-90C5F2221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1801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6">
              <a:extLst>
                <a:ext uri="{FF2B5EF4-FFF2-40B4-BE49-F238E27FC236}">
                  <a16:creationId xmlns:a16="http://schemas.microsoft.com/office/drawing/2014/main" id="{8F5B541E-73DA-8D55-1BCE-F16216C6E4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2045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DDD35ED-4F90-4191-54A6-B19A6ACB3365}"/>
              </a:ext>
            </a:extLst>
          </p:cNvPr>
          <p:cNvSpPr txBox="1"/>
          <p:nvPr/>
        </p:nvSpPr>
        <p:spPr>
          <a:xfrm>
            <a:off x="600891" y="4230910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Generalized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30E5EE-6215-5994-004E-2BDE1DBE294B}"/>
              </a:ext>
            </a:extLst>
          </p:cNvPr>
          <p:cNvSpPr txBox="1"/>
          <p:nvPr/>
        </p:nvSpPr>
        <p:spPr>
          <a:xfrm>
            <a:off x="600891" y="7065742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Now: Curves</a:t>
            </a:r>
          </a:p>
        </p:txBody>
      </p:sp>
    </p:spTree>
    <p:extLst>
      <p:ext uri="{BB962C8B-B14F-4D97-AF65-F5344CB8AC3E}">
        <p14:creationId xmlns:p14="http://schemas.microsoft.com/office/powerpoint/2010/main" val="2055343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1F4AC0-F256-8050-7720-862D09FE05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128" r="62725" b="33633"/>
          <a:stretch/>
        </p:blipFill>
        <p:spPr>
          <a:xfrm>
            <a:off x="1882346" y="923925"/>
            <a:ext cx="3549197" cy="3581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3E7758-CEC4-60B0-3559-2EEF7E536D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879" t="6999"/>
          <a:stretch/>
        </p:blipFill>
        <p:spPr>
          <a:xfrm>
            <a:off x="1800225" y="5448300"/>
            <a:ext cx="3993268" cy="3924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0CE8F1-8FB1-AB24-B0A2-AE8128D71C62}"/>
              </a:ext>
            </a:extLst>
          </p:cNvPr>
          <p:cNvSpPr txBox="1"/>
          <p:nvPr/>
        </p:nvSpPr>
        <p:spPr>
          <a:xfrm>
            <a:off x="577112" y="4505325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</a:t>
            </a:r>
            <a:r>
              <a:rPr lang="en-US" dirty="0" err="1"/>
              <a:t>aX</a:t>
            </a:r>
            <a:r>
              <a:rPr lang="en-US" dirty="0"/>
              <a:t> + 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00C33E-4010-71D2-FB56-81C0514710E3}"/>
              </a:ext>
            </a:extLst>
          </p:cNvPr>
          <p:cNvSpPr txBox="1"/>
          <p:nvPr/>
        </p:nvSpPr>
        <p:spPr>
          <a:xfrm>
            <a:off x="577112" y="5632966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aX</a:t>
            </a:r>
            <a:r>
              <a:rPr lang="en-US" baseline="30000" dirty="0"/>
              <a:t>3 + b</a:t>
            </a:r>
            <a:r>
              <a:rPr lang="en-US" dirty="0"/>
              <a:t>X</a:t>
            </a:r>
            <a:r>
              <a:rPr lang="en-US" baseline="30000" dirty="0"/>
              <a:t>2</a:t>
            </a:r>
            <a:r>
              <a:rPr lang="en-US" dirty="0"/>
              <a:t> + </a:t>
            </a:r>
            <a:r>
              <a:rPr lang="en-US" dirty="0" err="1"/>
              <a:t>cX</a:t>
            </a:r>
            <a:r>
              <a:rPr lang="en-US" dirty="0"/>
              <a:t> + d</a:t>
            </a:r>
          </a:p>
        </p:txBody>
      </p:sp>
    </p:spTree>
    <p:extLst>
      <p:ext uri="{BB962C8B-B14F-4D97-AF65-F5344CB8AC3E}">
        <p14:creationId xmlns:p14="http://schemas.microsoft.com/office/powerpoint/2010/main" val="2323903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998" y="2714627"/>
            <a:ext cx="5502910" cy="46131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3475">
              <a:spcBef>
                <a:spcPts val="100"/>
              </a:spcBef>
            </a:pPr>
            <a:endParaRPr sz="1000" dirty="0">
              <a:latin typeface="Verdana"/>
              <a:cs typeface="Verdana"/>
            </a:endParaRPr>
          </a:p>
          <a:p>
            <a:pPr marL="12700" marR="103505">
              <a:spcBef>
                <a:spcPts val="5"/>
              </a:spcBef>
            </a:pPr>
            <a:endParaRPr lang="en-US" sz="1000" dirty="0">
              <a:latin typeface="Verdana"/>
              <a:cs typeface="Verdana"/>
            </a:endParaRPr>
          </a:p>
          <a:p>
            <a:pPr marL="12700" marR="103505">
              <a:spcBef>
                <a:spcPts val="5"/>
              </a:spcBef>
            </a:pPr>
            <a:r>
              <a:rPr lang="en-US" sz="1000" dirty="0">
                <a:latin typeface="Verdana"/>
                <a:cs typeface="Verdana"/>
              </a:rPr>
              <a:t>I</a:t>
            </a:r>
            <a:r>
              <a:rPr sz="1000" dirty="0">
                <a:latin typeface="Verdana"/>
                <a:cs typeface="Verdana"/>
              </a:rPr>
              <a:t>f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we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know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the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direction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of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line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and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point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on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that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line,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then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we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can </a:t>
            </a:r>
            <a:r>
              <a:rPr sz="1000" dirty="0">
                <a:latin typeface="Verdana"/>
                <a:cs typeface="Verdana"/>
              </a:rPr>
              <a:t>find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any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other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point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on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the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line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using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vectors,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as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the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following:</a:t>
            </a:r>
            <a:endParaRPr sz="1000" dirty="0">
              <a:latin typeface="Verdana"/>
              <a:cs typeface="Verdana"/>
            </a:endParaRPr>
          </a:p>
          <a:p>
            <a:pPr marL="241300">
              <a:spcBef>
                <a:spcPts val="300"/>
              </a:spcBef>
            </a:pPr>
            <a:r>
              <a:rPr sz="1000" dirty="0">
                <a:latin typeface="Verdana"/>
                <a:cs typeface="Verdana"/>
              </a:rPr>
              <a:t>L</a:t>
            </a:r>
            <a:r>
              <a:rPr sz="1000" spc="-1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=</a:t>
            </a:r>
            <a:r>
              <a:rPr sz="1000" spc="-1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line</a:t>
            </a:r>
            <a:endParaRPr sz="1000" dirty="0">
              <a:latin typeface="Verdana"/>
              <a:cs typeface="Verdana"/>
            </a:endParaRPr>
          </a:p>
          <a:p>
            <a:pPr marL="241300" marR="2766695"/>
            <a:r>
              <a:rPr sz="1000" b="1" dirty="0">
                <a:latin typeface="Verdana"/>
                <a:cs typeface="Verdana"/>
              </a:rPr>
              <a:t>v</a:t>
            </a:r>
            <a:r>
              <a:rPr sz="1000" b="1" spc="-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=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&lt;a,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b,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c&gt;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line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direction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unit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vector </a:t>
            </a:r>
            <a:r>
              <a:rPr sz="1000" dirty="0">
                <a:latin typeface="Verdana"/>
                <a:cs typeface="Verdana"/>
              </a:rPr>
              <a:t>Q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=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(x0,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y0,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z0)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line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position</a:t>
            </a:r>
            <a:r>
              <a:rPr sz="1000" spc="-25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point</a:t>
            </a:r>
            <a:endParaRPr sz="1000" dirty="0">
              <a:latin typeface="Verdana"/>
              <a:cs typeface="Verdana"/>
            </a:endParaRPr>
          </a:p>
          <a:p>
            <a:pPr marL="12700" marR="3104515" indent="228600">
              <a:lnSpc>
                <a:spcPct val="125000"/>
              </a:lnSpc>
            </a:pPr>
            <a:r>
              <a:rPr sz="1000" dirty="0">
                <a:latin typeface="Verdana"/>
                <a:cs typeface="Verdana"/>
              </a:rPr>
              <a:t>P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=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(x,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y,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z)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any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point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on</a:t>
            </a:r>
            <a:r>
              <a:rPr sz="1000" spc="-1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the</a:t>
            </a:r>
            <a:r>
              <a:rPr sz="1000" spc="-20" dirty="0">
                <a:latin typeface="Verdana"/>
                <a:cs typeface="Verdana"/>
              </a:rPr>
              <a:t> line</a:t>
            </a:r>
            <a:endParaRPr lang="en-US" sz="1000" spc="-20" dirty="0">
              <a:latin typeface="Verdana"/>
              <a:cs typeface="Verdana"/>
            </a:endParaRPr>
          </a:p>
          <a:p>
            <a:pPr marL="12700" marR="3104515" indent="228600">
              <a:lnSpc>
                <a:spcPct val="125000"/>
              </a:lnSpc>
            </a:pPr>
            <a:r>
              <a:rPr sz="1000" dirty="0">
                <a:latin typeface="Verdana"/>
                <a:cs typeface="Verdana"/>
              </a:rPr>
              <a:t>P</a:t>
            </a:r>
            <a:r>
              <a:rPr sz="1000" spc="-1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=</a:t>
            </a:r>
            <a:r>
              <a:rPr sz="1000" spc="-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Q</a:t>
            </a:r>
            <a:r>
              <a:rPr sz="1000" spc="-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+</a:t>
            </a:r>
            <a:r>
              <a:rPr sz="1000" spc="-10" dirty="0">
                <a:latin typeface="Verdana"/>
                <a:cs typeface="Verdana"/>
              </a:rPr>
              <a:t> </a:t>
            </a:r>
            <a:r>
              <a:rPr sz="1000" i="1" spc="-10" dirty="0">
                <a:latin typeface="Verdana"/>
                <a:cs typeface="Verdana"/>
              </a:rPr>
              <a:t>t</a:t>
            </a:r>
            <a:r>
              <a:rPr sz="1000" i="1" spc="-145" dirty="0">
                <a:latin typeface="Verdana"/>
                <a:cs typeface="Verdana"/>
              </a:rPr>
              <a:t> </a:t>
            </a:r>
            <a:r>
              <a:rPr sz="1000" dirty="0">
                <a:latin typeface="Corbel"/>
                <a:cs typeface="Corbel"/>
              </a:rPr>
              <a:t>*</a:t>
            </a:r>
            <a:r>
              <a:rPr sz="1000" spc="10" dirty="0">
                <a:latin typeface="Corbel"/>
                <a:cs typeface="Corbel"/>
              </a:rPr>
              <a:t> </a:t>
            </a:r>
            <a:r>
              <a:rPr sz="1000" b="1" spc="-50" dirty="0">
                <a:latin typeface="Verdana"/>
                <a:cs typeface="Verdana"/>
              </a:rPr>
              <a:t>v</a:t>
            </a:r>
            <a:endParaRPr lang="en-US" sz="1000" b="1" spc="-50" dirty="0">
              <a:latin typeface="Verdana"/>
              <a:cs typeface="Verdana"/>
            </a:endParaRPr>
          </a:p>
          <a:p>
            <a:pPr marL="12700" marR="3104515" indent="228600">
              <a:lnSpc>
                <a:spcPct val="125000"/>
              </a:lnSpc>
            </a:pPr>
            <a:endParaRPr lang="en-US" sz="1000" b="1" spc="-50" dirty="0">
              <a:latin typeface="Verdana"/>
              <a:cs typeface="Verdana"/>
            </a:endParaRPr>
          </a:p>
          <a:p>
            <a:pPr marL="57150" marR="64135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Given</a:t>
            </a:r>
            <a:r>
              <a:rPr kumimoji="0" lang="en-US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a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point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Q</a:t>
            </a:r>
            <a:r>
              <a:rPr kumimoji="0" lang="en-US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and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a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direction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</a:t>
            </a:r>
            <a:r>
              <a:rPr kumimoji="0" lang="en-US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on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a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line,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any</a:t>
            </a:r>
            <a:r>
              <a:rPr kumimoji="0" lang="en-US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point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P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on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that</a:t>
            </a:r>
            <a:r>
              <a:rPr kumimoji="0" lang="en-US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line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can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be</a:t>
            </a:r>
            <a:r>
              <a:rPr kumimoji="0" lang="en-US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calculated</a:t>
            </a:r>
            <a:r>
              <a:rPr kumimoji="0" lang="en-US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using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the</a:t>
            </a:r>
            <a:r>
              <a:rPr kumimoji="0" lang="en-US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vector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equation</a:t>
            </a:r>
            <a:r>
              <a:rPr kumimoji="0" lang="en-US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of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a</a:t>
            </a:r>
            <a:r>
              <a:rPr kumimoji="0" lang="en-US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line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lang="en-US" sz="1000" dirty="0">
                <a:highlight>
                  <a:srgbClr val="FFFF00"/>
                </a:highlight>
                <a:latin typeface="Verdana"/>
                <a:cs typeface="Verdana"/>
              </a:rPr>
              <a:t>C</a:t>
            </a:r>
            <a:r>
              <a:rPr kumimoji="0" lang="en-US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=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Q</a:t>
            </a:r>
            <a:r>
              <a:rPr kumimoji="0" lang="en-US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+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t</a:t>
            </a:r>
            <a:r>
              <a:rPr kumimoji="0" lang="en-US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*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v</a:t>
            </a:r>
            <a:r>
              <a:rPr kumimoji="0" lang="en-US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where</a:t>
            </a:r>
            <a:r>
              <a:rPr kumimoji="0" lang="en-US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is</a:t>
            </a:r>
            <a:r>
              <a:rPr kumimoji="0" lang="en-US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a</a:t>
            </a:r>
            <a:r>
              <a:rPr kumimoji="0" lang="en-US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number.</a:t>
            </a:r>
          </a:p>
          <a:p>
            <a:pPr marL="57150" marR="64135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spc="-10" dirty="0">
              <a:latin typeface="Verdana"/>
              <a:cs typeface="Verdana"/>
            </a:endParaRPr>
          </a:p>
          <a:p>
            <a:pPr marL="57150" marR="64135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C</a:t>
            </a:r>
            <a:r>
              <a:rPr kumimoji="0" lang="en-US" b="0" i="1" u="none" strike="noStrike" kern="0" cap="none" spc="-3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t</a:t>
            </a:r>
            <a:r>
              <a:rPr kumimoji="0" lang="en-US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=</a:t>
            </a:r>
            <a:r>
              <a:rPr kumimoji="0" lang="en-US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lang="en-US" dirty="0">
                <a:highlight>
                  <a:srgbClr val="FFFF00"/>
                </a:highlight>
                <a:latin typeface="Verdana"/>
                <a:cs typeface="Verdana"/>
              </a:rPr>
              <a:t>P</a:t>
            </a:r>
            <a:r>
              <a:rPr lang="en-US" baseline="-25000" dirty="0">
                <a:highlight>
                  <a:srgbClr val="FFFF00"/>
                </a:highlight>
                <a:latin typeface="Verdana"/>
                <a:cs typeface="Verdana"/>
              </a:rPr>
              <a:t>0</a:t>
            </a:r>
            <a:r>
              <a:rPr kumimoji="0" lang="en-US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+</a:t>
            </a:r>
            <a:r>
              <a:rPr kumimoji="0" lang="en-US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t</a:t>
            </a:r>
            <a:r>
              <a:rPr kumimoji="0" lang="en-US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*</a:t>
            </a:r>
            <a:r>
              <a:rPr kumimoji="0" lang="en-US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lang="en-US" dirty="0">
                <a:highlight>
                  <a:srgbClr val="FFFF00"/>
                </a:highlight>
                <a:latin typeface="Verdana"/>
                <a:cs typeface="Verdana"/>
              </a:rPr>
              <a:t>(P</a:t>
            </a:r>
            <a:r>
              <a:rPr lang="en-US" baseline="-25000" dirty="0">
                <a:highlight>
                  <a:srgbClr val="FFFF00"/>
                </a:highlight>
                <a:latin typeface="Verdana"/>
                <a:cs typeface="Verdana"/>
              </a:rPr>
              <a:t>1</a:t>
            </a:r>
            <a:r>
              <a:rPr lang="en-US" dirty="0">
                <a:highlight>
                  <a:srgbClr val="FFFF00"/>
                </a:highlight>
                <a:latin typeface="Verdana"/>
                <a:cs typeface="Verdana"/>
              </a:rPr>
              <a:t> – P</a:t>
            </a:r>
            <a:r>
              <a:rPr lang="en-US" baseline="-25000" dirty="0">
                <a:highlight>
                  <a:srgbClr val="FFFF00"/>
                </a:highlight>
                <a:latin typeface="Verdana"/>
                <a:cs typeface="Verdana"/>
              </a:rPr>
              <a:t>0</a:t>
            </a:r>
            <a:r>
              <a:rPr lang="en-US" dirty="0">
                <a:highlight>
                  <a:srgbClr val="FFFF00"/>
                </a:highlight>
                <a:latin typeface="Verdana"/>
                <a:cs typeface="Verdana"/>
              </a:rPr>
              <a:t>)</a:t>
            </a:r>
          </a:p>
          <a:p>
            <a:pPr marL="57150" marR="64135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FF00"/>
              </a:highlight>
              <a:uLnTx/>
              <a:uFillTx/>
              <a:latin typeface="Verdana"/>
              <a:cs typeface="Verdana"/>
            </a:endParaRPr>
          </a:p>
          <a:p>
            <a:pPr marL="57150" marR="64135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Verdana"/>
                <a:cs typeface="Verdana"/>
              </a:rPr>
              <a:t>t=0: P</a:t>
            </a:r>
            <a:r>
              <a:rPr lang="en-US" baseline="-25000" dirty="0">
                <a:latin typeface="Verdana"/>
                <a:cs typeface="Verdana"/>
              </a:rPr>
              <a:t>0</a:t>
            </a:r>
          </a:p>
          <a:p>
            <a:pPr marL="57150" marR="64135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57150" marR="64135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t=1: P</a:t>
            </a:r>
            <a:r>
              <a:rPr lang="en-US" baseline="-25000" dirty="0">
                <a:latin typeface="Verdana"/>
                <a:cs typeface="Verdana"/>
              </a:rPr>
              <a:t>1</a:t>
            </a:r>
          </a:p>
          <a:p>
            <a:pPr marL="57150" marR="64135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57150" marR="64135">
              <a:spcBef>
                <a:spcPts val="125"/>
              </a:spcBef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t=0.5: </a:t>
            </a:r>
            <a:r>
              <a:rPr kumimoji="0" lang="en-US" sz="18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(</a:t>
            </a:r>
            <a:r>
              <a:rPr lang="en-US" u="sng" dirty="0">
                <a:latin typeface="Verdana"/>
                <a:cs typeface="Verdana"/>
              </a:rPr>
              <a:t>P</a:t>
            </a:r>
            <a:r>
              <a:rPr lang="en-US" u="sng" baseline="-25000" dirty="0">
                <a:latin typeface="Verdana"/>
                <a:cs typeface="Verdana"/>
              </a:rPr>
              <a:t>1</a:t>
            </a:r>
            <a:r>
              <a:rPr kumimoji="0" lang="en-US" b="0" i="0" u="sng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+</a:t>
            </a:r>
            <a:r>
              <a:rPr kumimoji="0" lang="en-US" b="0" i="0" u="sng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lang="en-US" u="sng" dirty="0">
                <a:latin typeface="Verdana"/>
                <a:cs typeface="Verdana"/>
              </a:rPr>
              <a:t>P</a:t>
            </a:r>
            <a:r>
              <a:rPr lang="en-US" u="sng" baseline="-25000" dirty="0">
                <a:latin typeface="Verdana"/>
                <a:cs typeface="Verdana"/>
              </a:rPr>
              <a:t>0</a:t>
            </a:r>
            <a:r>
              <a:rPr lang="en-US" u="sng" dirty="0">
                <a:latin typeface="Verdana"/>
                <a:cs typeface="Verdana"/>
              </a:rPr>
              <a:t>)</a:t>
            </a:r>
            <a:r>
              <a:rPr lang="en-US" dirty="0">
                <a:latin typeface="Verdana"/>
                <a:cs typeface="Verdana"/>
              </a:rPr>
              <a:t>	#midpoint</a:t>
            </a:r>
          </a:p>
          <a:p>
            <a:pPr marL="57150" marR="64135">
              <a:spcBef>
                <a:spcPts val="125"/>
              </a:spcBef>
              <a:defRPr/>
            </a:pPr>
            <a:r>
              <a:rPr lang="en-US" dirty="0">
                <a:latin typeface="Verdana"/>
                <a:cs typeface="Verdana"/>
              </a:rPr>
              <a:t>	      2</a:t>
            </a:r>
          </a:p>
          <a:p>
            <a:pPr marL="57150" marR="64135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12700" marR="3104515" indent="228600">
              <a:lnSpc>
                <a:spcPct val="125000"/>
              </a:lnSpc>
            </a:pPr>
            <a:endParaRPr lang="en-US" sz="10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3411201" y="9220357"/>
            <a:ext cx="403858" cy="1256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spcBef>
                <a:spcPts val="20"/>
              </a:spcBef>
            </a:pPr>
            <a:r>
              <a:rPr spc="-25" dirty="0"/>
              <a:t>19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DEF86EB-D884-27CE-5F52-1A7D2C93A620}"/>
              </a:ext>
            </a:extLst>
          </p:cNvPr>
          <p:cNvSpPr txBox="1"/>
          <p:nvPr/>
        </p:nvSpPr>
        <p:spPr>
          <a:xfrm>
            <a:off x="761998" y="412365"/>
            <a:ext cx="5511800" cy="638636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endParaRPr sz="1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Vector</a:t>
            </a:r>
            <a:r>
              <a:rPr sz="1400" b="1" spc="-35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equation</a:t>
            </a:r>
            <a:r>
              <a:rPr sz="1400" b="1" spc="-30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400" b="1" spc="-30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b="1" strike="sngStrike" spc="-20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line</a:t>
            </a:r>
            <a:r>
              <a:rPr lang="en-US" sz="1400" b="1" strike="sngStrike" spc="-20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US" sz="1400" b="1" spc="-20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– 2 point curve</a:t>
            </a:r>
            <a:r>
              <a:rPr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400" dirty="0">
              <a:solidFill>
                <a:srgbClr val="00B0F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latin typeface="Verdana"/>
                <a:cs typeface="Verdana"/>
              </a:rPr>
              <a:t>The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vector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line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equation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is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used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3D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modeling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applications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and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computer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graphics.</a:t>
            </a:r>
            <a:endParaRPr sz="1000" dirty="0">
              <a:latin typeface="Verdana"/>
              <a:cs typeface="Verdana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7C5BEB4A-778F-7922-69EB-3EF08ADD525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348" y="1252759"/>
            <a:ext cx="2419350" cy="16478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7E2305-BE32-1288-00C9-D073A92E8C7B}"/>
              </a:ext>
            </a:extLst>
          </p:cNvPr>
          <p:cNvSpPr txBox="1"/>
          <p:nvPr/>
        </p:nvSpPr>
        <p:spPr>
          <a:xfrm>
            <a:off x="1645920" y="1328816"/>
            <a:ext cx="4235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05565-DA02-CEF4-0269-D8AB62D4E2B7}"/>
              </a:ext>
            </a:extLst>
          </p:cNvPr>
          <p:cNvSpPr txBox="1"/>
          <p:nvPr/>
        </p:nvSpPr>
        <p:spPr>
          <a:xfrm>
            <a:off x="2845768" y="1068093"/>
            <a:ext cx="4235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68207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3411201" y="9220357"/>
            <a:ext cx="403858" cy="1256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spcBef>
                <a:spcPts val="20"/>
              </a:spcBef>
            </a:pPr>
            <a:r>
              <a:rPr spc="-25" dirty="0"/>
              <a:t>19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DEF86EB-D884-27CE-5F52-1A7D2C93A620}"/>
              </a:ext>
            </a:extLst>
          </p:cNvPr>
          <p:cNvSpPr txBox="1"/>
          <p:nvPr/>
        </p:nvSpPr>
        <p:spPr>
          <a:xfrm>
            <a:off x="761998" y="412365"/>
            <a:ext cx="5511800" cy="27956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Curves as a blending function</a:t>
            </a:r>
            <a:endParaRPr sz="14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4D4B20-50DA-ADF6-69D8-18D591527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177" y="1184596"/>
            <a:ext cx="3100292" cy="22128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012ADD-8345-3B87-1891-5A9D8984C521}"/>
              </a:ext>
            </a:extLst>
          </p:cNvPr>
          <p:cNvSpPr txBox="1"/>
          <p:nvPr/>
        </p:nvSpPr>
        <p:spPr>
          <a:xfrm>
            <a:off x="761998" y="1120588"/>
            <a:ext cx="4226478" cy="80175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Given points p1, p2, and t = [0…1]</a:t>
            </a:r>
          </a:p>
          <a:p>
            <a:endParaRPr lang="en-US" dirty="0"/>
          </a:p>
          <a:p>
            <a:r>
              <a:rPr kumimoji="0" lang="en-US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C</a:t>
            </a:r>
            <a:r>
              <a:rPr kumimoji="0" lang="en-US" b="0" i="1" u="none" strike="noStrike" kern="0" cap="none" spc="-3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t</a:t>
            </a:r>
            <a:r>
              <a:rPr kumimoji="0" lang="en-US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=</a:t>
            </a:r>
            <a:r>
              <a:rPr kumimoji="0" lang="en-US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1*</a:t>
            </a:r>
            <a:r>
              <a:rPr lang="en-US" dirty="0">
                <a:highlight>
                  <a:srgbClr val="FFFF00"/>
                </a:highlight>
                <a:latin typeface="Verdana"/>
                <a:cs typeface="Verdana"/>
              </a:rPr>
              <a:t>P</a:t>
            </a:r>
            <a:r>
              <a:rPr lang="en-US" baseline="-25000" dirty="0">
                <a:highlight>
                  <a:srgbClr val="FFFF00"/>
                </a:highlight>
                <a:latin typeface="Verdana"/>
                <a:cs typeface="Verdana"/>
              </a:rPr>
              <a:t>0</a:t>
            </a:r>
            <a:r>
              <a:rPr kumimoji="0" lang="en-US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+</a:t>
            </a:r>
            <a:r>
              <a:rPr kumimoji="0" lang="en-US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t</a:t>
            </a:r>
            <a:r>
              <a:rPr kumimoji="0" lang="en-US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*</a:t>
            </a:r>
            <a:r>
              <a:rPr kumimoji="0" lang="en-US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lang="en-US" dirty="0">
                <a:highlight>
                  <a:srgbClr val="FFFF00"/>
                </a:highlight>
                <a:latin typeface="Verdana"/>
                <a:cs typeface="Verdana"/>
              </a:rPr>
              <a:t>(P</a:t>
            </a:r>
            <a:r>
              <a:rPr lang="en-US" baseline="-25000" dirty="0">
                <a:highlight>
                  <a:srgbClr val="FFFF00"/>
                </a:highlight>
                <a:latin typeface="Verdana"/>
                <a:cs typeface="Verdana"/>
              </a:rPr>
              <a:t>1</a:t>
            </a:r>
            <a:r>
              <a:rPr lang="en-US" dirty="0">
                <a:highlight>
                  <a:srgbClr val="FFFF00"/>
                </a:highlight>
                <a:latin typeface="Verdana"/>
                <a:cs typeface="Verdana"/>
              </a:rPr>
              <a:t> – P</a:t>
            </a:r>
            <a:r>
              <a:rPr lang="en-US" baseline="-25000" dirty="0">
                <a:highlight>
                  <a:srgbClr val="FFFF00"/>
                </a:highlight>
                <a:latin typeface="Verdana"/>
                <a:cs typeface="Verdana"/>
              </a:rPr>
              <a:t>0</a:t>
            </a:r>
            <a:r>
              <a:rPr lang="en-US" dirty="0">
                <a:highlight>
                  <a:srgbClr val="FFFF00"/>
                </a:highlight>
                <a:latin typeface="Verdana"/>
                <a:cs typeface="Verdana"/>
              </a:rPr>
              <a:t>)</a:t>
            </a:r>
          </a:p>
          <a:p>
            <a:endParaRPr lang="en-US" dirty="0">
              <a:highlight>
                <a:srgbClr val="FFFF00"/>
              </a:highlight>
              <a:latin typeface="Verdana"/>
              <a:cs typeface="Verdana"/>
            </a:endParaRPr>
          </a:p>
          <a:p>
            <a:r>
              <a:rPr kumimoji="0" lang="en-US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C</a:t>
            </a:r>
            <a:r>
              <a:rPr kumimoji="0" lang="en-US" b="0" i="1" u="none" strike="noStrike" kern="0" cap="none" spc="-3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t</a:t>
            </a:r>
            <a:r>
              <a:rPr kumimoji="0" lang="en-US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=</a:t>
            </a:r>
            <a:r>
              <a:rPr kumimoji="0" lang="en-US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(1-t) * </a:t>
            </a:r>
            <a:r>
              <a:rPr lang="en-US" dirty="0">
                <a:highlight>
                  <a:srgbClr val="FFFF00"/>
                </a:highlight>
                <a:latin typeface="Verdana"/>
                <a:cs typeface="Verdana"/>
              </a:rPr>
              <a:t>P</a:t>
            </a:r>
            <a:r>
              <a:rPr lang="en-US" baseline="-25000" dirty="0">
                <a:highlight>
                  <a:srgbClr val="FFFF00"/>
                </a:highlight>
                <a:latin typeface="Verdana"/>
                <a:cs typeface="Verdana"/>
              </a:rPr>
              <a:t>0</a:t>
            </a:r>
            <a:r>
              <a:rPr kumimoji="0" lang="en-US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   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+</a:t>
            </a:r>
            <a:r>
              <a:rPr kumimoji="0" lang="en-US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   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t</a:t>
            </a:r>
            <a:r>
              <a:rPr kumimoji="0" lang="en-US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*</a:t>
            </a:r>
            <a:r>
              <a:rPr kumimoji="0" lang="en-US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Verdana"/>
                <a:cs typeface="Verdana"/>
              </a:rPr>
              <a:t> </a:t>
            </a:r>
            <a:r>
              <a:rPr lang="en-US" dirty="0">
                <a:highlight>
                  <a:srgbClr val="FFFF00"/>
                </a:highlight>
                <a:latin typeface="Verdana"/>
                <a:cs typeface="Verdana"/>
              </a:rPr>
              <a:t>P</a:t>
            </a:r>
            <a:r>
              <a:rPr lang="en-US" baseline="-25000" dirty="0">
                <a:highlight>
                  <a:srgbClr val="FFFF00"/>
                </a:highlight>
                <a:latin typeface="Verdana"/>
                <a:cs typeface="Verdana"/>
              </a:rPr>
              <a:t>1</a:t>
            </a:r>
            <a:endParaRPr lang="en-US" dirty="0">
              <a:highlight>
                <a:srgbClr val="FFFF00"/>
              </a:highlight>
              <a:latin typeface="Verdana"/>
              <a:cs typeface="Verdana"/>
            </a:endParaRPr>
          </a:p>
          <a:p>
            <a:endParaRPr lang="en-US" dirty="0">
              <a:highlight>
                <a:srgbClr val="FFFF00"/>
              </a:highlight>
              <a:latin typeface="Verdana"/>
            </a:endParaRPr>
          </a:p>
          <a:p>
            <a:r>
              <a:rPr lang="en-US" dirty="0">
                <a:highlight>
                  <a:srgbClr val="FFFF00"/>
                </a:highlight>
                <a:latin typeface="Verdana"/>
              </a:rPr>
              <a:t>OR</a:t>
            </a:r>
            <a:endParaRPr lang="en-US" dirty="0"/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C</a:t>
            </a:r>
            <a:r>
              <a:rPr lang="en-US" baseline="-25000" dirty="0">
                <a:highlight>
                  <a:srgbClr val="FFFF00"/>
                </a:highlight>
              </a:rPr>
              <a:t>t</a:t>
            </a:r>
            <a:r>
              <a:rPr lang="en-US" i="1" baseline="30000" dirty="0">
                <a:highlight>
                  <a:srgbClr val="FFFF00"/>
                </a:highlight>
              </a:rPr>
              <a:t>  </a:t>
            </a:r>
            <a:r>
              <a:rPr lang="en-US" dirty="0">
                <a:highlight>
                  <a:srgbClr val="FFFF00"/>
                </a:highlight>
              </a:rPr>
              <a:t>=  (1-t)*P0 + t*P1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C</a:t>
            </a:r>
            <a:r>
              <a:rPr lang="en-US" baseline="-25000" dirty="0">
                <a:highlight>
                  <a:srgbClr val="FFFF00"/>
                </a:highlight>
              </a:rPr>
              <a:t>t=0</a:t>
            </a:r>
            <a:r>
              <a:rPr lang="en-US" i="1" baseline="30000" dirty="0">
                <a:highlight>
                  <a:srgbClr val="FFFF00"/>
                </a:highlight>
              </a:rPr>
              <a:t>  </a:t>
            </a:r>
            <a:r>
              <a:rPr lang="en-US" dirty="0">
                <a:highlight>
                  <a:srgbClr val="FFFF00"/>
                </a:highlight>
              </a:rPr>
              <a:t>=  (1)*P0 + 0*P1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C</a:t>
            </a:r>
            <a:r>
              <a:rPr lang="en-US" baseline="-25000" dirty="0">
                <a:highlight>
                  <a:srgbClr val="FFFF00"/>
                </a:highlight>
              </a:rPr>
              <a:t>t=1</a:t>
            </a:r>
            <a:r>
              <a:rPr lang="en-US" i="1" baseline="30000" dirty="0">
                <a:highlight>
                  <a:srgbClr val="FFFF00"/>
                </a:highlight>
              </a:rPr>
              <a:t>  </a:t>
            </a:r>
            <a:r>
              <a:rPr lang="en-US" dirty="0">
                <a:highlight>
                  <a:srgbClr val="FFFF00"/>
                </a:highlight>
              </a:rPr>
              <a:t>=  </a:t>
            </a:r>
            <a:r>
              <a:rPr lang="en-US" strike="dblStrike" dirty="0">
                <a:highlight>
                  <a:srgbClr val="FFFF00"/>
                </a:highlight>
              </a:rPr>
              <a:t>(1-t)*P0 </a:t>
            </a:r>
            <a:r>
              <a:rPr lang="en-US" dirty="0">
                <a:highlight>
                  <a:srgbClr val="FFFF00"/>
                </a:highlight>
              </a:rPr>
              <a:t>+ </a:t>
            </a:r>
            <a:r>
              <a:rPr lang="en-US" strike="dblStrike" dirty="0">
                <a:highlight>
                  <a:srgbClr val="FFFF00"/>
                </a:highlight>
              </a:rPr>
              <a:t>t*</a:t>
            </a:r>
            <a:r>
              <a:rPr lang="en-US" dirty="0">
                <a:highlight>
                  <a:srgbClr val="FFFF00"/>
                </a:highlight>
              </a:rPr>
              <a:t>P1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C</a:t>
            </a:r>
            <a:r>
              <a:rPr lang="en-US" baseline="-25000" dirty="0">
                <a:highlight>
                  <a:srgbClr val="FFFF00"/>
                </a:highlight>
              </a:rPr>
              <a:t>t=0.5</a:t>
            </a:r>
            <a:r>
              <a:rPr lang="en-US" i="1" baseline="30000" dirty="0">
                <a:highlight>
                  <a:srgbClr val="FFFF00"/>
                </a:highlight>
              </a:rPr>
              <a:t>  </a:t>
            </a:r>
            <a:r>
              <a:rPr lang="en-US" dirty="0">
                <a:highlight>
                  <a:srgbClr val="FFFF00"/>
                </a:highlight>
              </a:rPr>
              <a:t>=  (1-0.5)*P0 + 0.5*P1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  <a:p>
            <a:r>
              <a:rPr lang="en-US" dirty="0"/>
              <a:t>     =  (	 (1 – t)*p0</a:t>
            </a:r>
            <a:r>
              <a:rPr lang="en-US" baseline="-25000" dirty="0"/>
              <a:t>x</a:t>
            </a:r>
            <a:r>
              <a:rPr lang="en-US" dirty="0"/>
              <a:t> + t*p1</a:t>
            </a:r>
            <a:r>
              <a:rPr lang="en-US" baseline="-25000" dirty="0"/>
              <a:t>x</a:t>
            </a:r>
            <a:r>
              <a:rPr lang="en-US" dirty="0"/>
              <a:t> ,</a:t>
            </a:r>
          </a:p>
          <a:p>
            <a:r>
              <a:rPr lang="en-US" dirty="0"/>
              <a:t> 	 (1 – t)*p0</a:t>
            </a:r>
            <a:r>
              <a:rPr lang="en-US" baseline="-25000" dirty="0"/>
              <a:t>y</a:t>
            </a:r>
            <a:r>
              <a:rPr lang="en-US" dirty="0"/>
              <a:t> + t*p1</a:t>
            </a:r>
            <a:r>
              <a:rPr lang="en-US" baseline="-25000" dirty="0"/>
              <a:t>y</a:t>
            </a:r>
            <a:r>
              <a:rPr lang="en-US" dirty="0"/>
              <a:t> ,</a:t>
            </a:r>
          </a:p>
          <a:p>
            <a:r>
              <a:rPr lang="en-US" dirty="0"/>
              <a:t> 	 (1 – t)*p0</a:t>
            </a:r>
            <a:r>
              <a:rPr lang="en-US" baseline="-25000" dirty="0"/>
              <a:t>z</a:t>
            </a:r>
            <a:r>
              <a:rPr lang="en-US" dirty="0"/>
              <a:t> + t*p1</a:t>
            </a:r>
            <a:r>
              <a:rPr lang="en-US" baseline="-25000" dirty="0"/>
              <a:t>z</a:t>
            </a:r>
            <a:r>
              <a:rPr lang="en-US" dirty="0"/>
              <a:t>  )</a:t>
            </a:r>
          </a:p>
          <a:p>
            <a:endParaRPr lang="en-US" dirty="0"/>
          </a:p>
          <a:p>
            <a:pPr marL="57150" marR="64135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Verdana"/>
                <a:cs typeface="Verdana"/>
              </a:rPr>
              <a:t>t=0: P</a:t>
            </a:r>
            <a:r>
              <a:rPr lang="en-US" baseline="-25000" dirty="0">
                <a:latin typeface="Verdana"/>
                <a:cs typeface="Verdana"/>
              </a:rPr>
              <a:t>0</a:t>
            </a:r>
          </a:p>
          <a:p>
            <a:pPr marL="57150" marR="64135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57150" marR="64135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t=1: P</a:t>
            </a:r>
            <a:r>
              <a:rPr lang="en-US" baseline="-25000" dirty="0">
                <a:latin typeface="Verdana"/>
                <a:cs typeface="Verdana"/>
              </a:rPr>
              <a:t>1</a:t>
            </a:r>
          </a:p>
          <a:p>
            <a:pPr marL="57150" marR="64135" lvl="0" indent="0" defTabSz="91440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57150" marR="64135">
              <a:spcBef>
                <a:spcPts val="125"/>
              </a:spcBef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t=0.5: </a:t>
            </a:r>
            <a:r>
              <a:rPr kumimoji="0" lang="en-US" sz="18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(</a:t>
            </a:r>
            <a:r>
              <a:rPr lang="en-US" u="sng" dirty="0">
                <a:latin typeface="Verdana"/>
                <a:cs typeface="Verdana"/>
              </a:rPr>
              <a:t>P</a:t>
            </a:r>
            <a:r>
              <a:rPr lang="en-US" u="sng" baseline="-25000" dirty="0">
                <a:latin typeface="Verdana"/>
                <a:cs typeface="Verdana"/>
              </a:rPr>
              <a:t>1</a:t>
            </a:r>
            <a:r>
              <a:rPr kumimoji="0" lang="en-US" b="0" i="0" u="sng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lang="en-US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+</a:t>
            </a:r>
            <a:r>
              <a:rPr kumimoji="0" lang="en-US" b="0" i="0" u="sng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lang="en-US" u="sng" dirty="0">
                <a:latin typeface="Verdana"/>
                <a:cs typeface="Verdana"/>
              </a:rPr>
              <a:t>P</a:t>
            </a:r>
            <a:r>
              <a:rPr lang="en-US" u="sng" baseline="-25000" dirty="0">
                <a:latin typeface="Verdana"/>
                <a:cs typeface="Verdana"/>
              </a:rPr>
              <a:t>0</a:t>
            </a:r>
            <a:r>
              <a:rPr lang="en-US" u="sng" dirty="0">
                <a:latin typeface="Verdana"/>
                <a:cs typeface="Verdana"/>
              </a:rPr>
              <a:t>)</a:t>
            </a:r>
            <a:r>
              <a:rPr lang="en-US" dirty="0">
                <a:latin typeface="Verdana"/>
                <a:cs typeface="Verdana"/>
              </a:rPr>
              <a:t>	#midpoint</a:t>
            </a:r>
          </a:p>
          <a:p>
            <a:pPr marL="57150" marR="64135">
              <a:spcBef>
                <a:spcPts val="125"/>
              </a:spcBef>
              <a:defRPr/>
            </a:pPr>
            <a:r>
              <a:rPr lang="en-US" dirty="0">
                <a:latin typeface="Verdana"/>
                <a:cs typeface="Verdana"/>
              </a:rPr>
              <a:t>	     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037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3411201" y="9220357"/>
            <a:ext cx="403858" cy="1256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spcBef>
                <a:spcPts val="20"/>
              </a:spcBef>
            </a:pPr>
            <a:r>
              <a:rPr spc="-25" dirty="0"/>
              <a:t>19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DEF86EB-D884-27CE-5F52-1A7D2C93A620}"/>
              </a:ext>
            </a:extLst>
          </p:cNvPr>
          <p:cNvSpPr txBox="1"/>
          <p:nvPr/>
        </p:nvSpPr>
        <p:spPr>
          <a:xfrm>
            <a:off x="761998" y="412365"/>
            <a:ext cx="5511800" cy="27956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Try it yourself – a list of points</a:t>
            </a:r>
            <a:endParaRPr sz="14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07E231-4469-2700-D521-B51908C33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55" y="773378"/>
            <a:ext cx="3543482" cy="20194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7017AD-B44D-CB40-388E-3466689EB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39" y="3147643"/>
            <a:ext cx="4210266" cy="20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33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035A4AB-2BD4-517B-60D6-010CE87CD2E7}"/>
              </a:ext>
            </a:extLst>
          </p:cNvPr>
          <p:cNvCxnSpPr>
            <a:cxnSpLocks/>
          </p:cNvCxnSpPr>
          <p:nvPr/>
        </p:nvCxnSpPr>
        <p:spPr>
          <a:xfrm flipV="1">
            <a:off x="1379601" y="2353056"/>
            <a:ext cx="4293235" cy="484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F90C919-AB08-558B-B930-A64B4D4085F4}"/>
              </a:ext>
            </a:extLst>
          </p:cNvPr>
          <p:cNvCxnSpPr>
            <a:cxnSpLocks/>
          </p:cNvCxnSpPr>
          <p:nvPr/>
        </p:nvCxnSpPr>
        <p:spPr>
          <a:xfrm flipV="1">
            <a:off x="1968246" y="5752372"/>
            <a:ext cx="1972604" cy="4763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3411201" y="9220357"/>
            <a:ext cx="403858" cy="1256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spcBef>
                <a:spcPts val="20"/>
              </a:spcBef>
            </a:pPr>
            <a:r>
              <a:rPr spc="-25" dirty="0"/>
              <a:t>19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DEF86EB-D884-27CE-5F52-1A7D2C93A620}"/>
              </a:ext>
            </a:extLst>
          </p:cNvPr>
          <p:cNvSpPr txBox="1"/>
          <p:nvPr/>
        </p:nvSpPr>
        <p:spPr>
          <a:xfrm>
            <a:off x="761998" y="412365"/>
            <a:ext cx="5511800" cy="27956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Curves as a blending function: 2 points</a:t>
            </a:r>
            <a:endParaRPr sz="14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A9D99A-1954-F64C-FFA8-0E81560A6AF5}"/>
              </a:ext>
            </a:extLst>
          </p:cNvPr>
          <p:cNvSpPr/>
          <p:nvPr/>
        </p:nvSpPr>
        <p:spPr>
          <a:xfrm>
            <a:off x="1298448" y="2335276"/>
            <a:ext cx="118872" cy="1188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ACC115-3E60-200B-6B18-8C1FC227CD97}"/>
              </a:ext>
            </a:extLst>
          </p:cNvPr>
          <p:cNvSpPr/>
          <p:nvPr/>
        </p:nvSpPr>
        <p:spPr>
          <a:xfrm>
            <a:off x="5638800" y="2314956"/>
            <a:ext cx="118872" cy="1188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BBE8A-0C51-7A57-4292-5DEEC5C9269C}"/>
              </a:ext>
            </a:extLst>
          </p:cNvPr>
          <p:cNvSpPr txBox="1"/>
          <p:nvPr/>
        </p:nvSpPr>
        <p:spPr>
          <a:xfrm>
            <a:off x="1169289" y="2412476"/>
            <a:ext cx="496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9773A5-6CAD-3BE2-976A-EC0F02A378FA}"/>
              </a:ext>
            </a:extLst>
          </p:cNvPr>
          <p:cNvSpPr txBox="1"/>
          <p:nvPr/>
        </p:nvSpPr>
        <p:spPr>
          <a:xfrm>
            <a:off x="5509641" y="2399776"/>
            <a:ext cx="496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8B6756A-9FBC-CA38-A671-A0249A8EFCB7}"/>
              </a:ext>
            </a:extLst>
          </p:cNvPr>
          <p:cNvSpPr/>
          <p:nvPr/>
        </p:nvSpPr>
        <p:spPr>
          <a:xfrm>
            <a:off x="2910649" y="2314956"/>
            <a:ext cx="118872" cy="11887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304497-4DFE-90A1-34F6-18DFA76FFF8C}"/>
              </a:ext>
            </a:extLst>
          </p:cNvPr>
          <p:cNvSpPr txBox="1"/>
          <p:nvPr/>
        </p:nvSpPr>
        <p:spPr>
          <a:xfrm>
            <a:off x="2065210" y="2399776"/>
            <a:ext cx="1892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(1-t)*p1 + t*p2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EDE18D-6746-6476-7451-64AAA8669D49}"/>
              </a:ext>
            </a:extLst>
          </p:cNvPr>
          <p:cNvSpPr txBox="1"/>
          <p:nvPr/>
        </p:nvSpPr>
        <p:spPr>
          <a:xfrm>
            <a:off x="1692783" y="2088126"/>
            <a:ext cx="550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1-</a:t>
            </a:r>
            <a:r>
              <a:rPr lang="en-US" i="1" dirty="0"/>
              <a:t>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D4234-0592-C98C-F1C5-985B88296503}"/>
              </a:ext>
            </a:extLst>
          </p:cNvPr>
          <p:cNvSpPr txBox="1"/>
          <p:nvPr/>
        </p:nvSpPr>
        <p:spPr>
          <a:xfrm>
            <a:off x="4049649" y="2088126"/>
            <a:ext cx="550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t</a:t>
            </a: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3DEF8FF6-4BB2-254B-64A2-FD8FE1EA2D40}"/>
              </a:ext>
            </a:extLst>
          </p:cNvPr>
          <p:cNvSpPr txBox="1"/>
          <p:nvPr/>
        </p:nvSpPr>
        <p:spPr>
          <a:xfrm>
            <a:off x="761998" y="3902521"/>
            <a:ext cx="5511800" cy="27956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Curves as a blending function: 3 points!</a:t>
            </a:r>
            <a:endParaRPr sz="14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4773E1-6CB9-A89F-DF10-174118078CB6}"/>
              </a:ext>
            </a:extLst>
          </p:cNvPr>
          <p:cNvSpPr/>
          <p:nvPr/>
        </p:nvSpPr>
        <p:spPr>
          <a:xfrm>
            <a:off x="1298448" y="6812280"/>
            <a:ext cx="118872" cy="1188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8B7A1F6-F024-FE32-6A40-8039EB13A37D}"/>
              </a:ext>
            </a:extLst>
          </p:cNvPr>
          <p:cNvSpPr/>
          <p:nvPr/>
        </p:nvSpPr>
        <p:spPr>
          <a:xfrm>
            <a:off x="5638800" y="6804660"/>
            <a:ext cx="118872" cy="1188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78AB4D-67A2-B496-1333-017EC670E851}"/>
              </a:ext>
            </a:extLst>
          </p:cNvPr>
          <p:cNvSpPr txBox="1"/>
          <p:nvPr/>
        </p:nvSpPr>
        <p:spPr>
          <a:xfrm>
            <a:off x="1169289" y="6889480"/>
            <a:ext cx="496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C4C45F-C6BE-729B-17C1-0DF82AA79D53}"/>
              </a:ext>
            </a:extLst>
          </p:cNvPr>
          <p:cNvSpPr txBox="1"/>
          <p:nvPr/>
        </p:nvSpPr>
        <p:spPr>
          <a:xfrm>
            <a:off x="5509641" y="6889480"/>
            <a:ext cx="496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7B5929D-FB7D-EE0B-528A-C428673F1E50}"/>
              </a:ext>
            </a:extLst>
          </p:cNvPr>
          <p:cNvSpPr/>
          <p:nvPr/>
        </p:nvSpPr>
        <p:spPr>
          <a:xfrm>
            <a:off x="3039808" y="5071396"/>
            <a:ext cx="118872" cy="1188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2E4586-AC9F-95D2-A1D4-72119B5E00ED}"/>
              </a:ext>
            </a:extLst>
          </p:cNvPr>
          <p:cNvSpPr txBox="1"/>
          <p:nvPr/>
        </p:nvSpPr>
        <p:spPr>
          <a:xfrm>
            <a:off x="2910649" y="5156216"/>
            <a:ext cx="496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0C0B8BB-3B0C-3AC1-CE29-74CCACFB0AE6}"/>
              </a:ext>
            </a:extLst>
          </p:cNvPr>
          <p:cNvSpPr/>
          <p:nvPr/>
        </p:nvSpPr>
        <p:spPr>
          <a:xfrm>
            <a:off x="2642362" y="5988870"/>
            <a:ext cx="118872" cy="11887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5653C9-6533-8338-1DBF-214538BCC282}"/>
              </a:ext>
            </a:extLst>
          </p:cNvPr>
          <p:cNvSpPr txBox="1"/>
          <p:nvPr/>
        </p:nvSpPr>
        <p:spPr>
          <a:xfrm>
            <a:off x="2590324" y="6077384"/>
            <a:ext cx="3067812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 </a:t>
            </a:r>
            <a:r>
              <a:rPr lang="en-US" dirty="0"/>
              <a:t>= </a:t>
            </a:r>
            <a:r>
              <a:rPr lang="en-US" dirty="0">
                <a:highlight>
                  <a:srgbClr val="FF00FF"/>
                </a:highlight>
              </a:rPr>
              <a:t>(1-t)</a:t>
            </a:r>
            <a:r>
              <a:rPr lang="en-US" dirty="0"/>
              <a:t>*</a:t>
            </a:r>
            <a:r>
              <a:rPr lang="en-US" dirty="0">
                <a:highlight>
                  <a:srgbClr val="FFFF00"/>
                </a:highlight>
              </a:rPr>
              <a:t>p</a:t>
            </a:r>
            <a:r>
              <a:rPr lang="en-US" baseline="-25000" dirty="0">
                <a:highlight>
                  <a:srgbClr val="FFFF00"/>
                </a:highlight>
              </a:rPr>
              <a:t>12</a:t>
            </a:r>
            <a:r>
              <a:rPr lang="en-US" dirty="0"/>
              <a:t>+ </a:t>
            </a:r>
            <a:r>
              <a:rPr lang="en-US" dirty="0">
                <a:highlight>
                  <a:srgbClr val="00FFFF"/>
                </a:highlight>
              </a:rPr>
              <a:t>t</a:t>
            </a:r>
            <a:r>
              <a:rPr lang="en-US" dirty="0"/>
              <a:t>*</a:t>
            </a:r>
            <a:r>
              <a:rPr lang="en-US" dirty="0">
                <a:highlight>
                  <a:srgbClr val="00FF00"/>
                </a:highlight>
              </a:rPr>
              <a:t>p</a:t>
            </a:r>
            <a:r>
              <a:rPr lang="en-US" baseline="-25000" dirty="0">
                <a:highlight>
                  <a:srgbClr val="00FF00"/>
                </a:highlight>
              </a:rPr>
              <a:t>23</a:t>
            </a:r>
          </a:p>
          <a:p>
            <a:endParaRPr lang="en-US" dirty="0"/>
          </a:p>
          <a:p>
            <a:r>
              <a:rPr lang="en-US" dirty="0"/>
              <a:t>p</a:t>
            </a:r>
            <a:r>
              <a:rPr lang="en-US" baseline="-25000" dirty="0"/>
              <a:t> </a:t>
            </a:r>
            <a:r>
              <a:rPr lang="en-US" dirty="0"/>
              <a:t>= </a:t>
            </a:r>
            <a:r>
              <a:rPr lang="en-US" dirty="0">
                <a:highlight>
                  <a:srgbClr val="FF00FF"/>
                </a:highlight>
              </a:rPr>
              <a:t>(1-t)</a:t>
            </a:r>
            <a:r>
              <a:rPr lang="en-US" dirty="0"/>
              <a:t>*</a:t>
            </a:r>
            <a:r>
              <a:rPr lang="en-US" dirty="0">
                <a:highlight>
                  <a:srgbClr val="FFFF00"/>
                </a:highlight>
              </a:rPr>
              <a:t>((1-t)*p</a:t>
            </a:r>
            <a:r>
              <a:rPr lang="en-US" baseline="-25000" dirty="0">
                <a:highlight>
                  <a:srgbClr val="FFFF00"/>
                </a:highlight>
              </a:rPr>
              <a:t>1</a:t>
            </a:r>
            <a:r>
              <a:rPr lang="en-US" dirty="0">
                <a:highlight>
                  <a:srgbClr val="FFFF00"/>
                </a:highlight>
              </a:rPr>
              <a:t>+ t*p</a:t>
            </a:r>
            <a:r>
              <a:rPr lang="en-US" baseline="-25000" dirty="0">
                <a:highlight>
                  <a:srgbClr val="FFFF00"/>
                </a:highlight>
              </a:rPr>
              <a:t>2 </a:t>
            </a:r>
            <a:r>
              <a:rPr lang="en-US" dirty="0">
                <a:highlight>
                  <a:srgbClr val="FFFF00"/>
                </a:highlight>
              </a:rPr>
              <a:t>)</a:t>
            </a:r>
          </a:p>
          <a:p>
            <a:r>
              <a:rPr lang="en-US" baseline="-25000" dirty="0"/>
              <a:t>    </a:t>
            </a:r>
            <a:r>
              <a:rPr lang="en-US" dirty="0"/>
              <a:t>+</a:t>
            </a:r>
            <a:r>
              <a:rPr lang="en-US" baseline="-25000" dirty="0"/>
              <a:t>  </a:t>
            </a:r>
            <a:r>
              <a:rPr lang="en-US" dirty="0">
                <a:highlight>
                  <a:srgbClr val="00FFFF"/>
                </a:highlight>
              </a:rPr>
              <a:t>t</a:t>
            </a:r>
            <a:r>
              <a:rPr lang="en-US" dirty="0"/>
              <a:t>*</a:t>
            </a:r>
            <a:r>
              <a:rPr lang="en-US" dirty="0">
                <a:highlight>
                  <a:srgbClr val="00FF00"/>
                </a:highlight>
              </a:rPr>
              <a:t> ((1-t)*p</a:t>
            </a:r>
            <a:r>
              <a:rPr lang="en-US" baseline="-25000" dirty="0">
                <a:highlight>
                  <a:srgbClr val="00FF00"/>
                </a:highlight>
              </a:rPr>
              <a:t>2</a:t>
            </a:r>
            <a:r>
              <a:rPr lang="en-US" dirty="0">
                <a:highlight>
                  <a:srgbClr val="00FF00"/>
                </a:highlight>
              </a:rPr>
              <a:t> + t*p</a:t>
            </a:r>
            <a:r>
              <a:rPr lang="en-US" baseline="-25000" dirty="0">
                <a:highlight>
                  <a:srgbClr val="00FF00"/>
                </a:highlight>
              </a:rPr>
              <a:t>3</a:t>
            </a:r>
            <a:r>
              <a:rPr lang="en-US" dirty="0">
                <a:highlight>
                  <a:srgbClr val="00FF00"/>
                </a:highlight>
              </a:rPr>
              <a:t>)</a:t>
            </a:r>
          </a:p>
          <a:p>
            <a:endParaRPr lang="en-US" baseline="-25000" dirty="0">
              <a:highlight>
                <a:srgbClr val="00FF00"/>
              </a:highlight>
            </a:endParaRPr>
          </a:p>
          <a:p>
            <a:r>
              <a:rPr lang="en-US" dirty="0"/>
              <a:t>p</a:t>
            </a:r>
            <a:r>
              <a:rPr lang="en-US" baseline="-25000" dirty="0"/>
              <a:t> </a:t>
            </a:r>
            <a:r>
              <a:rPr lang="en-US" dirty="0"/>
              <a:t>= (1-t)</a:t>
            </a:r>
            <a:r>
              <a:rPr lang="en-US" baseline="30000" dirty="0"/>
              <a:t>2</a:t>
            </a:r>
            <a:r>
              <a:rPr lang="en-US" dirty="0"/>
              <a:t>*p</a:t>
            </a:r>
            <a:r>
              <a:rPr lang="en-US" baseline="-25000" dirty="0"/>
              <a:t>1</a:t>
            </a:r>
            <a:r>
              <a:rPr lang="en-US" dirty="0"/>
              <a:t>+ </a:t>
            </a:r>
          </a:p>
          <a:p>
            <a:r>
              <a:rPr lang="en-US" dirty="0"/>
              <a:t>      2t(1-t)*p</a:t>
            </a:r>
            <a:r>
              <a:rPr lang="en-US" baseline="-25000" dirty="0"/>
              <a:t>2</a:t>
            </a:r>
            <a:r>
              <a:rPr lang="en-US" dirty="0"/>
              <a:t>+ </a:t>
            </a:r>
          </a:p>
          <a:p>
            <a:r>
              <a:rPr lang="en-US" dirty="0"/>
              <a:t>      t</a:t>
            </a:r>
            <a:r>
              <a:rPr lang="en-US" baseline="30000" dirty="0"/>
              <a:t>2</a:t>
            </a:r>
            <a:r>
              <a:rPr lang="en-US" dirty="0"/>
              <a:t>*p</a:t>
            </a:r>
            <a:r>
              <a:rPr lang="en-US" baseline="-25000" dirty="0"/>
              <a:t>3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073D34D-8BB4-D83A-394C-C3CEC1DB671D}"/>
              </a:ext>
            </a:extLst>
          </p:cNvPr>
          <p:cNvCxnSpPr>
            <a:cxnSpLocks/>
          </p:cNvCxnSpPr>
          <p:nvPr/>
        </p:nvCxnSpPr>
        <p:spPr>
          <a:xfrm flipV="1">
            <a:off x="1320737" y="5156216"/>
            <a:ext cx="1741360" cy="174088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5656AB-B77A-7B5E-4F3E-CEBC5FDE554B}"/>
              </a:ext>
            </a:extLst>
          </p:cNvPr>
          <p:cNvGrpSpPr/>
          <p:nvPr/>
        </p:nvGrpSpPr>
        <p:grpSpPr>
          <a:xfrm>
            <a:off x="395764" y="5792758"/>
            <a:ext cx="1892427" cy="488204"/>
            <a:chOff x="1391221" y="6435328"/>
            <a:chExt cx="1892427" cy="48820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58CDF79-2326-67EA-3E44-A5DC0C666FF3}"/>
                </a:ext>
              </a:extLst>
            </p:cNvPr>
            <p:cNvSpPr/>
            <p:nvPr/>
          </p:nvSpPr>
          <p:spPr>
            <a:xfrm>
              <a:off x="2910649" y="6804660"/>
              <a:ext cx="118872" cy="11887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8C70999-E9AD-876E-C3D9-DA756BD60432}"/>
                </a:ext>
              </a:extLst>
            </p:cNvPr>
            <p:cNvSpPr txBox="1"/>
            <p:nvPr/>
          </p:nvSpPr>
          <p:spPr>
            <a:xfrm>
              <a:off x="1391221" y="6435328"/>
              <a:ext cx="1892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p</a:t>
              </a:r>
              <a:r>
                <a:rPr lang="en-US" baseline="-25000" dirty="0">
                  <a:highlight>
                    <a:srgbClr val="FFFF00"/>
                  </a:highlight>
                </a:rPr>
                <a:t>12</a:t>
              </a:r>
              <a:r>
                <a:rPr lang="en-US" dirty="0">
                  <a:highlight>
                    <a:srgbClr val="FFFF00"/>
                  </a:highlight>
                </a:rPr>
                <a:t>=(1-t)*p</a:t>
              </a:r>
              <a:r>
                <a:rPr lang="en-US" baseline="-25000" dirty="0">
                  <a:highlight>
                    <a:srgbClr val="FFFF00"/>
                  </a:highlight>
                </a:rPr>
                <a:t>1</a:t>
              </a:r>
              <a:r>
                <a:rPr lang="en-US" dirty="0">
                  <a:highlight>
                    <a:srgbClr val="FFFF00"/>
                  </a:highlight>
                </a:rPr>
                <a:t>+ t*p</a:t>
              </a:r>
              <a:r>
                <a:rPr lang="en-US" baseline="-25000" dirty="0">
                  <a:highlight>
                    <a:srgbClr val="FFFF00"/>
                  </a:highlight>
                </a:rPr>
                <a:t>2</a:t>
              </a:r>
            </a:p>
          </p:txBody>
        </p: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D50CB3E-6157-43DE-CF1A-B93DCD2C7DB6}"/>
              </a:ext>
            </a:extLst>
          </p:cNvPr>
          <p:cNvCxnSpPr>
            <a:cxnSpLocks/>
          </p:cNvCxnSpPr>
          <p:nvPr/>
        </p:nvCxnSpPr>
        <p:spPr>
          <a:xfrm>
            <a:off x="3125343" y="5154746"/>
            <a:ext cx="2616400" cy="17536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97E3EAC-E6CB-739E-95B5-7E084421206D}"/>
              </a:ext>
            </a:extLst>
          </p:cNvPr>
          <p:cNvGrpSpPr/>
          <p:nvPr/>
        </p:nvGrpSpPr>
        <p:grpSpPr>
          <a:xfrm>
            <a:off x="3929824" y="5390636"/>
            <a:ext cx="2324924" cy="396526"/>
            <a:chOff x="2910649" y="6527006"/>
            <a:chExt cx="2324924" cy="396526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4CBE5CD-45B0-9E34-F25A-B48172D063D2}"/>
                </a:ext>
              </a:extLst>
            </p:cNvPr>
            <p:cNvSpPr/>
            <p:nvPr/>
          </p:nvSpPr>
          <p:spPr>
            <a:xfrm>
              <a:off x="2910649" y="6804660"/>
              <a:ext cx="118872" cy="11887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1AD485A-0970-642E-6139-0A78844FEA5B}"/>
                </a:ext>
              </a:extLst>
            </p:cNvPr>
            <p:cNvSpPr txBox="1"/>
            <p:nvPr/>
          </p:nvSpPr>
          <p:spPr>
            <a:xfrm>
              <a:off x="3011424" y="6527006"/>
              <a:ext cx="222414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highlight>
                    <a:srgbClr val="00FF00"/>
                  </a:highlight>
                </a:rPr>
                <a:t>p</a:t>
              </a:r>
              <a:r>
                <a:rPr lang="en-US" baseline="-25000" dirty="0">
                  <a:highlight>
                    <a:srgbClr val="00FF00"/>
                  </a:highlight>
                </a:rPr>
                <a:t>23</a:t>
              </a:r>
              <a:r>
                <a:rPr lang="en-US" dirty="0">
                  <a:highlight>
                    <a:srgbClr val="00FF00"/>
                  </a:highlight>
                </a:rPr>
                <a:t>=(1-t)*p</a:t>
              </a:r>
              <a:r>
                <a:rPr lang="en-US" baseline="-25000" dirty="0">
                  <a:highlight>
                    <a:srgbClr val="00FF00"/>
                  </a:highlight>
                </a:rPr>
                <a:t>2</a:t>
              </a:r>
              <a:r>
                <a:rPr lang="en-US" dirty="0">
                  <a:highlight>
                    <a:srgbClr val="00FF00"/>
                  </a:highlight>
                </a:rPr>
                <a:t> + t*p</a:t>
              </a:r>
              <a:r>
                <a:rPr lang="en-US" baseline="-25000" dirty="0">
                  <a:highlight>
                    <a:srgbClr val="00FF00"/>
                  </a:highlight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620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3411201" y="9220357"/>
            <a:ext cx="403858" cy="1256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spcBef>
                <a:spcPts val="20"/>
              </a:spcBef>
            </a:pPr>
            <a:r>
              <a:rPr spc="-25" dirty="0"/>
              <a:t>19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DEF86EB-D884-27CE-5F52-1A7D2C93A620}"/>
              </a:ext>
            </a:extLst>
          </p:cNvPr>
          <p:cNvSpPr txBox="1"/>
          <p:nvPr/>
        </p:nvSpPr>
        <p:spPr>
          <a:xfrm>
            <a:off x="761998" y="412365"/>
            <a:ext cx="5511800" cy="433452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endParaRPr sz="1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Bernstein Polynomials</a:t>
            </a:r>
            <a:endParaRPr sz="14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E1F4F-5EF9-E732-10E2-3B44667B97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838"/>
          <a:stretch/>
        </p:blipFill>
        <p:spPr>
          <a:xfrm>
            <a:off x="674671" y="1536700"/>
            <a:ext cx="5906619" cy="265878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181A7BA-4A91-0FB0-4020-AF1AD78CB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71" y="4225600"/>
            <a:ext cx="3319910" cy="327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089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3411201" y="9220357"/>
            <a:ext cx="403858" cy="1256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spcBef>
                <a:spcPts val="20"/>
              </a:spcBef>
            </a:pPr>
            <a:r>
              <a:rPr spc="-25" dirty="0"/>
              <a:t>19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DEF86EB-D884-27CE-5F52-1A7D2C93A620}"/>
              </a:ext>
            </a:extLst>
          </p:cNvPr>
          <p:cNvSpPr txBox="1"/>
          <p:nvPr/>
        </p:nvSpPr>
        <p:spPr>
          <a:xfrm>
            <a:off x="761998" y="272698"/>
            <a:ext cx="5511800" cy="49500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 </a:t>
            </a:r>
            <a:r>
              <a:rPr lang="en-US" sz="14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LINEAR</a:t>
            </a: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BEZIER Curve </a:t>
            </a:r>
          </a:p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Order = 1 = #points(2) - 1</a:t>
            </a:r>
            <a:endParaRPr sz="14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0C16E8-73F4-C49D-DC91-45B627D442EB}"/>
              </a:ext>
            </a:extLst>
          </p:cNvPr>
          <p:cNvGrpSpPr/>
          <p:nvPr/>
        </p:nvGrpSpPr>
        <p:grpSpPr>
          <a:xfrm>
            <a:off x="673227" y="776016"/>
            <a:ext cx="4836414" cy="693682"/>
            <a:chOff x="761998" y="970908"/>
            <a:chExt cx="4836414" cy="693682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035A4AB-2BD4-517B-60D6-010CE87CD2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2310" y="1235838"/>
              <a:ext cx="4293235" cy="484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6A9D99A-1954-F64C-FFA8-0E81560A6AF5}"/>
                </a:ext>
              </a:extLst>
            </p:cNvPr>
            <p:cNvSpPr/>
            <p:nvPr/>
          </p:nvSpPr>
          <p:spPr>
            <a:xfrm>
              <a:off x="891157" y="1218058"/>
              <a:ext cx="118872" cy="11887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4ACC115-3E60-200B-6B18-8C1FC227CD97}"/>
                </a:ext>
              </a:extLst>
            </p:cNvPr>
            <p:cNvSpPr/>
            <p:nvPr/>
          </p:nvSpPr>
          <p:spPr>
            <a:xfrm>
              <a:off x="5231509" y="1197738"/>
              <a:ext cx="118872" cy="11887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EBBE8A-0C51-7A57-4292-5DEEC5C9269C}"/>
                </a:ext>
              </a:extLst>
            </p:cNvPr>
            <p:cNvSpPr txBox="1"/>
            <p:nvPr/>
          </p:nvSpPr>
          <p:spPr>
            <a:xfrm>
              <a:off x="761998" y="1295258"/>
              <a:ext cx="4960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p1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99773A5-6CAD-3BE2-976A-EC0F02A378FA}"/>
                </a:ext>
              </a:extLst>
            </p:cNvPr>
            <p:cNvSpPr txBox="1"/>
            <p:nvPr/>
          </p:nvSpPr>
          <p:spPr>
            <a:xfrm>
              <a:off x="5102350" y="1282558"/>
              <a:ext cx="4960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p2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8B6756A-9FBC-CA38-A671-A0249A8EFCB7}"/>
                </a:ext>
              </a:extLst>
            </p:cNvPr>
            <p:cNvSpPr/>
            <p:nvPr/>
          </p:nvSpPr>
          <p:spPr>
            <a:xfrm>
              <a:off x="2503358" y="1197738"/>
              <a:ext cx="118872" cy="11887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304497-4DFE-90A1-34F6-18DFA76FFF8C}"/>
                </a:ext>
              </a:extLst>
            </p:cNvPr>
            <p:cNvSpPr txBox="1"/>
            <p:nvPr/>
          </p:nvSpPr>
          <p:spPr>
            <a:xfrm>
              <a:off x="1657919" y="1282558"/>
              <a:ext cx="1892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(1-t)*p1 + t*p2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EDE18D-6746-6476-7451-64AAA8669D49}"/>
                </a:ext>
              </a:extLst>
            </p:cNvPr>
            <p:cNvSpPr txBox="1"/>
            <p:nvPr/>
          </p:nvSpPr>
          <p:spPr>
            <a:xfrm>
              <a:off x="1285492" y="970908"/>
              <a:ext cx="5509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1-</a:t>
              </a:r>
              <a:r>
                <a:rPr lang="en-US" i="1" dirty="0"/>
                <a:t>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36D4234-0592-C98C-F1C5-985B88296503}"/>
                </a:ext>
              </a:extLst>
            </p:cNvPr>
            <p:cNvSpPr txBox="1"/>
            <p:nvPr/>
          </p:nvSpPr>
          <p:spPr>
            <a:xfrm>
              <a:off x="3642358" y="970908"/>
              <a:ext cx="5509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i="1" dirty="0"/>
                <a:t>t</a:t>
              </a: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D44773E1-6CB9-A89F-DF10-174118078CB6}"/>
              </a:ext>
            </a:extLst>
          </p:cNvPr>
          <p:cNvSpPr/>
          <p:nvPr/>
        </p:nvSpPr>
        <p:spPr>
          <a:xfrm>
            <a:off x="739710" y="4691380"/>
            <a:ext cx="118872" cy="1188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8B7A1F6-F024-FE32-6A40-8039EB13A37D}"/>
              </a:ext>
            </a:extLst>
          </p:cNvPr>
          <p:cNvSpPr/>
          <p:nvPr/>
        </p:nvSpPr>
        <p:spPr>
          <a:xfrm>
            <a:off x="5080062" y="4683760"/>
            <a:ext cx="118872" cy="1188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78AB4D-67A2-B496-1333-017EC670E851}"/>
              </a:ext>
            </a:extLst>
          </p:cNvPr>
          <p:cNvSpPr txBox="1"/>
          <p:nvPr/>
        </p:nvSpPr>
        <p:spPr>
          <a:xfrm>
            <a:off x="610551" y="4768580"/>
            <a:ext cx="496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C4C45F-C6BE-729B-17C1-0DF82AA79D53}"/>
              </a:ext>
            </a:extLst>
          </p:cNvPr>
          <p:cNvSpPr txBox="1"/>
          <p:nvPr/>
        </p:nvSpPr>
        <p:spPr>
          <a:xfrm>
            <a:off x="4950903" y="4768580"/>
            <a:ext cx="496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7B5929D-FB7D-EE0B-528A-C428673F1E50}"/>
              </a:ext>
            </a:extLst>
          </p:cNvPr>
          <p:cNvSpPr/>
          <p:nvPr/>
        </p:nvSpPr>
        <p:spPr>
          <a:xfrm>
            <a:off x="2481070" y="2950496"/>
            <a:ext cx="118872" cy="1188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2E4586-AC9F-95D2-A1D4-72119B5E00ED}"/>
              </a:ext>
            </a:extLst>
          </p:cNvPr>
          <p:cNvSpPr txBox="1"/>
          <p:nvPr/>
        </p:nvSpPr>
        <p:spPr>
          <a:xfrm>
            <a:off x="2351911" y="3035316"/>
            <a:ext cx="496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5653C9-6533-8338-1DBF-214538BCC282}"/>
              </a:ext>
            </a:extLst>
          </p:cNvPr>
          <p:cNvSpPr txBox="1"/>
          <p:nvPr/>
        </p:nvSpPr>
        <p:spPr>
          <a:xfrm>
            <a:off x="1516188" y="3605057"/>
            <a:ext cx="30678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 </a:t>
            </a:r>
            <a:r>
              <a:rPr lang="en-US" dirty="0"/>
              <a:t>= (1-t)</a:t>
            </a:r>
            <a:r>
              <a:rPr lang="en-US" baseline="30000" dirty="0"/>
              <a:t>2</a:t>
            </a:r>
            <a:r>
              <a:rPr lang="en-US" dirty="0"/>
              <a:t>*p</a:t>
            </a:r>
            <a:r>
              <a:rPr lang="en-US" baseline="-25000" dirty="0"/>
              <a:t>1</a:t>
            </a:r>
            <a:r>
              <a:rPr lang="en-US" dirty="0"/>
              <a:t>+ </a:t>
            </a:r>
          </a:p>
          <a:p>
            <a:r>
              <a:rPr lang="en-US" dirty="0"/>
              <a:t>      2t(1-t)*p</a:t>
            </a:r>
            <a:r>
              <a:rPr lang="en-US" baseline="-25000" dirty="0"/>
              <a:t>2</a:t>
            </a:r>
            <a:endParaRPr lang="en-US" dirty="0"/>
          </a:p>
          <a:p>
            <a:r>
              <a:rPr lang="en-US" dirty="0"/>
              <a:t>      t</a:t>
            </a:r>
            <a:r>
              <a:rPr lang="en-US" baseline="30000" dirty="0"/>
              <a:t>2</a:t>
            </a:r>
            <a:r>
              <a:rPr lang="en-US" dirty="0"/>
              <a:t>*p</a:t>
            </a:r>
            <a:r>
              <a:rPr lang="en-US" baseline="-25000" dirty="0"/>
              <a:t>3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0C3F41C8-83D6-BC4C-DC32-6309F2D3C181}"/>
              </a:ext>
            </a:extLst>
          </p:cNvPr>
          <p:cNvSpPr/>
          <p:nvPr/>
        </p:nvSpPr>
        <p:spPr>
          <a:xfrm>
            <a:off x="761998" y="3404648"/>
            <a:ext cx="4337399" cy="3072352"/>
          </a:xfrm>
          <a:prstGeom prst="arc">
            <a:avLst>
              <a:gd name="adj1" fmla="val 1091041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449C2AD-5ECA-A916-62DB-E8262AFBBEF5}"/>
              </a:ext>
            </a:extLst>
          </p:cNvPr>
          <p:cNvSpPr/>
          <p:nvPr/>
        </p:nvSpPr>
        <p:spPr>
          <a:xfrm>
            <a:off x="1373597" y="3758924"/>
            <a:ext cx="118872" cy="11887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AADFDC19-4131-F030-7BCF-B5B334985428}"/>
              </a:ext>
            </a:extLst>
          </p:cNvPr>
          <p:cNvSpPr txBox="1"/>
          <p:nvPr/>
        </p:nvSpPr>
        <p:spPr>
          <a:xfrm>
            <a:off x="761998" y="2075247"/>
            <a:ext cx="5511800" cy="49500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 </a:t>
            </a:r>
            <a:r>
              <a:rPr lang="en-US" sz="14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QUADRATIC</a:t>
            </a: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BEZIER Curve </a:t>
            </a:r>
          </a:p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Order = 2 = #points(3) - 1</a:t>
            </a:r>
            <a:endParaRPr sz="14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679966A-0F12-86F6-3F3F-BD00DCF0D055}"/>
              </a:ext>
            </a:extLst>
          </p:cNvPr>
          <p:cNvSpPr/>
          <p:nvPr/>
        </p:nvSpPr>
        <p:spPr>
          <a:xfrm>
            <a:off x="739710" y="9225916"/>
            <a:ext cx="118872" cy="1188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4DDEE9-1D1D-500A-BD7F-F7B9D6080C40}"/>
              </a:ext>
            </a:extLst>
          </p:cNvPr>
          <p:cNvSpPr/>
          <p:nvPr/>
        </p:nvSpPr>
        <p:spPr>
          <a:xfrm>
            <a:off x="5080062" y="9218296"/>
            <a:ext cx="118872" cy="1188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A0F9E9-6B4E-A44F-9360-31083995D052}"/>
              </a:ext>
            </a:extLst>
          </p:cNvPr>
          <p:cNvSpPr txBox="1"/>
          <p:nvPr/>
        </p:nvSpPr>
        <p:spPr>
          <a:xfrm>
            <a:off x="610551" y="9303116"/>
            <a:ext cx="496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A4B62D-531D-18AE-B563-960467904B70}"/>
              </a:ext>
            </a:extLst>
          </p:cNvPr>
          <p:cNvSpPr txBox="1"/>
          <p:nvPr/>
        </p:nvSpPr>
        <p:spPr>
          <a:xfrm>
            <a:off x="4950903" y="9303116"/>
            <a:ext cx="496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3E23307-1E5F-AB93-5DD2-7B23C27AC7F3}"/>
              </a:ext>
            </a:extLst>
          </p:cNvPr>
          <p:cNvSpPr/>
          <p:nvPr/>
        </p:nvSpPr>
        <p:spPr>
          <a:xfrm>
            <a:off x="1985008" y="7480315"/>
            <a:ext cx="118872" cy="1188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D23CE2-DA93-8F7C-D72B-3A33023DB01F}"/>
              </a:ext>
            </a:extLst>
          </p:cNvPr>
          <p:cNvSpPr txBox="1"/>
          <p:nvPr/>
        </p:nvSpPr>
        <p:spPr>
          <a:xfrm>
            <a:off x="1855849" y="7565135"/>
            <a:ext cx="496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2DABC3EF-A958-D322-8BAF-602AD48402A7}"/>
              </a:ext>
            </a:extLst>
          </p:cNvPr>
          <p:cNvSpPr/>
          <p:nvPr/>
        </p:nvSpPr>
        <p:spPr>
          <a:xfrm>
            <a:off x="761998" y="7889407"/>
            <a:ext cx="4337399" cy="3122129"/>
          </a:xfrm>
          <a:prstGeom prst="arc">
            <a:avLst>
              <a:gd name="adj1" fmla="val 1091041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B9C0B07-231A-B450-9AAC-DB6A2B4EC56E}"/>
              </a:ext>
            </a:extLst>
          </p:cNvPr>
          <p:cNvSpPr/>
          <p:nvPr/>
        </p:nvSpPr>
        <p:spPr>
          <a:xfrm>
            <a:off x="1360549" y="8001182"/>
            <a:ext cx="118872" cy="11887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bject 7">
            <a:extLst>
              <a:ext uri="{FF2B5EF4-FFF2-40B4-BE49-F238E27FC236}">
                <a16:creationId xmlns:a16="http://schemas.microsoft.com/office/drawing/2014/main" id="{FD1BF867-9925-6983-6360-2FE5E0E598D5}"/>
              </a:ext>
            </a:extLst>
          </p:cNvPr>
          <p:cNvSpPr txBox="1"/>
          <p:nvPr/>
        </p:nvSpPr>
        <p:spPr>
          <a:xfrm>
            <a:off x="761998" y="6609783"/>
            <a:ext cx="5511800" cy="49500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 </a:t>
            </a:r>
            <a:r>
              <a:rPr lang="en-US" sz="14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CUBIC</a:t>
            </a: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BEZIER Curve </a:t>
            </a:r>
          </a:p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Order = 3 = #points(4) - 1</a:t>
            </a:r>
            <a:endParaRPr sz="14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1AEDFAF-A367-88B5-3234-D2E421B4F457}"/>
              </a:ext>
            </a:extLst>
          </p:cNvPr>
          <p:cNvSpPr/>
          <p:nvPr/>
        </p:nvSpPr>
        <p:spPr>
          <a:xfrm>
            <a:off x="4015359" y="7485032"/>
            <a:ext cx="118872" cy="1188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AA3E0A-64DB-4F7E-952C-9D414938ED18}"/>
              </a:ext>
            </a:extLst>
          </p:cNvPr>
          <p:cNvSpPr txBox="1"/>
          <p:nvPr/>
        </p:nvSpPr>
        <p:spPr>
          <a:xfrm>
            <a:off x="3886200" y="7569852"/>
            <a:ext cx="496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p3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0E6061A9-F2E5-6932-D4E4-D644158D4A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421" r="54576" b="15490"/>
          <a:stretch/>
        </p:blipFill>
        <p:spPr>
          <a:xfrm>
            <a:off x="2932544" y="463316"/>
            <a:ext cx="2683049" cy="23852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FA3318A-DC91-5D52-BB52-2B5B71B88C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963" b="8761"/>
          <a:stretch/>
        </p:blipFill>
        <p:spPr>
          <a:xfrm>
            <a:off x="3050094" y="2291392"/>
            <a:ext cx="5906619" cy="24403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397FF530-3A02-D738-C19E-3B76CA80BD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1725" r="45422" b="805"/>
          <a:stretch/>
        </p:blipFill>
        <p:spPr>
          <a:xfrm>
            <a:off x="3050095" y="6640486"/>
            <a:ext cx="3223704" cy="22027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9BC477A-51FA-0968-DE80-892FA13300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397" t="90641" b="-2"/>
          <a:stretch/>
        </p:blipFill>
        <p:spPr>
          <a:xfrm>
            <a:off x="3296259" y="6862953"/>
            <a:ext cx="2575482" cy="27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23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3411201" y="9220357"/>
            <a:ext cx="403858" cy="1256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spcBef>
                <a:spcPts val="20"/>
              </a:spcBef>
            </a:pPr>
            <a:r>
              <a:rPr spc="-25" dirty="0"/>
              <a:t>19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DEF86EB-D884-27CE-5F52-1A7D2C93A620}"/>
              </a:ext>
            </a:extLst>
          </p:cNvPr>
          <p:cNvSpPr txBox="1"/>
          <p:nvPr/>
        </p:nvSpPr>
        <p:spPr>
          <a:xfrm>
            <a:off x="761998" y="412365"/>
            <a:ext cx="5511800" cy="49500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endParaRPr sz="1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NURBS Curves</a:t>
            </a:r>
            <a:endParaRPr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35CEE-0440-EF2D-113E-EE8B3F1224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62"/>
          <a:stretch/>
        </p:blipFill>
        <p:spPr>
          <a:xfrm>
            <a:off x="644396" y="907372"/>
            <a:ext cx="6053852" cy="3245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42351C-8DB5-F86E-896E-A33E1ED6D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8" y="4155756"/>
            <a:ext cx="4896102" cy="9843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D1899B-89D7-3FB4-62A2-E3008D20D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8" y="5165457"/>
            <a:ext cx="4762745" cy="22226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4F3090-CADC-423A-0DB7-146E081E0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98" y="7473895"/>
            <a:ext cx="5183614" cy="222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911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3411201" y="9220357"/>
            <a:ext cx="403858" cy="1256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spcBef>
                <a:spcPts val="20"/>
              </a:spcBef>
            </a:pPr>
            <a:r>
              <a:rPr spc="-25" dirty="0"/>
              <a:t>19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DEF86EB-D884-27CE-5F52-1A7D2C93A620}"/>
              </a:ext>
            </a:extLst>
          </p:cNvPr>
          <p:cNvSpPr txBox="1"/>
          <p:nvPr/>
        </p:nvSpPr>
        <p:spPr>
          <a:xfrm>
            <a:off x="761998" y="412365"/>
            <a:ext cx="5511800" cy="433452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endParaRPr sz="1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Properties of Bezier / NURBS Curves</a:t>
            </a:r>
            <a:endParaRPr sz="14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4F538C6-8F1D-8C47-5493-AA7B95EE96A4}"/>
                  </a:ext>
                </a:extLst>
              </p:cNvPr>
              <p:cNvSpPr txBox="1"/>
              <p:nvPr/>
            </p:nvSpPr>
            <p:spPr>
              <a:xfrm>
                <a:off x="761998" y="1257300"/>
                <a:ext cx="6808531" cy="61863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 sum of the “blending parameters” at each value of </a:t>
                </a:r>
                <a:r>
                  <a:rPr lang="en-US" i="1" dirty="0"/>
                  <a:t>t</a:t>
                </a:r>
                <a:r>
                  <a:rPr lang="en-US" dirty="0"/>
                  <a:t> = 1</a:t>
                </a:r>
              </a:p>
              <a:p>
                <a:r>
                  <a:rPr lang="en-US" dirty="0"/>
                  <a:t>These parameters vary for each point from t = [0…1]</a:t>
                </a:r>
              </a:p>
              <a:p>
                <a:endParaRPr lang="en-US" dirty="0"/>
              </a:p>
              <a:p>
                <a:r>
                  <a:rPr lang="en-US" i="1" dirty="0"/>
                  <a:t>c</a:t>
                </a:r>
                <a:r>
                  <a:rPr lang="en-US" dirty="0"/>
                  <a:t> at the p</a:t>
                </a:r>
                <a14:m>
                  <m:oMath xmlns:m="http://schemas.openxmlformats.org/officeDocument/2006/math"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tangent to the first segment of the “control polygon”</a:t>
                </a:r>
              </a:p>
              <a:p>
                <a:r>
                  <a:rPr lang="en-US" i="1" dirty="0"/>
                  <a:t>c</a:t>
                </a:r>
                <a:r>
                  <a:rPr lang="en-US" dirty="0"/>
                  <a:t> at the p</a:t>
                </a:r>
                <a14:m>
                  <m:oMath xmlns:m="http://schemas.openxmlformats.org/officeDocument/2006/math"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</a:rPr>
                      <m:t>𝐴𝑆𝑇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tangent to the last segment of the control polygon</a:t>
                </a:r>
              </a:p>
              <a:p>
                <a:endParaRPr lang="en-US" dirty="0"/>
              </a:p>
              <a:p>
                <a:r>
                  <a:rPr lang="en-US" dirty="0"/>
                  <a:t>Every point on </a:t>
                </a:r>
                <a:r>
                  <a:rPr lang="en-US" i="1" dirty="0"/>
                  <a:t>c </a:t>
                </a:r>
                <a:r>
                  <a:rPr lang="en-US" dirty="0"/>
                  <a:t>lies within the control polygon</a:t>
                </a:r>
              </a:p>
              <a:p>
                <a:endParaRPr lang="en-US" dirty="0"/>
              </a:p>
              <a:p>
                <a:r>
                  <a:rPr lang="en-US" dirty="0"/>
                  <a:t>Multiplicity of points reduces the order of the curve at that point</a:t>
                </a:r>
              </a:p>
              <a:p>
                <a:r>
                  <a:rPr lang="en-US" dirty="0"/>
                  <a:t>From 3 (cubic)</a:t>
                </a:r>
              </a:p>
              <a:p>
                <a:r>
                  <a:rPr lang="en-US" dirty="0"/>
                  <a:t>To 2	(quadratic)</a:t>
                </a:r>
              </a:p>
              <a:p>
                <a:r>
                  <a:rPr lang="en-US" dirty="0"/>
                  <a:t>To 1	(linear)</a:t>
                </a:r>
              </a:p>
              <a:p>
                <a:r>
                  <a:rPr lang="en-US" dirty="0"/>
                  <a:t>To 0	(point)</a:t>
                </a:r>
              </a:p>
              <a:p>
                <a:endParaRPr lang="en-US" dirty="0"/>
              </a:p>
              <a:p>
                <a:r>
                  <a:rPr lang="en-US" dirty="0"/>
                  <a:t>In Rhino, the domain of a curve is not [0…1], </a:t>
                </a:r>
                <a:br>
                  <a:rPr lang="en-US" dirty="0"/>
                </a:br>
                <a:r>
                  <a:rPr lang="en-US" dirty="0"/>
                  <a:t>it will be [0…something else]</a:t>
                </a:r>
              </a:p>
              <a:p>
                <a:endParaRPr lang="en-US" dirty="0"/>
              </a:p>
              <a:p>
                <a:r>
                  <a:rPr lang="en-US" dirty="0"/>
                  <a:t>A </a:t>
                </a:r>
                <a:r>
                  <a:rPr lang="en-US" i="1" dirty="0"/>
                  <a:t>periodic curve </a:t>
                </a:r>
                <a:r>
                  <a:rPr lang="en-US" dirty="0"/>
                  <a:t>is a curve that is continuous from end of curve </a:t>
                </a:r>
                <a:br>
                  <a:rPr lang="en-US" dirty="0"/>
                </a:br>
                <a:r>
                  <a:rPr lang="en-US" dirty="0"/>
                  <a:t>back to the beginning of the curve (it’s “closed’)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4F538C6-8F1D-8C47-5493-AA7B95EE9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8" y="1257300"/>
                <a:ext cx="6808531" cy="6186309"/>
              </a:xfrm>
              <a:prstGeom prst="rect">
                <a:avLst/>
              </a:prstGeom>
              <a:blipFill>
                <a:blip r:embed="rId2"/>
                <a:stretch>
                  <a:fillRect l="-716" t="-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1598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42740-2665-0B7C-C2DD-A69181721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2624B41F-1869-7219-D089-50613168D5E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3411201" y="9220357"/>
            <a:ext cx="403858" cy="1256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spcBef>
                <a:spcPts val="20"/>
              </a:spcBef>
            </a:pPr>
            <a:r>
              <a:rPr spc="-25" dirty="0"/>
              <a:t>19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A9C9B3E-EA3F-A7F5-B17B-5887C5FBF506}"/>
              </a:ext>
            </a:extLst>
          </p:cNvPr>
          <p:cNvSpPr txBox="1"/>
          <p:nvPr/>
        </p:nvSpPr>
        <p:spPr>
          <a:xfrm>
            <a:off x="761998" y="412365"/>
            <a:ext cx="5511800" cy="433452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endParaRPr sz="1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Curve API</a:t>
            </a:r>
            <a:endParaRPr sz="14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FC27E-22F6-87BC-B85D-3B0F01462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9" y="1008977"/>
            <a:ext cx="1821911" cy="5179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ABA28-D54A-2C79-87FA-0382D66013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519"/>
          <a:stretch/>
        </p:blipFill>
        <p:spPr>
          <a:xfrm>
            <a:off x="2033372" y="1231250"/>
            <a:ext cx="2257740" cy="81227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3BFA51-3EA0-2214-ED07-0C9684993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444" y="1258981"/>
            <a:ext cx="2800741" cy="809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47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9D377-6CF6-29A6-E4BB-96B9D6C6B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A6A876F6-7A5B-681B-581E-9C2E95F9081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3411201" y="9220357"/>
            <a:ext cx="403858" cy="1256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spcBef>
                <a:spcPts val="20"/>
              </a:spcBef>
            </a:pPr>
            <a:r>
              <a:rPr spc="-25" dirty="0"/>
              <a:t>19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ECF59F1-1073-1311-0F6E-C7C4754DCF1C}"/>
              </a:ext>
            </a:extLst>
          </p:cNvPr>
          <p:cNvSpPr txBox="1"/>
          <p:nvPr/>
        </p:nvSpPr>
        <p:spPr>
          <a:xfrm>
            <a:off x="761998" y="412365"/>
            <a:ext cx="5511800" cy="433452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endParaRPr sz="1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 err="1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NurbsCurve</a:t>
            </a: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API</a:t>
            </a:r>
            <a:endParaRPr sz="14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8797D5-B431-DE4F-89B3-B4E8C4152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06" y="1027714"/>
            <a:ext cx="2179148" cy="61444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8AB0D8-18C0-9C98-B88D-1D4444275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974" y="1178013"/>
            <a:ext cx="2422070" cy="80807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03A0DA-27D8-3D93-87BA-A36C4CD21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993" y="1279612"/>
            <a:ext cx="1964806" cy="806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81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C4B8-0141-A573-1760-BBAD9F44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8619AB15-1882-8738-D387-CD1604CCE7A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3411201" y="9220357"/>
            <a:ext cx="403858" cy="1256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spcBef>
                <a:spcPts val="20"/>
              </a:spcBef>
            </a:pPr>
            <a:r>
              <a:rPr spc="-25" dirty="0"/>
              <a:t>19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1770A1A-7E19-5290-A847-D12C517AF095}"/>
              </a:ext>
            </a:extLst>
          </p:cNvPr>
          <p:cNvSpPr txBox="1"/>
          <p:nvPr/>
        </p:nvSpPr>
        <p:spPr>
          <a:xfrm>
            <a:off x="761998" y="412365"/>
            <a:ext cx="5511800" cy="27956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98465" algn="l"/>
              </a:tabLst>
            </a:pPr>
            <a:r>
              <a:rPr lang="en-US" sz="1400" b="1" dirty="0" err="1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LineCurve</a:t>
            </a:r>
            <a:r>
              <a:rPr lang="en-US" sz="1400" b="1" dirty="0">
                <a:solidFill>
                  <a:srgbClr val="00B0F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API</a:t>
            </a:r>
            <a:endParaRPr sz="14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A84254-4D01-1AA8-1A48-B2B43958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57" y="983068"/>
            <a:ext cx="1900503" cy="53942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619856-1E4F-95CE-130D-8E47C2115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442" y="1153937"/>
            <a:ext cx="2364911" cy="80664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50EED2-715B-C3FE-81EB-9908F9128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499" y="1243246"/>
            <a:ext cx="2865044" cy="788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75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A2A8211-399A-6EEA-9F17-AE3486F9E039}"/>
              </a:ext>
            </a:extLst>
          </p:cNvPr>
          <p:cNvSpPr txBox="1">
            <a:spLocks/>
          </p:cNvSpPr>
          <p:nvPr/>
        </p:nvSpPr>
        <p:spPr>
          <a:xfrm>
            <a:off x="388620" y="402337"/>
            <a:ext cx="6995160" cy="27699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Classes - </a:t>
            </a:r>
            <a:r>
              <a:rPr lang="en-US" b="1" dirty="0" err="1"/>
              <a:t>redoux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581F5B-7A96-C6D2-D89F-9E3806D92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EB574F-E646-904C-CF9B-B487A7AD6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506" y="920062"/>
            <a:ext cx="6995160" cy="6370975"/>
          </a:xfrm>
        </p:spPr>
        <p:txBody>
          <a:bodyPr/>
          <a:lstStyle/>
          <a:p>
            <a:r>
              <a:rPr lang="en-US" dirty="0"/>
              <a:t>Recall: </a:t>
            </a:r>
          </a:p>
          <a:p>
            <a:r>
              <a:rPr lang="en-US" b="1" dirty="0"/>
              <a:t>Class</a:t>
            </a:r>
            <a:r>
              <a:rPr lang="en-US" dirty="0"/>
              <a:t>: the category of instances</a:t>
            </a:r>
          </a:p>
          <a:p>
            <a:r>
              <a:rPr lang="en-US" b="1" dirty="0"/>
              <a:t>Instance</a:t>
            </a:r>
            <a:r>
              <a:rPr lang="en-US" dirty="0"/>
              <a:t>: a specific example of the category</a:t>
            </a:r>
          </a:p>
          <a:p>
            <a:endParaRPr lang="en-US" b="1" dirty="0"/>
          </a:p>
          <a:p>
            <a:r>
              <a:rPr lang="en-US" b="1" u="sng" dirty="0"/>
              <a:t>Properties</a:t>
            </a:r>
          </a:p>
          <a:p>
            <a:r>
              <a:rPr lang="en-US" dirty="0"/>
              <a:t>Properties tend to be of the instance, and are data contained by the instance. They are accessed as variables:</a:t>
            </a:r>
          </a:p>
          <a:p>
            <a:endParaRPr lang="en-US" dirty="0"/>
          </a:p>
          <a:p>
            <a:r>
              <a:rPr lang="en-US" dirty="0"/>
              <a:t>myThing.name</a:t>
            </a:r>
          </a:p>
          <a:p>
            <a:endParaRPr lang="en-US" dirty="0"/>
          </a:p>
          <a:p>
            <a:r>
              <a:rPr lang="en-US" dirty="0" err="1">
                <a:solidFill>
                  <a:srgbClr val="00B0F0"/>
                </a:solidFill>
              </a:rPr>
              <a:t>crv.Degree</a:t>
            </a:r>
            <a:endParaRPr lang="en-US" dirty="0">
              <a:solidFill>
                <a:srgbClr val="00B0F0"/>
              </a:solidFill>
            </a:endParaRPr>
          </a:p>
          <a:p>
            <a:endParaRPr lang="en-US" dirty="0"/>
          </a:p>
          <a:p>
            <a:r>
              <a:rPr lang="en-US" b="1" u="sng" dirty="0"/>
              <a:t>Methods</a:t>
            </a:r>
          </a:p>
          <a:p>
            <a:r>
              <a:rPr lang="en-US" dirty="0"/>
              <a:t>Methods are functions of the class or the instance. There are two types:</a:t>
            </a:r>
          </a:p>
          <a:p>
            <a:r>
              <a:rPr lang="en-US" b="1" dirty="0"/>
              <a:t>Instance</a:t>
            </a:r>
            <a:r>
              <a:rPr lang="en-US" dirty="0"/>
              <a:t> methods – send and receive messages to the instance.</a:t>
            </a:r>
          </a:p>
          <a:p>
            <a:endParaRPr lang="en-US" dirty="0"/>
          </a:p>
          <a:p>
            <a:r>
              <a:rPr lang="en-US" dirty="0" err="1">
                <a:solidFill>
                  <a:srgbClr val="00B0F0"/>
                </a:solidFill>
              </a:rPr>
              <a:t>crv.ControlPolygon</a:t>
            </a:r>
            <a:r>
              <a:rPr lang="en-US" dirty="0">
                <a:solidFill>
                  <a:srgbClr val="00B0F0"/>
                </a:solidFill>
              </a:rPr>
              <a:t>()</a:t>
            </a:r>
            <a:r>
              <a:rPr lang="en-US" dirty="0">
                <a:solidFill>
                  <a:srgbClr val="00B050"/>
                </a:solidFill>
              </a:rPr>
              <a:t>	#gets the curve polygon</a:t>
            </a:r>
          </a:p>
          <a:p>
            <a:endParaRPr lang="en-US" dirty="0"/>
          </a:p>
          <a:p>
            <a:r>
              <a:rPr lang="en-US" b="1" u="sng" dirty="0"/>
              <a:t>Class</a:t>
            </a:r>
            <a:r>
              <a:rPr lang="en-US" dirty="0"/>
              <a:t> (“Static”) methods: send and receive messages from the class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604B38-21CF-C302-66C8-9C703A60B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34" y="6219744"/>
            <a:ext cx="3724366" cy="36434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B2ABCA-D641-73C5-ED93-60A2E27FA4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264"/>
          <a:stretch/>
        </p:blipFill>
        <p:spPr>
          <a:xfrm>
            <a:off x="4120697" y="6219744"/>
            <a:ext cx="3651703" cy="38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11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BED6-75F2-3849-787A-3EA3EEE12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create a script that accesses curve instance and class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C15B1-5AA8-005A-DA36-240B66123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932308"/>
            <a:ext cx="6995160" cy="784021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766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F6215-A830-D268-32B6-B70B0AD1D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AE42F-7F9C-44D7-3A3B-4C6E66AEA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Curvature and Curve Frames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4BF7F-268E-5B87-AC37-3F17CC314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913258"/>
            <a:ext cx="6659880" cy="5262979"/>
          </a:xfrm>
        </p:spPr>
        <p:txBody>
          <a:bodyPr/>
          <a:lstStyle/>
          <a:p>
            <a:r>
              <a:rPr lang="en-US" dirty="0"/>
              <a:t>For a circle, this is easy:</a:t>
            </a:r>
          </a:p>
          <a:p>
            <a:endParaRPr lang="en-US" dirty="0"/>
          </a:p>
          <a:p>
            <a:r>
              <a:rPr lang="en-US" dirty="0"/>
              <a:t>curvature = 1/radius</a:t>
            </a:r>
          </a:p>
          <a:p>
            <a:endParaRPr lang="en-US" dirty="0"/>
          </a:p>
          <a:p>
            <a:r>
              <a:rPr lang="en-US" dirty="0"/>
              <a:t>For a line, this is also easy</a:t>
            </a:r>
          </a:p>
          <a:p>
            <a:r>
              <a:rPr lang="en-US" dirty="0"/>
              <a:t>curvature = 0</a:t>
            </a:r>
          </a:p>
          <a:p>
            <a:endParaRPr lang="en-US" dirty="0"/>
          </a:p>
          <a:p>
            <a:r>
              <a:rPr lang="en-US" i="1" dirty="0"/>
              <a:t>What is the radius?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For more general curves, curvature varies continuously at each point, and is 1/the “effective radius” at that point.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See</a:t>
            </a:r>
            <a:r>
              <a:rPr lang="en-US" b="1" dirty="0"/>
              <a:t> CurvatureGraph </a:t>
            </a:r>
          </a:p>
          <a:p>
            <a:r>
              <a:rPr lang="en-US" dirty="0"/>
              <a:t>and </a:t>
            </a:r>
            <a:r>
              <a:rPr lang="en-US" b="1" dirty="0"/>
              <a:t>Curvature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65FF35-7321-EA1A-6D6A-EB8D3C7EBEA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rcRect b="38266"/>
          <a:stretch/>
        </p:blipFill>
        <p:spPr>
          <a:xfrm>
            <a:off x="3146547" y="1123501"/>
            <a:ext cx="4726294" cy="3057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1F6EF3-869C-3DE4-BB09-3F7AF4522AB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66296" y="4391718"/>
            <a:ext cx="4086795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370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177FB-AF22-ADCC-1904-6EA64AB37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D9EA-2E8B-48FF-A4CB-B68321286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Curve Frames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AB9A21-AE11-42CE-6CA0-0846909A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679336"/>
            <a:ext cx="6995160" cy="1938992"/>
          </a:xfrm>
        </p:spPr>
        <p:txBody>
          <a:bodyPr/>
          <a:lstStyle/>
          <a:p>
            <a:r>
              <a:rPr lang="en-US" dirty="0"/>
              <a:t>The local </a:t>
            </a:r>
            <a:r>
              <a:rPr lang="en-US" b="1" dirty="0"/>
              <a:t>Frame </a:t>
            </a:r>
            <a:r>
              <a:rPr lang="en-US" dirty="0"/>
              <a:t>of a curve at a point on the curve is defined 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tangent</a:t>
            </a:r>
            <a:r>
              <a:rPr lang="en-US" dirty="0"/>
              <a:t> vector at the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normal</a:t>
            </a:r>
            <a:r>
              <a:rPr lang="en-US" dirty="0"/>
              <a:t> to the curve – in the direction of the curvature circle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binormal</a:t>
            </a:r>
            <a:r>
              <a:rPr lang="en-US" dirty="0"/>
              <a:t> of the curve – the vector perpendicular to both the tangent and normal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F60541-4EEA-55D5-691F-E08BBB78202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38300" y="3162379"/>
            <a:ext cx="5143980" cy="517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822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4143</TotalTime>
  <Words>1084</Words>
  <Application>Microsoft Office PowerPoint</Application>
  <PresentationFormat>Custom</PresentationFormat>
  <Paragraphs>217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 Math</vt:lpstr>
      <vt:lpstr>Corbel</vt:lpstr>
      <vt:lpstr>Verdana</vt:lpstr>
      <vt:lpstr>Office Theme</vt:lpstr>
      <vt:lpstr>Worksheet</vt:lpstr>
      <vt:lpstr>Curves and Surfaces Advanced Scripting &amp; Parametrics</vt:lpstr>
      <vt:lpstr>Curves and Surfaces Design Programming 2</vt:lpstr>
      <vt:lpstr>PowerPoint Presentation</vt:lpstr>
      <vt:lpstr>Curves – tying it all together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Exercise: create a script that accesses curve instance and class functions</vt:lpstr>
      <vt:lpstr>Curvature and Curve Frames</vt:lpstr>
      <vt:lpstr>Curve Frames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Shelden, Dennis Robert</dc:creator>
  <cp:lastModifiedBy>Shelden, Dennis Robert</cp:lastModifiedBy>
  <cp:revision>18</cp:revision>
  <dcterms:created xsi:type="dcterms:W3CDTF">2024-02-06T11:36:29Z</dcterms:created>
  <dcterms:modified xsi:type="dcterms:W3CDTF">2026-02-11T16:12:38Z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2023-01-09T00:00:00Z</vt:filetime>
  </property>
  <property fmtid="{D5CDD505-2E9C-101B-9397-08002B2CF9AE}" pid="3" name="LastSaved">
    <vt:filetime>2024-02-06T00:00:00Z</vt:filetime>
  </property>
  <property fmtid="{D5CDD505-2E9C-101B-9397-08002B2CF9AE}" pid="4" name="Producer">
    <vt:lpwstr>Skia/PDF m76</vt:lpwstr>
  </property>
</Properties>
</file>