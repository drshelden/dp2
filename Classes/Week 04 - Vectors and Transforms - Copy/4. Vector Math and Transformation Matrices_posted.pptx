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wmf" ContentType="image/x-wmf"/>
  <Default Extension="xls" ContentType="application/vnd.ms-exce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2" r:id="rId1"/>
  </p:sldMasterIdLst>
  <p:notesMasterIdLst>
    <p:notesMasterId r:id="rId53"/>
  </p:notesMasterIdLst>
  <p:sldIdLst>
    <p:sldId id="266" r:id="rId2"/>
    <p:sldId id="275" r:id="rId3"/>
    <p:sldId id="286" r:id="rId4"/>
    <p:sldId id="292" r:id="rId5"/>
    <p:sldId id="345" r:id="rId6"/>
    <p:sldId id="458" r:id="rId7"/>
    <p:sldId id="304" r:id="rId8"/>
    <p:sldId id="318" r:id="rId9"/>
    <p:sldId id="316" r:id="rId10"/>
    <p:sldId id="459" r:id="rId11"/>
    <p:sldId id="422" r:id="rId12"/>
    <p:sldId id="348" r:id="rId13"/>
    <p:sldId id="317" r:id="rId14"/>
    <p:sldId id="402" r:id="rId15"/>
    <p:sldId id="403" r:id="rId16"/>
    <p:sldId id="428" r:id="rId17"/>
    <p:sldId id="404" r:id="rId18"/>
    <p:sldId id="405" r:id="rId19"/>
    <p:sldId id="407" r:id="rId20"/>
    <p:sldId id="408" r:id="rId21"/>
    <p:sldId id="409" r:id="rId22"/>
    <p:sldId id="410" r:id="rId23"/>
    <p:sldId id="462" r:id="rId24"/>
    <p:sldId id="412" r:id="rId25"/>
    <p:sldId id="464" r:id="rId26"/>
    <p:sldId id="465" r:id="rId27"/>
    <p:sldId id="463" r:id="rId28"/>
    <p:sldId id="420" r:id="rId29"/>
    <p:sldId id="421" r:id="rId30"/>
    <p:sldId id="429" r:id="rId31"/>
    <p:sldId id="466" r:id="rId32"/>
    <p:sldId id="469" r:id="rId33"/>
    <p:sldId id="350" r:id="rId34"/>
    <p:sldId id="468" r:id="rId35"/>
    <p:sldId id="470" r:id="rId36"/>
    <p:sldId id="471" r:id="rId37"/>
    <p:sldId id="472" r:id="rId38"/>
    <p:sldId id="474" r:id="rId39"/>
    <p:sldId id="475" r:id="rId40"/>
    <p:sldId id="476" r:id="rId41"/>
    <p:sldId id="457" r:id="rId42"/>
    <p:sldId id="372" r:id="rId43"/>
    <p:sldId id="373" r:id="rId44"/>
    <p:sldId id="477" r:id="rId45"/>
    <p:sldId id="374" r:id="rId46"/>
    <p:sldId id="430" r:id="rId47"/>
    <p:sldId id="380" r:id="rId48"/>
    <p:sldId id="381" r:id="rId49"/>
    <p:sldId id="382" r:id="rId50"/>
    <p:sldId id="383" r:id="rId51"/>
    <p:sldId id="384" r:id="rId5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0000"/>
    <a:srgbClr val="FFFF99"/>
    <a:srgbClr val="FF7D7D"/>
    <a:srgbClr val="008000"/>
    <a:srgbClr val="839CCF"/>
    <a:srgbClr val="76FF4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0327" autoAdjust="0"/>
    <p:restoredTop sz="55786" autoAdjust="0"/>
  </p:normalViewPr>
  <p:slideViewPr>
    <p:cSldViewPr>
      <p:cViewPr>
        <p:scale>
          <a:sx n="66" d="100"/>
          <a:sy n="66" d="100"/>
        </p:scale>
        <p:origin x="476" y="948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 varScale="1">
      <p:scale>
        <a:sx n="100" d="100"/>
        <a:sy n="100" d="100"/>
      </p:scale>
      <p:origin x="0" y="0"/>
    </p:cViewPr>
  </p:sorterViewPr>
  <p:gridSpacing cx="45720" cy="4572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theme" Target="theme/theme1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tableStyles" Target="tableStyles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2">
            <a:extLst>
              <a:ext uri="{FF2B5EF4-FFF2-40B4-BE49-F238E27FC236}">
                <a16:creationId xmlns:a16="http://schemas.microsoft.com/office/drawing/2014/main" id="{415BAA20-65D5-ACF3-8D91-F28516602B06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 b="0"/>
            </a:lvl1pPr>
          </a:lstStyle>
          <a:p>
            <a:endParaRPr lang="en-US" altLang="en-US"/>
          </a:p>
        </p:txBody>
      </p:sp>
      <p:sp>
        <p:nvSpPr>
          <p:cNvPr id="13315" name="Rectangle 3">
            <a:extLst>
              <a:ext uri="{FF2B5EF4-FFF2-40B4-BE49-F238E27FC236}">
                <a16:creationId xmlns:a16="http://schemas.microsoft.com/office/drawing/2014/main" id="{9766D3F6-4D86-CC17-2728-23E69AA777D2}"/>
              </a:ext>
            </a:extLst>
          </p:cNvPr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 b="0"/>
            </a:lvl1pPr>
          </a:lstStyle>
          <a:p>
            <a:endParaRPr lang="en-US" altLang="en-US"/>
          </a:p>
        </p:txBody>
      </p:sp>
      <p:sp>
        <p:nvSpPr>
          <p:cNvPr id="13316" name="Rectangle 4">
            <a:extLst>
              <a:ext uri="{FF2B5EF4-FFF2-40B4-BE49-F238E27FC236}">
                <a16:creationId xmlns:a16="http://schemas.microsoft.com/office/drawing/2014/main" id="{70B2B711-05A8-3290-FE53-CE1DDE190DC8}"/>
              </a:ext>
            </a:extLst>
          </p:cNvPr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381000" y="685800"/>
            <a:ext cx="6096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13317" name="Rectangle 5">
            <a:extLst>
              <a:ext uri="{FF2B5EF4-FFF2-40B4-BE49-F238E27FC236}">
                <a16:creationId xmlns:a16="http://schemas.microsoft.com/office/drawing/2014/main" id="{133ED5FF-3E7A-FA8A-58CC-F4C214D15DB2}"/>
              </a:ext>
            </a:extLst>
          </p:cNvPr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13318" name="Rectangle 6">
            <a:extLst>
              <a:ext uri="{FF2B5EF4-FFF2-40B4-BE49-F238E27FC236}">
                <a16:creationId xmlns:a16="http://schemas.microsoft.com/office/drawing/2014/main" id="{9F7C1038-D259-55D2-60BF-81616A8909EA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 b="0"/>
            </a:lvl1pPr>
          </a:lstStyle>
          <a:p>
            <a:endParaRPr lang="en-US" altLang="en-US"/>
          </a:p>
        </p:txBody>
      </p:sp>
      <p:sp>
        <p:nvSpPr>
          <p:cNvPr id="13319" name="Rectangle 7">
            <a:extLst>
              <a:ext uri="{FF2B5EF4-FFF2-40B4-BE49-F238E27FC236}">
                <a16:creationId xmlns:a16="http://schemas.microsoft.com/office/drawing/2014/main" id="{46D9D978-93D8-88A9-69F5-22B6DD461BF8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 b="0"/>
            </a:lvl1pPr>
          </a:lstStyle>
          <a:p>
            <a:fld id="{15D98F59-30C5-434A-8F6D-5A7EA49F28E0}" type="slidenum">
              <a:rPr lang="en-US" altLang="en-US"/>
              <a:pPr/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4572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9144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13716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18288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7">
            <a:extLst>
              <a:ext uri="{FF2B5EF4-FFF2-40B4-BE49-F238E27FC236}">
                <a16:creationId xmlns:a16="http://schemas.microsoft.com/office/drawing/2014/main" id="{EED6C99B-A92C-B5C2-65DA-238A9409DDA7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7C5527DB-339A-4E4D-BAFB-E9F98A5DCB6C}" type="slidenum">
              <a:rPr lang="en-US" altLang="en-US"/>
              <a:pPr/>
              <a:t>2</a:t>
            </a:fld>
            <a:endParaRPr lang="en-US" altLang="en-US"/>
          </a:p>
        </p:txBody>
      </p:sp>
      <p:sp>
        <p:nvSpPr>
          <p:cNvPr id="27650" name="Rectangle 2">
            <a:extLst>
              <a:ext uri="{FF2B5EF4-FFF2-40B4-BE49-F238E27FC236}">
                <a16:creationId xmlns:a16="http://schemas.microsoft.com/office/drawing/2014/main" id="{F3E89B07-1DED-665D-6259-4790548308C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27651" name="Rectangle 3">
            <a:extLst>
              <a:ext uri="{FF2B5EF4-FFF2-40B4-BE49-F238E27FC236}">
                <a16:creationId xmlns:a16="http://schemas.microsoft.com/office/drawing/2014/main" id="{1656C4E8-0D36-1E40-B06F-0C6AE991E8C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en-US"/>
              <a:t>Variables can be</a:t>
            </a:r>
          </a:p>
          <a:p>
            <a:r>
              <a:rPr lang="en-US" altLang="en-US"/>
              <a:t>Numerical</a:t>
            </a:r>
          </a:p>
          <a:p>
            <a:r>
              <a:rPr lang="en-US" altLang="en-US"/>
              <a:t>	Integers</a:t>
            </a:r>
          </a:p>
          <a:p>
            <a:r>
              <a:rPr lang="en-US" altLang="en-US"/>
              <a:t>	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7">
            <a:extLst>
              <a:ext uri="{FF2B5EF4-FFF2-40B4-BE49-F238E27FC236}">
                <a16:creationId xmlns:a16="http://schemas.microsoft.com/office/drawing/2014/main" id="{B45B21AF-7B8A-87AD-9ABF-7C46D49021A7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E4E7828E-DC21-431F-936B-9148CFB03012}" type="slidenum">
              <a:rPr lang="en-US" altLang="en-US"/>
              <a:pPr/>
              <a:t>3</a:t>
            </a:fld>
            <a:endParaRPr lang="en-US" altLang="en-US"/>
          </a:p>
        </p:txBody>
      </p:sp>
      <p:sp>
        <p:nvSpPr>
          <p:cNvPr id="47106" name="Rectangle 2">
            <a:extLst>
              <a:ext uri="{FF2B5EF4-FFF2-40B4-BE49-F238E27FC236}">
                <a16:creationId xmlns:a16="http://schemas.microsoft.com/office/drawing/2014/main" id="{E3B78267-F4E0-16DC-7A7D-B81ABE157B6B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47107" name="Rectangle 3">
            <a:extLst>
              <a:ext uri="{FF2B5EF4-FFF2-40B4-BE49-F238E27FC236}">
                <a16:creationId xmlns:a16="http://schemas.microsoft.com/office/drawing/2014/main" id="{05B64356-C34E-A2D0-E626-D9986B4E541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en-US"/>
              <a:t>Variables can be</a:t>
            </a:r>
          </a:p>
          <a:p>
            <a:r>
              <a:rPr lang="en-US" altLang="en-US"/>
              <a:t>Numerical</a:t>
            </a:r>
          </a:p>
          <a:p>
            <a:r>
              <a:rPr lang="en-US" altLang="en-US"/>
              <a:t>	Integers</a:t>
            </a:r>
          </a:p>
          <a:p>
            <a:r>
              <a:rPr lang="en-US" altLang="en-US"/>
              <a:t>	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7">
            <a:extLst>
              <a:ext uri="{FF2B5EF4-FFF2-40B4-BE49-F238E27FC236}">
                <a16:creationId xmlns:a16="http://schemas.microsoft.com/office/drawing/2014/main" id="{7BF4B686-074E-B5B4-1057-F10B45F4898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CDC7D6E0-E229-459E-907D-1CDD6B1A46AF}" type="slidenum">
              <a:rPr lang="en-US" altLang="en-US"/>
              <a:pPr/>
              <a:t>4</a:t>
            </a:fld>
            <a:endParaRPr lang="en-US" altLang="en-US"/>
          </a:p>
        </p:txBody>
      </p:sp>
      <p:sp>
        <p:nvSpPr>
          <p:cNvPr id="60418" name="Rectangle 2">
            <a:extLst>
              <a:ext uri="{FF2B5EF4-FFF2-40B4-BE49-F238E27FC236}">
                <a16:creationId xmlns:a16="http://schemas.microsoft.com/office/drawing/2014/main" id="{113A158C-6CE8-A84B-4EAD-84B2C4C2DA8F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60419" name="Rectangle 3">
            <a:extLst>
              <a:ext uri="{FF2B5EF4-FFF2-40B4-BE49-F238E27FC236}">
                <a16:creationId xmlns:a16="http://schemas.microsoft.com/office/drawing/2014/main" id="{F3354C6F-D765-23CA-D96C-0A3F98FAC9A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en-US"/>
              <a:t>Variables can be</a:t>
            </a:r>
          </a:p>
          <a:p>
            <a:r>
              <a:rPr lang="en-US" altLang="en-US"/>
              <a:t>Numerical</a:t>
            </a:r>
          </a:p>
          <a:p>
            <a:r>
              <a:rPr lang="en-US" altLang="en-US"/>
              <a:t>	Integers</a:t>
            </a:r>
          </a:p>
          <a:p>
            <a:r>
              <a:rPr lang="en-US" altLang="en-US"/>
              <a:t>	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7">
            <a:extLst>
              <a:ext uri="{FF2B5EF4-FFF2-40B4-BE49-F238E27FC236}">
                <a16:creationId xmlns:a16="http://schemas.microsoft.com/office/drawing/2014/main" id="{BF46ED93-6AE7-54E2-DC40-DF017D63D28B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C1F3B4BD-C9F6-4CF2-A6C8-9AA9445DCB77}" type="slidenum">
              <a:rPr lang="en-US" altLang="en-US"/>
              <a:pPr/>
              <a:t>5</a:t>
            </a:fld>
            <a:endParaRPr lang="en-US" altLang="en-US"/>
          </a:p>
        </p:txBody>
      </p:sp>
      <p:sp>
        <p:nvSpPr>
          <p:cNvPr id="188418" name="Rectangle 2">
            <a:extLst>
              <a:ext uri="{FF2B5EF4-FFF2-40B4-BE49-F238E27FC236}">
                <a16:creationId xmlns:a16="http://schemas.microsoft.com/office/drawing/2014/main" id="{B44F33B7-D2CD-5D8B-461F-C6ECE1F9F24F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188419" name="Rectangle 3">
            <a:extLst>
              <a:ext uri="{FF2B5EF4-FFF2-40B4-BE49-F238E27FC236}">
                <a16:creationId xmlns:a16="http://schemas.microsoft.com/office/drawing/2014/main" id="{73901119-4DB6-79B8-9CF7-BDEBCB90D38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en-US"/>
              <a:t>Variables can be</a:t>
            </a:r>
          </a:p>
          <a:p>
            <a:r>
              <a:rPr lang="en-US" altLang="en-US"/>
              <a:t>Numerical</a:t>
            </a:r>
          </a:p>
          <a:p>
            <a:r>
              <a:rPr lang="en-US" altLang="en-US"/>
              <a:t>	Integers</a:t>
            </a:r>
          </a:p>
          <a:p>
            <a:r>
              <a:rPr lang="en-US" altLang="en-US"/>
              <a:t>	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D43E26-A6FB-CDEC-D3E7-42B235B807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7">
            <a:extLst>
              <a:ext uri="{FF2B5EF4-FFF2-40B4-BE49-F238E27FC236}">
                <a16:creationId xmlns:a16="http://schemas.microsoft.com/office/drawing/2014/main" id="{B2A1A744-3E8E-9E4F-712D-CEE24D6C57D9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C1F3B4BD-C9F6-4CF2-A6C8-9AA9445DCB77}" type="slidenum">
              <a:rPr lang="en-US" altLang="en-US"/>
              <a:pPr/>
              <a:t>6</a:t>
            </a:fld>
            <a:endParaRPr lang="en-US" altLang="en-US"/>
          </a:p>
        </p:txBody>
      </p:sp>
      <p:sp>
        <p:nvSpPr>
          <p:cNvPr id="188418" name="Rectangle 2">
            <a:extLst>
              <a:ext uri="{FF2B5EF4-FFF2-40B4-BE49-F238E27FC236}">
                <a16:creationId xmlns:a16="http://schemas.microsoft.com/office/drawing/2014/main" id="{9F4DFE76-E3F2-9DEA-2C04-BB0DBA21E4E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188419" name="Rectangle 3">
            <a:extLst>
              <a:ext uri="{FF2B5EF4-FFF2-40B4-BE49-F238E27FC236}">
                <a16:creationId xmlns:a16="http://schemas.microsoft.com/office/drawing/2014/main" id="{37E658F4-C9F8-3020-9F9C-23163525591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en-US"/>
              <a:t>Variables can be</a:t>
            </a:r>
          </a:p>
          <a:p>
            <a:r>
              <a:rPr lang="en-US" altLang="en-US"/>
              <a:t>Numerical</a:t>
            </a:r>
          </a:p>
          <a:p>
            <a:r>
              <a:rPr lang="en-US" altLang="en-US"/>
              <a:t>	Integers</a:t>
            </a:r>
          </a:p>
          <a:p>
            <a:r>
              <a:rPr lang="en-US" altLang="en-US"/>
              <a:t>	</a:t>
            </a:r>
          </a:p>
        </p:txBody>
      </p:sp>
    </p:spTree>
    <p:extLst>
      <p:ext uri="{BB962C8B-B14F-4D97-AF65-F5344CB8AC3E}">
        <p14:creationId xmlns:p14="http://schemas.microsoft.com/office/powerpoint/2010/main" val="75363712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7">
            <a:extLst>
              <a:ext uri="{FF2B5EF4-FFF2-40B4-BE49-F238E27FC236}">
                <a16:creationId xmlns:a16="http://schemas.microsoft.com/office/drawing/2014/main" id="{CD453E52-376F-EEFA-4509-8D4706C644ED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B5832293-0C43-4383-BC66-3E7ABF2D7F2A}" type="slidenum">
              <a:rPr lang="en-US" altLang="en-US"/>
              <a:pPr/>
              <a:t>42</a:t>
            </a:fld>
            <a:endParaRPr lang="en-US" altLang="en-US"/>
          </a:p>
        </p:txBody>
      </p:sp>
      <p:sp>
        <p:nvSpPr>
          <p:cNvPr id="230402" name="Rectangle 2">
            <a:extLst>
              <a:ext uri="{FF2B5EF4-FFF2-40B4-BE49-F238E27FC236}">
                <a16:creationId xmlns:a16="http://schemas.microsoft.com/office/drawing/2014/main" id="{C21E7A2D-F20D-5122-733B-4244A769D2E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230403" name="Rectangle 3">
            <a:extLst>
              <a:ext uri="{FF2B5EF4-FFF2-40B4-BE49-F238E27FC236}">
                <a16:creationId xmlns:a16="http://schemas.microsoft.com/office/drawing/2014/main" id="{3F1128CE-8487-3778-4D0F-7322B3FA34B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en-US"/>
              <a:t>Variables can be</a:t>
            </a:r>
          </a:p>
          <a:p>
            <a:r>
              <a:rPr lang="en-US" altLang="en-US"/>
              <a:t>Numerical</a:t>
            </a:r>
          </a:p>
          <a:p>
            <a:r>
              <a:rPr lang="en-US" altLang="en-US"/>
              <a:t>	Integers</a:t>
            </a:r>
          </a:p>
          <a:p>
            <a:r>
              <a:rPr lang="en-US" altLang="en-US"/>
              <a:t>	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7">
            <a:extLst>
              <a:ext uri="{FF2B5EF4-FFF2-40B4-BE49-F238E27FC236}">
                <a16:creationId xmlns:a16="http://schemas.microsoft.com/office/drawing/2014/main" id="{EABA0B11-BFC3-7C2D-C4BB-4A92CE21F9AC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AAFAF949-E6F8-43E5-9F6C-F3A45C3CEA29}" type="slidenum">
              <a:rPr lang="en-US" altLang="en-US"/>
              <a:pPr/>
              <a:t>43</a:t>
            </a:fld>
            <a:endParaRPr lang="en-US" altLang="en-US"/>
          </a:p>
        </p:txBody>
      </p:sp>
      <p:sp>
        <p:nvSpPr>
          <p:cNvPr id="232450" name="Rectangle 2">
            <a:extLst>
              <a:ext uri="{FF2B5EF4-FFF2-40B4-BE49-F238E27FC236}">
                <a16:creationId xmlns:a16="http://schemas.microsoft.com/office/drawing/2014/main" id="{D4B576D0-221F-B5B3-3DC4-FD8FF895F3E6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232451" name="Rectangle 3">
            <a:extLst>
              <a:ext uri="{FF2B5EF4-FFF2-40B4-BE49-F238E27FC236}">
                <a16:creationId xmlns:a16="http://schemas.microsoft.com/office/drawing/2014/main" id="{B2785EF3-9626-4689-C3E9-98BC8E2F441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en-US"/>
              <a:t>Variables can be</a:t>
            </a:r>
          </a:p>
          <a:p>
            <a:r>
              <a:rPr lang="en-US" altLang="en-US"/>
              <a:t>Numerical</a:t>
            </a:r>
          </a:p>
          <a:p>
            <a:r>
              <a:rPr lang="en-US" altLang="en-US"/>
              <a:t>	Integers</a:t>
            </a:r>
          </a:p>
          <a:p>
            <a:r>
              <a:rPr lang="en-US" altLang="en-US"/>
              <a:t>	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827B30-C91B-AD99-B00A-D6E2C6298F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7">
            <a:extLst>
              <a:ext uri="{FF2B5EF4-FFF2-40B4-BE49-F238E27FC236}">
                <a16:creationId xmlns:a16="http://schemas.microsoft.com/office/drawing/2014/main" id="{D3554189-729C-1F3A-BB3C-33724F1F3AD4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AAFAF949-E6F8-43E5-9F6C-F3A45C3CEA29}" type="slidenum">
              <a:rPr lang="en-US" altLang="en-US"/>
              <a:pPr/>
              <a:t>44</a:t>
            </a:fld>
            <a:endParaRPr lang="en-US" altLang="en-US"/>
          </a:p>
        </p:txBody>
      </p:sp>
      <p:sp>
        <p:nvSpPr>
          <p:cNvPr id="232450" name="Rectangle 2">
            <a:extLst>
              <a:ext uri="{FF2B5EF4-FFF2-40B4-BE49-F238E27FC236}">
                <a16:creationId xmlns:a16="http://schemas.microsoft.com/office/drawing/2014/main" id="{AF730F8E-E8F0-E0EB-40C1-39BA6015C80F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232451" name="Rectangle 3">
            <a:extLst>
              <a:ext uri="{FF2B5EF4-FFF2-40B4-BE49-F238E27FC236}">
                <a16:creationId xmlns:a16="http://schemas.microsoft.com/office/drawing/2014/main" id="{733BCAC9-D135-ED3A-E695-7CF8CA61F69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en-US"/>
              <a:t>Variables can be</a:t>
            </a:r>
          </a:p>
          <a:p>
            <a:r>
              <a:rPr lang="en-US" altLang="en-US"/>
              <a:t>Numerical</a:t>
            </a:r>
          </a:p>
          <a:p>
            <a:r>
              <a:rPr lang="en-US" altLang="en-US"/>
              <a:t>	Integers</a:t>
            </a:r>
          </a:p>
          <a:p>
            <a:r>
              <a:rPr lang="en-US" altLang="en-US"/>
              <a:t>	</a:t>
            </a:r>
          </a:p>
        </p:txBody>
      </p:sp>
    </p:spTree>
    <p:extLst>
      <p:ext uri="{BB962C8B-B14F-4D97-AF65-F5344CB8AC3E}">
        <p14:creationId xmlns:p14="http://schemas.microsoft.com/office/powerpoint/2010/main" val="38208203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7">
            <a:extLst>
              <a:ext uri="{FF2B5EF4-FFF2-40B4-BE49-F238E27FC236}">
                <a16:creationId xmlns:a16="http://schemas.microsoft.com/office/drawing/2014/main" id="{46C28CE6-1AD4-4902-F3C2-316B72CD5A3B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B76731BA-0962-4B30-BD61-6C0AA71E3704}" type="slidenum">
              <a:rPr lang="en-US" altLang="en-US"/>
              <a:pPr/>
              <a:t>45</a:t>
            </a:fld>
            <a:endParaRPr lang="en-US" altLang="en-US"/>
          </a:p>
        </p:txBody>
      </p:sp>
      <p:sp>
        <p:nvSpPr>
          <p:cNvPr id="234498" name="Rectangle 2">
            <a:extLst>
              <a:ext uri="{FF2B5EF4-FFF2-40B4-BE49-F238E27FC236}">
                <a16:creationId xmlns:a16="http://schemas.microsoft.com/office/drawing/2014/main" id="{ED586D9B-6B79-84E1-EEB8-3314EEEC2559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234499" name="Rectangle 3">
            <a:extLst>
              <a:ext uri="{FF2B5EF4-FFF2-40B4-BE49-F238E27FC236}">
                <a16:creationId xmlns:a16="http://schemas.microsoft.com/office/drawing/2014/main" id="{310BAC23-2884-F302-8508-D4593940F64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en-US"/>
              <a:t>Variables can be</a:t>
            </a:r>
          </a:p>
          <a:p>
            <a:r>
              <a:rPr lang="en-US" altLang="en-US"/>
              <a:t>Numerical</a:t>
            </a:r>
          </a:p>
          <a:p>
            <a:r>
              <a:rPr lang="en-US" altLang="en-US"/>
              <a:t>	Integers</a:t>
            </a:r>
          </a:p>
          <a:p>
            <a:r>
              <a:rPr lang="en-US" altLang="en-US"/>
              <a:t>	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7">
            <a:extLst>
              <a:ext uri="{FF2B5EF4-FFF2-40B4-BE49-F238E27FC236}">
                <a16:creationId xmlns:a16="http://schemas.microsoft.com/office/drawing/2014/main" id="{36EEE4E4-DD8C-D217-8D5C-E323EA9939ED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3E43498C-3230-49E9-BED6-F3DDCDA75D53}" type="slidenum">
              <a:rPr lang="en-US" altLang="en-US"/>
              <a:pPr/>
              <a:t>46</a:t>
            </a:fld>
            <a:endParaRPr lang="en-US" altLang="en-US"/>
          </a:p>
        </p:txBody>
      </p:sp>
      <p:sp>
        <p:nvSpPr>
          <p:cNvPr id="321538" name="Rectangle 2">
            <a:extLst>
              <a:ext uri="{FF2B5EF4-FFF2-40B4-BE49-F238E27FC236}">
                <a16:creationId xmlns:a16="http://schemas.microsoft.com/office/drawing/2014/main" id="{6CB6AF89-CEDC-CF15-B35A-C1DCA496DEDD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321539" name="Rectangle 3">
            <a:extLst>
              <a:ext uri="{FF2B5EF4-FFF2-40B4-BE49-F238E27FC236}">
                <a16:creationId xmlns:a16="http://schemas.microsoft.com/office/drawing/2014/main" id="{6314E45C-59BD-C2CB-F0B6-17D726328C3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en-US"/>
              <a:t>Variables can be</a:t>
            </a:r>
          </a:p>
          <a:p>
            <a:r>
              <a:rPr lang="en-US" altLang="en-US"/>
              <a:t>Numerical</a:t>
            </a:r>
          </a:p>
          <a:p>
            <a:r>
              <a:rPr lang="en-US" altLang="en-US"/>
              <a:t>	Integers</a:t>
            </a:r>
          </a:p>
          <a:p>
            <a:r>
              <a:rPr lang="en-US" altLang="en-US"/>
              <a:t>	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CC8A38-9E00-43E0-A488-5F919F964659}" type="slidenum">
              <a:rPr lang="en-US" altLang="en-US" smtClean="0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35238508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40C9DE-8E11-468C-92AA-CEE5EE95CCBF}" type="slidenum">
              <a:rPr lang="en-US" altLang="en-US" smtClean="0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26926241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55888F-2D28-412A-A78B-40C92BF85288}" type="slidenum">
              <a:rPr lang="en-US" altLang="en-US" smtClean="0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5117807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CDDD02-EBF7-464B-AF27-A779856635BE}" type="slidenum">
              <a:rPr lang="en-US" altLang="en-US" smtClean="0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27537834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602EC4-BEEC-42C2-A20F-434E2C90B410}" type="slidenum">
              <a:rPr lang="en-US" altLang="en-US" smtClean="0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03760104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B21135-9C52-496E-9737-0793C3EE374D}" type="slidenum">
              <a:rPr lang="en-US" altLang="en-US" smtClean="0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07082443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501A2E-EB53-41A7-B0D3-0765FAC75E1C}" type="slidenum">
              <a:rPr lang="en-US" altLang="en-US" smtClean="0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60919834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34C8FC-7DB4-4A84-8EBE-39A11F18BFB6}" type="slidenum">
              <a:rPr lang="en-US" altLang="en-US" smtClean="0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5133396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3D1892-A44F-4BCA-9D86-3A13995F380D}" type="slidenum">
              <a:rPr lang="en-US" altLang="en-US" smtClean="0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15986387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D5E0BB-191D-490A-9D2F-6217BAEB84E5}" type="slidenum">
              <a:rPr lang="en-US" altLang="en-US" smtClean="0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33163566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44961E-1ECC-46F6-BAC4-DF860DF34207}" type="slidenum">
              <a:rPr lang="en-US" altLang="en-US" smtClean="0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85126977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>
  <p:cSld name="Title, Text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4BA97D-0D5D-9254-04E4-D50723450D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563562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E4ED756-4FDF-C1F5-3202-3F6F632FA42F}"/>
              </a:ext>
            </a:extLst>
          </p:cNvPr>
          <p:cNvSpPr>
            <a:spLocks noGrp="1"/>
          </p:cNvSpPr>
          <p:nvPr>
            <p:ph type="body" sz="half" idx="1"/>
          </p:nvPr>
        </p:nvSpPr>
        <p:spPr>
          <a:xfrm>
            <a:off x="609600" y="914401"/>
            <a:ext cx="5384800" cy="52117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8869451-BF22-866D-E235-13ACAA2C94E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97600" y="914401"/>
            <a:ext cx="5384800" cy="52117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6B9474C-B2C7-21E0-F92C-7AC53F3084F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09600" y="6245225"/>
            <a:ext cx="2844800" cy="476250"/>
          </a:xfrm>
        </p:spPr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22A1958-D082-414F-C8DC-F6B51F667B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165600" y="6245225"/>
            <a:ext cx="3860800" cy="476250"/>
          </a:xfrm>
        </p:spPr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049F9CD-FCC5-232F-A72C-D36D2F9FBD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737600" y="6245225"/>
            <a:ext cx="2844800" cy="476250"/>
          </a:xfrm>
        </p:spPr>
        <p:txBody>
          <a:bodyPr/>
          <a:lstStyle>
            <a:lvl1pPr>
              <a:defRPr/>
            </a:lvl1pPr>
          </a:lstStyle>
          <a:p>
            <a:fld id="{A7DFD1D5-31F7-4741-8AA9-1DE7E458ED48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54752326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>
  <p:cSld name="Title, Content,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DC586A-56F6-4DCE-3C28-30021C8C16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563562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FA8F52-E15B-0A0F-178E-F340A0B2E11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09600" y="914401"/>
            <a:ext cx="5384800" cy="52117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68A42D9-3091-FBB7-31C2-ECC7EB9E652E}"/>
              </a:ext>
            </a:extLst>
          </p:cNvPr>
          <p:cNvSpPr>
            <a:spLocks noGrp="1"/>
          </p:cNvSpPr>
          <p:nvPr>
            <p:ph sz="quarter" idx="2"/>
          </p:nvPr>
        </p:nvSpPr>
        <p:spPr>
          <a:xfrm>
            <a:off x="6197600" y="914400"/>
            <a:ext cx="5384800" cy="25288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CAC14B12-4EDA-1264-C476-2D6278C27FE2}"/>
              </a:ext>
            </a:extLst>
          </p:cNvPr>
          <p:cNvSpPr>
            <a:spLocks noGrp="1"/>
          </p:cNvSpPr>
          <p:nvPr>
            <p:ph sz="quarter" idx="3"/>
          </p:nvPr>
        </p:nvSpPr>
        <p:spPr>
          <a:xfrm>
            <a:off x="6197600" y="3595689"/>
            <a:ext cx="5384800" cy="253047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5E172DE6-59FB-B245-11B5-4D41C72D4C2B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09600" y="6245225"/>
            <a:ext cx="2844800" cy="476250"/>
          </a:xfrm>
        </p:spPr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296D0566-776D-2359-C2D8-206C363965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165600" y="6245225"/>
            <a:ext cx="3860800" cy="476250"/>
          </a:xfrm>
        </p:spPr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762D2949-0BEB-20BA-2F8D-08BB4C54BD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737600" y="6245225"/>
            <a:ext cx="2844800" cy="476250"/>
          </a:xfrm>
        </p:spPr>
        <p:txBody>
          <a:bodyPr/>
          <a:lstStyle>
            <a:lvl1pPr>
              <a:defRPr/>
            </a:lvl1pPr>
          </a:lstStyle>
          <a:p>
            <a:fld id="{A0F05C99-899A-4D66-883F-3569F6CA602B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98969433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7AF6F09-9CF0-494D-8512-EA5A7FCD1A0B}" type="slidenum">
              <a:rPr lang="en-US" altLang="en-US" smtClean="0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74739448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3" r:id="rId1"/>
    <p:sldLayoutId id="2147483664" r:id="rId2"/>
    <p:sldLayoutId id="2147483665" r:id="rId3"/>
    <p:sldLayoutId id="2147483666" r:id="rId4"/>
    <p:sldLayoutId id="2147483667" r:id="rId5"/>
    <p:sldLayoutId id="2147483668" r:id="rId6"/>
    <p:sldLayoutId id="2147483669" r:id="rId7"/>
    <p:sldLayoutId id="2147483670" r:id="rId8"/>
    <p:sldLayoutId id="2147483671" r:id="rId9"/>
    <p:sldLayoutId id="2147483672" r:id="rId10"/>
    <p:sldLayoutId id="2147483673" r:id="rId11"/>
    <p:sldLayoutId id="2147483674" r:id="rId12"/>
    <p:sldLayoutId id="2147483675" r:id="rId1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wmf"/><Relationship Id="rId4" Type="http://schemas.openxmlformats.org/officeDocument/2006/relationships/oleObject" Target="../embeddings/oleObject1.bin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wmf"/><Relationship Id="rId3" Type="http://schemas.openxmlformats.org/officeDocument/2006/relationships/oleObject" Target="../embeddings/oleObject2.bin"/><Relationship Id="rId7" Type="http://schemas.openxmlformats.org/officeDocument/2006/relationships/oleObject" Target="../embeddings/oleObject4.bin"/><Relationship Id="rId12" Type="http://schemas.openxmlformats.org/officeDocument/2006/relationships/image" Target="../media/image11.wmf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8.wmf"/><Relationship Id="rId11" Type="http://schemas.openxmlformats.org/officeDocument/2006/relationships/oleObject" Target="../embeddings/oleObject6.bin"/><Relationship Id="rId5" Type="http://schemas.openxmlformats.org/officeDocument/2006/relationships/oleObject" Target="../embeddings/oleObject3.bin"/><Relationship Id="rId10" Type="http://schemas.openxmlformats.org/officeDocument/2006/relationships/image" Target="../media/image10.wmf"/><Relationship Id="rId4" Type="http://schemas.openxmlformats.org/officeDocument/2006/relationships/image" Target="../media/image7.emf"/><Relationship Id="rId9" Type="http://schemas.openxmlformats.org/officeDocument/2006/relationships/oleObject" Target="../embeddings/oleObject5.bin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wmf"/><Relationship Id="rId13" Type="http://schemas.openxmlformats.org/officeDocument/2006/relationships/oleObject" Target="../embeddings/oleObject12.bin"/><Relationship Id="rId3" Type="http://schemas.openxmlformats.org/officeDocument/2006/relationships/oleObject" Target="../embeddings/oleObject7.bin"/><Relationship Id="rId7" Type="http://schemas.openxmlformats.org/officeDocument/2006/relationships/oleObject" Target="../embeddings/oleObject9.bin"/><Relationship Id="rId12" Type="http://schemas.openxmlformats.org/officeDocument/2006/relationships/image" Target="../media/image11.wmf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4.wmf"/><Relationship Id="rId11" Type="http://schemas.openxmlformats.org/officeDocument/2006/relationships/oleObject" Target="../embeddings/oleObject11.bin"/><Relationship Id="rId5" Type="http://schemas.openxmlformats.org/officeDocument/2006/relationships/oleObject" Target="../embeddings/oleObject8.bin"/><Relationship Id="rId10" Type="http://schemas.openxmlformats.org/officeDocument/2006/relationships/image" Target="../media/image10.wmf"/><Relationship Id="rId4" Type="http://schemas.openxmlformats.org/officeDocument/2006/relationships/image" Target="../media/image13.emf"/><Relationship Id="rId9" Type="http://schemas.openxmlformats.org/officeDocument/2006/relationships/oleObject" Target="../embeddings/oleObject10.bin"/><Relationship Id="rId14" Type="http://schemas.openxmlformats.org/officeDocument/2006/relationships/image" Target="../media/image15.wmf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wmf"/><Relationship Id="rId3" Type="http://schemas.openxmlformats.org/officeDocument/2006/relationships/oleObject" Target="../embeddings/oleObject13.bin"/><Relationship Id="rId7" Type="http://schemas.openxmlformats.org/officeDocument/2006/relationships/oleObject" Target="../embeddings/oleObject15.bin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8.wmf"/><Relationship Id="rId5" Type="http://schemas.openxmlformats.org/officeDocument/2006/relationships/oleObject" Target="../embeddings/oleObject14.bin"/><Relationship Id="rId10" Type="http://schemas.openxmlformats.org/officeDocument/2006/relationships/image" Target="../media/image10.wmf"/><Relationship Id="rId4" Type="http://schemas.openxmlformats.org/officeDocument/2006/relationships/image" Target="../media/image17.emf"/><Relationship Id="rId9" Type="http://schemas.openxmlformats.org/officeDocument/2006/relationships/oleObject" Target="../embeddings/oleObject16.bin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.png"/><Relationship Id="rId3" Type="http://schemas.openxmlformats.org/officeDocument/2006/relationships/oleObject" Target="../embeddings/oleObject15.bin"/><Relationship Id="rId7" Type="http://schemas.openxmlformats.org/officeDocument/2006/relationships/image" Target="../media/image19.emf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0.wmf"/><Relationship Id="rId5" Type="http://schemas.openxmlformats.org/officeDocument/2006/relationships/oleObject" Target="../embeddings/oleObject16.bin"/><Relationship Id="rId4" Type="http://schemas.openxmlformats.org/officeDocument/2006/relationships/image" Target="../media/image9.wmf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20.bin"/><Relationship Id="rId3" Type="http://schemas.openxmlformats.org/officeDocument/2006/relationships/image" Target="../media/image20.wmf"/><Relationship Id="rId7" Type="http://schemas.openxmlformats.org/officeDocument/2006/relationships/image" Target="../media/image22.wmf"/><Relationship Id="rId2" Type="http://schemas.openxmlformats.org/officeDocument/2006/relationships/oleObject" Target="../embeddings/oleObject17.bin"/><Relationship Id="rId1" Type="http://schemas.openxmlformats.org/officeDocument/2006/relationships/slideLayout" Target="../slideLayouts/slideLayout13.xml"/><Relationship Id="rId6" Type="http://schemas.openxmlformats.org/officeDocument/2006/relationships/oleObject" Target="../embeddings/oleObject19.bin"/><Relationship Id="rId5" Type="http://schemas.openxmlformats.org/officeDocument/2006/relationships/image" Target="../media/image21.wmf"/><Relationship Id="rId4" Type="http://schemas.openxmlformats.org/officeDocument/2006/relationships/oleObject" Target="../embeddings/oleObject18.bin"/><Relationship Id="rId9" Type="http://schemas.openxmlformats.org/officeDocument/2006/relationships/image" Target="../media/image23.wmf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emf"/><Relationship Id="rId2" Type="http://schemas.openxmlformats.org/officeDocument/2006/relationships/oleObject" Target="../embeddings/oleObject21.bin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27.png"/><Relationship Id="rId5" Type="http://schemas.openxmlformats.org/officeDocument/2006/relationships/image" Target="../media/image25.wmf"/><Relationship Id="rId4" Type="http://schemas.openxmlformats.org/officeDocument/2006/relationships/oleObject" Target="../embeddings/oleObject22.bin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wmf"/><Relationship Id="rId2" Type="http://schemas.openxmlformats.org/officeDocument/2006/relationships/oleObject" Target="../embeddings/oleObject23.bin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9.wmf"/><Relationship Id="rId4" Type="http://schemas.openxmlformats.org/officeDocument/2006/relationships/oleObject" Target="../embeddings/oleObject24.bin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28.bin"/><Relationship Id="rId13" Type="http://schemas.openxmlformats.org/officeDocument/2006/relationships/oleObject" Target="../embeddings/oleObject24.bin"/><Relationship Id="rId3" Type="http://schemas.openxmlformats.org/officeDocument/2006/relationships/image" Target="../media/image30.wmf"/><Relationship Id="rId7" Type="http://schemas.openxmlformats.org/officeDocument/2006/relationships/image" Target="../media/image32.wmf"/><Relationship Id="rId12" Type="http://schemas.openxmlformats.org/officeDocument/2006/relationships/image" Target="../media/image34.wmf"/><Relationship Id="rId2" Type="http://schemas.openxmlformats.org/officeDocument/2006/relationships/oleObject" Target="../embeddings/oleObject25.bin"/><Relationship Id="rId1" Type="http://schemas.openxmlformats.org/officeDocument/2006/relationships/slideLayout" Target="../slideLayouts/slideLayout4.xml"/><Relationship Id="rId6" Type="http://schemas.openxmlformats.org/officeDocument/2006/relationships/oleObject" Target="../embeddings/oleObject27.bin"/><Relationship Id="rId11" Type="http://schemas.openxmlformats.org/officeDocument/2006/relationships/oleObject" Target="../embeddings/oleObject30.bin"/><Relationship Id="rId5" Type="http://schemas.openxmlformats.org/officeDocument/2006/relationships/image" Target="../media/image31.emf"/><Relationship Id="rId10" Type="http://schemas.openxmlformats.org/officeDocument/2006/relationships/oleObject" Target="../embeddings/oleObject29.bin"/><Relationship Id="rId4" Type="http://schemas.openxmlformats.org/officeDocument/2006/relationships/oleObject" Target="../embeddings/oleObject26.bin"/><Relationship Id="rId9" Type="http://schemas.openxmlformats.org/officeDocument/2006/relationships/image" Target="../media/image33.wmf"/><Relationship Id="rId14" Type="http://schemas.openxmlformats.org/officeDocument/2006/relationships/image" Target="../media/image29.wmf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28.bin"/><Relationship Id="rId13" Type="http://schemas.openxmlformats.org/officeDocument/2006/relationships/oleObject" Target="../embeddings/oleObject24.bin"/><Relationship Id="rId3" Type="http://schemas.openxmlformats.org/officeDocument/2006/relationships/image" Target="../media/image30.wmf"/><Relationship Id="rId7" Type="http://schemas.openxmlformats.org/officeDocument/2006/relationships/image" Target="../media/image32.wmf"/><Relationship Id="rId12" Type="http://schemas.openxmlformats.org/officeDocument/2006/relationships/image" Target="../media/image34.wmf"/><Relationship Id="rId2" Type="http://schemas.openxmlformats.org/officeDocument/2006/relationships/oleObject" Target="../embeddings/oleObject25.bin"/><Relationship Id="rId1" Type="http://schemas.openxmlformats.org/officeDocument/2006/relationships/slideLayout" Target="../slideLayouts/slideLayout4.xml"/><Relationship Id="rId6" Type="http://schemas.openxmlformats.org/officeDocument/2006/relationships/oleObject" Target="../embeddings/oleObject27.bin"/><Relationship Id="rId11" Type="http://schemas.openxmlformats.org/officeDocument/2006/relationships/oleObject" Target="../embeddings/oleObject30.bin"/><Relationship Id="rId5" Type="http://schemas.openxmlformats.org/officeDocument/2006/relationships/image" Target="../media/image31.emf"/><Relationship Id="rId10" Type="http://schemas.openxmlformats.org/officeDocument/2006/relationships/oleObject" Target="../embeddings/oleObject29.bin"/><Relationship Id="rId4" Type="http://schemas.openxmlformats.org/officeDocument/2006/relationships/oleObject" Target="../embeddings/oleObject26.bin"/><Relationship Id="rId9" Type="http://schemas.openxmlformats.org/officeDocument/2006/relationships/image" Target="../media/image33.wmf"/><Relationship Id="rId14" Type="http://schemas.openxmlformats.org/officeDocument/2006/relationships/image" Target="../media/image29.wmf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34.bin"/><Relationship Id="rId13" Type="http://schemas.openxmlformats.org/officeDocument/2006/relationships/oleObject" Target="../embeddings/oleObject37.bin"/><Relationship Id="rId3" Type="http://schemas.openxmlformats.org/officeDocument/2006/relationships/image" Target="../media/image30.wmf"/><Relationship Id="rId7" Type="http://schemas.openxmlformats.org/officeDocument/2006/relationships/image" Target="../media/image36.wmf"/><Relationship Id="rId12" Type="http://schemas.openxmlformats.org/officeDocument/2006/relationships/image" Target="../media/image34.wmf"/><Relationship Id="rId2" Type="http://schemas.openxmlformats.org/officeDocument/2006/relationships/oleObject" Target="../embeddings/oleObject31.bin"/><Relationship Id="rId1" Type="http://schemas.openxmlformats.org/officeDocument/2006/relationships/slideLayout" Target="../slideLayouts/slideLayout4.xml"/><Relationship Id="rId6" Type="http://schemas.openxmlformats.org/officeDocument/2006/relationships/oleObject" Target="../embeddings/oleObject33.bin"/><Relationship Id="rId11" Type="http://schemas.openxmlformats.org/officeDocument/2006/relationships/oleObject" Target="../embeddings/oleObject36.bin"/><Relationship Id="rId5" Type="http://schemas.openxmlformats.org/officeDocument/2006/relationships/image" Target="../media/image35.emf"/><Relationship Id="rId10" Type="http://schemas.openxmlformats.org/officeDocument/2006/relationships/oleObject" Target="../embeddings/oleObject35.bin"/><Relationship Id="rId4" Type="http://schemas.openxmlformats.org/officeDocument/2006/relationships/oleObject" Target="../embeddings/oleObject32.bin"/><Relationship Id="rId9" Type="http://schemas.openxmlformats.org/officeDocument/2006/relationships/image" Target="../media/image33.wmf"/><Relationship Id="rId14" Type="http://schemas.openxmlformats.org/officeDocument/2006/relationships/image" Target="../media/image37.wmf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5.bin"/><Relationship Id="rId13" Type="http://schemas.openxmlformats.org/officeDocument/2006/relationships/image" Target="../media/image38.wmf"/><Relationship Id="rId18" Type="http://schemas.openxmlformats.org/officeDocument/2006/relationships/image" Target="../media/image47.png"/><Relationship Id="rId3" Type="http://schemas.openxmlformats.org/officeDocument/2006/relationships/image" Target="../media/image38.wmf"/><Relationship Id="rId21" Type="http://schemas.openxmlformats.org/officeDocument/2006/relationships/image" Target="../media/image50.png"/><Relationship Id="rId7" Type="http://schemas.openxmlformats.org/officeDocument/2006/relationships/image" Target="../media/image23.wmf"/><Relationship Id="rId12" Type="http://schemas.openxmlformats.org/officeDocument/2006/relationships/oleObject" Target="../embeddings/oleObject38.bin"/><Relationship Id="rId17" Type="http://schemas.openxmlformats.org/officeDocument/2006/relationships/image" Target="../media/image10.wmf"/><Relationship Id="rId25" Type="http://schemas.openxmlformats.org/officeDocument/2006/relationships/image" Target="../media/image54.png"/><Relationship Id="rId2" Type="http://schemas.openxmlformats.org/officeDocument/2006/relationships/oleObject" Target="../embeddings/oleObject38.bin"/><Relationship Id="rId16" Type="http://schemas.openxmlformats.org/officeDocument/2006/relationships/oleObject" Target="../embeddings/oleObject5.bin"/><Relationship Id="rId20" Type="http://schemas.openxmlformats.org/officeDocument/2006/relationships/image" Target="../media/image49.png"/><Relationship Id="rId1" Type="http://schemas.openxmlformats.org/officeDocument/2006/relationships/slideLayout" Target="../slideLayouts/slideLayout13.xml"/><Relationship Id="rId6" Type="http://schemas.openxmlformats.org/officeDocument/2006/relationships/oleObject" Target="../embeddings/oleObject20.bin"/><Relationship Id="rId11" Type="http://schemas.openxmlformats.org/officeDocument/2006/relationships/image" Target="../media/image40.wmf"/><Relationship Id="rId24" Type="http://schemas.openxmlformats.org/officeDocument/2006/relationships/image" Target="../media/image53.png"/><Relationship Id="rId5" Type="http://schemas.openxmlformats.org/officeDocument/2006/relationships/image" Target="../media/image39.wmf"/><Relationship Id="rId15" Type="http://schemas.openxmlformats.org/officeDocument/2006/relationships/image" Target="../media/image39.wmf"/><Relationship Id="rId23" Type="http://schemas.openxmlformats.org/officeDocument/2006/relationships/image" Target="../media/image52.png"/><Relationship Id="rId10" Type="http://schemas.openxmlformats.org/officeDocument/2006/relationships/oleObject" Target="../embeddings/oleObject40.bin"/><Relationship Id="rId19" Type="http://schemas.openxmlformats.org/officeDocument/2006/relationships/image" Target="../media/image48.png"/><Relationship Id="rId4" Type="http://schemas.openxmlformats.org/officeDocument/2006/relationships/oleObject" Target="../embeddings/oleObject39.bin"/><Relationship Id="rId9" Type="http://schemas.openxmlformats.org/officeDocument/2006/relationships/image" Target="../media/image10.wmf"/><Relationship Id="rId14" Type="http://schemas.openxmlformats.org/officeDocument/2006/relationships/oleObject" Target="../embeddings/oleObject39.bin"/><Relationship Id="rId22" Type="http://schemas.openxmlformats.org/officeDocument/2006/relationships/image" Target="../media/image51.png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44.bin"/><Relationship Id="rId13" Type="http://schemas.openxmlformats.org/officeDocument/2006/relationships/image" Target="../media/image23.wmf"/><Relationship Id="rId3" Type="http://schemas.openxmlformats.org/officeDocument/2006/relationships/image" Target="../media/image39.wmf"/><Relationship Id="rId7" Type="http://schemas.openxmlformats.org/officeDocument/2006/relationships/image" Target="../media/image42.emf"/><Relationship Id="rId12" Type="http://schemas.openxmlformats.org/officeDocument/2006/relationships/oleObject" Target="../embeddings/oleObject20.bin"/><Relationship Id="rId17" Type="http://schemas.openxmlformats.org/officeDocument/2006/relationships/image" Target="../media/image44.wmf"/><Relationship Id="rId2" Type="http://schemas.openxmlformats.org/officeDocument/2006/relationships/oleObject" Target="../embeddings/oleObject41.bin"/><Relationship Id="rId16" Type="http://schemas.openxmlformats.org/officeDocument/2006/relationships/oleObject" Target="../embeddings/oleObject46.bin"/><Relationship Id="rId1" Type="http://schemas.openxmlformats.org/officeDocument/2006/relationships/slideLayout" Target="../slideLayouts/slideLayout13.xml"/><Relationship Id="rId6" Type="http://schemas.openxmlformats.org/officeDocument/2006/relationships/oleObject" Target="../embeddings/oleObject43.bin"/><Relationship Id="rId11" Type="http://schemas.openxmlformats.org/officeDocument/2006/relationships/image" Target="../media/image40.wmf"/><Relationship Id="rId5" Type="http://schemas.openxmlformats.org/officeDocument/2006/relationships/image" Target="../media/image41.wmf"/><Relationship Id="rId15" Type="http://schemas.openxmlformats.org/officeDocument/2006/relationships/image" Target="../media/image10.wmf"/><Relationship Id="rId10" Type="http://schemas.openxmlformats.org/officeDocument/2006/relationships/oleObject" Target="../embeddings/oleObject45.bin"/><Relationship Id="rId4" Type="http://schemas.openxmlformats.org/officeDocument/2006/relationships/oleObject" Target="../embeddings/oleObject42.bin"/><Relationship Id="rId9" Type="http://schemas.openxmlformats.org/officeDocument/2006/relationships/image" Target="../media/image43.wmf"/><Relationship Id="rId14" Type="http://schemas.openxmlformats.org/officeDocument/2006/relationships/oleObject" Target="../embeddings/oleObject5.bin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50.bin"/><Relationship Id="rId13" Type="http://schemas.openxmlformats.org/officeDocument/2006/relationships/image" Target="../media/image23.wmf"/><Relationship Id="rId3" Type="http://schemas.openxmlformats.org/officeDocument/2006/relationships/image" Target="../media/image41.wmf"/><Relationship Id="rId7" Type="http://schemas.openxmlformats.org/officeDocument/2006/relationships/image" Target="../media/image43.wmf"/><Relationship Id="rId12" Type="http://schemas.openxmlformats.org/officeDocument/2006/relationships/oleObject" Target="../embeddings/oleObject20.bin"/><Relationship Id="rId2" Type="http://schemas.openxmlformats.org/officeDocument/2006/relationships/oleObject" Target="../embeddings/oleObject47.bin"/><Relationship Id="rId1" Type="http://schemas.openxmlformats.org/officeDocument/2006/relationships/slideLayout" Target="../slideLayouts/slideLayout13.xml"/><Relationship Id="rId6" Type="http://schemas.openxmlformats.org/officeDocument/2006/relationships/oleObject" Target="../embeddings/oleObject49.bin"/><Relationship Id="rId11" Type="http://schemas.openxmlformats.org/officeDocument/2006/relationships/image" Target="../media/image39.wmf"/><Relationship Id="rId5" Type="http://schemas.openxmlformats.org/officeDocument/2006/relationships/image" Target="../media/image45.emf"/><Relationship Id="rId15" Type="http://schemas.openxmlformats.org/officeDocument/2006/relationships/image" Target="../media/image10.wmf"/><Relationship Id="rId10" Type="http://schemas.openxmlformats.org/officeDocument/2006/relationships/oleObject" Target="../embeddings/oleObject51.bin"/><Relationship Id="rId4" Type="http://schemas.openxmlformats.org/officeDocument/2006/relationships/oleObject" Target="../embeddings/oleObject48.bin"/><Relationship Id="rId9" Type="http://schemas.openxmlformats.org/officeDocument/2006/relationships/image" Target="../media/image40.wmf"/><Relationship Id="rId14" Type="http://schemas.openxmlformats.org/officeDocument/2006/relationships/oleObject" Target="../embeddings/oleObject5.bin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55.bin"/><Relationship Id="rId13" Type="http://schemas.openxmlformats.org/officeDocument/2006/relationships/image" Target="../media/image44.wmf"/><Relationship Id="rId18" Type="http://schemas.openxmlformats.org/officeDocument/2006/relationships/oleObject" Target="../embeddings/oleObject59.bin"/><Relationship Id="rId3" Type="http://schemas.openxmlformats.org/officeDocument/2006/relationships/image" Target="../media/image39.wmf"/><Relationship Id="rId7" Type="http://schemas.openxmlformats.org/officeDocument/2006/relationships/image" Target="../media/image46.emf"/><Relationship Id="rId12" Type="http://schemas.openxmlformats.org/officeDocument/2006/relationships/oleObject" Target="../embeddings/oleObject57.bin"/><Relationship Id="rId17" Type="http://schemas.openxmlformats.org/officeDocument/2006/relationships/image" Target="../media/image47.wmf"/><Relationship Id="rId2" Type="http://schemas.openxmlformats.org/officeDocument/2006/relationships/oleObject" Target="../embeddings/oleObject52.bin"/><Relationship Id="rId16" Type="http://schemas.openxmlformats.org/officeDocument/2006/relationships/oleObject" Target="../embeddings/oleObject58.bin"/><Relationship Id="rId20" Type="http://schemas.openxmlformats.org/officeDocument/2006/relationships/oleObject" Target="../embeddings/oleObject60.bin"/><Relationship Id="rId1" Type="http://schemas.openxmlformats.org/officeDocument/2006/relationships/slideLayout" Target="../slideLayouts/slideLayout13.xml"/><Relationship Id="rId6" Type="http://schemas.openxmlformats.org/officeDocument/2006/relationships/oleObject" Target="../embeddings/oleObject54.bin"/><Relationship Id="rId11" Type="http://schemas.openxmlformats.org/officeDocument/2006/relationships/image" Target="../media/image40.wmf"/><Relationship Id="rId5" Type="http://schemas.openxmlformats.org/officeDocument/2006/relationships/image" Target="../media/image41.wmf"/><Relationship Id="rId15" Type="http://schemas.openxmlformats.org/officeDocument/2006/relationships/image" Target="../media/image23.wmf"/><Relationship Id="rId10" Type="http://schemas.openxmlformats.org/officeDocument/2006/relationships/oleObject" Target="../embeddings/oleObject56.bin"/><Relationship Id="rId19" Type="http://schemas.openxmlformats.org/officeDocument/2006/relationships/image" Target="../media/image48.wmf"/><Relationship Id="rId4" Type="http://schemas.openxmlformats.org/officeDocument/2006/relationships/oleObject" Target="../embeddings/oleObject53.bin"/><Relationship Id="rId9" Type="http://schemas.openxmlformats.org/officeDocument/2006/relationships/image" Target="../media/image43.wmf"/><Relationship Id="rId14" Type="http://schemas.openxmlformats.org/officeDocument/2006/relationships/oleObject" Target="../embeddings/oleObject20.bin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64.bin"/><Relationship Id="rId13" Type="http://schemas.openxmlformats.org/officeDocument/2006/relationships/image" Target="../media/image10.wmf"/><Relationship Id="rId3" Type="http://schemas.openxmlformats.org/officeDocument/2006/relationships/image" Target="../media/image49.emf"/><Relationship Id="rId7" Type="http://schemas.openxmlformats.org/officeDocument/2006/relationships/image" Target="../media/image50.wmf"/><Relationship Id="rId12" Type="http://schemas.openxmlformats.org/officeDocument/2006/relationships/oleObject" Target="../embeddings/oleObject5.bin"/><Relationship Id="rId17" Type="http://schemas.openxmlformats.org/officeDocument/2006/relationships/image" Target="../media/image52.wmf"/><Relationship Id="rId2" Type="http://schemas.openxmlformats.org/officeDocument/2006/relationships/oleObject" Target="../embeddings/oleObject61.bin"/><Relationship Id="rId16" Type="http://schemas.openxmlformats.org/officeDocument/2006/relationships/oleObject" Target="../embeddings/oleObject66.bin"/><Relationship Id="rId1" Type="http://schemas.openxmlformats.org/officeDocument/2006/relationships/slideLayout" Target="../slideLayouts/slideLayout4.xml"/><Relationship Id="rId6" Type="http://schemas.openxmlformats.org/officeDocument/2006/relationships/oleObject" Target="../embeddings/oleObject63.bin"/><Relationship Id="rId11" Type="http://schemas.openxmlformats.org/officeDocument/2006/relationships/image" Target="../media/image23.wmf"/><Relationship Id="rId5" Type="http://schemas.openxmlformats.org/officeDocument/2006/relationships/image" Target="../media/image37.wmf"/><Relationship Id="rId15" Type="http://schemas.openxmlformats.org/officeDocument/2006/relationships/image" Target="../media/image51.wmf"/><Relationship Id="rId10" Type="http://schemas.openxmlformats.org/officeDocument/2006/relationships/oleObject" Target="../embeddings/oleObject20.bin"/><Relationship Id="rId4" Type="http://schemas.openxmlformats.org/officeDocument/2006/relationships/oleObject" Target="../embeddings/oleObject62.bin"/><Relationship Id="rId9" Type="http://schemas.openxmlformats.org/officeDocument/2006/relationships/image" Target="../media/image39.wmf"/><Relationship Id="rId14" Type="http://schemas.openxmlformats.org/officeDocument/2006/relationships/oleObject" Target="../embeddings/oleObject65.bin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64.bin"/><Relationship Id="rId13" Type="http://schemas.openxmlformats.org/officeDocument/2006/relationships/image" Target="../media/image10.wmf"/><Relationship Id="rId3" Type="http://schemas.openxmlformats.org/officeDocument/2006/relationships/image" Target="../media/image49.emf"/><Relationship Id="rId7" Type="http://schemas.openxmlformats.org/officeDocument/2006/relationships/image" Target="../media/image50.wmf"/><Relationship Id="rId12" Type="http://schemas.openxmlformats.org/officeDocument/2006/relationships/oleObject" Target="../embeddings/oleObject5.bin"/><Relationship Id="rId17" Type="http://schemas.openxmlformats.org/officeDocument/2006/relationships/image" Target="../media/image53.wmf"/><Relationship Id="rId2" Type="http://schemas.openxmlformats.org/officeDocument/2006/relationships/oleObject" Target="../embeddings/oleObject61.bin"/><Relationship Id="rId16" Type="http://schemas.openxmlformats.org/officeDocument/2006/relationships/oleObject" Target="../embeddings/oleObject67.bin"/><Relationship Id="rId1" Type="http://schemas.openxmlformats.org/officeDocument/2006/relationships/slideLayout" Target="../slideLayouts/slideLayout4.xml"/><Relationship Id="rId6" Type="http://schemas.openxmlformats.org/officeDocument/2006/relationships/oleObject" Target="../embeddings/oleObject63.bin"/><Relationship Id="rId11" Type="http://schemas.openxmlformats.org/officeDocument/2006/relationships/image" Target="../media/image23.wmf"/><Relationship Id="rId5" Type="http://schemas.openxmlformats.org/officeDocument/2006/relationships/image" Target="../media/image37.wmf"/><Relationship Id="rId15" Type="http://schemas.openxmlformats.org/officeDocument/2006/relationships/image" Target="../media/image51.wmf"/><Relationship Id="rId10" Type="http://schemas.openxmlformats.org/officeDocument/2006/relationships/oleObject" Target="../embeddings/oleObject20.bin"/><Relationship Id="rId4" Type="http://schemas.openxmlformats.org/officeDocument/2006/relationships/oleObject" Target="../embeddings/oleObject62.bin"/><Relationship Id="rId9" Type="http://schemas.openxmlformats.org/officeDocument/2006/relationships/image" Target="../media/image39.wmf"/><Relationship Id="rId14" Type="http://schemas.openxmlformats.org/officeDocument/2006/relationships/oleObject" Target="../embeddings/oleObject65.bin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6.png"/><Relationship Id="rId2" Type="http://schemas.openxmlformats.org/officeDocument/2006/relationships/image" Target="../media/image55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5.png"/><Relationship Id="rId2" Type="http://schemas.openxmlformats.org/officeDocument/2006/relationships/image" Target="../media/image5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8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0.png"/><Relationship Id="rId2" Type="http://schemas.openxmlformats.org/officeDocument/2006/relationships/image" Target="../media/image59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wmf"/><Relationship Id="rId7" Type="http://schemas.openxmlformats.org/officeDocument/2006/relationships/image" Target="../media/image10.wmf"/><Relationship Id="rId2" Type="http://schemas.openxmlformats.org/officeDocument/2006/relationships/oleObject" Target="../embeddings/oleObject64.bin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5.bin"/><Relationship Id="rId5" Type="http://schemas.openxmlformats.org/officeDocument/2006/relationships/image" Target="../media/image23.wmf"/><Relationship Id="rId4" Type="http://schemas.openxmlformats.org/officeDocument/2006/relationships/oleObject" Target="../embeddings/oleObject20.bin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1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2.wmf"/><Relationship Id="rId2" Type="http://schemas.openxmlformats.org/officeDocument/2006/relationships/oleObject" Target="../embeddings/oleObject68.bin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3.wmf"/><Relationship Id="rId5" Type="http://schemas.openxmlformats.org/officeDocument/2006/relationships/oleObject" Target="../embeddings/oleObject69.bin"/><Relationship Id="rId4" Type="http://schemas.openxmlformats.org/officeDocument/2006/relationships/image" Target="../media/image61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4.wmf"/><Relationship Id="rId2" Type="http://schemas.openxmlformats.org/officeDocument/2006/relationships/oleObject" Target="../embeddings/oleObject70.bin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5.png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6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wmf"/><Relationship Id="rId2" Type="http://schemas.openxmlformats.org/officeDocument/2006/relationships/oleObject" Target="../embeddings/oleObject20.bin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0.wmf"/><Relationship Id="rId4" Type="http://schemas.openxmlformats.org/officeDocument/2006/relationships/oleObject" Target="../embeddings/oleObject5.bin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7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7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7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7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7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7.pn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7.pn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8.emf"/><Relationship Id="rId2" Type="http://schemas.openxmlformats.org/officeDocument/2006/relationships/oleObject" Target="../embeddings/oleObject71.bin"/><Relationship Id="rId1" Type="http://schemas.openxmlformats.org/officeDocument/2006/relationships/slideLayout" Target="../slideLayouts/slideLayout12.xml"/></Relationships>
</file>

<file path=ppt/slides/_rels/slide4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3.png"/><Relationship Id="rId3" Type="http://schemas.openxmlformats.org/officeDocument/2006/relationships/oleObject" Target="../embeddings/oleObject72.bin"/><Relationship Id="rId7" Type="http://schemas.openxmlformats.org/officeDocument/2006/relationships/image" Target="../media/image7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1.png"/><Relationship Id="rId5" Type="http://schemas.openxmlformats.org/officeDocument/2006/relationships/image" Target="../media/image70.png"/><Relationship Id="rId4" Type="http://schemas.openxmlformats.org/officeDocument/2006/relationships/image" Target="../media/image69.emf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7.png"/><Relationship Id="rId5" Type="http://schemas.openxmlformats.org/officeDocument/2006/relationships/image" Target="../media/image76.png"/><Relationship Id="rId4" Type="http://schemas.openxmlformats.org/officeDocument/2006/relationships/image" Target="../media/image75.png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9.png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0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3.png"/><Relationship Id="rId5" Type="http://schemas.openxmlformats.org/officeDocument/2006/relationships/image" Target="../media/image82.png"/><Relationship Id="rId4" Type="http://schemas.openxmlformats.org/officeDocument/2006/relationships/image" Target="../media/image81.png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4.emf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5.emf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6.emf"/><Relationship Id="rId2" Type="http://schemas.openxmlformats.org/officeDocument/2006/relationships/oleObject" Target="../embeddings/Microsoft_Excel_97-2003_Worksheet.xls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88.png"/><Relationship Id="rId4" Type="http://schemas.openxmlformats.org/officeDocument/2006/relationships/image" Target="../media/image87.png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0.png"/><Relationship Id="rId2" Type="http://schemas.openxmlformats.org/officeDocument/2006/relationships/image" Target="../media/image89.png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91.emf"/><Relationship Id="rId4" Type="http://schemas.openxmlformats.org/officeDocument/2006/relationships/oleObject" Target="../embeddings/oleObject73.bin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0.png"/><Relationship Id="rId2" Type="http://schemas.openxmlformats.org/officeDocument/2006/relationships/image" Target="../media/image89.png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91.emf"/><Relationship Id="rId4" Type="http://schemas.openxmlformats.org/officeDocument/2006/relationships/oleObject" Target="../embeddings/oleObject74.bin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0.png"/><Relationship Id="rId2" Type="http://schemas.openxmlformats.org/officeDocument/2006/relationships/image" Target="../media/image89.png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91.emf"/><Relationship Id="rId4" Type="http://schemas.openxmlformats.org/officeDocument/2006/relationships/oleObject" Target="../embeddings/oleObject75.bin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0.png"/><Relationship Id="rId2" Type="http://schemas.openxmlformats.org/officeDocument/2006/relationships/image" Target="../media/image89.png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91.emf"/><Relationship Id="rId4" Type="http://schemas.openxmlformats.org/officeDocument/2006/relationships/oleObject" Target="../embeddings/oleObject76.bin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2">
            <a:extLst>
              <a:ext uri="{FF2B5EF4-FFF2-40B4-BE49-F238E27FC236}">
                <a16:creationId xmlns:a16="http://schemas.microsoft.com/office/drawing/2014/main" id="{0A47FF3B-1D8B-4AC5-F833-028D8EA5B89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981200" y="701676"/>
            <a:ext cx="8229600" cy="563563"/>
          </a:xfrm>
          <a:noFill/>
        </p:spPr>
        <p:txBody>
          <a:bodyPr anchor="t">
            <a:normAutofit fontScale="90000"/>
          </a:bodyPr>
          <a:lstStyle/>
          <a:p>
            <a:pPr algn="ctr"/>
            <a:r>
              <a:rPr lang="en-US" altLang="en-US" sz="2400" dirty="0"/>
              <a:t>Computational Geometry </a:t>
            </a:r>
            <a:br>
              <a:rPr lang="en-US" altLang="en-US" sz="2400" dirty="0"/>
            </a:br>
            <a:r>
              <a:rPr lang="en-US" altLang="en-US" sz="2400" dirty="0"/>
              <a:t>for Spatial and Design Reasoning</a:t>
            </a:r>
            <a:br>
              <a:rPr lang="en-US" altLang="en-US" sz="2400" dirty="0"/>
            </a:br>
            <a:br>
              <a:rPr lang="en-US" altLang="en-US" sz="2400" dirty="0"/>
            </a:br>
            <a:r>
              <a:rPr lang="en-US" altLang="en-US" sz="2400" dirty="0"/>
              <a:t>Lecture 4: Vector Math &amp; Transformation Matrices</a:t>
            </a:r>
            <a:endParaRPr lang="en-US" altLang="en-US" sz="2400" b="0" i="1" dirty="0"/>
          </a:p>
        </p:txBody>
      </p:sp>
      <p:sp>
        <p:nvSpPr>
          <p:cNvPr id="15363" name="Rectangle 3">
            <a:extLst>
              <a:ext uri="{FF2B5EF4-FFF2-40B4-BE49-F238E27FC236}">
                <a16:creationId xmlns:a16="http://schemas.microsoft.com/office/drawing/2014/main" id="{49789056-CDF9-5CC2-7A42-D2BBC430FAD1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1981200" y="2590800"/>
            <a:ext cx="8229600" cy="3962400"/>
          </a:xfrm>
        </p:spPr>
        <p:txBody>
          <a:bodyPr/>
          <a:lstStyle/>
          <a:p>
            <a:pPr>
              <a:buFontTx/>
              <a:buNone/>
            </a:pPr>
            <a:endParaRPr lang="en-US" altLang="en-US" sz="1600" b="1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2">
            <a:extLst>
              <a:ext uri="{FF2B5EF4-FFF2-40B4-BE49-F238E27FC236}">
                <a16:creationId xmlns:a16="http://schemas.microsoft.com/office/drawing/2014/main" id="{D689BDB9-083C-2EAD-128B-CFFD56F9A8C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981200" y="304802"/>
            <a:ext cx="8229600" cy="563563"/>
          </a:xfrm>
        </p:spPr>
        <p:txBody>
          <a:bodyPr/>
          <a:lstStyle/>
          <a:p>
            <a:pPr>
              <a:tabLst>
                <a:tab pos="8000800" algn="r"/>
              </a:tabLst>
            </a:pPr>
            <a:r>
              <a:rPr lang="en-US" altLang="en-US" sz="2400"/>
              <a:t>Notes	</a:t>
            </a:r>
            <a:endParaRPr lang="en-US" altLang="en-US" sz="2400" b="0">
              <a:solidFill>
                <a:schemeClr val="bg2"/>
              </a:solidFill>
            </a:endParaRPr>
          </a:p>
        </p:txBody>
      </p:sp>
      <p:sp>
        <p:nvSpPr>
          <p:cNvPr id="26629" name="Rectangle 5">
            <a:extLst>
              <a:ext uri="{FF2B5EF4-FFF2-40B4-BE49-F238E27FC236}">
                <a16:creationId xmlns:a16="http://schemas.microsoft.com/office/drawing/2014/main" id="{FCE9B8A9-C29F-5C71-D532-083FA1FA3DCA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1981200" y="990602"/>
            <a:ext cx="8229600" cy="5135563"/>
          </a:xfrm>
        </p:spPr>
        <p:txBody>
          <a:bodyPr/>
          <a:lstStyle/>
          <a:p>
            <a:pPr>
              <a:tabLst>
                <a:tab pos="8000800" algn="r"/>
              </a:tabLst>
            </a:pPr>
            <a:r>
              <a:rPr lang="en-US" altLang="en-US" sz="1800"/>
              <a:t>For today’s discussion, let’s get out of the business of </a:t>
            </a:r>
          </a:p>
          <a:p>
            <a:pPr lvl="1">
              <a:tabLst>
                <a:tab pos="8000800" algn="r"/>
              </a:tabLst>
            </a:pPr>
            <a:r>
              <a:rPr lang="en-US" altLang="en-US"/>
              <a:t>thinking in specific dimensional space (2, 3, …) and </a:t>
            </a:r>
          </a:p>
          <a:p>
            <a:pPr lvl="1">
              <a:tabLst>
                <a:tab pos="8000800" algn="r"/>
              </a:tabLst>
            </a:pPr>
            <a:r>
              <a:rPr lang="en-US" altLang="en-US"/>
              <a:t>start thinking in spaces of arbitrary dimension, </a:t>
            </a:r>
            <a:r>
              <a:rPr lang="en-US" altLang="en-US" i="1"/>
              <a:t>n. </a:t>
            </a:r>
          </a:p>
          <a:p>
            <a:pPr lvl="1">
              <a:tabLst>
                <a:tab pos="8000800" algn="r"/>
              </a:tabLst>
            </a:pPr>
            <a:r>
              <a:rPr lang="en-US" altLang="en-US"/>
              <a:t>For concrete examples, we’ll generally use </a:t>
            </a:r>
            <a:r>
              <a:rPr lang="en-US" altLang="en-US" i="1"/>
              <a:t>n </a:t>
            </a:r>
            <a:r>
              <a:rPr lang="en-US" altLang="en-US"/>
              <a:t>=3.</a:t>
            </a:r>
            <a:endParaRPr lang="en-US" altLang="en-US" i="1"/>
          </a:p>
          <a:p>
            <a:pPr>
              <a:tabLst>
                <a:tab pos="8000800" algn="r"/>
              </a:tabLst>
            </a:pPr>
            <a:r>
              <a:rPr lang="en-US" altLang="en-US" sz="1800"/>
              <a:t>If you get lost, just substitute 2 or 3 in for </a:t>
            </a:r>
            <a:r>
              <a:rPr lang="en-US" altLang="en-US" sz="1800" i="1"/>
              <a:t>n </a:t>
            </a:r>
            <a:r>
              <a:rPr lang="en-US" altLang="en-US" sz="1800"/>
              <a:t>(your preference) in your thought process. Better yet, try it out each way, then maybe even for </a:t>
            </a:r>
            <a:r>
              <a:rPr lang="en-US" altLang="en-US" sz="1800" i="1"/>
              <a:t>n</a:t>
            </a:r>
            <a:r>
              <a:rPr lang="en-US" altLang="en-US" sz="1800"/>
              <a:t>=1.</a:t>
            </a:r>
          </a:p>
          <a:p>
            <a:pPr>
              <a:tabLst>
                <a:tab pos="8000800" algn="r"/>
              </a:tabLst>
            </a:pPr>
            <a:endParaRPr lang="en-US" altLang="en-US" sz="1800"/>
          </a:p>
        </p:txBody>
      </p:sp>
      <p:pic>
        <p:nvPicPr>
          <p:cNvPr id="26630" name="Picture 6">
            <a:extLst>
              <a:ext uri="{FF2B5EF4-FFF2-40B4-BE49-F238E27FC236}">
                <a16:creationId xmlns:a16="http://schemas.microsoft.com/office/drawing/2014/main" id="{C1185E7F-3832-85E1-21D0-F84D6EE408B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57400" y="5334001"/>
            <a:ext cx="2209800" cy="78105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6631" name="Picture 7">
            <a:extLst>
              <a:ext uri="{FF2B5EF4-FFF2-40B4-BE49-F238E27FC236}">
                <a16:creationId xmlns:a16="http://schemas.microsoft.com/office/drawing/2014/main" id="{F6D377EB-E42D-85A2-9E38-975095B066D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95803" y="3429002"/>
            <a:ext cx="2593975" cy="2525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6632" name="Picture 8">
            <a:extLst>
              <a:ext uri="{FF2B5EF4-FFF2-40B4-BE49-F238E27FC236}">
                <a16:creationId xmlns:a16="http://schemas.microsoft.com/office/drawing/2014/main" id="{F7D425B5-6E09-A585-146A-29FB04169BB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54915" y="3429000"/>
            <a:ext cx="2427287" cy="2438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6633" name="Text Box 9">
            <a:extLst>
              <a:ext uri="{FF2B5EF4-FFF2-40B4-BE49-F238E27FC236}">
                <a16:creationId xmlns:a16="http://schemas.microsoft.com/office/drawing/2014/main" id="{14C54D13-4E73-590B-C7D4-A26F4C63884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93927" y="5980113"/>
            <a:ext cx="1042273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 i="1"/>
              <a:t>R</a:t>
            </a:r>
            <a:r>
              <a:rPr lang="en-US" altLang="en-US" i="1" baseline="30000"/>
              <a:t>n</a:t>
            </a:r>
            <a:r>
              <a:rPr lang="en-US" altLang="en-US" i="1"/>
              <a:t> | n</a:t>
            </a:r>
            <a:r>
              <a:rPr lang="en-US" altLang="en-US"/>
              <a:t>=1</a:t>
            </a:r>
          </a:p>
        </p:txBody>
      </p:sp>
      <p:sp>
        <p:nvSpPr>
          <p:cNvPr id="26635" name="Text Box 11">
            <a:extLst>
              <a:ext uri="{FF2B5EF4-FFF2-40B4-BE49-F238E27FC236}">
                <a16:creationId xmlns:a16="http://schemas.microsoft.com/office/drawing/2014/main" id="{5725A712-D110-C834-5BC6-B4EC9C7611B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257803" y="5980113"/>
            <a:ext cx="1042273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 i="1"/>
              <a:t>R</a:t>
            </a:r>
            <a:r>
              <a:rPr lang="en-US" altLang="en-US" i="1" baseline="30000"/>
              <a:t>n</a:t>
            </a:r>
            <a:r>
              <a:rPr lang="en-US" altLang="en-US" i="1"/>
              <a:t> | n</a:t>
            </a:r>
            <a:r>
              <a:rPr lang="en-US" altLang="en-US"/>
              <a:t>=2</a:t>
            </a:r>
          </a:p>
        </p:txBody>
      </p:sp>
      <p:sp>
        <p:nvSpPr>
          <p:cNvPr id="26636" name="Text Box 12">
            <a:extLst>
              <a:ext uri="{FF2B5EF4-FFF2-40B4-BE49-F238E27FC236}">
                <a16:creationId xmlns:a16="http://schemas.microsoft.com/office/drawing/2014/main" id="{C4FF5DA5-2CF0-B932-2DD0-C739D4395B3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229603" y="5980113"/>
            <a:ext cx="1042273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 i="1"/>
              <a:t>R</a:t>
            </a:r>
            <a:r>
              <a:rPr lang="en-US" altLang="en-US" i="1" baseline="30000"/>
              <a:t>n</a:t>
            </a:r>
            <a:r>
              <a:rPr lang="en-US" altLang="en-US" i="1"/>
              <a:t> | n</a:t>
            </a:r>
            <a:r>
              <a:rPr lang="en-US" altLang="en-US"/>
              <a:t>=3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Rectangle 2">
            <a:extLst>
              <a:ext uri="{FF2B5EF4-FFF2-40B4-BE49-F238E27FC236}">
                <a16:creationId xmlns:a16="http://schemas.microsoft.com/office/drawing/2014/main" id="{0B074A89-DF13-81BD-34F1-3BE172A058B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381000" y="274320"/>
            <a:ext cx="8229600" cy="563563"/>
          </a:xfrm>
        </p:spPr>
        <p:txBody>
          <a:bodyPr/>
          <a:lstStyle/>
          <a:p>
            <a:pPr>
              <a:tabLst>
                <a:tab pos="8000800" algn="r"/>
              </a:tabLst>
            </a:pPr>
            <a:r>
              <a:rPr lang="en-US" altLang="en-US" sz="2400" dirty="0"/>
              <a:t>Points and Vectors	</a:t>
            </a:r>
            <a:endParaRPr lang="en-US" altLang="en-US" sz="2400" b="0" dirty="0">
              <a:solidFill>
                <a:schemeClr val="bg2"/>
              </a:solidFill>
            </a:endParaRPr>
          </a:p>
        </p:txBody>
      </p:sp>
      <p:sp>
        <p:nvSpPr>
          <p:cNvPr id="46083" name="Rectangle 3">
            <a:extLst>
              <a:ext uri="{FF2B5EF4-FFF2-40B4-BE49-F238E27FC236}">
                <a16:creationId xmlns:a16="http://schemas.microsoft.com/office/drawing/2014/main" id="{D0A8CF1B-F7B3-9B9A-7D31-500CFE489027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472440" y="990602"/>
            <a:ext cx="11155680" cy="5135563"/>
          </a:xfrm>
        </p:spPr>
        <p:txBody>
          <a:bodyPr/>
          <a:lstStyle/>
          <a:p>
            <a:pPr>
              <a:buNone/>
              <a:tabLst>
                <a:tab pos="8000800" algn="r"/>
              </a:tabLst>
            </a:pPr>
            <a:r>
              <a:rPr lang="en-US" altLang="en-US" dirty="0"/>
              <a:t>Both vectors and points are expressed mathematically the same way:</a:t>
            </a:r>
          </a:p>
          <a:p>
            <a:pPr>
              <a:buNone/>
              <a:tabLst>
                <a:tab pos="8000800" algn="r"/>
              </a:tabLst>
            </a:pPr>
            <a:r>
              <a:rPr lang="en-US" altLang="en-US" dirty="0"/>
              <a:t>As sets of </a:t>
            </a:r>
            <a:r>
              <a:rPr lang="en-US" altLang="en-US" i="1" dirty="0"/>
              <a:t>n</a:t>
            </a:r>
            <a:r>
              <a:rPr lang="en-US" altLang="en-US" dirty="0"/>
              <a:t> coordinates where </a:t>
            </a:r>
            <a:r>
              <a:rPr lang="en-US" altLang="en-US" i="1" dirty="0"/>
              <a:t>n</a:t>
            </a:r>
            <a:r>
              <a:rPr lang="en-US" altLang="en-US" dirty="0"/>
              <a:t> is the dimensionality of the space (</a:t>
            </a:r>
            <a:r>
              <a:rPr lang="en-US" altLang="en-US" dirty="0" err="1"/>
              <a:t>ie</a:t>
            </a:r>
            <a:r>
              <a:rPr lang="en-US" altLang="en-US" dirty="0"/>
              <a:t> 3)</a:t>
            </a:r>
          </a:p>
          <a:p>
            <a:pPr>
              <a:buNone/>
              <a:tabLst>
                <a:tab pos="8000800" algn="r"/>
              </a:tabLst>
            </a:pPr>
            <a:r>
              <a:rPr lang="en-US" altLang="en-US" dirty="0"/>
              <a:t> </a:t>
            </a:r>
          </a:p>
          <a:p>
            <a:pPr>
              <a:buNone/>
              <a:tabLst>
                <a:tab pos="8000800" algn="r"/>
              </a:tabLst>
            </a:pPr>
            <a:r>
              <a:rPr lang="en-US" altLang="en-US" dirty="0"/>
              <a:t>Their intent is different:</a:t>
            </a:r>
          </a:p>
          <a:p>
            <a:pPr>
              <a:tabLst>
                <a:tab pos="8000800" algn="r"/>
              </a:tabLst>
            </a:pPr>
            <a:r>
              <a:rPr lang="en-US" altLang="en-US" dirty="0"/>
              <a:t>A point expresses </a:t>
            </a:r>
            <a:r>
              <a:rPr lang="en-US" altLang="en-US" b="1" dirty="0"/>
              <a:t>location </a:t>
            </a:r>
            <a:r>
              <a:rPr lang="en-US" altLang="en-US" dirty="0"/>
              <a:t>or </a:t>
            </a:r>
            <a:r>
              <a:rPr lang="en-US" altLang="en-US" b="1" dirty="0"/>
              <a:t>position </a:t>
            </a:r>
            <a:r>
              <a:rPr lang="en-US" altLang="en-US" dirty="0"/>
              <a:t>in the space</a:t>
            </a:r>
          </a:p>
          <a:p>
            <a:pPr>
              <a:tabLst>
                <a:tab pos="8000800" algn="r"/>
              </a:tabLst>
            </a:pPr>
            <a:r>
              <a:rPr lang="en-US" altLang="en-US" dirty="0"/>
              <a:t>A vector expresses </a:t>
            </a:r>
            <a:r>
              <a:rPr lang="en-US" altLang="en-US" b="1" dirty="0"/>
              <a:t>directedness </a:t>
            </a:r>
            <a:r>
              <a:rPr lang="en-US" altLang="en-US" dirty="0"/>
              <a:t>and </a:t>
            </a:r>
            <a:r>
              <a:rPr lang="en-US" altLang="en-US" b="1" dirty="0"/>
              <a:t>magnitude</a:t>
            </a:r>
            <a:r>
              <a:rPr lang="en-US" altLang="en-US" dirty="0"/>
              <a:t>. This direction is independent of any point of application.</a:t>
            </a:r>
          </a:p>
          <a:p>
            <a:pPr>
              <a:tabLst>
                <a:tab pos="8000800" algn="r"/>
              </a:tabLst>
            </a:pPr>
            <a:r>
              <a:rPr lang="en-US" altLang="en-US" dirty="0"/>
              <a:t>A vector can be applied at a point, </a:t>
            </a:r>
            <a:br>
              <a:rPr lang="en-US" altLang="en-US" dirty="0"/>
            </a:br>
            <a:r>
              <a:rPr lang="en-US" altLang="en-US" dirty="0"/>
              <a:t>the combination of location and magnitude is typically of size 2</a:t>
            </a:r>
            <a:r>
              <a:rPr lang="en-US" altLang="en-US" i="1" dirty="0"/>
              <a:t>n</a:t>
            </a:r>
          </a:p>
          <a:p>
            <a:pPr>
              <a:buNone/>
              <a:tabLst>
                <a:tab pos="8000800" algn="r"/>
              </a:tabLst>
            </a:pPr>
            <a:endParaRPr lang="en-US" altLang="en-US" dirty="0"/>
          </a:p>
          <a:p>
            <a:pPr>
              <a:tabLst>
                <a:tab pos="8000800" algn="r"/>
              </a:tabLst>
            </a:pPr>
            <a:endParaRPr lang="en-US" altLang="en-US" dirty="0"/>
          </a:p>
          <a:p>
            <a:pPr>
              <a:tabLst>
                <a:tab pos="8000800" algn="r"/>
              </a:tabLst>
            </a:pPr>
            <a:endParaRPr lang="en-US" altLang="en-US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4" name="Rectangle 2">
            <a:extLst>
              <a:ext uri="{FF2B5EF4-FFF2-40B4-BE49-F238E27FC236}">
                <a16:creationId xmlns:a16="http://schemas.microsoft.com/office/drawing/2014/main" id="{176567D9-9A64-5919-DF71-2F7C7B616BA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981200" y="304802"/>
            <a:ext cx="8229600" cy="563563"/>
          </a:xfrm>
        </p:spPr>
        <p:txBody>
          <a:bodyPr/>
          <a:lstStyle/>
          <a:p>
            <a:pPr>
              <a:tabLst>
                <a:tab pos="8000800" algn="r"/>
              </a:tabLst>
            </a:pPr>
            <a:r>
              <a:rPr lang="en-US" altLang="en-US" sz="2400"/>
              <a:t>Vectors	</a:t>
            </a:r>
            <a:endParaRPr lang="en-US" altLang="en-US" sz="2400" b="0">
              <a:solidFill>
                <a:schemeClr val="bg2"/>
              </a:solidFill>
            </a:endParaRPr>
          </a:p>
        </p:txBody>
      </p:sp>
      <p:sp>
        <p:nvSpPr>
          <p:cNvPr id="59395" name="Rectangle 3">
            <a:extLst>
              <a:ext uri="{FF2B5EF4-FFF2-40B4-BE49-F238E27FC236}">
                <a16:creationId xmlns:a16="http://schemas.microsoft.com/office/drawing/2014/main" id="{22F5D6B1-50DC-6F87-E45C-3FA5C11FCC04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1981200" y="990602"/>
            <a:ext cx="8229600" cy="5135563"/>
          </a:xfrm>
        </p:spPr>
        <p:txBody>
          <a:bodyPr/>
          <a:lstStyle/>
          <a:p>
            <a:pPr>
              <a:buNone/>
              <a:tabLst>
                <a:tab pos="8000800" algn="r"/>
              </a:tabLst>
            </a:pPr>
            <a:r>
              <a:rPr lang="en-US" altLang="en-US" dirty="0"/>
              <a:t>So far in life, you’ve not seen any distinction made between a vector and an array of numbers.</a:t>
            </a:r>
          </a:p>
          <a:p>
            <a:pPr>
              <a:buNone/>
              <a:tabLst>
                <a:tab pos="8000800" algn="r"/>
              </a:tabLst>
            </a:pPr>
            <a:endParaRPr lang="en-US" altLang="en-US" sz="1800" dirty="0"/>
          </a:p>
          <a:p>
            <a:pPr>
              <a:tabLst>
                <a:tab pos="8000800" algn="r"/>
              </a:tabLst>
            </a:pPr>
            <a:endParaRPr lang="en-US" altLang="en-US" dirty="0"/>
          </a:p>
          <a:p>
            <a:pPr>
              <a:tabLst>
                <a:tab pos="8000800" algn="r"/>
              </a:tabLst>
            </a:pPr>
            <a:endParaRPr lang="en-US" altLang="en-US" dirty="0"/>
          </a:p>
        </p:txBody>
      </p:sp>
      <p:pic>
        <p:nvPicPr>
          <p:cNvPr id="59405" name="Picture 13">
            <a:extLst>
              <a:ext uri="{FF2B5EF4-FFF2-40B4-BE49-F238E27FC236}">
                <a16:creationId xmlns:a16="http://schemas.microsoft.com/office/drawing/2014/main" id="{3A6E37BA-81F4-DAF2-E739-7F48154DB32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05601" y="3352800"/>
            <a:ext cx="2719388" cy="3276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graphicFrame>
        <p:nvGraphicFramePr>
          <p:cNvPr id="59416" name="Group 24">
            <a:extLst>
              <a:ext uri="{FF2B5EF4-FFF2-40B4-BE49-F238E27FC236}">
                <a16:creationId xmlns:a16="http://schemas.microsoft.com/office/drawing/2014/main" id="{CF60CB02-5362-E75C-0F4D-9AE015F86FE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26583359"/>
              </p:ext>
            </p:extLst>
          </p:nvPr>
        </p:nvGraphicFramePr>
        <p:xfrm>
          <a:off x="2716213" y="4267201"/>
          <a:ext cx="762000" cy="2032001"/>
        </p:xfrm>
        <a:graphic>
          <a:graphicData uri="http://schemas.openxmlformats.org/drawingml/2006/table">
            <a:tbl>
              <a:tblPr/>
              <a:tblGrid>
                <a:gridCol w="762000">
                  <a:extLst>
                    <a:ext uri="{9D8B030D-6E8A-4147-A177-3AD203B41FA5}">
                      <a16:colId xmlns:a16="http://schemas.microsoft.com/office/drawing/2014/main" val="2868831856"/>
                    </a:ext>
                  </a:extLst>
                </a:gridCol>
              </a:tblGrid>
              <a:tr h="677863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3</a:t>
                      </a:r>
                    </a:p>
                  </a:txBody>
                  <a:tcPr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05114729"/>
                  </a:ext>
                </a:extLst>
              </a:tr>
              <a:tr h="677863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5</a:t>
                      </a:r>
                    </a:p>
                  </a:txBody>
                  <a:tcPr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63030066"/>
                  </a:ext>
                </a:extLst>
              </a:tr>
              <a:tr h="676275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7</a:t>
                      </a:r>
                    </a:p>
                  </a:txBody>
                  <a:tcPr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13082120"/>
                  </a:ext>
                </a:extLst>
              </a:tr>
            </a:tbl>
          </a:graphicData>
        </a:graphic>
      </p:graphicFrame>
      <p:sp>
        <p:nvSpPr>
          <p:cNvPr id="59420" name="Text Box 28">
            <a:extLst>
              <a:ext uri="{FF2B5EF4-FFF2-40B4-BE49-F238E27FC236}">
                <a16:creationId xmlns:a16="http://schemas.microsoft.com/office/drawing/2014/main" id="{8B2D6F36-A4D7-543D-CAB1-996BD6B283B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090160" y="4541100"/>
            <a:ext cx="74295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/>
            <a:r>
              <a:rPr lang="en-US" altLang="en-US" b="1">
                <a:solidFill>
                  <a:srgbClr val="FF0000"/>
                </a:solidFill>
              </a:rPr>
              <a:t>??</a:t>
            </a:r>
          </a:p>
        </p:txBody>
      </p:sp>
      <p:sp>
        <p:nvSpPr>
          <p:cNvPr id="59421" name="Rectangle 29">
            <a:extLst>
              <a:ext uri="{FF2B5EF4-FFF2-40B4-BE49-F238E27FC236}">
                <a16:creationId xmlns:a16="http://schemas.microsoft.com/office/drawing/2014/main" id="{E673691C-F2B6-D909-5F37-262C0A655240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79071" y="4840069"/>
            <a:ext cx="437940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 sz="3600">
                <a:latin typeface="Symbol" panose="05050102010706020507" pitchFamily="18" charset="2"/>
              </a:rPr>
              <a:t>»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7E8684E-4878-73BC-1D6C-5FE6CC49942B}"/>
              </a:ext>
            </a:extLst>
          </p:cNvPr>
          <p:cNvSpPr txBox="1"/>
          <p:nvPr/>
        </p:nvSpPr>
        <p:spPr>
          <a:xfrm>
            <a:off x="2529840" y="2331720"/>
            <a:ext cx="2560320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0" lang="en-US" altLang="en-US" sz="280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Numerical view</a:t>
            </a:r>
          </a:p>
          <a:p>
            <a:r>
              <a:rPr kumimoji="0" lang="en-US" altLang="en-US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a </a:t>
            </a:r>
            <a:r>
              <a:rPr kumimoji="0" lang="en-US" altLang="en-US" sz="2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ymbol" panose="05050102010706020507" pitchFamily="18" charset="2"/>
                <a:ea typeface="+mn-ea"/>
                <a:cs typeface="+mn-cs"/>
              </a:rPr>
              <a:t>Î</a:t>
            </a:r>
            <a:r>
              <a:rPr kumimoji="0" lang="en-US" altLang="en-US" sz="2800" b="0" i="1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R</a:t>
            </a:r>
            <a:r>
              <a:rPr kumimoji="0" lang="en-US" altLang="en-US" sz="2800" b="0" i="1" u="none" strike="noStrike" kern="1200" cap="none" spc="0" normalizeH="0" baseline="3000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n</a:t>
            </a:r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80A64FB-1498-3D05-FBC8-F4D82526683B}"/>
              </a:ext>
            </a:extLst>
          </p:cNvPr>
          <p:cNvSpPr txBox="1"/>
          <p:nvPr/>
        </p:nvSpPr>
        <p:spPr>
          <a:xfrm>
            <a:off x="7013576" y="2331720"/>
            <a:ext cx="256032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0" lang="en-US" altLang="en-US" sz="280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Vector view</a:t>
            </a:r>
          </a:p>
        </p:txBody>
      </p:sp>
      <p:graphicFrame>
        <p:nvGraphicFramePr>
          <p:cNvPr id="8" name="Object 17">
            <a:extLst>
              <a:ext uri="{FF2B5EF4-FFF2-40B4-BE49-F238E27FC236}">
                <a16:creationId xmlns:a16="http://schemas.microsoft.com/office/drawing/2014/main" id="{876398E5-B59B-4473-4DE4-9D01105A9D29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138823781"/>
              </p:ext>
            </p:extLst>
          </p:nvPr>
        </p:nvGraphicFramePr>
        <p:xfrm>
          <a:off x="7284720" y="2827400"/>
          <a:ext cx="838200" cy="355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609480" imgH="215640" progId="Equation.3">
                  <p:embed/>
                </p:oleObj>
              </mc:Choice>
              <mc:Fallback>
                <p:oleObj name="Equation" r:id="rId4" imgW="609480" imgH="215640" progId="Equation.3">
                  <p:embed/>
                  <p:pic>
                    <p:nvPicPr>
                      <p:cNvPr id="52241" name="Object 17">
                        <a:extLst>
                          <a:ext uri="{FF2B5EF4-FFF2-40B4-BE49-F238E27FC236}">
                            <a16:creationId xmlns:a16="http://schemas.microsoft.com/office/drawing/2014/main" id="{C01980B7-7474-971E-9694-BBE62BD0FC13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284720" y="2827400"/>
                        <a:ext cx="838200" cy="355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394" name="Rectangle 2">
            <a:extLst>
              <a:ext uri="{FF2B5EF4-FFF2-40B4-BE49-F238E27FC236}">
                <a16:creationId xmlns:a16="http://schemas.microsoft.com/office/drawing/2014/main" id="{0B856A6D-30AB-C527-A915-E872DB883F8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tabLst>
                <a:tab pos="8000800" algn="r"/>
              </a:tabLst>
            </a:pPr>
            <a:r>
              <a:rPr lang="en-US" altLang="en-US" sz="2400"/>
              <a:t>Notation on Matrices	</a:t>
            </a:r>
            <a:endParaRPr lang="en-US" altLang="en-US" sz="2400" b="0">
              <a:solidFill>
                <a:schemeClr val="bg2"/>
              </a:solidFill>
            </a:endParaRPr>
          </a:p>
        </p:txBody>
      </p:sp>
      <p:sp>
        <p:nvSpPr>
          <p:cNvPr id="187395" name="Rectangle 3">
            <a:extLst>
              <a:ext uri="{FF2B5EF4-FFF2-40B4-BE49-F238E27FC236}">
                <a16:creationId xmlns:a16="http://schemas.microsoft.com/office/drawing/2014/main" id="{64939E6D-262A-0AAB-FC69-20D293DF8553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>
          <a:xfrm>
            <a:off x="723901" y="851747"/>
            <a:ext cx="7848600" cy="5211763"/>
          </a:xfrm>
        </p:spPr>
        <p:txBody>
          <a:bodyPr/>
          <a:lstStyle/>
          <a:p>
            <a:pPr marL="0" indent="0">
              <a:buNone/>
              <a:tabLst>
                <a:tab pos="5486263" algn="r"/>
              </a:tabLst>
            </a:pPr>
            <a:r>
              <a:rPr lang="en-US" altLang="en-US" sz="1800" dirty="0"/>
              <a:t>Rows tend to govern</a:t>
            </a:r>
          </a:p>
          <a:p>
            <a:pPr marL="0" indent="0">
              <a:buNone/>
              <a:tabLst>
                <a:tab pos="5486263" algn="r"/>
              </a:tabLst>
            </a:pPr>
            <a:r>
              <a:rPr lang="en-US" altLang="en-US" sz="1800" dirty="0"/>
              <a:t>An </a:t>
            </a:r>
            <a:r>
              <a:rPr lang="en-US" altLang="en-US" sz="1800" i="1" dirty="0"/>
              <a:t>n</a:t>
            </a:r>
            <a:r>
              <a:rPr lang="en-US" altLang="en-US" sz="1800" dirty="0"/>
              <a:t> x </a:t>
            </a:r>
            <a:r>
              <a:rPr lang="en-US" altLang="en-US" sz="1800" i="1" dirty="0"/>
              <a:t>m </a:t>
            </a:r>
            <a:r>
              <a:rPr lang="en-US" altLang="en-US" sz="1800" dirty="0"/>
              <a:t>matrix has </a:t>
            </a:r>
            <a:r>
              <a:rPr lang="en-US" altLang="en-US" sz="1800" i="1" dirty="0"/>
              <a:t>n</a:t>
            </a:r>
            <a:r>
              <a:rPr lang="en-US" altLang="en-US" sz="1800" dirty="0"/>
              <a:t> rows and </a:t>
            </a:r>
            <a:r>
              <a:rPr lang="en-US" altLang="en-US" sz="1800" i="1" dirty="0"/>
              <a:t>m</a:t>
            </a:r>
            <a:r>
              <a:rPr lang="en-US" altLang="en-US" sz="1800" dirty="0"/>
              <a:t> columns, and </a:t>
            </a:r>
            <a:r>
              <a:rPr lang="en-US" altLang="en-US" sz="1800" i="1" dirty="0"/>
              <a:t>n</a:t>
            </a:r>
            <a:r>
              <a:rPr lang="en-US" altLang="en-US" sz="1800" dirty="0"/>
              <a:t> x </a:t>
            </a:r>
            <a:r>
              <a:rPr lang="en-US" altLang="en-US" sz="1800" i="1" dirty="0"/>
              <a:t>m</a:t>
            </a:r>
            <a:r>
              <a:rPr lang="en-US" altLang="en-US" sz="1800" dirty="0"/>
              <a:t> entries</a:t>
            </a:r>
            <a:endParaRPr lang="en-US" altLang="en-US" sz="1800" i="1" dirty="0"/>
          </a:p>
          <a:p>
            <a:pPr marL="0" indent="0">
              <a:buNone/>
              <a:tabLst>
                <a:tab pos="5486263" algn="r"/>
              </a:tabLst>
            </a:pPr>
            <a:endParaRPr lang="en-US" altLang="en-US" sz="1800" dirty="0"/>
          </a:p>
        </p:txBody>
      </p:sp>
      <p:graphicFrame>
        <p:nvGraphicFramePr>
          <p:cNvPr id="187398" name="Group 6">
            <a:extLst>
              <a:ext uri="{FF2B5EF4-FFF2-40B4-BE49-F238E27FC236}">
                <a16:creationId xmlns:a16="http://schemas.microsoft.com/office/drawing/2014/main" id="{BDB2FA62-4DBD-FAE1-3068-D18EBBC0B974}"/>
              </a:ext>
            </a:extLst>
          </p:cNvPr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3929966599"/>
              </p:ext>
            </p:extLst>
          </p:nvPr>
        </p:nvGraphicFramePr>
        <p:xfrm>
          <a:off x="1104902" y="1618509"/>
          <a:ext cx="509588" cy="1371600"/>
        </p:xfrm>
        <a:graphic>
          <a:graphicData uri="http://schemas.openxmlformats.org/drawingml/2006/table">
            <a:tbl>
              <a:tblPr/>
              <a:tblGrid>
                <a:gridCol w="509588">
                  <a:extLst>
                    <a:ext uri="{9D8B030D-6E8A-4147-A177-3AD203B41FA5}">
                      <a16:colId xmlns:a16="http://schemas.microsoft.com/office/drawing/2014/main" val="1718322747"/>
                    </a:ext>
                  </a:extLst>
                </a:gridCol>
              </a:tblGrid>
              <a:tr h="45720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3</a:t>
                      </a:r>
                    </a:p>
                  </a:txBody>
                  <a:tcPr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06586071"/>
                  </a:ext>
                </a:extLst>
              </a:tr>
              <a:tr h="45720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5</a:t>
                      </a:r>
                    </a:p>
                  </a:txBody>
                  <a:tcPr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81308325"/>
                  </a:ext>
                </a:extLst>
              </a:tr>
              <a:tr h="45720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7</a:t>
                      </a:r>
                    </a:p>
                  </a:txBody>
                  <a:tcPr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66943235"/>
                  </a:ext>
                </a:extLst>
              </a:tr>
            </a:tbl>
          </a:graphicData>
        </a:graphic>
      </p:graphicFrame>
      <p:graphicFrame>
        <p:nvGraphicFramePr>
          <p:cNvPr id="187408" name="Group 16">
            <a:extLst>
              <a:ext uri="{FF2B5EF4-FFF2-40B4-BE49-F238E27FC236}">
                <a16:creationId xmlns:a16="http://schemas.microsoft.com/office/drawing/2014/main" id="{7EAC5705-5BB9-7B39-0CB1-4B903D8F2008}"/>
              </a:ext>
            </a:extLst>
          </p:cNvPr>
          <p:cNvGraphicFramePr>
            <a:graphicFrameLocks noGrp="1"/>
          </p:cNvGraphicFramePr>
          <p:nvPr/>
        </p:nvGraphicFramePr>
        <p:xfrm>
          <a:off x="7162800" y="3810001"/>
          <a:ext cx="1371600" cy="1371600"/>
        </p:xfrm>
        <a:graphic>
          <a:graphicData uri="http://schemas.openxmlformats.org/drawingml/2006/table">
            <a:tbl>
              <a:tblPr/>
              <a:tblGrid>
                <a:gridCol w="457200">
                  <a:extLst>
                    <a:ext uri="{9D8B030D-6E8A-4147-A177-3AD203B41FA5}">
                      <a16:colId xmlns:a16="http://schemas.microsoft.com/office/drawing/2014/main" val="513833293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3094146695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4172825067"/>
                    </a:ext>
                  </a:extLst>
                </a:gridCol>
              </a:tblGrid>
              <a:tr h="45720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2</a:t>
                      </a:r>
                    </a:p>
                  </a:txBody>
                  <a:tcPr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1</a:t>
                      </a:r>
                    </a:p>
                  </a:txBody>
                  <a:tcPr anchor="ctr" anchorCtr="1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3</a:t>
                      </a:r>
                    </a:p>
                  </a:txBody>
                  <a:tcPr anchor="ctr" anchorCtr="1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75389585"/>
                  </a:ext>
                </a:extLst>
              </a:tr>
              <a:tr h="45720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6</a:t>
                      </a:r>
                    </a:p>
                  </a:txBody>
                  <a:tcPr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4</a:t>
                      </a:r>
                    </a:p>
                  </a:txBody>
                  <a:tcPr anchor="ctr" anchorCtr="1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5</a:t>
                      </a:r>
                    </a:p>
                  </a:txBody>
                  <a:tcPr anchor="ctr" anchorCtr="1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5128215"/>
                  </a:ext>
                </a:extLst>
              </a:tr>
              <a:tr h="45720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7</a:t>
                      </a:r>
                    </a:p>
                  </a:txBody>
                  <a:tcPr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5</a:t>
                      </a:r>
                    </a:p>
                  </a:txBody>
                  <a:tcPr anchor="ctr" anchorCtr="1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7</a:t>
                      </a:r>
                    </a:p>
                  </a:txBody>
                  <a:tcPr anchor="ctr" anchorCtr="1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85717563"/>
                  </a:ext>
                </a:extLst>
              </a:tr>
            </a:tbl>
          </a:graphicData>
        </a:graphic>
      </p:graphicFrame>
      <p:graphicFrame>
        <p:nvGraphicFramePr>
          <p:cNvPr id="187444" name="Group 52">
            <a:extLst>
              <a:ext uri="{FF2B5EF4-FFF2-40B4-BE49-F238E27FC236}">
                <a16:creationId xmlns:a16="http://schemas.microsoft.com/office/drawing/2014/main" id="{CBAD1BE4-4D0B-5CB1-02E0-52A2DBED73CD}"/>
              </a:ext>
            </a:extLst>
          </p:cNvPr>
          <p:cNvGraphicFramePr>
            <a:graphicFrameLocks noGrp="1"/>
          </p:cNvGraphicFramePr>
          <p:nvPr/>
        </p:nvGraphicFramePr>
        <p:xfrm>
          <a:off x="6629400" y="1676400"/>
          <a:ext cx="1371600" cy="457200"/>
        </p:xfrm>
        <a:graphic>
          <a:graphicData uri="http://schemas.openxmlformats.org/drawingml/2006/table">
            <a:tbl>
              <a:tblPr/>
              <a:tblGrid>
                <a:gridCol w="457200">
                  <a:extLst>
                    <a:ext uri="{9D8B030D-6E8A-4147-A177-3AD203B41FA5}">
                      <a16:colId xmlns:a16="http://schemas.microsoft.com/office/drawing/2014/main" val="2862576261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1244438841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588074699"/>
                    </a:ext>
                  </a:extLst>
                </a:gridCol>
              </a:tblGrid>
              <a:tr h="45720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2</a:t>
                      </a:r>
                    </a:p>
                  </a:txBody>
                  <a:tcPr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1</a:t>
                      </a:r>
                    </a:p>
                  </a:txBody>
                  <a:tcPr anchor="ctr" anchorCtr="1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3</a:t>
                      </a:r>
                    </a:p>
                  </a:txBody>
                  <a:tcPr anchor="ctr" anchorCtr="1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18797677"/>
                  </a:ext>
                </a:extLst>
              </a:tr>
            </a:tbl>
          </a:graphicData>
        </a:graphic>
      </p:graphicFrame>
      <p:graphicFrame>
        <p:nvGraphicFramePr>
          <p:cNvPr id="187469" name="Group 77">
            <a:extLst>
              <a:ext uri="{FF2B5EF4-FFF2-40B4-BE49-F238E27FC236}">
                <a16:creationId xmlns:a16="http://schemas.microsoft.com/office/drawing/2014/main" id="{544CEF30-CA5E-0A32-1C11-9F4552E8FFD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04133844"/>
              </p:ext>
            </p:extLst>
          </p:nvPr>
        </p:nvGraphicFramePr>
        <p:xfrm>
          <a:off x="1181101" y="3747345"/>
          <a:ext cx="1371600" cy="1828800"/>
        </p:xfrm>
        <a:graphic>
          <a:graphicData uri="http://schemas.openxmlformats.org/drawingml/2006/table">
            <a:tbl>
              <a:tblPr/>
              <a:tblGrid>
                <a:gridCol w="457200">
                  <a:extLst>
                    <a:ext uri="{9D8B030D-6E8A-4147-A177-3AD203B41FA5}">
                      <a16:colId xmlns:a16="http://schemas.microsoft.com/office/drawing/2014/main" val="66653906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958494212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3153594048"/>
                    </a:ext>
                  </a:extLst>
                </a:gridCol>
              </a:tblGrid>
              <a:tr h="45720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2</a:t>
                      </a:r>
                    </a:p>
                  </a:txBody>
                  <a:tcPr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1</a:t>
                      </a:r>
                    </a:p>
                  </a:txBody>
                  <a:tcPr anchor="ctr" anchorCtr="1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3</a:t>
                      </a:r>
                    </a:p>
                  </a:txBody>
                  <a:tcPr anchor="ctr" anchorCtr="1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16843295"/>
                  </a:ext>
                </a:extLst>
              </a:tr>
              <a:tr h="45720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6</a:t>
                      </a:r>
                    </a:p>
                  </a:txBody>
                  <a:tcPr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4</a:t>
                      </a:r>
                    </a:p>
                  </a:txBody>
                  <a:tcPr anchor="ctr" anchorCtr="1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5</a:t>
                      </a:r>
                    </a:p>
                  </a:txBody>
                  <a:tcPr anchor="ctr" anchorCtr="1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9207342"/>
                  </a:ext>
                </a:extLst>
              </a:tr>
              <a:tr h="45720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3</a:t>
                      </a:r>
                    </a:p>
                  </a:txBody>
                  <a:tcPr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6</a:t>
                      </a:r>
                    </a:p>
                  </a:txBody>
                  <a:tcPr anchor="ctr" anchorCtr="1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3</a:t>
                      </a:r>
                    </a:p>
                  </a:txBody>
                  <a:tcPr anchor="ctr" anchorCtr="1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76059475"/>
                  </a:ext>
                </a:extLst>
              </a:tr>
              <a:tr h="45720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7</a:t>
                      </a:r>
                    </a:p>
                  </a:txBody>
                  <a:tcPr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5</a:t>
                      </a:r>
                    </a:p>
                  </a:txBody>
                  <a:tcPr anchor="ctr" anchorCtr="1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7</a:t>
                      </a:r>
                    </a:p>
                  </a:txBody>
                  <a:tcPr anchor="ctr" anchorCtr="1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71463206"/>
                  </a:ext>
                </a:extLst>
              </a:tr>
            </a:tbl>
          </a:graphicData>
        </a:graphic>
      </p:graphicFrame>
      <p:sp>
        <p:nvSpPr>
          <p:cNvPr id="187470" name="Text Box 78">
            <a:extLst>
              <a:ext uri="{FF2B5EF4-FFF2-40B4-BE49-F238E27FC236}">
                <a16:creationId xmlns:a16="http://schemas.microsoft.com/office/drawing/2014/main" id="{6968DD6B-C78A-0DED-8946-2952959A5EE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305800" y="1752600"/>
            <a:ext cx="1646605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/>
              <a:t>a 1 x 3 matrix</a:t>
            </a:r>
          </a:p>
        </p:txBody>
      </p:sp>
      <p:sp>
        <p:nvSpPr>
          <p:cNvPr id="187471" name="Text Box 79">
            <a:extLst>
              <a:ext uri="{FF2B5EF4-FFF2-40B4-BE49-F238E27FC236}">
                <a16:creationId xmlns:a16="http://schemas.microsoft.com/office/drawing/2014/main" id="{1858A767-AA81-82BA-C6E8-7DBCF15BD1E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095501" y="1689945"/>
            <a:ext cx="1646605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/>
              <a:t>a 3 x 1 matrix</a:t>
            </a:r>
          </a:p>
        </p:txBody>
      </p:sp>
      <p:sp>
        <p:nvSpPr>
          <p:cNvPr id="187472" name="Text Box 80">
            <a:extLst>
              <a:ext uri="{FF2B5EF4-FFF2-40B4-BE49-F238E27FC236}">
                <a16:creationId xmlns:a16="http://schemas.microsoft.com/office/drawing/2014/main" id="{88D7B475-6672-CC5A-F18B-B7B3321FE10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09901" y="4433145"/>
            <a:ext cx="1646605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/>
              <a:t>a 4 x 3 matrix</a:t>
            </a:r>
          </a:p>
        </p:txBody>
      </p:sp>
      <p:sp>
        <p:nvSpPr>
          <p:cNvPr id="187473" name="Text Box 81">
            <a:extLst>
              <a:ext uri="{FF2B5EF4-FFF2-40B4-BE49-F238E27FC236}">
                <a16:creationId xmlns:a16="http://schemas.microsoft.com/office/drawing/2014/main" id="{2A22F869-F59A-A167-E9F0-9AC2157A398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610602" y="3962402"/>
            <a:ext cx="1928733" cy="12003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/>
              <a:t>a 3 x 3 </a:t>
            </a:r>
          </a:p>
          <a:p>
            <a:r>
              <a:rPr lang="en-US" altLang="en-US"/>
              <a:t>or </a:t>
            </a:r>
            <a:r>
              <a:rPr lang="en-US" altLang="en-US" i="1"/>
              <a:t>n</a:t>
            </a:r>
            <a:r>
              <a:rPr lang="en-US" altLang="en-US" baseline="30000"/>
              <a:t>2</a:t>
            </a:r>
          </a:p>
          <a:p>
            <a:r>
              <a:rPr lang="en-US" altLang="en-US"/>
              <a:t>“square” matrix</a:t>
            </a:r>
          </a:p>
          <a:p>
            <a:endParaRPr lang="en-US" altLang="en-US"/>
          </a:p>
        </p:txBody>
      </p:sp>
      <p:sp>
        <p:nvSpPr>
          <p:cNvPr id="187474" name="Rectangle 82">
            <a:extLst>
              <a:ext uri="{FF2B5EF4-FFF2-40B4-BE49-F238E27FC236}">
                <a16:creationId xmlns:a16="http://schemas.microsoft.com/office/drawing/2014/main" id="{485B9F1A-606E-6B7C-DA4C-ED3467F621B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27141" y="3785448"/>
            <a:ext cx="1279525" cy="373063"/>
          </a:xfrm>
          <a:prstGeom prst="rect">
            <a:avLst/>
          </a:prstGeom>
          <a:solidFill>
            <a:schemeClr val="accent1">
              <a:alpha val="47000"/>
            </a:schemeClr>
          </a:solidFill>
          <a:ln w="3175">
            <a:solidFill>
              <a:schemeClr val="tx1"/>
            </a:solidFill>
            <a:prstDash val="dash"/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87478" name="Rectangle 86">
            <a:extLst>
              <a:ext uri="{FF2B5EF4-FFF2-40B4-BE49-F238E27FC236}">
                <a16:creationId xmlns:a16="http://schemas.microsoft.com/office/drawing/2014/main" id="{1BF9787E-1B83-006B-5460-C85EDDD22AF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27141" y="4242648"/>
            <a:ext cx="1279525" cy="373063"/>
          </a:xfrm>
          <a:prstGeom prst="rect">
            <a:avLst/>
          </a:prstGeom>
          <a:solidFill>
            <a:schemeClr val="accent1">
              <a:alpha val="47000"/>
            </a:schemeClr>
          </a:solidFill>
          <a:ln w="3175">
            <a:solidFill>
              <a:schemeClr val="tx1"/>
            </a:solidFill>
            <a:prstDash val="dash"/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87479" name="Rectangle 87">
            <a:extLst>
              <a:ext uri="{FF2B5EF4-FFF2-40B4-BE49-F238E27FC236}">
                <a16:creationId xmlns:a16="http://schemas.microsoft.com/office/drawing/2014/main" id="{AE200FB8-AD3E-FDBA-80A9-C92E3B3380A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27141" y="4693497"/>
            <a:ext cx="1279525" cy="373063"/>
          </a:xfrm>
          <a:prstGeom prst="rect">
            <a:avLst/>
          </a:prstGeom>
          <a:solidFill>
            <a:schemeClr val="accent1">
              <a:alpha val="47000"/>
            </a:schemeClr>
          </a:solidFill>
          <a:ln w="3175">
            <a:solidFill>
              <a:schemeClr val="tx1"/>
            </a:solidFill>
            <a:prstDash val="dash"/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87480" name="Rectangle 88">
            <a:extLst>
              <a:ext uri="{FF2B5EF4-FFF2-40B4-BE49-F238E27FC236}">
                <a16:creationId xmlns:a16="http://schemas.microsoft.com/office/drawing/2014/main" id="{7A15A6B0-5385-2F9C-5BEC-741115B2D05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27141" y="5142760"/>
            <a:ext cx="1279525" cy="373063"/>
          </a:xfrm>
          <a:prstGeom prst="rect">
            <a:avLst/>
          </a:prstGeom>
          <a:solidFill>
            <a:schemeClr val="accent1">
              <a:alpha val="47000"/>
            </a:schemeClr>
          </a:solidFill>
          <a:ln w="3175">
            <a:solidFill>
              <a:schemeClr val="tx1"/>
            </a:solidFill>
            <a:prstDash val="dash"/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87481" name="Rectangle 89">
            <a:extLst>
              <a:ext uri="{FF2B5EF4-FFF2-40B4-BE49-F238E27FC236}">
                <a16:creationId xmlns:a16="http://schemas.microsoft.com/office/drawing/2014/main" id="{043BC76C-0886-F002-E05E-54D99FB18DC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50941" y="1651848"/>
            <a:ext cx="395287" cy="373063"/>
          </a:xfrm>
          <a:prstGeom prst="rect">
            <a:avLst/>
          </a:prstGeom>
          <a:solidFill>
            <a:schemeClr val="accent1">
              <a:alpha val="47000"/>
            </a:schemeClr>
          </a:solidFill>
          <a:ln w="3175">
            <a:solidFill>
              <a:schemeClr val="tx1"/>
            </a:solidFill>
            <a:prstDash val="dash"/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87482" name="Rectangle 90">
            <a:extLst>
              <a:ext uri="{FF2B5EF4-FFF2-40B4-BE49-F238E27FC236}">
                <a16:creationId xmlns:a16="http://schemas.microsoft.com/office/drawing/2014/main" id="{333E4DAA-1148-BB67-E669-87D295724C7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50941" y="2123335"/>
            <a:ext cx="395287" cy="373063"/>
          </a:xfrm>
          <a:prstGeom prst="rect">
            <a:avLst/>
          </a:prstGeom>
          <a:solidFill>
            <a:schemeClr val="accent1">
              <a:alpha val="47000"/>
            </a:schemeClr>
          </a:solidFill>
          <a:ln w="3175">
            <a:solidFill>
              <a:schemeClr val="tx1"/>
            </a:solidFill>
            <a:prstDash val="dash"/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87483" name="Rectangle 91">
            <a:extLst>
              <a:ext uri="{FF2B5EF4-FFF2-40B4-BE49-F238E27FC236}">
                <a16:creationId xmlns:a16="http://schemas.microsoft.com/office/drawing/2014/main" id="{8B82DA81-8E25-A8F4-B9D8-E9A04DCEC44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50941" y="2556723"/>
            <a:ext cx="395287" cy="373063"/>
          </a:xfrm>
          <a:prstGeom prst="rect">
            <a:avLst/>
          </a:prstGeom>
          <a:solidFill>
            <a:schemeClr val="accent1">
              <a:alpha val="47000"/>
            </a:schemeClr>
          </a:solidFill>
          <a:ln w="3175">
            <a:solidFill>
              <a:schemeClr val="tx1"/>
            </a:solidFill>
            <a:prstDash val="dash"/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87484" name="Rectangle 92">
            <a:extLst>
              <a:ext uri="{FF2B5EF4-FFF2-40B4-BE49-F238E27FC236}">
                <a16:creationId xmlns:a16="http://schemas.microsoft.com/office/drawing/2014/main" id="{23AAE6D4-EF8E-CFD4-E3EA-AB445FCB4DAA}"/>
              </a:ext>
            </a:extLst>
          </p:cNvPr>
          <p:cNvSpPr>
            <a:spLocks noChangeArrowheads="1"/>
          </p:cNvSpPr>
          <p:nvPr/>
        </p:nvSpPr>
        <p:spPr bwMode="auto">
          <a:xfrm>
            <a:off x="6675440" y="1714503"/>
            <a:ext cx="1271587" cy="373063"/>
          </a:xfrm>
          <a:prstGeom prst="rect">
            <a:avLst/>
          </a:prstGeom>
          <a:solidFill>
            <a:schemeClr val="accent1">
              <a:alpha val="47000"/>
            </a:schemeClr>
          </a:solidFill>
          <a:ln w="3175">
            <a:solidFill>
              <a:schemeClr val="tx1"/>
            </a:solidFill>
            <a:prstDash val="dash"/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87485" name="Rectangle 93">
            <a:extLst>
              <a:ext uri="{FF2B5EF4-FFF2-40B4-BE49-F238E27FC236}">
                <a16:creationId xmlns:a16="http://schemas.microsoft.com/office/drawing/2014/main" id="{9ABDD1BA-A63F-88D7-C964-7A64918F70BF}"/>
              </a:ext>
            </a:extLst>
          </p:cNvPr>
          <p:cNvSpPr>
            <a:spLocks noChangeArrowheads="1"/>
          </p:cNvSpPr>
          <p:nvPr/>
        </p:nvSpPr>
        <p:spPr bwMode="auto">
          <a:xfrm>
            <a:off x="7208840" y="3848103"/>
            <a:ext cx="1279525" cy="373063"/>
          </a:xfrm>
          <a:prstGeom prst="rect">
            <a:avLst/>
          </a:prstGeom>
          <a:solidFill>
            <a:schemeClr val="accent1">
              <a:alpha val="47000"/>
            </a:schemeClr>
          </a:solidFill>
          <a:ln w="3175">
            <a:solidFill>
              <a:schemeClr val="tx1"/>
            </a:solidFill>
            <a:prstDash val="dash"/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87486" name="Rectangle 94">
            <a:extLst>
              <a:ext uri="{FF2B5EF4-FFF2-40B4-BE49-F238E27FC236}">
                <a16:creationId xmlns:a16="http://schemas.microsoft.com/office/drawing/2014/main" id="{32A1157E-48C4-A754-5133-5BF222B0AE23}"/>
              </a:ext>
            </a:extLst>
          </p:cNvPr>
          <p:cNvSpPr>
            <a:spLocks noChangeArrowheads="1"/>
          </p:cNvSpPr>
          <p:nvPr/>
        </p:nvSpPr>
        <p:spPr bwMode="auto">
          <a:xfrm>
            <a:off x="7208840" y="4298952"/>
            <a:ext cx="1279525" cy="373063"/>
          </a:xfrm>
          <a:prstGeom prst="rect">
            <a:avLst/>
          </a:prstGeom>
          <a:solidFill>
            <a:schemeClr val="accent1">
              <a:alpha val="47000"/>
            </a:schemeClr>
          </a:solidFill>
          <a:ln w="3175">
            <a:solidFill>
              <a:schemeClr val="tx1"/>
            </a:solidFill>
            <a:prstDash val="dash"/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87487" name="Rectangle 95">
            <a:extLst>
              <a:ext uri="{FF2B5EF4-FFF2-40B4-BE49-F238E27FC236}">
                <a16:creationId xmlns:a16="http://schemas.microsoft.com/office/drawing/2014/main" id="{95767879-3B02-BBC7-39E8-C00210A57252}"/>
              </a:ext>
            </a:extLst>
          </p:cNvPr>
          <p:cNvSpPr>
            <a:spLocks noChangeArrowheads="1"/>
          </p:cNvSpPr>
          <p:nvPr/>
        </p:nvSpPr>
        <p:spPr bwMode="auto">
          <a:xfrm>
            <a:off x="7208840" y="4748215"/>
            <a:ext cx="1279525" cy="373063"/>
          </a:xfrm>
          <a:prstGeom prst="rect">
            <a:avLst/>
          </a:prstGeom>
          <a:solidFill>
            <a:schemeClr val="accent1">
              <a:alpha val="47000"/>
            </a:schemeClr>
          </a:solidFill>
          <a:ln w="3175">
            <a:solidFill>
              <a:schemeClr val="tx1"/>
            </a:solidFill>
            <a:prstDash val="dash"/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4B6B6C-9E8E-3093-FC25-AD9C05FE12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61C449F3-F187-DC98-EACC-5D25AA1048E4}"/>
              </a:ext>
            </a:extLst>
          </p:cNvPr>
          <p:cNvCxnSpPr/>
          <p:nvPr/>
        </p:nvCxnSpPr>
        <p:spPr bwMode="auto">
          <a:xfrm flipH="1">
            <a:off x="4548834" y="3372761"/>
            <a:ext cx="138457" cy="170770"/>
          </a:xfrm>
          <a:prstGeom prst="line">
            <a:avLst/>
          </a:prstGeom>
          <a:solidFill>
            <a:schemeClr val="accent1"/>
          </a:solidFill>
          <a:ln w="3810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53E1BEBF-0BAC-3203-80DB-E85670C32138}"/>
              </a:ext>
            </a:extLst>
          </p:cNvPr>
          <p:cNvCxnSpPr/>
          <p:nvPr/>
        </p:nvCxnSpPr>
        <p:spPr bwMode="auto">
          <a:xfrm flipH="1">
            <a:off x="2941321" y="3372761"/>
            <a:ext cx="138457" cy="170770"/>
          </a:xfrm>
          <a:prstGeom prst="line">
            <a:avLst/>
          </a:prstGeom>
          <a:solidFill>
            <a:schemeClr val="accent1"/>
          </a:solidFill>
          <a:ln w="3810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87394" name="Rectangle 2">
            <a:extLst>
              <a:ext uri="{FF2B5EF4-FFF2-40B4-BE49-F238E27FC236}">
                <a16:creationId xmlns:a16="http://schemas.microsoft.com/office/drawing/2014/main" id="{FFB7BE2F-9B96-9C90-78B3-A41CC72503D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tabLst>
                <a:tab pos="8000800" algn="r"/>
              </a:tabLst>
            </a:pPr>
            <a:r>
              <a:rPr lang="en-US" altLang="en-US" sz="2400" dirty="0"/>
              <a:t>Matrix multiplication - refresher</a:t>
            </a:r>
            <a:endParaRPr lang="en-US" altLang="en-US" sz="2400" b="0" dirty="0">
              <a:solidFill>
                <a:schemeClr val="bg2"/>
              </a:solidFill>
            </a:endParaRPr>
          </a:p>
        </p:txBody>
      </p:sp>
      <p:sp>
        <p:nvSpPr>
          <p:cNvPr id="187395" name="Rectangle 3">
            <a:extLst>
              <a:ext uri="{FF2B5EF4-FFF2-40B4-BE49-F238E27FC236}">
                <a16:creationId xmlns:a16="http://schemas.microsoft.com/office/drawing/2014/main" id="{077C2A7A-E61C-B462-ADAB-28FB07B897A6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>
          <a:xfrm>
            <a:off x="1981200" y="914402"/>
            <a:ext cx="7848600" cy="5211763"/>
          </a:xfrm>
        </p:spPr>
        <p:txBody>
          <a:bodyPr/>
          <a:lstStyle/>
          <a:p>
            <a:pPr marL="0" indent="0">
              <a:buNone/>
              <a:tabLst>
                <a:tab pos="5486263" algn="r"/>
              </a:tabLst>
            </a:pPr>
            <a:r>
              <a:rPr lang="en-US" altLang="en-US" sz="1800" dirty="0"/>
              <a:t>I can multiply 2 matrices together if </a:t>
            </a:r>
          </a:p>
          <a:p>
            <a:pPr marL="0" indent="0">
              <a:buNone/>
              <a:tabLst>
                <a:tab pos="5486263" algn="r"/>
              </a:tabLst>
            </a:pPr>
            <a:r>
              <a:rPr lang="en-US" altLang="en-US" sz="1800" dirty="0"/>
              <a:t>the # of </a:t>
            </a:r>
            <a:r>
              <a:rPr lang="en-US" altLang="en-US" sz="1800" b="1" dirty="0"/>
              <a:t>columns of the first </a:t>
            </a:r>
            <a:r>
              <a:rPr lang="en-US" altLang="en-US" sz="1800" dirty="0"/>
              <a:t>equals the # of </a:t>
            </a:r>
            <a:r>
              <a:rPr lang="en-US" altLang="en-US" sz="1800" b="1" dirty="0"/>
              <a:t>rows of the second</a:t>
            </a:r>
            <a:endParaRPr lang="en-US" altLang="en-US" sz="1800" b="1" i="1" dirty="0"/>
          </a:p>
          <a:p>
            <a:pPr marL="0" indent="0">
              <a:buNone/>
              <a:tabLst>
                <a:tab pos="5486263" algn="r"/>
              </a:tabLst>
            </a:pPr>
            <a:endParaRPr lang="en-US" altLang="en-US" sz="1800" dirty="0"/>
          </a:p>
        </p:txBody>
      </p:sp>
      <p:graphicFrame>
        <p:nvGraphicFramePr>
          <p:cNvPr id="187398" name="Group 6">
            <a:extLst>
              <a:ext uri="{FF2B5EF4-FFF2-40B4-BE49-F238E27FC236}">
                <a16:creationId xmlns:a16="http://schemas.microsoft.com/office/drawing/2014/main" id="{26F9A8F7-85A5-B6BD-8C08-82DB1D486684}"/>
              </a:ext>
            </a:extLst>
          </p:cNvPr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1997723535"/>
              </p:ext>
            </p:extLst>
          </p:nvPr>
        </p:nvGraphicFramePr>
        <p:xfrm>
          <a:off x="4499214" y="1792378"/>
          <a:ext cx="509588" cy="1371600"/>
        </p:xfrm>
        <a:graphic>
          <a:graphicData uri="http://schemas.openxmlformats.org/drawingml/2006/table">
            <a:tbl>
              <a:tblPr/>
              <a:tblGrid>
                <a:gridCol w="509588">
                  <a:extLst>
                    <a:ext uri="{9D8B030D-6E8A-4147-A177-3AD203B41FA5}">
                      <a16:colId xmlns:a16="http://schemas.microsoft.com/office/drawing/2014/main" val="1718322747"/>
                    </a:ext>
                  </a:extLst>
                </a:gridCol>
              </a:tblGrid>
              <a:tr h="45720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3</a:t>
                      </a:r>
                    </a:p>
                  </a:txBody>
                  <a:tcPr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06586071"/>
                  </a:ext>
                </a:extLst>
              </a:tr>
              <a:tr h="45720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5</a:t>
                      </a:r>
                    </a:p>
                  </a:txBody>
                  <a:tcPr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81308325"/>
                  </a:ext>
                </a:extLst>
              </a:tr>
              <a:tr h="45720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7</a:t>
                      </a:r>
                    </a:p>
                  </a:txBody>
                  <a:tcPr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66943235"/>
                  </a:ext>
                </a:extLst>
              </a:tr>
            </a:tbl>
          </a:graphicData>
        </a:graphic>
      </p:graphicFrame>
      <p:graphicFrame>
        <p:nvGraphicFramePr>
          <p:cNvPr id="187408" name="Group 16">
            <a:extLst>
              <a:ext uri="{FF2B5EF4-FFF2-40B4-BE49-F238E27FC236}">
                <a16:creationId xmlns:a16="http://schemas.microsoft.com/office/drawing/2014/main" id="{7513DB9F-D4F1-7984-C74D-9238AEF1F26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51093838"/>
              </p:ext>
            </p:extLst>
          </p:nvPr>
        </p:nvGraphicFramePr>
        <p:xfrm>
          <a:off x="2362200" y="4603751"/>
          <a:ext cx="1371600" cy="1371600"/>
        </p:xfrm>
        <a:graphic>
          <a:graphicData uri="http://schemas.openxmlformats.org/drawingml/2006/table">
            <a:tbl>
              <a:tblPr/>
              <a:tblGrid>
                <a:gridCol w="457200">
                  <a:extLst>
                    <a:ext uri="{9D8B030D-6E8A-4147-A177-3AD203B41FA5}">
                      <a16:colId xmlns:a16="http://schemas.microsoft.com/office/drawing/2014/main" val="513833293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3094146695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4172825067"/>
                    </a:ext>
                  </a:extLst>
                </a:gridCol>
              </a:tblGrid>
              <a:tr h="45720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2</a:t>
                      </a:r>
                    </a:p>
                  </a:txBody>
                  <a:tcPr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1</a:t>
                      </a:r>
                    </a:p>
                  </a:txBody>
                  <a:tcPr anchor="ctr" anchorCtr="1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3</a:t>
                      </a:r>
                    </a:p>
                  </a:txBody>
                  <a:tcPr anchor="ctr" anchorCtr="1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75389585"/>
                  </a:ext>
                </a:extLst>
              </a:tr>
              <a:tr h="45720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6</a:t>
                      </a:r>
                    </a:p>
                  </a:txBody>
                  <a:tcPr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4</a:t>
                      </a:r>
                    </a:p>
                  </a:txBody>
                  <a:tcPr anchor="ctr" anchorCtr="1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9</a:t>
                      </a:r>
                    </a:p>
                  </a:txBody>
                  <a:tcPr anchor="ctr" anchorCtr="1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5128215"/>
                  </a:ext>
                </a:extLst>
              </a:tr>
              <a:tr h="45720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7</a:t>
                      </a:r>
                    </a:p>
                  </a:txBody>
                  <a:tcPr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5</a:t>
                      </a:r>
                    </a:p>
                  </a:txBody>
                  <a:tcPr anchor="ctr" anchorCtr="1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8</a:t>
                      </a:r>
                    </a:p>
                  </a:txBody>
                  <a:tcPr anchor="ctr" anchorCtr="1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85717563"/>
                  </a:ext>
                </a:extLst>
              </a:tr>
            </a:tbl>
          </a:graphicData>
        </a:graphic>
      </p:graphicFrame>
      <p:graphicFrame>
        <p:nvGraphicFramePr>
          <p:cNvPr id="187444" name="Group 52">
            <a:extLst>
              <a:ext uri="{FF2B5EF4-FFF2-40B4-BE49-F238E27FC236}">
                <a16:creationId xmlns:a16="http://schemas.microsoft.com/office/drawing/2014/main" id="{4A2B3EBB-C71B-7DEA-B4EF-F3F2C2EE6C3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09271952"/>
              </p:ext>
            </p:extLst>
          </p:nvPr>
        </p:nvGraphicFramePr>
        <p:xfrm>
          <a:off x="2118360" y="2320916"/>
          <a:ext cx="1371600" cy="457200"/>
        </p:xfrm>
        <a:graphic>
          <a:graphicData uri="http://schemas.openxmlformats.org/drawingml/2006/table">
            <a:tbl>
              <a:tblPr/>
              <a:tblGrid>
                <a:gridCol w="457200">
                  <a:extLst>
                    <a:ext uri="{9D8B030D-6E8A-4147-A177-3AD203B41FA5}">
                      <a16:colId xmlns:a16="http://schemas.microsoft.com/office/drawing/2014/main" val="2862576261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1244438841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588074699"/>
                    </a:ext>
                  </a:extLst>
                </a:gridCol>
              </a:tblGrid>
              <a:tr h="45720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2</a:t>
                      </a:r>
                    </a:p>
                  </a:txBody>
                  <a:tcPr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1</a:t>
                      </a:r>
                    </a:p>
                  </a:txBody>
                  <a:tcPr anchor="ctr" anchorCtr="1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3</a:t>
                      </a:r>
                    </a:p>
                  </a:txBody>
                  <a:tcPr anchor="ctr" anchorCtr="1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18797677"/>
                  </a:ext>
                </a:extLst>
              </a:tr>
            </a:tbl>
          </a:graphicData>
        </a:graphic>
      </p:graphicFrame>
      <p:sp>
        <p:nvSpPr>
          <p:cNvPr id="187470" name="Text Box 78">
            <a:extLst>
              <a:ext uri="{FF2B5EF4-FFF2-40B4-BE49-F238E27FC236}">
                <a16:creationId xmlns:a16="http://schemas.microsoft.com/office/drawing/2014/main" id="{528A0C6E-1193-2501-A81C-BE2CB8DF3F1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51379" y="3273480"/>
            <a:ext cx="697627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 dirty="0"/>
              <a:t>1 x 3</a:t>
            </a:r>
          </a:p>
        </p:txBody>
      </p:sp>
      <p:sp>
        <p:nvSpPr>
          <p:cNvPr id="187471" name="Text Box 79">
            <a:extLst>
              <a:ext uri="{FF2B5EF4-FFF2-40B4-BE49-F238E27FC236}">
                <a16:creationId xmlns:a16="http://schemas.microsoft.com/office/drawing/2014/main" id="{3C7AE78F-9ADC-0F76-E91F-A9A094E7F0E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438254" y="3273480"/>
            <a:ext cx="697627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 dirty="0"/>
              <a:t>3 x 1</a:t>
            </a:r>
          </a:p>
        </p:txBody>
      </p:sp>
      <p:sp>
        <p:nvSpPr>
          <p:cNvPr id="187481" name="Rectangle 89">
            <a:extLst>
              <a:ext uri="{FF2B5EF4-FFF2-40B4-BE49-F238E27FC236}">
                <a16:creationId xmlns:a16="http://schemas.microsoft.com/office/drawing/2014/main" id="{BD936C1D-01FC-B10A-5DBE-DB0EDF276F1A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45253" y="1825717"/>
            <a:ext cx="395287" cy="373063"/>
          </a:xfrm>
          <a:prstGeom prst="rect">
            <a:avLst/>
          </a:prstGeom>
          <a:solidFill>
            <a:srgbClr val="FF0000">
              <a:alpha val="47000"/>
            </a:srgbClr>
          </a:solidFill>
          <a:ln w="3175">
            <a:solidFill>
              <a:schemeClr val="tx1"/>
            </a:solidFill>
            <a:prstDash val="dash"/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87482" name="Rectangle 90">
            <a:extLst>
              <a:ext uri="{FF2B5EF4-FFF2-40B4-BE49-F238E27FC236}">
                <a16:creationId xmlns:a16="http://schemas.microsoft.com/office/drawing/2014/main" id="{B4825923-8709-7344-6E00-92220219A835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45253" y="2297204"/>
            <a:ext cx="395287" cy="373063"/>
          </a:xfrm>
          <a:prstGeom prst="rect">
            <a:avLst/>
          </a:prstGeom>
          <a:solidFill>
            <a:srgbClr val="00B050">
              <a:alpha val="47000"/>
            </a:srgbClr>
          </a:solidFill>
          <a:ln w="3175">
            <a:solidFill>
              <a:schemeClr val="tx1"/>
            </a:solidFill>
            <a:prstDash val="dash"/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87483" name="Rectangle 91">
            <a:extLst>
              <a:ext uri="{FF2B5EF4-FFF2-40B4-BE49-F238E27FC236}">
                <a16:creationId xmlns:a16="http://schemas.microsoft.com/office/drawing/2014/main" id="{E4AC4F5D-3F95-9CF8-EB8D-A79444C466A7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45253" y="2730592"/>
            <a:ext cx="395287" cy="373063"/>
          </a:xfrm>
          <a:prstGeom prst="rect">
            <a:avLst/>
          </a:prstGeom>
          <a:solidFill>
            <a:schemeClr val="accent1">
              <a:alpha val="47000"/>
            </a:schemeClr>
          </a:solidFill>
          <a:ln w="3175">
            <a:solidFill>
              <a:schemeClr val="tx1"/>
            </a:solidFill>
            <a:prstDash val="dash"/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89BC94E5-F483-73C3-1997-0ED1EC9868BE}"/>
              </a:ext>
            </a:extLst>
          </p:cNvPr>
          <p:cNvSpPr txBox="1"/>
          <p:nvPr/>
        </p:nvSpPr>
        <p:spPr>
          <a:xfrm>
            <a:off x="3814938" y="2349461"/>
            <a:ext cx="32733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/>
              <a:t>x</a:t>
            </a:r>
            <a:endParaRPr lang="en-US" sz="1400" dirty="0"/>
          </a:p>
        </p:txBody>
      </p:sp>
      <p:sp>
        <p:nvSpPr>
          <p:cNvPr id="8" name="Text Box 79">
            <a:extLst>
              <a:ext uri="{FF2B5EF4-FFF2-40B4-BE49-F238E27FC236}">
                <a16:creationId xmlns:a16="http://schemas.microsoft.com/office/drawing/2014/main" id="{63AF27B4-6477-2382-376D-1BC82E14CDB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04561" y="3273480"/>
            <a:ext cx="697627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 dirty="0"/>
              <a:t>1 x 1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FCF9EB5-2865-28F3-DA50-1B7A65D15713}"/>
              </a:ext>
            </a:extLst>
          </p:cNvPr>
          <p:cNvSpPr txBox="1"/>
          <p:nvPr/>
        </p:nvSpPr>
        <p:spPr>
          <a:xfrm>
            <a:off x="5442147" y="2282837"/>
            <a:ext cx="39466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=</a:t>
            </a:r>
            <a:endParaRPr lang="en-US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1DE72AB-5018-CC21-A525-E07F8F518719}"/>
              </a:ext>
            </a:extLst>
          </p:cNvPr>
          <p:cNvSpPr txBox="1"/>
          <p:nvPr/>
        </p:nvSpPr>
        <p:spPr>
          <a:xfrm>
            <a:off x="7653894" y="1725970"/>
            <a:ext cx="1568058" cy="188199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000" dirty="0">
                <a:solidFill>
                  <a:srgbClr val="FF0000"/>
                </a:solidFill>
              </a:rPr>
              <a:t>2 * 3     =   6</a:t>
            </a:r>
            <a:endParaRPr lang="en-US" sz="2000" dirty="0"/>
          </a:p>
          <a:p>
            <a:pPr>
              <a:lnSpc>
                <a:spcPct val="150000"/>
              </a:lnSpc>
            </a:pPr>
            <a:r>
              <a:rPr lang="en-US" sz="2000" dirty="0">
                <a:solidFill>
                  <a:srgbClr val="00B050"/>
                </a:solidFill>
              </a:rPr>
              <a:t>1 * 5     =   5</a:t>
            </a:r>
            <a:endParaRPr lang="en-US" sz="2000" dirty="0"/>
          </a:p>
          <a:p>
            <a:pPr>
              <a:lnSpc>
                <a:spcPct val="150000"/>
              </a:lnSpc>
            </a:pPr>
            <a:r>
              <a:rPr lang="en-US" sz="2000" u="sng" dirty="0">
                <a:solidFill>
                  <a:srgbClr val="0070C0"/>
                </a:solidFill>
              </a:rPr>
              <a:t>3 * 7     = 21</a:t>
            </a:r>
          </a:p>
          <a:p>
            <a:pPr>
              <a:lnSpc>
                <a:spcPct val="150000"/>
              </a:lnSpc>
            </a:pPr>
            <a:r>
              <a:rPr lang="en-US" sz="2000" dirty="0"/>
              <a:t>6+</a:t>
            </a:r>
            <a:r>
              <a:rPr lang="en-US" sz="2000" dirty="0">
                <a:solidFill>
                  <a:srgbClr val="00B050"/>
                </a:solidFill>
              </a:rPr>
              <a:t>5</a:t>
            </a:r>
            <a:r>
              <a:rPr lang="en-US" sz="2000" dirty="0"/>
              <a:t>+</a:t>
            </a:r>
            <a:r>
              <a:rPr lang="en-US" sz="2000" dirty="0">
                <a:solidFill>
                  <a:srgbClr val="0070C0"/>
                </a:solidFill>
              </a:rPr>
              <a:t>21</a:t>
            </a:r>
            <a:r>
              <a:rPr lang="en-US" sz="2000" dirty="0"/>
              <a:t>= 32</a:t>
            </a:r>
          </a:p>
        </p:txBody>
      </p:sp>
      <p:sp>
        <p:nvSpPr>
          <p:cNvPr id="11" name="Rectangle 89">
            <a:extLst>
              <a:ext uri="{FF2B5EF4-FFF2-40B4-BE49-F238E27FC236}">
                <a16:creationId xmlns:a16="http://schemas.microsoft.com/office/drawing/2014/main" id="{99F32E14-06A9-8ADE-53D6-858CFE81ED12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49251" y="2363573"/>
            <a:ext cx="395287" cy="373063"/>
          </a:xfrm>
          <a:prstGeom prst="rect">
            <a:avLst/>
          </a:prstGeom>
          <a:solidFill>
            <a:srgbClr val="FF0000">
              <a:alpha val="47000"/>
            </a:srgbClr>
          </a:solidFill>
          <a:ln w="3175">
            <a:solidFill>
              <a:schemeClr val="tx1"/>
            </a:solidFill>
            <a:prstDash val="dash"/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2" name="Rectangle 89">
            <a:extLst>
              <a:ext uri="{FF2B5EF4-FFF2-40B4-BE49-F238E27FC236}">
                <a16:creationId xmlns:a16="http://schemas.microsoft.com/office/drawing/2014/main" id="{36CBFCED-A37B-6144-D31C-275DB688453F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01774" y="2363573"/>
            <a:ext cx="395287" cy="373063"/>
          </a:xfrm>
          <a:prstGeom prst="rect">
            <a:avLst/>
          </a:prstGeom>
          <a:solidFill>
            <a:srgbClr val="00B050">
              <a:alpha val="47000"/>
            </a:srgbClr>
          </a:solidFill>
          <a:ln w="3175">
            <a:solidFill>
              <a:schemeClr val="tx1"/>
            </a:solidFill>
            <a:prstDash val="dash"/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3" name="Rectangle 89">
            <a:extLst>
              <a:ext uri="{FF2B5EF4-FFF2-40B4-BE49-F238E27FC236}">
                <a16:creationId xmlns:a16="http://schemas.microsoft.com/office/drawing/2014/main" id="{580F97E2-54D0-0A95-71AD-3FD5BB229E64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54297" y="2363573"/>
            <a:ext cx="395287" cy="373063"/>
          </a:xfrm>
          <a:prstGeom prst="rect">
            <a:avLst/>
          </a:prstGeom>
          <a:solidFill>
            <a:schemeClr val="accent1">
              <a:alpha val="47000"/>
            </a:schemeClr>
          </a:solidFill>
          <a:ln w="3175">
            <a:solidFill>
              <a:schemeClr val="tx1"/>
            </a:solidFill>
            <a:prstDash val="dash"/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5FBCFFD5-E080-376E-99F9-9E1CEE54C345}"/>
              </a:ext>
            </a:extLst>
          </p:cNvPr>
          <p:cNvCxnSpPr/>
          <p:nvPr/>
        </p:nvCxnSpPr>
        <p:spPr bwMode="auto">
          <a:xfrm flipH="1">
            <a:off x="4548834" y="6213968"/>
            <a:ext cx="138457" cy="170770"/>
          </a:xfrm>
          <a:prstGeom prst="line">
            <a:avLst/>
          </a:prstGeom>
          <a:solidFill>
            <a:schemeClr val="accent1"/>
          </a:solidFill>
          <a:ln w="3810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441E6544-8013-B0C4-E7C8-566BF3D390E4}"/>
              </a:ext>
            </a:extLst>
          </p:cNvPr>
          <p:cNvCxnSpPr/>
          <p:nvPr/>
        </p:nvCxnSpPr>
        <p:spPr bwMode="auto">
          <a:xfrm flipH="1">
            <a:off x="2941321" y="6213968"/>
            <a:ext cx="138457" cy="170770"/>
          </a:xfrm>
          <a:prstGeom prst="line">
            <a:avLst/>
          </a:prstGeom>
          <a:solidFill>
            <a:schemeClr val="accent1"/>
          </a:solidFill>
          <a:ln w="3810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aphicFrame>
        <p:nvGraphicFramePr>
          <p:cNvPr id="16" name="Group 6">
            <a:extLst>
              <a:ext uri="{FF2B5EF4-FFF2-40B4-BE49-F238E27FC236}">
                <a16:creationId xmlns:a16="http://schemas.microsoft.com/office/drawing/2014/main" id="{FE9F887F-8669-116F-3978-9CE35A1CA635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890134549"/>
              </p:ext>
            </p:extLst>
          </p:nvPr>
        </p:nvGraphicFramePr>
        <p:xfrm>
          <a:off x="4499214" y="4613891"/>
          <a:ext cx="509588" cy="1371600"/>
        </p:xfrm>
        <a:graphic>
          <a:graphicData uri="http://schemas.openxmlformats.org/drawingml/2006/table">
            <a:tbl>
              <a:tblPr/>
              <a:tblGrid>
                <a:gridCol w="509588">
                  <a:extLst>
                    <a:ext uri="{9D8B030D-6E8A-4147-A177-3AD203B41FA5}">
                      <a16:colId xmlns:a16="http://schemas.microsoft.com/office/drawing/2014/main" val="1718322747"/>
                    </a:ext>
                  </a:extLst>
                </a:gridCol>
              </a:tblGrid>
              <a:tr h="45720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3</a:t>
                      </a:r>
                    </a:p>
                  </a:txBody>
                  <a:tcPr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06586071"/>
                  </a:ext>
                </a:extLst>
              </a:tr>
              <a:tr h="45720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5</a:t>
                      </a:r>
                    </a:p>
                  </a:txBody>
                  <a:tcPr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81308325"/>
                  </a:ext>
                </a:extLst>
              </a:tr>
              <a:tr h="45720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7</a:t>
                      </a:r>
                    </a:p>
                  </a:txBody>
                  <a:tcPr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66943235"/>
                  </a:ext>
                </a:extLst>
              </a:tr>
            </a:tbl>
          </a:graphicData>
        </a:graphic>
      </p:graphicFrame>
      <p:sp>
        <p:nvSpPr>
          <p:cNvPr id="17" name="Text Box 78">
            <a:extLst>
              <a:ext uri="{FF2B5EF4-FFF2-40B4-BE49-F238E27FC236}">
                <a16:creationId xmlns:a16="http://schemas.microsoft.com/office/drawing/2014/main" id="{8E9B3B55-24D7-8D76-0D91-0228AA10F87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51379" y="6114687"/>
            <a:ext cx="697627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 dirty="0"/>
              <a:t>3 x 3</a:t>
            </a:r>
          </a:p>
        </p:txBody>
      </p:sp>
      <p:sp>
        <p:nvSpPr>
          <p:cNvPr id="18" name="Text Box 79">
            <a:extLst>
              <a:ext uri="{FF2B5EF4-FFF2-40B4-BE49-F238E27FC236}">
                <a16:creationId xmlns:a16="http://schemas.microsoft.com/office/drawing/2014/main" id="{C7C7A196-0B59-0597-D39F-921B44B5133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438254" y="6114687"/>
            <a:ext cx="697627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 dirty="0"/>
              <a:t>3 x 1</a:t>
            </a:r>
          </a:p>
        </p:txBody>
      </p:sp>
      <p:grpSp>
        <p:nvGrpSpPr>
          <p:cNvPr id="22" name="Group 21">
            <a:extLst>
              <a:ext uri="{FF2B5EF4-FFF2-40B4-BE49-F238E27FC236}">
                <a16:creationId xmlns:a16="http://schemas.microsoft.com/office/drawing/2014/main" id="{9F2591B6-3ED5-FF0E-1D19-CB7A9A149075}"/>
              </a:ext>
            </a:extLst>
          </p:cNvPr>
          <p:cNvGrpSpPr/>
          <p:nvPr/>
        </p:nvGrpSpPr>
        <p:grpSpPr>
          <a:xfrm>
            <a:off x="4545253" y="4647229"/>
            <a:ext cx="395287" cy="1277938"/>
            <a:chOff x="3021252" y="4647229"/>
            <a:chExt cx="395287" cy="1277938"/>
          </a:xfrm>
        </p:grpSpPr>
        <p:sp>
          <p:nvSpPr>
            <p:cNvPr id="19" name="Rectangle 89">
              <a:extLst>
                <a:ext uri="{FF2B5EF4-FFF2-40B4-BE49-F238E27FC236}">
                  <a16:creationId xmlns:a16="http://schemas.microsoft.com/office/drawing/2014/main" id="{2AF71FA8-C641-C2B5-ABA8-97D947C8BFC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21252" y="4647229"/>
              <a:ext cx="395287" cy="373063"/>
            </a:xfrm>
            <a:prstGeom prst="rect">
              <a:avLst/>
            </a:prstGeom>
            <a:solidFill>
              <a:srgbClr val="FF0000">
                <a:alpha val="47000"/>
              </a:srgbClr>
            </a:solidFill>
            <a:ln w="3175">
              <a:solidFill>
                <a:schemeClr val="tx1"/>
              </a:solidFill>
              <a:prstDash val="dash"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0" name="Rectangle 90">
              <a:extLst>
                <a:ext uri="{FF2B5EF4-FFF2-40B4-BE49-F238E27FC236}">
                  <a16:creationId xmlns:a16="http://schemas.microsoft.com/office/drawing/2014/main" id="{5362C45A-F8DF-CE59-B6E9-B7D1069C8A7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21252" y="5118716"/>
              <a:ext cx="395287" cy="373063"/>
            </a:xfrm>
            <a:prstGeom prst="rect">
              <a:avLst/>
            </a:prstGeom>
            <a:solidFill>
              <a:srgbClr val="00B050">
                <a:alpha val="47000"/>
              </a:srgbClr>
            </a:solidFill>
            <a:ln w="3175">
              <a:solidFill>
                <a:schemeClr val="tx1"/>
              </a:solidFill>
              <a:prstDash val="dash"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1" name="Rectangle 91">
              <a:extLst>
                <a:ext uri="{FF2B5EF4-FFF2-40B4-BE49-F238E27FC236}">
                  <a16:creationId xmlns:a16="http://schemas.microsoft.com/office/drawing/2014/main" id="{99966345-7BF8-B0F1-0E10-E690C37B644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21252" y="5552104"/>
              <a:ext cx="395287" cy="373063"/>
            </a:xfrm>
            <a:prstGeom prst="rect">
              <a:avLst/>
            </a:prstGeom>
            <a:solidFill>
              <a:schemeClr val="accent1">
                <a:alpha val="47000"/>
              </a:schemeClr>
            </a:solidFill>
            <a:ln w="3175">
              <a:solidFill>
                <a:schemeClr val="tx1"/>
              </a:solidFill>
              <a:prstDash val="dash"/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sp>
        <p:nvSpPr>
          <p:cNvPr id="23" name="Text Box 79">
            <a:extLst>
              <a:ext uri="{FF2B5EF4-FFF2-40B4-BE49-F238E27FC236}">
                <a16:creationId xmlns:a16="http://schemas.microsoft.com/office/drawing/2014/main" id="{639198EA-80A8-F183-56FB-06800B26D26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04561" y="6114687"/>
            <a:ext cx="697627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 dirty="0"/>
              <a:t>3 x 1</a:t>
            </a:r>
          </a:p>
        </p:txBody>
      </p:sp>
      <p:graphicFrame>
        <p:nvGraphicFramePr>
          <p:cNvPr id="25" name="Group 6">
            <a:extLst>
              <a:ext uri="{FF2B5EF4-FFF2-40B4-BE49-F238E27FC236}">
                <a16:creationId xmlns:a16="http://schemas.microsoft.com/office/drawing/2014/main" id="{88489490-17C6-DEFB-CCCF-07E68F2760A7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80242617"/>
              </p:ext>
            </p:extLst>
          </p:nvPr>
        </p:nvGraphicFramePr>
        <p:xfrm>
          <a:off x="6109592" y="4613891"/>
          <a:ext cx="716297" cy="1371600"/>
        </p:xfrm>
        <a:graphic>
          <a:graphicData uri="http://schemas.openxmlformats.org/drawingml/2006/table">
            <a:tbl>
              <a:tblPr/>
              <a:tblGrid>
                <a:gridCol w="716297">
                  <a:extLst>
                    <a:ext uri="{9D8B030D-6E8A-4147-A177-3AD203B41FA5}">
                      <a16:colId xmlns:a16="http://schemas.microsoft.com/office/drawing/2014/main" val="1718322747"/>
                    </a:ext>
                  </a:extLst>
                </a:gridCol>
              </a:tblGrid>
              <a:tr h="45720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32</a:t>
                      </a:r>
                    </a:p>
                  </a:txBody>
                  <a:tcPr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06586071"/>
                  </a:ext>
                </a:extLst>
              </a:tr>
              <a:tr h="45720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101</a:t>
                      </a:r>
                    </a:p>
                  </a:txBody>
                  <a:tcPr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81308325"/>
                  </a:ext>
                </a:extLst>
              </a:tr>
              <a:tr h="45720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102</a:t>
                      </a:r>
                    </a:p>
                  </a:txBody>
                  <a:tcPr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66943235"/>
                  </a:ext>
                </a:extLst>
              </a:tr>
            </a:tbl>
          </a:graphicData>
        </a:graphic>
      </p:graphicFrame>
      <p:grpSp>
        <p:nvGrpSpPr>
          <p:cNvPr id="3" name="Group 2">
            <a:extLst>
              <a:ext uri="{FF2B5EF4-FFF2-40B4-BE49-F238E27FC236}">
                <a16:creationId xmlns:a16="http://schemas.microsoft.com/office/drawing/2014/main" id="{05C24AE9-65E9-D210-409D-905CB01E7F5C}"/>
              </a:ext>
            </a:extLst>
          </p:cNvPr>
          <p:cNvGrpSpPr/>
          <p:nvPr/>
        </p:nvGrpSpPr>
        <p:grpSpPr>
          <a:xfrm>
            <a:off x="2387271" y="4638604"/>
            <a:ext cx="1300333" cy="373063"/>
            <a:chOff x="863270" y="4638603"/>
            <a:chExt cx="1300333" cy="373063"/>
          </a:xfrm>
        </p:grpSpPr>
        <p:sp>
          <p:nvSpPr>
            <p:cNvPr id="29" name="Rectangle 89">
              <a:extLst>
                <a:ext uri="{FF2B5EF4-FFF2-40B4-BE49-F238E27FC236}">
                  <a16:creationId xmlns:a16="http://schemas.microsoft.com/office/drawing/2014/main" id="{866DC69B-61BF-BF02-1165-133C68FB96A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63270" y="4638603"/>
              <a:ext cx="395287" cy="373063"/>
            </a:xfrm>
            <a:prstGeom prst="rect">
              <a:avLst/>
            </a:prstGeom>
            <a:solidFill>
              <a:srgbClr val="FF0000">
                <a:alpha val="47000"/>
              </a:srgbClr>
            </a:solidFill>
            <a:ln w="3175">
              <a:solidFill>
                <a:schemeClr val="tx1"/>
              </a:solidFill>
              <a:prstDash val="dash"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0" name="Rectangle 89">
              <a:extLst>
                <a:ext uri="{FF2B5EF4-FFF2-40B4-BE49-F238E27FC236}">
                  <a16:creationId xmlns:a16="http://schemas.microsoft.com/office/drawing/2014/main" id="{D97F0FDE-0242-7783-539E-E435B653190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15793" y="4638603"/>
              <a:ext cx="395287" cy="373063"/>
            </a:xfrm>
            <a:prstGeom prst="rect">
              <a:avLst/>
            </a:prstGeom>
            <a:solidFill>
              <a:srgbClr val="00B050">
                <a:alpha val="47000"/>
              </a:srgbClr>
            </a:solidFill>
            <a:ln w="3175">
              <a:solidFill>
                <a:schemeClr val="tx1"/>
              </a:solidFill>
              <a:prstDash val="dash"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1" name="Rectangle 89">
              <a:extLst>
                <a:ext uri="{FF2B5EF4-FFF2-40B4-BE49-F238E27FC236}">
                  <a16:creationId xmlns:a16="http://schemas.microsoft.com/office/drawing/2014/main" id="{3F42A37A-C016-1BA9-3EE5-8EBFFF16FFE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68316" y="4638603"/>
              <a:ext cx="395287" cy="373063"/>
            </a:xfrm>
            <a:prstGeom prst="rect">
              <a:avLst/>
            </a:prstGeom>
            <a:solidFill>
              <a:schemeClr val="accent1">
                <a:alpha val="47000"/>
              </a:schemeClr>
            </a:solidFill>
            <a:ln w="3175">
              <a:solidFill>
                <a:schemeClr val="tx1"/>
              </a:solidFill>
              <a:prstDash val="dash"/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grpSp>
        <p:nvGrpSpPr>
          <p:cNvPr id="5" name="Group 4">
            <a:extLst>
              <a:ext uri="{FF2B5EF4-FFF2-40B4-BE49-F238E27FC236}">
                <a16:creationId xmlns:a16="http://schemas.microsoft.com/office/drawing/2014/main" id="{0704903F-2B71-EA4C-D43A-8D6F488E4988}"/>
              </a:ext>
            </a:extLst>
          </p:cNvPr>
          <p:cNvGrpSpPr/>
          <p:nvPr/>
        </p:nvGrpSpPr>
        <p:grpSpPr>
          <a:xfrm>
            <a:off x="2387271" y="5101819"/>
            <a:ext cx="1300333" cy="373063"/>
            <a:chOff x="863270" y="5101818"/>
            <a:chExt cx="1300333" cy="373063"/>
          </a:xfrm>
        </p:grpSpPr>
        <p:sp>
          <p:nvSpPr>
            <p:cNvPr id="32" name="Rectangle 89">
              <a:extLst>
                <a:ext uri="{FF2B5EF4-FFF2-40B4-BE49-F238E27FC236}">
                  <a16:creationId xmlns:a16="http://schemas.microsoft.com/office/drawing/2014/main" id="{62A0D37D-F085-14E1-38CA-4CC3DA59708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63270" y="5101818"/>
              <a:ext cx="395287" cy="373063"/>
            </a:xfrm>
            <a:prstGeom prst="rect">
              <a:avLst/>
            </a:prstGeom>
            <a:solidFill>
              <a:srgbClr val="FF0000">
                <a:alpha val="47000"/>
              </a:srgbClr>
            </a:solidFill>
            <a:ln w="3175">
              <a:solidFill>
                <a:schemeClr val="tx1"/>
              </a:solidFill>
              <a:prstDash val="dash"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3" name="Rectangle 89">
              <a:extLst>
                <a:ext uri="{FF2B5EF4-FFF2-40B4-BE49-F238E27FC236}">
                  <a16:creationId xmlns:a16="http://schemas.microsoft.com/office/drawing/2014/main" id="{821DDE1D-DB96-5C5F-2260-D90F48572D4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15793" y="5101818"/>
              <a:ext cx="395287" cy="373063"/>
            </a:xfrm>
            <a:prstGeom prst="rect">
              <a:avLst/>
            </a:prstGeom>
            <a:solidFill>
              <a:srgbClr val="00B050">
                <a:alpha val="47000"/>
              </a:srgbClr>
            </a:solidFill>
            <a:ln w="3175">
              <a:solidFill>
                <a:schemeClr val="tx1"/>
              </a:solidFill>
              <a:prstDash val="dash"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4" name="Rectangle 89">
              <a:extLst>
                <a:ext uri="{FF2B5EF4-FFF2-40B4-BE49-F238E27FC236}">
                  <a16:creationId xmlns:a16="http://schemas.microsoft.com/office/drawing/2014/main" id="{C058376F-3D5F-15B5-C6ED-3D0E64E359E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68316" y="5101818"/>
              <a:ext cx="395287" cy="373063"/>
            </a:xfrm>
            <a:prstGeom prst="rect">
              <a:avLst/>
            </a:prstGeom>
            <a:solidFill>
              <a:schemeClr val="accent1">
                <a:alpha val="47000"/>
              </a:schemeClr>
            </a:solidFill>
            <a:ln w="3175">
              <a:solidFill>
                <a:schemeClr val="tx1"/>
              </a:solidFill>
              <a:prstDash val="dash"/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grpSp>
        <p:nvGrpSpPr>
          <p:cNvPr id="7" name="Group 6">
            <a:extLst>
              <a:ext uri="{FF2B5EF4-FFF2-40B4-BE49-F238E27FC236}">
                <a16:creationId xmlns:a16="http://schemas.microsoft.com/office/drawing/2014/main" id="{E9CAA224-EF90-B3CA-A111-25F2C076942A}"/>
              </a:ext>
            </a:extLst>
          </p:cNvPr>
          <p:cNvGrpSpPr/>
          <p:nvPr/>
        </p:nvGrpSpPr>
        <p:grpSpPr>
          <a:xfrm>
            <a:off x="2387271" y="5545701"/>
            <a:ext cx="1300333" cy="373063"/>
            <a:chOff x="863270" y="5545700"/>
            <a:chExt cx="1300333" cy="373063"/>
          </a:xfrm>
        </p:grpSpPr>
        <p:sp>
          <p:nvSpPr>
            <p:cNvPr id="35" name="Rectangle 89">
              <a:extLst>
                <a:ext uri="{FF2B5EF4-FFF2-40B4-BE49-F238E27FC236}">
                  <a16:creationId xmlns:a16="http://schemas.microsoft.com/office/drawing/2014/main" id="{516A28C0-78E9-4CE9-EDF4-BD89E21C53D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63270" y="5545700"/>
              <a:ext cx="395287" cy="373063"/>
            </a:xfrm>
            <a:prstGeom prst="rect">
              <a:avLst/>
            </a:prstGeom>
            <a:solidFill>
              <a:srgbClr val="FF0000">
                <a:alpha val="47000"/>
              </a:srgbClr>
            </a:solidFill>
            <a:ln w="3175">
              <a:solidFill>
                <a:schemeClr val="tx1"/>
              </a:solidFill>
              <a:prstDash val="dash"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6" name="Rectangle 89">
              <a:extLst>
                <a:ext uri="{FF2B5EF4-FFF2-40B4-BE49-F238E27FC236}">
                  <a16:creationId xmlns:a16="http://schemas.microsoft.com/office/drawing/2014/main" id="{8255A1CD-015D-BF1C-74CD-CF74CA00129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15793" y="5545700"/>
              <a:ext cx="395287" cy="373063"/>
            </a:xfrm>
            <a:prstGeom prst="rect">
              <a:avLst/>
            </a:prstGeom>
            <a:solidFill>
              <a:srgbClr val="00B050">
                <a:alpha val="47000"/>
              </a:srgbClr>
            </a:solidFill>
            <a:ln w="3175">
              <a:solidFill>
                <a:schemeClr val="tx1"/>
              </a:solidFill>
              <a:prstDash val="dash"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7" name="Rectangle 89">
              <a:extLst>
                <a:ext uri="{FF2B5EF4-FFF2-40B4-BE49-F238E27FC236}">
                  <a16:creationId xmlns:a16="http://schemas.microsoft.com/office/drawing/2014/main" id="{8A0ED3C1-2BDC-E8EC-4523-40EC4343439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68316" y="5545700"/>
              <a:ext cx="395287" cy="373063"/>
            </a:xfrm>
            <a:prstGeom prst="rect">
              <a:avLst/>
            </a:prstGeom>
            <a:solidFill>
              <a:schemeClr val="accent1">
                <a:alpha val="47000"/>
              </a:schemeClr>
            </a:solidFill>
            <a:ln w="3175">
              <a:solidFill>
                <a:schemeClr val="tx1"/>
              </a:solidFill>
              <a:prstDash val="dash"/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graphicFrame>
        <p:nvGraphicFramePr>
          <p:cNvPr id="38" name="Group 6">
            <a:extLst>
              <a:ext uri="{FF2B5EF4-FFF2-40B4-BE49-F238E27FC236}">
                <a16:creationId xmlns:a16="http://schemas.microsoft.com/office/drawing/2014/main" id="{3F3439AB-408D-7809-18F3-C58B945435DD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46855097"/>
              </p:ext>
            </p:extLst>
          </p:nvPr>
        </p:nvGraphicFramePr>
        <p:xfrm>
          <a:off x="6144644" y="2314124"/>
          <a:ext cx="509588" cy="457200"/>
        </p:xfrm>
        <a:graphic>
          <a:graphicData uri="http://schemas.openxmlformats.org/drawingml/2006/table">
            <a:tbl>
              <a:tblPr/>
              <a:tblGrid>
                <a:gridCol w="509588">
                  <a:extLst>
                    <a:ext uri="{9D8B030D-6E8A-4147-A177-3AD203B41FA5}">
                      <a16:colId xmlns:a16="http://schemas.microsoft.com/office/drawing/2014/main" val="1718322747"/>
                    </a:ext>
                  </a:extLst>
                </a:gridCol>
              </a:tblGrid>
              <a:tr h="45720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32</a:t>
                      </a:r>
                    </a:p>
                  </a:txBody>
                  <a:tcPr anchor="ctr" anchorCtr="1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06586071"/>
                  </a:ext>
                </a:extLst>
              </a:tr>
            </a:tbl>
          </a:graphicData>
        </a:graphic>
      </p:graphicFrame>
      <p:sp>
        <p:nvSpPr>
          <p:cNvPr id="39" name="TextBox 38">
            <a:extLst>
              <a:ext uri="{FF2B5EF4-FFF2-40B4-BE49-F238E27FC236}">
                <a16:creationId xmlns:a16="http://schemas.microsoft.com/office/drawing/2014/main" id="{D19D1744-9312-F5B4-51A2-C8F71BC4775A}"/>
              </a:ext>
            </a:extLst>
          </p:cNvPr>
          <p:cNvSpPr txBox="1"/>
          <p:nvPr/>
        </p:nvSpPr>
        <p:spPr>
          <a:xfrm>
            <a:off x="7387422" y="4533887"/>
            <a:ext cx="2637260" cy="142032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000" dirty="0">
                <a:solidFill>
                  <a:srgbClr val="FF0000"/>
                </a:solidFill>
              </a:rPr>
              <a:t>2*3 </a:t>
            </a:r>
            <a:r>
              <a:rPr lang="en-US" sz="2000" dirty="0"/>
              <a:t>+</a:t>
            </a:r>
            <a:r>
              <a:rPr lang="en-US" sz="2000" dirty="0">
                <a:solidFill>
                  <a:srgbClr val="FF0000"/>
                </a:solidFill>
              </a:rPr>
              <a:t> </a:t>
            </a:r>
            <a:r>
              <a:rPr lang="en-US" sz="2000" dirty="0">
                <a:solidFill>
                  <a:srgbClr val="00B050"/>
                </a:solidFill>
              </a:rPr>
              <a:t>1*5 </a:t>
            </a:r>
            <a:r>
              <a:rPr lang="en-US" sz="2000" dirty="0"/>
              <a:t>+</a:t>
            </a:r>
            <a:r>
              <a:rPr lang="en-US" sz="2000" dirty="0">
                <a:solidFill>
                  <a:srgbClr val="00B050"/>
                </a:solidFill>
              </a:rPr>
              <a:t> </a:t>
            </a:r>
            <a:r>
              <a:rPr lang="en-US" sz="2000" dirty="0">
                <a:solidFill>
                  <a:srgbClr val="0070C0"/>
                </a:solidFill>
              </a:rPr>
              <a:t>3*7 </a:t>
            </a:r>
            <a:r>
              <a:rPr lang="en-US" sz="2000" dirty="0"/>
              <a:t>= 32</a:t>
            </a:r>
          </a:p>
          <a:p>
            <a:pPr>
              <a:lnSpc>
                <a:spcPct val="150000"/>
              </a:lnSpc>
            </a:pPr>
            <a:r>
              <a:rPr lang="en-US" sz="2000" dirty="0">
                <a:solidFill>
                  <a:srgbClr val="FF0000"/>
                </a:solidFill>
              </a:rPr>
              <a:t>6*3 </a:t>
            </a:r>
            <a:r>
              <a:rPr lang="en-US" sz="2000" dirty="0"/>
              <a:t>+</a:t>
            </a:r>
            <a:r>
              <a:rPr lang="en-US" sz="2000" dirty="0">
                <a:solidFill>
                  <a:srgbClr val="FF0000"/>
                </a:solidFill>
              </a:rPr>
              <a:t> </a:t>
            </a:r>
            <a:r>
              <a:rPr lang="en-US" sz="2000" dirty="0">
                <a:solidFill>
                  <a:srgbClr val="00B050"/>
                </a:solidFill>
              </a:rPr>
              <a:t>4*5 </a:t>
            </a:r>
            <a:r>
              <a:rPr lang="en-US" sz="2000" dirty="0"/>
              <a:t>+</a:t>
            </a:r>
            <a:r>
              <a:rPr lang="en-US" sz="2000" dirty="0">
                <a:solidFill>
                  <a:srgbClr val="00B050"/>
                </a:solidFill>
              </a:rPr>
              <a:t> </a:t>
            </a:r>
            <a:r>
              <a:rPr lang="en-US" sz="2000" dirty="0">
                <a:solidFill>
                  <a:srgbClr val="0070C0"/>
                </a:solidFill>
              </a:rPr>
              <a:t>9*7 </a:t>
            </a:r>
            <a:r>
              <a:rPr lang="en-US" sz="2000" dirty="0"/>
              <a:t>= 101</a:t>
            </a:r>
          </a:p>
          <a:p>
            <a:pPr>
              <a:lnSpc>
                <a:spcPct val="150000"/>
              </a:lnSpc>
            </a:pPr>
            <a:r>
              <a:rPr lang="en-US" sz="2000" dirty="0">
                <a:solidFill>
                  <a:srgbClr val="FF0000"/>
                </a:solidFill>
              </a:rPr>
              <a:t>7*3 </a:t>
            </a:r>
            <a:r>
              <a:rPr lang="en-US" sz="2000" dirty="0"/>
              <a:t>+</a:t>
            </a:r>
            <a:r>
              <a:rPr lang="en-US" sz="2000" dirty="0">
                <a:solidFill>
                  <a:srgbClr val="FF0000"/>
                </a:solidFill>
              </a:rPr>
              <a:t> </a:t>
            </a:r>
            <a:r>
              <a:rPr lang="en-US" sz="2000" dirty="0">
                <a:solidFill>
                  <a:srgbClr val="00B050"/>
                </a:solidFill>
              </a:rPr>
              <a:t>5*5 </a:t>
            </a:r>
            <a:r>
              <a:rPr lang="en-US" sz="2000" dirty="0"/>
              <a:t>+</a:t>
            </a:r>
            <a:r>
              <a:rPr lang="en-US" sz="2000" dirty="0">
                <a:solidFill>
                  <a:srgbClr val="00B050"/>
                </a:solidFill>
              </a:rPr>
              <a:t> </a:t>
            </a:r>
            <a:r>
              <a:rPr lang="en-US" sz="2000" dirty="0">
                <a:solidFill>
                  <a:srgbClr val="0070C0"/>
                </a:solidFill>
              </a:rPr>
              <a:t>8*7 </a:t>
            </a:r>
            <a:r>
              <a:rPr lang="en-US" sz="2000" dirty="0"/>
              <a:t>= 102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67AB085B-B5BD-0738-40E7-6F69C6A47ACD}"/>
              </a:ext>
            </a:extLst>
          </p:cNvPr>
          <p:cNvSpPr txBox="1"/>
          <p:nvPr/>
        </p:nvSpPr>
        <p:spPr>
          <a:xfrm>
            <a:off x="3814938" y="3258091"/>
            <a:ext cx="32733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/>
              <a:t>x</a:t>
            </a:r>
            <a:endParaRPr lang="en-US" sz="1400" dirty="0"/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D40E60EF-E630-5F3D-82F9-8849FDA399A8}"/>
              </a:ext>
            </a:extLst>
          </p:cNvPr>
          <p:cNvSpPr txBox="1"/>
          <p:nvPr/>
        </p:nvSpPr>
        <p:spPr>
          <a:xfrm>
            <a:off x="5442147" y="3196536"/>
            <a:ext cx="39466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=</a:t>
            </a:r>
            <a:endParaRPr lang="en-US" dirty="0"/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30A40F49-DD2C-D58A-6713-70E8AA051175}"/>
              </a:ext>
            </a:extLst>
          </p:cNvPr>
          <p:cNvSpPr txBox="1"/>
          <p:nvPr/>
        </p:nvSpPr>
        <p:spPr>
          <a:xfrm>
            <a:off x="3814938" y="6099298"/>
            <a:ext cx="32733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/>
              <a:t>x</a:t>
            </a:r>
            <a:endParaRPr lang="en-US" sz="1400" dirty="0"/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040786BD-F3D8-7E90-4E4B-C199674A6BEF}"/>
              </a:ext>
            </a:extLst>
          </p:cNvPr>
          <p:cNvSpPr txBox="1"/>
          <p:nvPr/>
        </p:nvSpPr>
        <p:spPr>
          <a:xfrm>
            <a:off x="5442147" y="6037743"/>
            <a:ext cx="39466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=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5397053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6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5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4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5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1409" name="Picture 273">
            <a:extLst>
              <a:ext uri="{FF2B5EF4-FFF2-40B4-BE49-F238E27FC236}">
                <a16:creationId xmlns:a16="http://schemas.microsoft.com/office/drawing/2014/main" id="{CCA33C17-9D25-DD7F-4468-E20E9365026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54889" y="1852615"/>
            <a:ext cx="2838451" cy="40671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91138" name="Rectangle 2">
            <a:extLst>
              <a:ext uri="{FF2B5EF4-FFF2-40B4-BE49-F238E27FC236}">
                <a16:creationId xmlns:a16="http://schemas.microsoft.com/office/drawing/2014/main" id="{BC6CDDB7-BE33-82CA-200A-61D615B1E8F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en-US"/>
              <a:t>Algebras </a:t>
            </a:r>
          </a:p>
        </p:txBody>
      </p:sp>
      <p:sp>
        <p:nvSpPr>
          <p:cNvPr id="91139" name="Rectangle 3">
            <a:extLst>
              <a:ext uri="{FF2B5EF4-FFF2-40B4-BE49-F238E27FC236}">
                <a16:creationId xmlns:a16="http://schemas.microsoft.com/office/drawing/2014/main" id="{35704002-61BF-AFF7-2D19-D818F4DD5FEC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/>
        <p:txBody>
          <a:bodyPr/>
          <a:lstStyle/>
          <a:p>
            <a:pPr>
              <a:buFontTx/>
              <a:buNone/>
            </a:pPr>
            <a:r>
              <a:rPr lang="en-US" altLang="en-US" sz="1800"/>
              <a:t>Addition</a:t>
            </a:r>
          </a:p>
        </p:txBody>
      </p:sp>
      <p:graphicFrame>
        <p:nvGraphicFramePr>
          <p:cNvPr id="91381" name="Object 245">
            <a:extLst>
              <a:ext uri="{FF2B5EF4-FFF2-40B4-BE49-F238E27FC236}">
                <a16:creationId xmlns:a16="http://schemas.microsoft.com/office/drawing/2014/main" id="{BD4E7334-B596-E1C6-7909-488802285836}"/>
              </a:ext>
            </a:extLst>
          </p:cNvPr>
          <p:cNvGraphicFramePr>
            <a:graphicFrameLocks noGrp="1" noChangeAspect="1"/>
          </p:cNvGraphicFramePr>
          <p:nvPr>
            <p:ph sz="half" idx="2"/>
          </p:nvPr>
        </p:nvGraphicFramePr>
        <p:xfrm>
          <a:off x="2079625" y="3254375"/>
          <a:ext cx="2114550" cy="6953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Worksheet" r:id="rId3" imgW="2171700" imgH="714375" progId="Excel.Sheet.8">
                  <p:embed/>
                </p:oleObj>
              </mc:Choice>
              <mc:Fallback>
                <p:oleObj name="Worksheet" r:id="rId3" imgW="2171700" imgH="714375" progId="Excel.Sheet.8">
                  <p:embed/>
                  <p:pic>
                    <p:nvPicPr>
                      <p:cNvPr id="91381" name="Object 245">
                        <a:extLst>
                          <a:ext uri="{FF2B5EF4-FFF2-40B4-BE49-F238E27FC236}">
                            <a16:creationId xmlns:a16="http://schemas.microsoft.com/office/drawing/2014/main" id="{BD4E7334-B596-E1C6-7909-488802285836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79625" y="3254375"/>
                        <a:ext cx="2114550" cy="6953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1396" name="Group 260">
            <a:extLst>
              <a:ext uri="{FF2B5EF4-FFF2-40B4-BE49-F238E27FC236}">
                <a16:creationId xmlns:a16="http://schemas.microsoft.com/office/drawing/2014/main" id="{10B90D78-4EFC-E724-0222-2948F915E245}"/>
              </a:ext>
            </a:extLst>
          </p:cNvPr>
          <p:cNvGraphicFramePr>
            <a:graphicFrameLocks noGrp="1"/>
          </p:cNvGraphicFramePr>
          <p:nvPr/>
        </p:nvGraphicFramePr>
        <p:xfrm>
          <a:off x="2057403" y="1752601"/>
          <a:ext cx="347663" cy="1049339"/>
        </p:xfrm>
        <a:graphic>
          <a:graphicData uri="http://schemas.openxmlformats.org/drawingml/2006/table">
            <a:tbl>
              <a:tblPr/>
              <a:tblGrid>
                <a:gridCol w="347663">
                  <a:extLst>
                    <a:ext uri="{9D8B030D-6E8A-4147-A177-3AD203B41FA5}">
                      <a16:colId xmlns:a16="http://schemas.microsoft.com/office/drawing/2014/main" val="2041232104"/>
                    </a:ext>
                  </a:extLst>
                </a:gridCol>
              </a:tblGrid>
              <a:tr h="349251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a</a:t>
                      </a:r>
                      <a:r>
                        <a:rPr kumimoji="0" lang="en-US" altLang="en-US" sz="1200" b="0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i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7D7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43874526"/>
                  </a:ext>
                </a:extLst>
              </a:tr>
              <a:tr h="344488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a</a:t>
                      </a:r>
                      <a:r>
                        <a:rPr kumimoji="0" lang="en-US" altLang="en-US" sz="1200" b="0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j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7D7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33362383"/>
                  </a:ext>
                </a:extLst>
              </a:tr>
              <a:tr h="35560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a</a:t>
                      </a:r>
                      <a:r>
                        <a:rPr kumimoji="0" lang="en-US" altLang="en-US" sz="1200" b="0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k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7D7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30931031"/>
                  </a:ext>
                </a:extLst>
              </a:tr>
            </a:tbl>
          </a:graphicData>
        </a:graphic>
      </p:graphicFrame>
      <p:graphicFrame>
        <p:nvGraphicFramePr>
          <p:cNvPr id="91397" name="Group 261">
            <a:extLst>
              <a:ext uri="{FF2B5EF4-FFF2-40B4-BE49-F238E27FC236}">
                <a16:creationId xmlns:a16="http://schemas.microsoft.com/office/drawing/2014/main" id="{B148D803-6345-7009-F99B-3D55AE0C3CEB}"/>
              </a:ext>
            </a:extLst>
          </p:cNvPr>
          <p:cNvGraphicFramePr>
            <a:graphicFrameLocks noGrp="1"/>
          </p:cNvGraphicFramePr>
          <p:nvPr/>
        </p:nvGraphicFramePr>
        <p:xfrm>
          <a:off x="2971801" y="1752601"/>
          <a:ext cx="339725" cy="1049341"/>
        </p:xfrm>
        <a:graphic>
          <a:graphicData uri="http://schemas.openxmlformats.org/drawingml/2006/table">
            <a:tbl>
              <a:tblPr/>
              <a:tblGrid>
                <a:gridCol w="339725">
                  <a:extLst>
                    <a:ext uri="{9D8B030D-6E8A-4147-A177-3AD203B41FA5}">
                      <a16:colId xmlns:a16="http://schemas.microsoft.com/office/drawing/2014/main" val="2367315805"/>
                    </a:ext>
                  </a:extLst>
                </a:gridCol>
              </a:tblGrid>
              <a:tr h="338139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b</a:t>
                      </a:r>
                      <a:r>
                        <a:rPr kumimoji="0" lang="en-US" altLang="en-US" sz="1200" b="0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i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76FF4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35120113"/>
                  </a:ext>
                </a:extLst>
              </a:tr>
              <a:tr h="350839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b</a:t>
                      </a:r>
                      <a:r>
                        <a:rPr kumimoji="0" lang="en-US" altLang="en-US" sz="1200" b="0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j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76FF4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34952022"/>
                  </a:ext>
                </a:extLst>
              </a:tr>
              <a:tr h="360363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b</a:t>
                      </a:r>
                      <a:r>
                        <a:rPr kumimoji="0" lang="en-US" altLang="en-US" sz="1200" b="0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k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76FF4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79196447"/>
                  </a:ext>
                </a:extLst>
              </a:tr>
            </a:tbl>
          </a:graphicData>
        </a:graphic>
      </p:graphicFrame>
      <p:sp>
        <p:nvSpPr>
          <p:cNvPr id="91206" name="Text Box 70">
            <a:extLst>
              <a:ext uri="{FF2B5EF4-FFF2-40B4-BE49-F238E27FC236}">
                <a16:creationId xmlns:a16="http://schemas.microsoft.com/office/drawing/2014/main" id="{0C773193-1743-DFA4-331B-76B4460C9FD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46351" y="2190752"/>
            <a:ext cx="274434" cy="27699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 sz="1200"/>
              <a:t>+</a:t>
            </a:r>
          </a:p>
        </p:txBody>
      </p:sp>
      <p:graphicFrame>
        <p:nvGraphicFramePr>
          <p:cNvPr id="91399" name="Group 263">
            <a:extLst>
              <a:ext uri="{FF2B5EF4-FFF2-40B4-BE49-F238E27FC236}">
                <a16:creationId xmlns:a16="http://schemas.microsoft.com/office/drawing/2014/main" id="{A168E068-4AD4-BC2B-AFFD-101AEE988DE0}"/>
              </a:ext>
            </a:extLst>
          </p:cNvPr>
          <p:cNvGraphicFramePr>
            <a:graphicFrameLocks noGrp="1"/>
          </p:cNvGraphicFramePr>
          <p:nvPr/>
        </p:nvGraphicFramePr>
        <p:xfrm>
          <a:off x="3886201" y="1752600"/>
          <a:ext cx="520700" cy="1092202"/>
        </p:xfrm>
        <a:graphic>
          <a:graphicData uri="http://schemas.openxmlformats.org/drawingml/2006/table">
            <a:tbl>
              <a:tblPr/>
              <a:tblGrid>
                <a:gridCol w="520700">
                  <a:extLst>
                    <a:ext uri="{9D8B030D-6E8A-4147-A177-3AD203B41FA5}">
                      <a16:colId xmlns:a16="http://schemas.microsoft.com/office/drawing/2014/main" val="3376363587"/>
                    </a:ext>
                  </a:extLst>
                </a:gridCol>
              </a:tblGrid>
              <a:tr h="38100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a</a:t>
                      </a:r>
                      <a:r>
                        <a:rPr kumimoji="0" lang="en-US" altLang="en-US" sz="1200" b="0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i</a:t>
                      </a:r>
                      <a:r>
                        <a:rPr kumimoji="0" lang="en-US" altLang="en-US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+</a:t>
                      </a:r>
                      <a:r>
                        <a:rPr kumimoji="0" lang="en-US" altLang="en-US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b</a:t>
                      </a:r>
                      <a:r>
                        <a:rPr kumimoji="0" lang="en-US" altLang="en-US" sz="1200" b="0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i</a:t>
                      </a:r>
                    </a:p>
                  </a:txBody>
                  <a:tcPr marL="0" marR="0" marT="0" marB="0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839CC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37034667"/>
                  </a:ext>
                </a:extLst>
              </a:tr>
              <a:tr h="350839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a</a:t>
                      </a:r>
                      <a:r>
                        <a:rPr kumimoji="0" lang="en-US" altLang="en-US" sz="1200" b="1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j</a:t>
                      </a:r>
                      <a:r>
                        <a:rPr kumimoji="0" lang="en-US" altLang="en-US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+</a:t>
                      </a:r>
                      <a:r>
                        <a:rPr kumimoji="0" lang="en-US" altLang="en-US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b</a:t>
                      </a:r>
                      <a:r>
                        <a:rPr kumimoji="0" lang="en-US" altLang="en-US" sz="1200" b="0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i</a:t>
                      </a:r>
                    </a:p>
                  </a:txBody>
                  <a:tcPr marL="0" marR="0" marT="0" marB="0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839CC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52102288"/>
                  </a:ext>
                </a:extLst>
              </a:tr>
              <a:tr h="360363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a</a:t>
                      </a:r>
                      <a:r>
                        <a:rPr kumimoji="0" lang="en-US" altLang="en-US" sz="1200" b="0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k</a:t>
                      </a:r>
                      <a:r>
                        <a:rPr kumimoji="0" lang="en-US" altLang="en-US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+</a:t>
                      </a:r>
                      <a:r>
                        <a:rPr kumimoji="0" lang="en-US" altLang="en-US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b</a:t>
                      </a:r>
                      <a:r>
                        <a:rPr kumimoji="0" lang="en-US" altLang="en-US" sz="1200" b="0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k</a:t>
                      </a:r>
                    </a:p>
                  </a:txBody>
                  <a:tcPr marL="0" marR="0" marT="0" marB="0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839CC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78755653"/>
                  </a:ext>
                </a:extLst>
              </a:tr>
            </a:tbl>
          </a:graphicData>
        </a:graphic>
      </p:graphicFrame>
      <p:sp>
        <p:nvSpPr>
          <p:cNvPr id="91218" name="Text Box 82">
            <a:extLst>
              <a:ext uri="{FF2B5EF4-FFF2-40B4-BE49-F238E27FC236}">
                <a16:creationId xmlns:a16="http://schemas.microsoft.com/office/drawing/2014/main" id="{C736E051-C9E0-31B3-2820-7192EF77035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460751" y="2114552"/>
            <a:ext cx="274434" cy="27699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 sz="1200"/>
              <a:t>=</a:t>
            </a:r>
          </a:p>
        </p:txBody>
      </p:sp>
      <p:sp>
        <p:nvSpPr>
          <p:cNvPr id="91401" name="Text Box 265">
            <a:extLst>
              <a:ext uri="{FF2B5EF4-FFF2-40B4-BE49-F238E27FC236}">
                <a16:creationId xmlns:a16="http://schemas.microsoft.com/office/drawing/2014/main" id="{9C6F270C-9006-F539-E3C0-A78E63A8CA6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66975" y="1217613"/>
            <a:ext cx="1107996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 b="1"/>
              <a:t>a</a:t>
            </a:r>
            <a:r>
              <a:rPr lang="en-US" altLang="en-US"/>
              <a:t> + </a:t>
            </a:r>
            <a:r>
              <a:rPr lang="en-US" altLang="en-US" b="1"/>
              <a:t>b</a:t>
            </a:r>
            <a:r>
              <a:rPr lang="en-US" altLang="en-US"/>
              <a:t> = </a:t>
            </a:r>
            <a:r>
              <a:rPr lang="en-US" altLang="en-US" b="1"/>
              <a:t>c</a:t>
            </a:r>
          </a:p>
        </p:txBody>
      </p:sp>
      <p:graphicFrame>
        <p:nvGraphicFramePr>
          <p:cNvPr id="91404" name="Object 268">
            <a:extLst>
              <a:ext uri="{FF2B5EF4-FFF2-40B4-BE49-F238E27FC236}">
                <a16:creationId xmlns:a16="http://schemas.microsoft.com/office/drawing/2014/main" id="{04944336-B270-3CD4-B01B-9AA35DA2E623}"/>
              </a:ext>
            </a:extLst>
          </p:cNvPr>
          <p:cNvGraphicFramePr>
            <a:graphicFrameLocks noChangeAspect="1"/>
          </p:cNvGraphicFramePr>
          <p:nvPr/>
        </p:nvGraphicFramePr>
        <p:xfrm>
          <a:off x="7716841" y="1233488"/>
          <a:ext cx="820737" cy="355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596880" imgH="215640" progId="Equation.3">
                  <p:embed/>
                </p:oleObj>
              </mc:Choice>
              <mc:Fallback>
                <p:oleObj name="Equation" r:id="rId5" imgW="596880" imgH="215640" progId="Equation.3">
                  <p:embed/>
                  <p:pic>
                    <p:nvPicPr>
                      <p:cNvPr id="91404" name="Object 268">
                        <a:extLst>
                          <a:ext uri="{FF2B5EF4-FFF2-40B4-BE49-F238E27FC236}">
                            <a16:creationId xmlns:a16="http://schemas.microsoft.com/office/drawing/2014/main" id="{04944336-B270-3CD4-B01B-9AA35DA2E623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716841" y="1233488"/>
                        <a:ext cx="820737" cy="355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1406" name="Object 270">
            <a:extLst>
              <a:ext uri="{FF2B5EF4-FFF2-40B4-BE49-F238E27FC236}">
                <a16:creationId xmlns:a16="http://schemas.microsoft.com/office/drawing/2014/main" id="{89D6D2C8-2AB9-43DC-CFF9-512A8A6FFA5E}"/>
              </a:ext>
            </a:extLst>
          </p:cNvPr>
          <p:cNvGraphicFramePr>
            <a:graphicFrameLocks noChangeAspect="1"/>
          </p:cNvGraphicFramePr>
          <p:nvPr/>
        </p:nvGraphicFramePr>
        <p:xfrm>
          <a:off x="9745666" y="3806827"/>
          <a:ext cx="192087" cy="3143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7" imgW="139680" imgH="190440" progId="Equation.3">
                  <p:embed/>
                </p:oleObj>
              </mc:Choice>
              <mc:Fallback>
                <p:oleObj name="Equation" r:id="rId7" imgW="139680" imgH="190440" progId="Equation.3">
                  <p:embed/>
                  <p:pic>
                    <p:nvPicPr>
                      <p:cNvPr id="91406" name="Object 270">
                        <a:extLst>
                          <a:ext uri="{FF2B5EF4-FFF2-40B4-BE49-F238E27FC236}">
                            <a16:creationId xmlns:a16="http://schemas.microsoft.com/office/drawing/2014/main" id="{89D6D2C8-2AB9-43DC-CFF9-512A8A6FFA5E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745666" y="3806827"/>
                        <a:ext cx="192087" cy="3143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1407" name="Object 271">
            <a:extLst>
              <a:ext uri="{FF2B5EF4-FFF2-40B4-BE49-F238E27FC236}">
                <a16:creationId xmlns:a16="http://schemas.microsoft.com/office/drawing/2014/main" id="{EE44D30B-65BC-375B-7D30-22B8C38583A2}"/>
              </a:ext>
            </a:extLst>
          </p:cNvPr>
          <p:cNvGraphicFramePr>
            <a:graphicFrameLocks noChangeAspect="1"/>
          </p:cNvGraphicFramePr>
          <p:nvPr/>
        </p:nvGraphicFramePr>
        <p:xfrm>
          <a:off x="8686800" y="2751139"/>
          <a:ext cx="192088" cy="355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9" imgW="139680" imgH="215640" progId="Equation.3">
                  <p:embed/>
                </p:oleObj>
              </mc:Choice>
              <mc:Fallback>
                <p:oleObj name="Equation" r:id="rId9" imgW="139680" imgH="215640" progId="Equation.3">
                  <p:embed/>
                  <p:pic>
                    <p:nvPicPr>
                      <p:cNvPr id="91407" name="Object 271">
                        <a:extLst>
                          <a:ext uri="{FF2B5EF4-FFF2-40B4-BE49-F238E27FC236}">
                            <a16:creationId xmlns:a16="http://schemas.microsoft.com/office/drawing/2014/main" id="{EE44D30B-65BC-375B-7D30-22B8C38583A2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686800" y="2751139"/>
                        <a:ext cx="192088" cy="355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1408" name="Object 272">
            <a:extLst>
              <a:ext uri="{FF2B5EF4-FFF2-40B4-BE49-F238E27FC236}">
                <a16:creationId xmlns:a16="http://schemas.microsoft.com/office/drawing/2014/main" id="{7B8CDB86-153E-FBA9-E067-69771AE5C541}"/>
              </a:ext>
            </a:extLst>
          </p:cNvPr>
          <p:cNvGraphicFramePr>
            <a:graphicFrameLocks noChangeAspect="1"/>
          </p:cNvGraphicFramePr>
          <p:nvPr/>
        </p:nvGraphicFramePr>
        <p:xfrm>
          <a:off x="8366127" y="3740152"/>
          <a:ext cx="174625" cy="3143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1" imgW="126720" imgH="190440" progId="Equation.3">
                  <p:embed/>
                </p:oleObj>
              </mc:Choice>
              <mc:Fallback>
                <p:oleObj name="Equation" r:id="rId11" imgW="126720" imgH="190440" progId="Equation.3">
                  <p:embed/>
                  <p:pic>
                    <p:nvPicPr>
                      <p:cNvPr id="91408" name="Object 272">
                        <a:extLst>
                          <a:ext uri="{FF2B5EF4-FFF2-40B4-BE49-F238E27FC236}">
                            <a16:creationId xmlns:a16="http://schemas.microsoft.com/office/drawing/2014/main" id="{7B8CDB86-153E-FBA9-E067-69771AE5C541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366127" y="3740152"/>
                        <a:ext cx="174625" cy="3143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1517" name="Group 381">
            <a:extLst>
              <a:ext uri="{FF2B5EF4-FFF2-40B4-BE49-F238E27FC236}">
                <a16:creationId xmlns:a16="http://schemas.microsoft.com/office/drawing/2014/main" id="{41AAC0AB-AC72-DFD4-A7F0-9E14E550C570}"/>
              </a:ext>
            </a:extLst>
          </p:cNvPr>
          <p:cNvGraphicFramePr>
            <a:graphicFrameLocks noGrp="1"/>
          </p:cNvGraphicFramePr>
          <p:nvPr/>
        </p:nvGraphicFramePr>
        <p:xfrm>
          <a:off x="2057401" y="5213350"/>
          <a:ext cx="1257300" cy="1049339"/>
        </p:xfrm>
        <a:graphic>
          <a:graphicData uri="http://schemas.openxmlformats.org/drawingml/2006/table">
            <a:tbl>
              <a:tblPr/>
              <a:tblGrid>
                <a:gridCol w="419100">
                  <a:extLst>
                    <a:ext uri="{9D8B030D-6E8A-4147-A177-3AD203B41FA5}">
                      <a16:colId xmlns:a16="http://schemas.microsoft.com/office/drawing/2014/main" val="834259824"/>
                    </a:ext>
                  </a:extLst>
                </a:gridCol>
                <a:gridCol w="419100">
                  <a:extLst>
                    <a:ext uri="{9D8B030D-6E8A-4147-A177-3AD203B41FA5}">
                      <a16:colId xmlns:a16="http://schemas.microsoft.com/office/drawing/2014/main" val="3133381443"/>
                    </a:ext>
                  </a:extLst>
                </a:gridCol>
                <a:gridCol w="419100">
                  <a:extLst>
                    <a:ext uri="{9D8B030D-6E8A-4147-A177-3AD203B41FA5}">
                      <a16:colId xmlns:a16="http://schemas.microsoft.com/office/drawing/2014/main" val="631910772"/>
                    </a:ext>
                  </a:extLst>
                </a:gridCol>
              </a:tblGrid>
              <a:tr h="349251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a</a:t>
                      </a:r>
                      <a:r>
                        <a:rPr kumimoji="0" lang="en-US" altLang="en-US" sz="1200" b="0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00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7D7D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a</a:t>
                      </a:r>
                      <a:r>
                        <a:rPr kumimoji="0" lang="en-US" altLang="en-US" sz="1200" b="0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01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7D7D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a</a:t>
                      </a:r>
                      <a:r>
                        <a:rPr kumimoji="0" lang="en-US" altLang="en-US" sz="1200" b="0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02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7D7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09208342"/>
                  </a:ext>
                </a:extLst>
              </a:tr>
              <a:tr h="344488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a</a:t>
                      </a:r>
                      <a:r>
                        <a:rPr kumimoji="0" lang="en-US" altLang="en-US" sz="1200" b="0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10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7D7D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a</a:t>
                      </a:r>
                      <a:r>
                        <a:rPr kumimoji="0" lang="en-US" altLang="en-US" sz="1200" b="0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11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7D7D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a</a:t>
                      </a:r>
                      <a:r>
                        <a:rPr kumimoji="0" lang="en-US" altLang="en-US" sz="1200" b="0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12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7D7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66639905"/>
                  </a:ext>
                </a:extLst>
              </a:tr>
              <a:tr h="35560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a</a:t>
                      </a:r>
                      <a:r>
                        <a:rPr kumimoji="0" lang="en-US" altLang="en-US" sz="1200" b="0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20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7D7D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a</a:t>
                      </a:r>
                      <a:r>
                        <a:rPr kumimoji="0" lang="en-US" altLang="en-US" sz="1200" b="0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21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7D7D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a</a:t>
                      </a:r>
                      <a:r>
                        <a:rPr kumimoji="0" lang="en-US" altLang="en-US" sz="1200" b="0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22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7D7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88919083"/>
                  </a:ext>
                </a:extLst>
              </a:tr>
            </a:tbl>
          </a:graphicData>
        </a:graphic>
      </p:graphicFrame>
      <p:sp>
        <p:nvSpPr>
          <p:cNvPr id="91430" name="Text Box 294">
            <a:extLst>
              <a:ext uri="{FF2B5EF4-FFF2-40B4-BE49-F238E27FC236}">
                <a16:creationId xmlns:a16="http://schemas.microsoft.com/office/drawing/2014/main" id="{D71A3144-0119-65A2-3A0B-ADAE4E09C9A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05200" y="5670552"/>
            <a:ext cx="274434" cy="27699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 sz="1200"/>
              <a:t>+</a:t>
            </a:r>
          </a:p>
        </p:txBody>
      </p:sp>
      <p:sp>
        <p:nvSpPr>
          <p:cNvPr id="91441" name="Text Box 305">
            <a:extLst>
              <a:ext uri="{FF2B5EF4-FFF2-40B4-BE49-F238E27FC236}">
                <a16:creationId xmlns:a16="http://schemas.microsoft.com/office/drawing/2014/main" id="{5D2D176E-D192-F6A2-64F3-0F9B31D6C09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040313" y="5575302"/>
            <a:ext cx="274434" cy="27699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 sz="1200"/>
              <a:t>=</a:t>
            </a:r>
          </a:p>
        </p:txBody>
      </p:sp>
      <p:graphicFrame>
        <p:nvGraphicFramePr>
          <p:cNvPr id="91537" name="Group 401">
            <a:extLst>
              <a:ext uri="{FF2B5EF4-FFF2-40B4-BE49-F238E27FC236}">
                <a16:creationId xmlns:a16="http://schemas.microsoft.com/office/drawing/2014/main" id="{A0C4B523-B746-DAB4-7369-6362358542E6}"/>
              </a:ext>
            </a:extLst>
          </p:cNvPr>
          <p:cNvGraphicFramePr>
            <a:graphicFrameLocks noGrp="1"/>
          </p:cNvGraphicFramePr>
          <p:nvPr/>
        </p:nvGraphicFramePr>
        <p:xfrm>
          <a:off x="3795714" y="5213350"/>
          <a:ext cx="1257300" cy="1049339"/>
        </p:xfrm>
        <a:graphic>
          <a:graphicData uri="http://schemas.openxmlformats.org/drawingml/2006/table">
            <a:tbl>
              <a:tblPr/>
              <a:tblGrid>
                <a:gridCol w="419100">
                  <a:extLst>
                    <a:ext uri="{9D8B030D-6E8A-4147-A177-3AD203B41FA5}">
                      <a16:colId xmlns:a16="http://schemas.microsoft.com/office/drawing/2014/main" val="693983906"/>
                    </a:ext>
                  </a:extLst>
                </a:gridCol>
                <a:gridCol w="419100">
                  <a:extLst>
                    <a:ext uri="{9D8B030D-6E8A-4147-A177-3AD203B41FA5}">
                      <a16:colId xmlns:a16="http://schemas.microsoft.com/office/drawing/2014/main" val="2220922922"/>
                    </a:ext>
                  </a:extLst>
                </a:gridCol>
                <a:gridCol w="419100">
                  <a:extLst>
                    <a:ext uri="{9D8B030D-6E8A-4147-A177-3AD203B41FA5}">
                      <a16:colId xmlns:a16="http://schemas.microsoft.com/office/drawing/2014/main" val="2381161269"/>
                    </a:ext>
                  </a:extLst>
                </a:gridCol>
              </a:tblGrid>
              <a:tr h="349251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b</a:t>
                      </a:r>
                      <a:r>
                        <a:rPr kumimoji="0" lang="en-US" altLang="en-US" sz="1200" b="0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00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76FF4B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b</a:t>
                      </a:r>
                      <a:r>
                        <a:rPr kumimoji="0" lang="en-US" altLang="en-US" sz="1200" b="0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01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76FF4B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b</a:t>
                      </a:r>
                      <a:r>
                        <a:rPr kumimoji="0" lang="en-US" altLang="en-US" sz="1200" b="0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02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76FF4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0702088"/>
                  </a:ext>
                </a:extLst>
              </a:tr>
              <a:tr h="344488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b</a:t>
                      </a:r>
                      <a:r>
                        <a:rPr kumimoji="0" lang="en-US" altLang="en-US" sz="1200" b="0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10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76FF4B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b</a:t>
                      </a:r>
                      <a:r>
                        <a:rPr kumimoji="0" lang="en-US" altLang="en-US" sz="1200" b="0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11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76FF4B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b</a:t>
                      </a:r>
                      <a:r>
                        <a:rPr kumimoji="0" lang="en-US" altLang="en-US" sz="1200" b="0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12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76FF4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78964234"/>
                  </a:ext>
                </a:extLst>
              </a:tr>
              <a:tr h="35560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b</a:t>
                      </a:r>
                      <a:r>
                        <a:rPr kumimoji="0" lang="en-US" altLang="en-US" sz="1200" b="0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20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76FF4B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b</a:t>
                      </a:r>
                      <a:r>
                        <a:rPr kumimoji="0" lang="en-US" altLang="en-US" sz="1200" b="0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21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76FF4B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b</a:t>
                      </a:r>
                      <a:r>
                        <a:rPr kumimoji="0" lang="en-US" altLang="en-US" sz="1200" b="0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22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76FF4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96413344"/>
                  </a:ext>
                </a:extLst>
              </a:tr>
            </a:tbl>
          </a:graphicData>
        </a:graphic>
      </p:graphicFrame>
      <p:graphicFrame>
        <p:nvGraphicFramePr>
          <p:cNvPr id="91563" name="Group 427">
            <a:extLst>
              <a:ext uri="{FF2B5EF4-FFF2-40B4-BE49-F238E27FC236}">
                <a16:creationId xmlns:a16="http://schemas.microsoft.com/office/drawing/2014/main" id="{EF3E4CC9-4CC6-F8F0-EAB0-F9F70E42390C}"/>
              </a:ext>
            </a:extLst>
          </p:cNvPr>
          <p:cNvGraphicFramePr>
            <a:graphicFrameLocks noGrp="1"/>
          </p:cNvGraphicFramePr>
          <p:nvPr/>
        </p:nvGraphicFramePr>
        <p:xfrm>
          <a:off x="5548313" y="5213350"/>
          <a:ext cx="2133600" cy="1049339"/>
        </p:xfrm>
        <a:graphic>
          <a:graphicData uri="http://schemas.openxmlformats.org/drawingml/2006/table">
            <a:tbl>
              <a:tblPr/>
              <a:tblGrid>
                <a:gridCol w="711200">
                  <a:extLst>
                    <a:ext uri="{9D8B030D-6E8A-4147-A177-3AD203B41FA5}">
                      <a16:colId xmlns:a16="http://schemas.microsoft.com/office/drawing/2014/main" val="688898655"/>
                    </a:ext>
                  </a:extLst>
                </a:gridCol>
                <a:gridCol w="711200">
                  <a:extLst>
                    <a:ext uri="{9D8B030D-6E8A-4147-A177-3AD203B41FA5}">
                      <a16:colId xmlns:a16="http://schemas.microsoft.com/office/drawing/2014/main" val="3018811465"/>
                    </a:ext>
                  </a:extLst>
                </a:gridCol>
                <a:gridCol w="711200">
                  <a:extLst>
                    <a:ext uri="{9D8B030D-6E8A-4147-A177-3AD203B41FA5}">
                      <a16:colId xmlns:a16="http://schemas.microsoft.com/office/drawing/2014/main" val="3027869305"/>
                    </a:ext>
                  </a:extLst>
                </a:gridCol>
              </a:tblGrid>
              <a:tr h="349251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a</a:t>
                      </a:r>
                      <a:r>
                        <a:rPr kumimoji="0" lang="en-US" altLang="en-US" sz="1200" b="0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00</a:t>
                      </a:r>
                      <a:r>
                        <a:rPr kumimoji="0" lang="en-US" altLang="en-US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+</a:t>
                      </a:r>
                      <a:r>
                        <a:rPr kumimoji="0" lang="en-US" altLang="en-US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b</a:t>
                      </a:r>
                      <a:r>
                        <a:rPr kumimoji="0" lang="en-US" altLang="en-US" sz="1200" b="0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00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839CCF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a</a:t>
                      </a:r>
                      <a:r>
                        <a:rPr kumimoji="0" lang="en-US" altLang="en-US" sz="1200" b="0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01</a:t>
                      </a:r>
                      <a:r>
                        <a:rPr kumimoji="0" lang="en-US" altLang="en-US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+</a:t>
                      </a:r>
                      <a:r>
                        <a:rPr kumimoji="0" lang="en-US" altLang="en-US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b</a:t>
                      </a:r>
                      <a:r>
                        <a:rPr kumimoji="0" lang="en-US" altLang="en-US" sz="1200" b="0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01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839CCF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a</a:t>
                      </a:r>
                      <a:r>
                        <a:rPr kumimoji="0" lang="en-US" altLang="en-US" sz="1200" b="0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02</a:t>
                      </a:r>
                      <a:r>
                        <a:rPr kumimoji="0" lang="en-US" altLang="en-US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+</a:t>
                      </a:r>
                      <a:r>
                        <a:rPr kumimoji="0" lang="en-US" altLang="en-US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b</a:t>
                      </a:r>
                      <a:r>
                        <a:rPr kumimoji="0" lang="en-US" altLang="en-US" sz="1200" b="0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02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839CC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05294134"/>
                  </a:ext>
                </a:extLst>
              </a:tr>
              <a:tr h="344488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a</a:t>
                      </a:r>
                      <a:r>
                        <a:rPr kumimoji="0" lang="en-US" altLang="en-US" sz="1200" b="0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10</a:t>
                      </a:r>
                      <a:r>
                        <a:rPr kumimoji="0" lang="en-US" altLang="en-US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+</a:t>
                      </a:r>
                      <a:r>
                        <a:rPr kumimoji="0" lang="en-US" altLang="en-US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b</a:t>
                      </a:r>
                      <a:r>
                        <a:rPr kumimoji="0" lang="en-US" altLang="en-US" sz="1200" b="0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10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839CCF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a</a:t>
                      </a:r>
                      <a:r>
                        <a:rPr kumimoji="0" lang="en-US" altLang="en-US" sz="1200" b="0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11</a:t>
                      </a:r>
                      <a:r>
                        <a:rPr kumimoji="0" lang="en-US" altLang="en-US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+</a:t>
                      </a:r>
                      <a:r>
                        <a:rPr kumimoji="0" lang="en-US" altLang="en-US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b</a:t>
                      </a:r>
                      <a:r>
                        <a:rPr kumimoji="0" lang="en-US" altLang="en-US" sz="1200" b="0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11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839CCF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a</a:t>
                      </a:r>
                      <a:r>
                        <a:rPr kumimoji="0" lang="en-US" altLang="en-US" sz="1200" b="0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12</a:t>
                      </a:r>
                      <a:r>
                        <a:rPr kumimoji="0" lang="en-US" altLang="en-US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+</a:t>
                      </a:r>
                      <a:r>
                        <a:rPr kumimoji="0" lang="en-US" altLang="en-US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b</a:t>
                      </a:r>
                      <a:r>
                        <a:rPr kumimoji="0" lang="en-US" altLang="en-US" sz="1200" b="0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12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839CC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96975606"/>
                  </a:ext>
                </a:extLst>
              </a:tr>
              <a:tr h="35560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a</a:t>
                      </a:r>
                      <a:r>
                        <a:rPr kumimoji="0" lang="en-US" altLang="en-US" sz="1200" b="0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20</a:t>
                      </a:r>
                      <a:r>
                        <a:rPr kumimoji="0" lang="en-US" altLang="en-US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+</a:t>
                      </a:r>
                      <a:r>
                        <a:rPr kumimoji="0" lang="en-US" altLang="en-US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b</a:t>
                      </a:r>
                      <a:r>
                        <a:rPr kumimoji="0" lang="en-US" altLang="en-US" sz="1200" b="0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20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839CCF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a</a:t>
                      </a:r>
                      <a:r>
                        <a:rPr kumimoji="0" lang="en-US" altLang="en-US" sz="1200" b="0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21</a:t>
                      </a:r>
                      <a:r>
                        <a:rPr kumimoji="0" lang="en-US" altLang="en-US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+</a:t>
                      </a:r>
                      <a:r>
                        <a:rPr kumimoji="0" lang="en-US" altLang="en-US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b</a:t>
                      </a:r>
                      <a:r>
                        <a:rPr kumimoji="0" lang="en-US" altLang="en-US" sz="1200" b="0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21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839CCF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a</a:t>
                      </a:r>
                      <a:r>
                        <a:rPr kumimoji="0" lang="en-US" altLang="en-US" sz="1200" b="0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22</a:t>
                      </a:r>
                      <a:r>
                        <a:rPr kumimoji="0" lang="en-US" altLang="en-US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+</a:t>
                      </a:r>
                      <a:r>
                        <a:rPr kumimoji="0" lang="en-US" altLang="en-US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b</a:t>
                      </a:r>
                      <a:r>
                        <a:rPr kumimoji="0" lang="en-US" altLang="en-US" sz="1200" b="0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22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839CC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50037141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0834" name="Picture 2">
            <a:extLst>
              <a:ext uri="{FF2B5EF4-FFF2-40B4-BE49-F238E27FC236}">
                <a16:creationId xmlns:a16="http://schemas.microsoft.com/office/drawing/2014/main" id="{80B7D1EE-21AE-3120-4253-A085A4CB835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97477" y="1719263"/>
            <a:ext cx="5470525" cy="33004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20835" name="Rectangle 3">
            <a:extLst>
              <a:ext uri="{FF2B5EF4-FFF2-40B4-BE49-F238E27FC236}">
                <a16:creationId xmlns:a16="http://schemas.microsoft.com/office/drawing/2014/main" id="{85487A32-28C0-B3ED-E3BF-FD34C73F2D2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en-US"/>
              <a:t>Algebras </a:t>
            </a:r>
          </a:p>
        </p:txBody>
      </p:sp>
      <p:sp>
        <p:nvSpPr>
          <p:cNvPr id="120836" name="Rectangle 4">
            <a:extLst>
              <a:ext uri="{FF2B5EF4-FFF2-40B4-BE49-F238E27FC236}">
                <a16:creationId xmlns:a16="http://schemas.microsoft.com/office/drawing/2014/main" id="{BCACD0F3-4743-4DB0-3616-3C1351468ABD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/>
        <p:txBody>
          <a:bodyPr/>
          <a:lstStyle/>
          <a:p>
            <a:pPr>
              <a:buFontTx/>
              <a:buNone/>
            </a:pPr>
            <a:r>
              <a:rPr lang="en-US" altLang="en-US" sz="1800"/>
              <a:t>Subtraction</a:t>
            </a:r>
          </a:p>
        </p:txBody>
      </p:sp>
      <p:graphicFrame>
        <p:nvGraphicFramePr>
          <p:cNvPr id="120869" name="Object 37">
            <a:extLst>
              <a:ext uri="{FF2B5EF4-FFF2-40B4-BE49-F238E27FC236}">
                <a16:creationId xmlns:a16="http://schemas.microsoft.com/office/drawing/2014/main" id="{ABDE9234-7863-5C02-0C53-1A17AAD64573}"/>
              </a:ext>
            </a:extLst>
          </p:cNvPr>
          <p:cNvGraphicFramePr>
            <a:graphicFrameLocks noGrp="1" noChangeAspect="1"/>
          </p:cNvGraphicFramePr>
          <p:nvPr>
            <p:ph sz="half" idx="2"/>
          </p:nvPr>
        </p:nvGraphicFramePr>
        <p:xfrm>
          <a:off x="2079625" y="3259138"/>
          <a:ext cx="2095500" cy="6889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Worksheet" r:id="rId3" imgW="2171839" imgH="714652" progId="Excel.Sheet.8">
                  <p:embed/>
                </p:oleObj>
              </mc:Choice>
              <mc:Fallback>
                <p:oleObj name="Worksheet" r:id="rId3" imgW="2171839" imgH="714652" progId="Excel.Sheet.8">
                  <p:embed/>
                  <p:pic>
                    <p:nvPicPr>
                      <p:cNvPr id="120869" name="Object 37">
                        <a:extLst>
                          <a:ext uri="{FF2B5EF4-FFF2-40B4-BE49-F238E27FC236}">
                            <a16:creationId xmlns:a16="http://schemas.microsoft.com/office/drawing/2014/main" id="{ABDE9234-7863-5C02-0C53-1A17AAD64573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79625" y="3259138"/>
                        <a:ext cx="2095500" cy="6889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0837" name="Group 5">
            <a:extLst>
              <a:ext uri="{FF2B5EF4-FFF2-40B4-BE49-F238E27FC236}">
                <a16:creationId xmlns:a16="http://schemas.microsoft.com/office/drawing/2014/main" id="{D33CDA00-0AAF-5859-DA71-EF5E56946D63}"/>
              </a:ext>
            </a:extLst>
          </p:cNvPr>
          <p:cNvGraphicFramePr>
            <a:graphicFrameLocks noGrp="1"/>
          </p:cNvGraphicFramePr>
          <p:nvPr/>
        </p:nvGraphicFramePr>
        <p:xfrm>
          <a:off x="2057403" y="1752601"/>
          <a:ext cx="347663" cy="1049339"/>
        </p:xfrm>
        <a:graphic>
          <a:graphicData uri="http://schemas.openxmlformats.org/drawingml/2006/table">
            <a:tbl>
              <a:tblPr/>
              <a:tblGrid>
                <a:gridCol w="347663">
                  <a:extLst>
                    <a:ext uri="{9D8B030D-6E8A-4147-A177-3AD203B41FA5}">
                      <a16:colId xmlns:a16="http://schemas.microsoft.com/office/drawing/2014/main" val="1876257431"/>
                    </a:ext>
                  </a:extLst>
                </a:gridCol>
              </a:tblGrid>
              <a:tr h="349251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a</a:t>
                      </a:r>
                      <a:r>
                        <a:rPr kumimoji="0" lang="en-US" altLang="en-US" sz="1200" b="0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i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7D7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99245616"/>
                  </a:ext>
                </a:extLst>
              </a:tr>
              <a:tr h="344488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a</a:t>
                      </a:r>
                      <a:r>
                        <a:rPr kumimoji="0" lang="en-US" altLang="en-US" sz="1200" b="0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j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7D7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6766674"/>
                  </a:ext>
                </a:extLst>
              </a:tr>
              <a:tr h="35560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a</a:t>
                      </a:r>
                      <a:r>
                        <a:rPr kumimoji="0" lang="en-US" altLang="en-US" sz="1200" b="0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k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7D7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5272649"/>
                  </a:ext>
                </a:extLst>
              </a:tr>
            </a:tbl>
          </a:graphicData>
        </a:graphic>
      </p:graphicFrame>
      <p:graphicFrame>
        <p:nvGraphicFramePr>
          <p:cNvPr id="120847" name="Group 15">
            <a:extLst>
              <a:ext uri="{FF2B5EF4-FFF2-40B4-BE49-F238E27FC236}">
                <a16:creationId xmlns:a16="http://schemas.microsoft.com/office/drawing/2014/main" id="{6B770524-3A69-F501-862A-5B2F5C5B9969}"/>
              </a:ext>
            </a:extLst>
          </p:cNvPr>
          <p:cNvGraphicFramePr>
            <a:graphicFrameLocks noGrp="1"/>
          </p:cNvGraphicFramePr>
          <p:nvPr/>
        </p:nvGraphicFramePr>
        <p:xfrm>
          <a:off x="2971801" y="1752601"/>
          <a:ext cx="339725" cy="1049341"/>
        </p:xfrm>
        <a:graphic>
          <a:graphicData uri="http://schemas.openxmlformats.org/drawingml/2006/table">
            <a:tbl>
              <a:tblPr/>
              <a:tblGrid>
                <a:gridCol w="339725">
                  <a:extLst>
                    <a:ext uri="{9D8B030D-6E8A-4147-A177-3AD203B41FA5}">
                      <a16:colId xmlns:a16="http://schemas.microsoft.com/office/drawing/2014/main" val="2400965233"/>
                    </a:ext>
                  </a:extLst>
                </a:gridCol>
              </a:tblGrid>
              <a:tr h="338139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b</a:t>
                      </a:r>
                      <a:r>
                        <a:rPr kumimoji="0" lang="en-US" altLang="en-US" sz="1200" b="0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i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76FF4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59728065"/>
                  </a:ext>
                </a:extLst>
              </a:tr>
              <a:tr h="350839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b</a:t>
                      </a:r>
                      <a:r>
                        <a:rPr kumimoji="0" lang="en-US" altLang="en-US" sz="1200" b="0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j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76FF4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71255836"/>
                  </a:ext>
                </a:extLst>
              </a:tr>
              <a:tr h="360363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b</a:t>
                      </a:r>
                      <a:r>
                        <a:rPr kumimoji="0" lang="en-US" altLang="en-US" sz="1200" b="0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k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76FF4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97728511"/>
                  </a:ext>
                </a:extLst>
              </a:tr>
            </a:tbl>
          </a:graphicData>
        </a:graphic>
      </p:graphicFrame>
      <p:sp>
        <p:nvSpPr>
          <p:cNvPr id="120857" name="Text Box 25">
            <a:extLst>
              <a:ext uri="{FF2B5EF4-FFF2-40B4-BE49-F238E27FC236}">
                <a16:creationId xmlns:a16="http://schemas.microsoft.com/office/drawing/2014/main" id="{22DA38BF-B3C3-C4B8-FA76-F4D0917597D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46349" y="2190752"/>
            <a:ext cx="235962" cy="27699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 sz="1200"/>
              <a:t>-</a:t>
            </a:r>
          </a:p>
        </p:txBody>
      </p:sp>
      <p:graphicFrame>
        <p:nvGraphicFramePr>
          <p:cNvPr id="120858" name="Group 26">
            <a:extLst>
              <a:ext uri="{FF2B5EF4-FFF2-40B4-BE49-F238E27FC236}">
                <a16:creationId xmlns:a16="http://schemas.microsoft.com/office/drawing/2014/main" id="{79652E14-9279-A734-1B53-750BFB236A3D}"/>
              </a:ext>
            </a:extLst>
          </p:cNvPr>
          <p:cNvGraphicFramePr>
            <a:graphicFrameLocks noGrp="1"/>
          </p:cNvGraphicFramePr>
          <p:nvPr/>
        </p:nvGraphicFramePr>
        <p:xfrm>
          <a:off x="3886201" y="1752600"/>
          <a:ext cx="520700" cy="1092202"/>
        </p:xfrm>
        <a:graphic>
          <a:graphicData uri="http://schemas.openxmlformats.org/drawingml/2006/table">
            <a:tbl>
              <a:tblPr/>
              <a:tblGrid>
                <a:gridCol w="520700">
                  <a:extLst>
                    <a:ext uri="{9D8B030D-6E8A-4147-A177-3AD203B41FA5}">
                      <a16:colId xmlns:a16="http://schemas.microsoft.com/office/drawing/2014/main" val="790732728"/>
                    </a:ext>
                  </a:extLst>
                </a:gridCol>
              </a:tblGrid>
              <a:tr h="38100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a</a:t>
                      </a:r>
                      <a:r>
                        <a:rPr kumimoji="0" lang="en-US" altLang="en-US" sz="1200" b="0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i</a:t>
                      </a:r>
                      <a:r>
                        <a:rPr kumimoji="0" lang="en-US" altLang="en-US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-</a:t>
                      </a:r>
                      <a:r>
                        <a:rPr kumimoji="0" lang="en-US" altLang="en-US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b</a:t>
                      </a:r>
                      <a:r>
                        <a:rPr kumimoji="0" lang="en-US" altLang="en-US" sz="1200" b="0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i</a:t>
                      </a:r>
                    </a:p>
                  </a:txBody>
                  <a:tcPr marL="0" marR="0" marT="0" marB="0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839CC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61268731"/>
                  </a:ext>
                </a:extLst>
              </a:tr>
              <a:tr h="350839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a</a:t>
                      </a:r>
                      <a:r>
                        <a:rPr kumimoji="0" lang="en-US" altLang="en-US" sz="1200" b="1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j</a:t>
                      </a:r>
                      <a:r>
                        <a:rPr kumimoji="0" lang="en-US" altLang="en-US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-</a:t>
                      </a:r>
                      <a:r>
                        <a:rPr kumimoji="0" lang="en-US" altLang="en-US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b</a:t>
                      </a:r>
                      <a:r>
                        <a:rPr kumimoji="0" lang="en-US" altLang="en-US" sz="1200" b="0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i</a:t>
                      </a:r>
                    </a:p>
                  </a:txBody>
                  <a:tcPr marL="0" marR="0" marT="0" marB="0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839CC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39498110"/>
                  </a:ext>
                </a:extLst>
              </a:tr>
              <a:tr h="360363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a</a:t>
                      </a:r>
                      <a:r>
                        <a:rPr kumimoji="0" lang="en-US" altLang="en-US" sz="1200" b="0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k</a:t>
                      </a:r>
                      <a:r>
                        <a:rPr kumimoji="0" lang="en-US" altLang="en-US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-</a:t>
                      </a:r>
                      <a:r>
                        <a:rPr kumimoji="0" lang="en-US" altLang="en-US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b</a:t>
                      </a:r>
                      <a:r>
                        <a:rPr kumimoji="0" lang="en-US" altLang="en-US" sz="1200" b="0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k</a:t>
                      </a:r>
                    </a:p>
                  </a:txBody>
                  <a:tcPr marL="0" marR="0" marT="0" marB="0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839CC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81159114"/>
                  </a:ext>
                </a:extLst>
              </a:tr>
            </a:tbl>
          </a:graphicData>
        </a:graphic>
      </p:graphicFrame>
      <p:sp>
        <p:nvSpPr>
          <p:cNvPr id="120868" name="Text Box 36">
            <a:extLst>
              <a:ext uri="{FF2B5EF4-FFF2-40B4-BE49-F238E27FC236}">
                <a16:creationId xmlns:a16="http://schemas.microsoft.com/office/drawing/2014/main" id="{DF824D8D-2127-6C59-5501-84E4FCF69F1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460751" y="2114552"/>
            <a:ext cx="274434" cy="27699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 sz="1200"/>
              <a:t>=</a:t>
            </a:r>
          </a:p>
        </p:txBody>
      </p:sp>
      <p:sp>
        <p:nvSpPr>
          <p:cNvPr id="120870" name="Text Box 38">
            <a:extLst>
              <a:ext uri="{FF2B5EF4-FFF2-40B4-BE49-F238E27FC236}">
                <a16:creationId xmlns:a16="http://schemas.microsoft.com/office/drawing/2014/main" id="{0B295930-B40A-FB72-BAB6-D188C984009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66975" y="1217613"/>
            <a:ext cx="1050288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 b="1"/>
              <a:t>a</a:t>
            </a:r>
            <a:r>
              <a:rPr lang="en-US" altLang="en-US"/>
              <a:t> - </a:t>
            </a:r>
            <a:r>
              <a:rPr lang="en-US" altLang="en-US" b="1"/>
              <a:t>b</a:t>
            </a:r>
            <a:r>
              <a:rPr lang="en-US" altLang="en-US"/>
              <a:t> = </a:t>
            </a:r>
            <a:r>
              <a:rPr lang="en-US" altLang="en-US" b="1"/>
              <a:t>c</a:t>
            </a:r>
          </a:p>
        </p:txBody>
      </p:sp>
      <p:graphicFrame>
        <p:nvGraphicFramePr>
          <p:cNvPr id="120871" name="Object 39">
            <a:extLst>
              <a:ext uri="{FF2B5EF4-FFF2-40B4-BE49-F238E27FC236}">
                <a16:creationId xmlns:a16="http://schemas.microsoft.com/office/drawing/2014/main" id="{9A4EDC9A-41DB-04C7-DE19-615F48D114CF}"/>
              </a:ext>
            </a:extLst>
          </p:cNvPr>
          <p:cNvGraphicFramePr>
            <a:graphicFrameLocks noChangeAspect="1"/>
          </p:cNvGraphicFramePr>
          <p:nvPr/>
        </p:nvGraphicFramePr>
        <p:xfrm>
          <a:off x="7586665" y="1212852"/>
          <a:ext cx="1082675" cy="3984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787320" imgH="241200" progId="Equation.3">
                  <p:embed/>
                </p:oleObj>
              </mc:Choice>
              <mc:Fallback>
                <p:oleObj name="Equation" r:id="rId5" imgW="787320" imgH="241200" progId="Equation.3">
                  <p:embed/>
                  <p:pic>
                    <p:nvPicPr>
                      <p:cNvPr id="120871" name="Object 39">
                        <a:extLst>
                          <a:ext uri="{FF2B5EF4-FFF2-40B4-BE49-F238E27FC236}">
                            <a16:creationId xmlns:a16="http://schemas.microsoft.com/office/drawing/2014/main" id="{9A4EDC9A-41DB-04C7-DE19-615F48D114CF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586665" y="1212852"/>
                        <a:ext cx="1082675" cy="3984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0872" name="Object 40">
            <a:extLst>
              <a:ext uri="{FF2B5EF4-FFF2-40B4-BE49-F238E27FC236}">
                <a16:creationId xmlns:a16="http://schemas.microsoft.com/office/drawing/2014/main" id="{3F247167-2B2C-57F8-106A-DB5569100157}"/>
              </a:ext>
            </a:extLst>
          </p:cNvPr>
          <p:cNvGraphicFramePr>
            <a:graphicFrameLocks noChangeAspect="1"/>
          </p:cNvGraphicFramePr>
          <p:nvPr/>
        </p:nvGraphicFramePr>
        <p:xfrm>
          <a:off x="7705725" y="3387727"/>
          <a:ext cx="192088" cy="3143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7" imgW="139680" imgH="190440" progId="Equation.3">
                  <p:embed/>
                </p:oleObj>
              </mc:Choice>
              <mc:Fallback>
                <p:oleObj name="Equation" r:id="rId7" imgW="139680" imgH="190440" progId="Equation.3">
                  <p:embed/>
                  <p:pic>
                    <p:nvPicPr>
                      <p:cNvPr id="120872" name="Object 40">
                        <a:extLst>
                          <a:ext uri="{FF2B5EF4-FFF2-40B4-BE49-F238E27FC236}">
                            <a16:creationId xmlns:a16="http://schemas.microsoft.com/office/drawing/2014/main" id="{3F247167-2B2C-57F8-106A-DB5569100157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705725" y="3387727"/>
                        <a:ext cx="192088" cy="3143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0873" name="Object 41">
            <a:extLst>
              <a:ext uri="{FF2B5EF4-FFF2-40B4-BE49-F238E27FC236}">
                <a16:creationId xmlns:a16="http://schemas.microsoft.com/office/drawing/2014/main" id="{11814EE9-B016-548E-C3E6-F17B817A8B46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507166" y="4305300"/>
          <a:ext cx="192087" cy="355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9" imgW="139680" imgH="215640" progId="Equation.3">
                  <p:embed/>
                </p:oleObj>
              </mc:Choice>
              <mc:Fallback>
                <p:oleObj name="Equation" r:id="rId9" imgW="139680" imgH="215640" progId="Equation.3">
                  <p:embed/>
                  <p:pic>
                    <p:nvPicPr>
                      <p:cNvPr id="120873" name="Object 41">
                        <a:extLst>
                          <a:ext uri="{FF2B5EF4-FFF2-40B4-BE49-F238E27FC236}">
                            <a16:creationId xmlns:a16="http://schemas.microsoft.com/office/drawing/2014/main" id="{11814EE9-B016-548E-C3E6-F17B817A8B46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507166" y="4305300"/>
                        <a:ext cx="192087" cy="355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0874" name="Object 42">
            <a:extLst>
              <a:ext uri="{FF2B5EF4-FFF2-40B4-BE49-F238E27FC236}">
                <a16:creationId xmlns:a16="http://schemas.microsoft.com/office/drawing/2014/main" id="{8DFAE22A-A3AC-50B7-98AD-F06DDB211557}"/>
              </a:ext>
            </a:extLst>
          </p:cNvPr>
          <p:cNvGraphicFramePr>
            <a:graphicFrameLocks noChangeAspect="1"/>
          </p:cNvGraphicFramePr>
          <p:nvPr/>
        </p:nvGraphicFramePr>
        <p:xfrm>
          <a:off x="9136066" y="4251327"/>
          <a:ext cx="174625" cy="3143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1" imgW="126720" imgH="190440" progId="Equation.3">
                  <p:embed/>
                </p:oleObj>
              </mc:Choice>
              <mc:Fallback>
                <p:oleObj name="Equation" r:id="rId11" imgW="126720" imgH="190440" progId="Equation.3">
                  <p:embed/>
                  <p:pic>
                    <p:nvPicPr>
                      <p:cNvPr id="120874" name="Object 42">
                        <a:extLst>
                          <a:ext uri="{FF2B5EF4-FFF2-40B4-BE49-F238E27FC236}">
                            <a16:creationId xmlns:a16="http://schemas.microsoft.com/office/drawing/2014/main" id="{8DFAE22A-A3AC-50B7-98AD-F06DDB211557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136066" y="4251327"/>
                        <a:ext cx="174625" cy="3143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0875" name="Object 43">
            <a:extLst>
              <a:ext uri="{FF2B5EF4-FFF2-40B4-BE49-F238E27FC236}">
                <a16:creationId xmlns:a16="http://schemas.microsoft.com/office/drawing/2014/main" id="{FE3BEA02-520B-5D32-B3FC-BFAE8455E385}"/>
              </a:ext>
            </a:extLst>
          </p:cNvPr>
          <p:cNvGraphicFramePr>
            <a:graphicFrameLocks noChangeAspect="1"/>
          </p:cNvGraphicFramePr>
          <p:nvPr/>
        </p:nvGraphicFramePr>
        <p:xfrm>
          <a:off x="9013826" y="2185988"/>
          <a:ext cx="331788" cy="355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3" imgW="241200" imgH="215640" progId="Equation.3">
                  <p:embed/>
                </p:oleObj>
              </mc:Choice>
              <mc:Fallback>
                <p:oleObj name="Equation" r:id="rId13" imgW="241200" imgH="215640" progId="Equation.3">
                  <p:embed/>
                  <p:pic>
                    <p:nvPicPr>
                      <p:cNvPr id="120875" name="Object 43">
                        <a:extLst>
                          <a:ext uri="{FF2B5EF4-FFF2-40B4-BE49-F238E27FC236}">
                            <a16:creationId xmlns:a16="http://schemas.microsoft.com/office/drawing/2014/main" id="{FE3BEA02-520B-5D32-B3FC-BFAE8455E385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013826" y="2185988"/>
                        <a:ext cx="331788" cy="355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0876" name="Group 44">
            <a:extLst>
              <a:ext uri="{FF2B5EF4-FFF2-40B4-BE49-F238E27FC236}">
                <a16:creationId xmlns:a16="http://schemas.microsoft.com/office/drawing/2014/main" id="{D0E8D60A-9204-B238-BB09-DB177A152229}"/>
              </a:ext>
            </a:extLst>
          </p:cNvPr>
          <p:cNvGraphicFramePr>
            <a:graphicFrameLocks noGrp="1"/>
          </p:cNvGraphicFramePr>
          <p:nvPr/>
        </p:nvGraphicFramePr>
        <p:xfrm>
          <a:off x="2057401" y="5213350"/>
          <a:ext cx="1257300" cy="1049339"/>
        </p:xfrm>
        <a:graphic>
          <a:graphicData uri="http://schemas.openxmlformats.org/drawingml/2006/table">
            <a:tbl>
              <a:tblPr/>
              <a:tblGrid>
                <a:gridCol w="419100">
                  <a:extLst>
                    <a:ext uri="{9D8B030D-6E8A-4147-A177-3AD203B41FA5}">
                      <a16:colId xmlns:a16="http://schemas.microsoft.com/office/drawing/2014/main" val="242281762"/>
                    </a:ext>
                  </a:extLst>
                </a:gridCol>
                <a:gridCol w="419100">
                  <a:extLst>
                    <a:ext uri="{9D8B030D-6E8A-4147-A177-3AD203B41FA5}">
                      <a16:colId xmlns:a16="http://schemas.microsoft.com/office/drawing/2014/main" val="3323587944"/>
                    </a:ext>
                  </a:extLst>
                </a:gridCol>
                <a:gridCol w="419100">
                  <a:extLst>
                    <a:ext uri="{9D8B030D-6E8A-4147-A177-3AD203B41FA5}">
                      <a16:colId xmlns:a16="http://schemas.microsoft.com/office/drawing/2014/main" val="4076910136"/>
                    </a:ext>
                  </a:extLst>
                </a:gridCol>
              </a:tblGrid>
              <a:tr h="349251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a</a:t>
                      </a:r>
                      <a:r>
                        <a:rPr kumimoji="0" lang="en-US" altLang="en-US" sz="1200" b="0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00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7D7D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a</a:t>
                      </a:r>
                      <a:r>
                        <a:rPr kumimoji="0" lang="en-US" altLang="en-US" sz="1200" b="0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01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7D7D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a</a:t>
                      </a:r>
                      <a:r>
                        <a:rPr kumimoji="0" lang="en-US" altLang="en-US" sz="1200" b="0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02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7D7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7960154"/>
                  </a:ext>
                </a:extLst>
              </a:tr>
              <a:tr h="344488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a</a:t>
                      </a:r>
                      <a:r>
                        <a:rPr kumimoji="0" lang="en-US" altLang="en-US" sz="1200" b="0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10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7D7D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a</a:t>
                      </a:r>
                      <a:r>
                        <a:rPr kumimoji="0" lang="en-US" altLang="en-US" sz="1200" b="0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11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7D7D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a</a:t>
                      </a:r>
                      <a:r>
                        <a:rPr kumimoji="0" lang="en-US" altLang="en-US" sz="1200" b="0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12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7D7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81804017"/>
                  </a:ext>
                </a:extLst>
              </a:tr>
              <a:tr h="35560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a</a:t>
                      </a:r>
                      <a:r>
                        <a:rPr kumimoji="0" lang="en-US" altLang="en-US" sz="1200" b="0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20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7D7D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a</a:t>
                      </a:r>
                      <a:r>
                        <a:rPr kumimoji="0" lang="en-US" altLang="en-US" sz="1200" b="0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21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7D7D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a</a:t>
                      </a:r>
                      <a:r>
                        <a:rPr kumimoji="0" lang="en-US" altLang="en-US" sz="1200" b="0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22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7D7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20733413"/>
                  </a:ext>
                </a:extLst>
              </a:tr>
            </a:tbl>
          </a:graphicData>
        </a:graphic>
      </p:graphicFrame>
      <p:sp>
        <p:nvSpPr>
          <p:cNvPr id="120894" name="Text Box 62">
            <a:extLst>
              <a:ext uri="{FF2B5EF4-FFF2-40B4-BE49-F238E27FC236}">
                <a16:creationId xmlns:a16="http://schemas.microsoft.com/office/drawing/2014/main" id="{4FEB9909-2B7D-D42A-FE77-5C550C42444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05200" y="5670552"/>
            <a:ext cx="235962" cy="27699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 sz="1200"/>
              <a:t>-</a:t>
            </a:r>
          </a:p>
        </p:txBody>
      </p:sp>
      <p:sp>
        <p:nvSpPr>
          <p:cNvPr id="120895" name="Text Box 63">
            <a:extLst>
              <a:ext uri="{FF2B5EF4-FFF2-40B4-BE49-F238E27FC236}">
                <a16:creationId xmlns:a16="http://schemas.microsoft.com/office/drawing/2014/main" id="{4A91BA7B-8405-ADF6-ECBE-62DACEB2273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040313" y="5575302"/>
            <a:ext cx="274434" cy="27699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 sz="1200"/>
              <a:t>=</a:t>
            </a:r>
          </a:p>
        </p:txBody>
      </p:sp>
      <p:graphicFrame>
        <p:nvGraphicFramePr>
          <p:cNvPr id="120896" name="Group 64">
            <a:extLst>
              <a:ext uri="{FF2B5EF4-FFF2-40B4-BE49-F238E27FC236}">
                <a16:creationId xmlns:a16="http://schemas.microsoft.com/office/drawing/2014/main" id="{C6604208-EDA0-13C1-B513-56B1BD45493D}"/>
              </a:ext>
            </a:extLst>
          </p:cNvPr>
          <p:cNvGraphicFramePr>
            <a:graphicFrameLocks noGrp="1"/>
          </p:cNvGraphicFramePr>
          <p:nvPr/>
        </p:nvGraphicFramePr>
        <p:xfrm>
          <a:off x="3795714" y="5213350"/>
          <a:ext cx="1257300" cy="1049339"/>
        </p:xfrm>
        <a:graphic>
          <a:graphicData uri="http://schemas.openxmlformats.org/drawingml/2006/table">
            <a:tbl>
              <a:tblPr/>
              <a:tblGrid>
                <a:gridCol w="419100">
                  <a:extLst>
                    <a:ext uri="{9D8B030D-6E8A-4147-A177-3AD203B41FA5}">
                      <a16:colId xmlns:a16="http://schemas.microsoft.com/office/drawing/2014/main" val="2847264946"/>
                    </a:ext>
                  </a:extLst>
                </a:gridCol>
                <a:gridCol w="419100">
                  <a:extLst>
                    <a:ext uri="{9D8B030D-6E8A-4147-A177-3AD203B41FA5}">
                      <a16:colId xmlns:a16="http://schemas.microsoft.com/office/drawing/2014/main" val="3203005808"/>
                    </a:ext>
                  </a:extLst>
                </a:gridCol>
                <a:gridCol w="419100">
                  <a:extLst>
                    <a:ext uri="{9D8B030D-6E8A-4147-A177-3AD203B41FA5}">
                      <a16:colId xmlns:a16="http://schemas.microsoft.com/office/drawing/2014/main" val="2221764144"/>
                    </a:ext>
                  </a:extLst>
                </a:gridCol>
              </a:tblGrid>
              <a:tr h="349251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b</a:t>
                      </a:r>
                      <a:r>
                        <a:rPr kumimoji="0" lang="en-US" altLang="en-US" sz="1200" b="0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00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76FF4B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b</a:t>
                      </a:r>
                      <a:r>
                        <a:rPr kumimoji="0" lang="en-US" altLang="en-US" sz="1200" b="0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01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76FF4B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b</a:t>
                      </a:r>
                      <a:r>
                        <a:rPr kumimoji="0" lang="en-US" altLang="en-US" sz="1200" b="0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02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76FF4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680685"/>
                  </a:ext>
                </a:extLst>
              </a:tr>
              <a:tr h="344488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b</a:t>
                      </a:r>
                      <a:r>
                        <a:rPr kumimoji="0" lang="en-US" altLang="en-US" sz="1200" b="0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10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76FF4B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b</a:t>
                      </a:r>
                      <a:r>
                        <a:rPr kumimoji="0" lang="en-US" altLang="en-US" sz="1200" b="0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11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76FF4B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b</a:t>
                      </a:r>
                      <a:r>
                        <a:rPr kumimoji="0" lang="en-US" altLang="en-US" sz="1200" b="0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12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76FF4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7892128"/>
                  </a:ext>
                </a:extLst>
              </a:tr>
              <a:tr h="35560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b</a:t>
                      </a:r>
                      <a:r>
                        <a:rPr kumimoji="0" lang="en-US" altLang="en-US" sz="1200" b="0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20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76FF4B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b</a:t>
                      </a:r>
                      <a:r>
                        <a:rPr kumimoji="0" lang="en-US" altLang="en-US" sz="1200" b="0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21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76FF4B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b</a:t>
                      </a:r>
                      <a:r>
                        <a:rPr kumimoji="0" lang="en-US" altLang="en-US" sz="1200" b="0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22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76FF4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37207933"/>
                  </a:ext>
                </a:extLst>
              </a:tr>
            </a:tbl>
          </a:graphicData>
        </a:graphic>
      </p:graphicFrame>
      <p:graphicFrame>
        <p:nvGraphicFramePr>
          <p:cNvPr id="120914" name="Group 82">
            <a:extLst>
              <a:ext uri="{FF2B5EF4-FFF2-40B4-BE49-F238E27FC236}">
                <a16:creationId xmlns:a16="http://schemas.microsoft.com/office/drawing/2014/main" id="{16B63FD1-2486-C541-E111-AA5D15C42C1B}"/>
              </a:ext>
            </a:extLst>
          </p:cNvPr>
          <p:cNvGraphicFramePr>
            <a:graphicFrameLocks noGrp="1"/>
          </p:cNvGraphicFramePr>
          <p:nvPr/>
        </p:nvGraphicFramePr>
        <p:xfrm>
          <a:off x="5548313" y="5213350"/>
          <a:ext cx="2133600" cy="1049339"/>
        </p:xfrm>
        <a:graphic>
          <a:graphicData uri="http://schemas.openxmlformats.org/drawingml/2006/table">
            <a:tbl>
              <a:tblPr/>
              <a:tblGrid>
                <a:gridCol w="711200">
                  <a:extLst>
                    <a:ext uri="{9D8B030D-6E8A-4147-A177-3AD203B41FA5}">
                      <a16:colId xmlns:a16="http://schemas.microsoft.com/office/drawing/2014/main" val="1244940084"/>
                    </a:ext>
                  </a:extLst>
                </a:gridCol>
                <a:gridCol w="711200">
                  <a:extLst>
                    <a:ext uri="{9D8B030D-6E8A-4147-A177-3AD203B41FA5}">
                      <a16:colId xmlns:a16="http://schemas.microsoft.com/office/drawing/2014/main" val="3654979074"/>
                    </a:ext>
                  </a:extLst>
                </a:gridCol>
                <a:gridCol w="711200">
                  <a:extLst>
                    <a:ext uri="{9D8B030D-6E8A-4147-A177-3AD203B41FA5}">
                      <a16:colId xmlns:a16="http://schemas.microsoft.com/office/drawing/2014/main" val="1124601198"/>
                    </a:ext>
                  </a:extLst>
                </a:gridCol>
              </a:tblGrid>
              <a:tr h="349251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a</a:t>
                      </a:r>
                      <a:r>
                        <a:rPr kumimoji="0" lang="en-US" altLang="en-US" sz="1200" b="0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00</a:t>
                      </a:r>
                      <a:r>
                        <a:rPr kumimoji="0" lang="en-US" altLang="en-US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-</a:t>
                      </a:r>
                      <a:r>
                        <a:rPr kumimoji="0" lang="en-US" altLang="en-US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b</a:t>
                      </a:r>
                      <a:r>
                        <a:rPr kumimoji="0" lang="en-US" altLang="en-US" sz="1200" b="0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00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839CCF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a</a:t>
                      </a:r>
                      <a:r>
                        <a:rPr kumimoji="0" lang="en-US" altLang="en-US" sz="1200" b="0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01</a:t>
                      </a:r>
                      <a:r>
                        <a:rPr kumimoji="0" lang="en-US" altLang="en-US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-</a:t>
                      </a:r>
                      <a:r>
                        <a:rPr kumimoji="0" lang="en-US" altLang="en-US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b</a:t>
                      </a:r>
                      <a:r>
                        <a:rPr kumimoji="0" lang="en-US" altLang="en-US" sz="1200" b="0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01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839CCF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a</a:t>
                      </a:r>
                      <a:r>
                        <a:rPr kumimoji="0" lang="en-US" altLang="en-US" sz="1200" b="0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02</a:t>
                      </a:r>
                      <a:r>
                        <a:rPr kumimoji="0" lang="en-US" altLang="en-US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-</a:t>
                      </a:r>
                      <a:r>
                        <a:rPr kumimoji="0" lang="en-US" altLang="en-US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b</a:t>
                      </a:r>
                      <a:r>
                        <a:rPr kumimoji="0" lang="en-US" altLang="en-US" sz="1200" b="0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02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839CC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45767463"/>
                  </a:ext>
                </a:extLst>
              </a:tr>
              <a:tr h="344488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a</a:t>
                      </a:r>
                      <a:r>
                        <a:rPr kumimoji="0" lang="en-US" altLang="en-US" sz="1200" b="0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10</a:t>
                      </a:r>
                      <a:r>
                        <a:rPr kumimoji="0" lang="en-US" altLang="en-US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-</a:t>
                      </a:r>
                      <a:r>
                        <a:rPr kumimoji="0" lang="en-US" altLang="en-US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b</a:t>
                      </a:r>
                      <a:r>
                        <a:rPr kumimoji="0" lang="en-US" altLang="en-US" sz="1200" b="0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10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839CCF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a</a:t>
                      </a:r>
                      <a:r>
                        <a:rPr kumimoji="0" lang="en-US" altLang="en-US" sz="1200" b="0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11</a:t>
                      </a:r>
                      <a:r>
                        <a:rPr kumimoji="0" lang="en-US" altLang="en-US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-</a:t>
                      </a:r>
                      <a:r>
                        <a:rPr kumimoji="0" lang="en-US" altLang="en-US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b</a:t>
                      </a:r>
                      <a:r>
                        <a:rPr kumimoji="0" lang="en-US" altLang="en-US" sz="1200" b="0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11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839CCF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a</a:t>
                      </a:r>
                      <a:r>
                        <a:rPr kumimoji="0" lang="en-US" altLang="en-US" sz="1200" b="0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12</a:t>
                      </a:r>
                      <a:r>
                        <a:rPr kumimoji="0" lang="en-US" altLang="en-US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-</a:t>
                      </a:r>
                      <a:r>
                        <a:rPr kumimoji="0" lang="en-US" altLang="en-US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b</a:t>
                      </a:r>
                      <a:r>
                        <a:rPr kumimoji="0" lang="en-US" altLang="en-US" sz="1200" b="0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12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839CC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30512025"/>
                  </a:ext>
                </a:extLst>
              </a:tr>
              <a:tr h="35560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a</a:t>
                      </a:r>
                      <a:r>
                        <a:rPr kumimoji="0" lang="en-US" altLang="en-US" sz="1200" b="0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20</a:t>
                      </a:r>
                      <a:r>
                        <a:rPr kumimoji="0" lang="en-US" altLang="en-US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-</a:t>
                      </a:r>
                      <a:r>
                        <a:rPr kumimoji="0" lang="en-US" altLang="en-US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b</a:t>
                      </a:r>
                      <a:r>
                        <a:rPr kumimoji="0" lang="en-US" altLang="en-US" sz="1200" b="0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20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839CCF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a</a:t>
                      </a:r>
                      <a:r>
                        <a:rPr kumimoji="0" lang="en-US" altLang="en-US" sz="1200" b="0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21</a:t>
                      </a:r>
                      <a:r>
                        <a:rPr kumimoji="0" lang="en-US" altLang="en-US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-</a:t>
                      </a:r>
                      <a:r>
                        <a:rPr kumimoji="0" lang="en-US" altLang="en-US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b</a:t>
                      </a:r>
                      <a:r>
                        <a:rPr kumimoji="0" lang="en-US" altLang="en-US" sz="1200" b="0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21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839CCF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a</a:t>
                      </a:r>
                      <a:r>
                        <a:rPr kumimoji="0" lang="en-US" altLang="en-US" sz="1200" b="0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22</a:t>
                      </a:r>
                      <a:r>
                        <a:rPr kumimoji="0" lang="en-US" altLang="en-US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-</a:t>
                      </a:r>
                      <a:r>
                        <a:rPr kumimoji="0" lang="en-US" altLang="en-US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b</a:t>
                      </a:r>
                      <a:r>
                        <a:rPr kumimoji="0" lang="en-US" altLang="en-US" sz="1200" b="0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22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839CC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06808321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5755" name="Picture 43">
            <a:extLst>
              <a:ext uri="{FF2B5EF4-FFF2-40B4-BE49-F238E27FC236}">
                <a16:creationId xmlns:a16="http://schemas.microsoft.com/office/drawing/2014/main" id="{691FE7FB-0556-9A1A-C7DF-ED8A15D8C18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92913" y="2395538"/>
            <a:ext cx="3022600" cy="385445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15714" name="Rectangle 2">
            <a:extLst>
              <a:ext uri="{FF2B5EF4-FFF2-40B4-BE49-F238E27FC236}">
                <a16:creationId xmlns:a16="http://schemas.microsoft.com/office/drawing/2014/main" id="{DB6164F3-0B73-9493-FAFB-64C98FD04B6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en-US"/>
              <a:t>Algebras </a:t>
            </a:r>
          </a:p>
        </p:txBody>
      </p:sp>
      <p:sp>
        <p:nvSpPr>
          <p:cNvPr id="115715" name="Rectangle 3">
            <a:extLst>
              <a:ext uri="{FF2B5EF4-FFF2-40B4-BE49-F238E27FC236}">
                <a16:creationId xmlns:a16="http://schemas.microsoft.com/office/drawing/2014/main" id="{A9DF26C8-B13E-1FC2-8005-996B7EB89400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/>
        <p:txBody>
          <a:bodyPr/>
          <a:lstStyle/>
          <a:p>
            <a:pPr>
              <a:buFontTx/>
              <a:buNone/>
            </a:pPr>
            <a:r>
              <a:rPr lang="en-US" altLang="en-US" sz="1800" dirty="0"/>
              <a:t>Arithmetic Inverse</a:t>
            </a:r>
          </a:p>
        </p:txBody>
      </p:sp>
      <p:graphicFrame>
        <p:nvGraphicFramePr>
          <p:cNvPr id="115748" name="Object 36">
            <a:extLst>
              <a:ext uri="{FF2B5EF4-FFF2-40B4-BE49-F238E27FC236}">
                <a16:creationId xmlns:a16="http://schemas.microsoft.com/office/drawing/2014/main" id="{863D8C41-234C-11D3-310E-5692AF61464A}"/>
              </a:ext>
            </a:extLst>
          </p:cNvPr>
          <p:cNvGraphicFramePr>
            <a:graphicFrameLocks noGrp="1" noChangeAspect="1"/>
          </p:cNvGraphicFramePr>
          <p:nvPr>
            <p:ph sz="half" idx="2"/>
          </p:nvPr>
        </p:nvGraphicFramePr>
        <p:xfrm>
          <a:off x="2079625" y="3254375"/>
          <a:ext cx="2114550" cy="6953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Worksheet" r:id="rId3" imgW="2171839" imgH="714652" progId="Excel.Sheet.8">
                  <p:embed/>
                </p:oleObj>
              </mc:Choice>
              <mc:Fallback>
                <p:oleObj name="Worksheet" r:id="rId3" imgW="2171839" imgH="714652" progId="Excel.Sheet.8">
                  <p:embed/>
                  <p:pic>
                    <p:nvPicPr>
                      <p:cNvPr id="115748" name="Object 36">
                        <a:extLst>
                          <a:ext uri="{FF2B5EF4-FFF2-40B4-BE49-F238E27FC236}">
                            <a16:creationId xmlns:a16="http://schemas.microsoft.com/office/drawing/2014/main" id="{863D8C41-234C-11D3-310E-5692AF61464A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79625" y="3254375"/>
                        <a:ext cx="2114550" cy="6953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5716" name="Group 4">
            <a:extLst>
              <a:ext uri="{FF2B5EF4-FFF2-40B4-BE49-F238E27FC236}">
                <a16:creationId xmlns:a16="http://schemas.microsoft.com/office/drawing/2014/main" id="{82BB0081-DE37-C4DC-50AB-8B9DD6B182BF}"/>
              </a:ext>
            </a:extLst>
          </p:cNvPr>
          <p:cNvGraphicFramePr>
            <a:graphicFrameLocks noGrp="1"/>
          </p:cNvGraphicFramePr>
          <p:nvPr/>
        </p:nvGraphicFramePr>
        <p:xfrm>
          <a:off x="2057403" y="1752601"/>
          <a:ext cx="347663" cy="1049339"/>
        </p:xfrm>
        <a:graphic>
          <a:graphicData uri="http://schemas.openxmlformats.org/drawingml/2006/table">
            <a:tbl>
              <a:tblPr/>
              <a:tblGrid>
                <a:gridCol w="347663">
                  <a:extLst>
                    <a:ext uri="{9D8B030D-6E8A-4147-A177-3AD203B41FA5}">
                      <a16:colId xmlns:a16="http://schemas.microsoft.com/office/drawing/2014/main" val="1679253298"/>
                    </a:ext>
                  </a:extLst>
                </a:gridCol>
              </a:tblGrid>
              <a:tr h="349251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a</a:t>
                      </a:r>
                      <a:r>
                        <a:rPr kumimoji="0" lang="en-US" altLang="en-US" sz="1200" b="0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i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7D7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89553652"/>
                  </a:ext>
                </a:extLst>
              </a:tr>
              <a:tr h="344488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a</a:t>
                      </a:r>
                      <a:r>
                        <a:rPr kumimoji="0" lang="en-US" altLang="en-US" sz="1200" b="0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j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7D7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30402112"/>
                  </a:ext>
                </a:extLst>
              </a:tr>
              <a:tr h="35560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a</a:t>
                      </a:r>
                      <a:r>
                        <a:rPr kumimoji="0" lang="en-US" altLang="en-US" sz="1200" b="0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k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7D7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67990175"/>
                  </a:ext>
                </a:extLst>
              </a:tr>
            </a:tbl>
          </a:graphicData>
        </a:graphic>
      </p:graphicFrame>
      <p:graphicFrame>
        <p:nvGraphicFramePr>
          <p:cNvPr id="115759" name="Group 47">
            <a:extLst>
              <a:ext uri="{FF2B5EF4-FFF2-40B4-BE49-F238E27FC236}">
                <a16:creationId xmlns:a16="http://schemas.microsoft.com/office/drawing/2014/main" id="{C695458D-A4C2-2232-34CB-04F435F439E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13470605"/>
              </p:ext>
            </p:extLst>
          </p:nvPr>
        </p:nvGraphicFramePr>
        <p:xfrm>
          <a:off x="2971801" y="1752601"/>
          <a:ext cx="339725" cy="1049341"/>
        </p:xfrm>
        <a:graphic>
          <a:graphicData uri="http://schemas.openxmlformats.org/drawingml/2006/table">
            <a:tbl>
              <a:tblPr/>
              <a:tblGrid>
                <a:gridCol w="339725">
                  <a:extLst>
                    <a:ext uri="{9D8B030D-6E8A-4147-A177-3AD203B41FA5}">
                      <a16:colId xmlns:a16="http://schemas.microsoft.com/office/drawing/2014/main" val="1230613123"/>
                    </a:ext>
                  </a:extLst>
                </a:gridCol>
              </a:tblGrid>
              <a:tr h="338139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-a</a:t>
                      </a:r>
                      <a:r>
                        <a:rPr kumimoji="0" lang="en-US" altLang="en-US" sz="1200" b="0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i</a:t>
                      </a:r>
                    </a:p>
                  </a:txBody>
                  <a:tcPr marL="0" marR="0" marT="0" marB="0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76FF4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29298680"/>
                  </a:ext>
                </a:extLst>
              </a:tr>
              <a:tr h="350839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-</a:t>
                      </a:r>
                      <a:r>
                        <a:rPr kumimoji="0" lang="en-US" altLang="en-US" sz="12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a</a:t>
                      </a:r>
                      <a:r>
                        <a:rPr kumimoji="0" lang="en-US" altLang="en-US" sz="1200" b="0" i="0" u="none" strike="noStrike" cap="none" normalizeH="0" baseline="-2500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j</a:t>
                      </a:r>
                      <a:endParaRPr kumimoji="0" lang="en-US" altLang="en-US" sz="1200" b="0" i="0" u="none" strike="noStrike" cap="none" normalizeH="0" baseline="-2500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76FF4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20386144"/>
                  </a:ext>
                </a:extLst>
              </a:tr>
              <a:tr h="360363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-</a:t>
                      </a:r>
                      <a:r>
                        <a:rPr kumimoji="0" lang="en-US" altLang="en-US" sz="12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a</a:t>
                      </a:r>
                      <a:r>
                        <a:rPr kumimoji="0" lang="en-US" altLang="en-US" sz="1200" b="0" i="0" u="none" strike="noStrike" cap="none" normalizeH="0" baseline="-2500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k</a:t>
                      </a:r>
                      <a:endParaRPr kumimoji="0" lang="en-US" altLang="en-US" sz="1200" b="0" i="0" u="none" strike="noStrike" cap="none" normalizeH="0" baseline="-2500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76FF4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16030484"/>
                  </a:ext>
                </a:extLst>
              </a:tr>
            </a:tbl>
          </a:graphicData>
        </a:graphic>
      </p:graphicFrame>
      <p:sp>
        <p:nvSpPr>
          <p:cNvPr id="115736" name="Text Box 24">
            <a:extLst>
              <a:ext uri="{FF2B5EF4-FFF2-40B4-BE49-F238E27FC236}">
                <a16:creationId xmlns:a16="http://schemas.microsoft.com/office/drawing/2014/main" id="{9C9BC6CE-2228-81D1-C320-A8F7174D68A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46349" y="2220915"/>
            <a:ext cx="264816" cy="27699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 sz="1200">
                <a:latin typeface="Symath" pitchFamily="2" charset="0"/>
              </a:rPr>
              <a:t>Y</a:t>
            </a:r>
            <a:endParaRPr lang="en-US" altLang="en-US" sz="1200"/>
          </a:p>
        </p:txBody>
      </p:sp>
      <p:sp>
        <p:nvSpPr>
          <p:cNvPr id="115750" name="Text Box 38">
            <a:extLst>
              <a:ext uri="{FF2B5EF4-FFF2-40B4-BE49-F238E27FC236}">
                <a16:creationId xmlns:a16="http://schemas.microsoft.com/office/drawing/2014/main" id="{F3604A51-EC92-C0F6-B454-DE73663295A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66976" y="1217613"/>
            <a:ext cx="857927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 b="1"/>
              <a:t>b</a:t>
            </a:r>
            <a:r>
              <a:rPr lang="en-US" altLang="en-US"/>
              <a:t> = - a</a:t>
            </a:r>
            <a:endParaRPr lang="en-US" altLang="en-US" b="1"/>
          </a:p>
        </p:txBody>
      </p:sp>
      <p:graphicFrame>
        <p:nvGraphicFramePr>
          <p:cNvPr id="115751" name="Object 39">
            <a:extLst>
              <a:ext uri="{FF2B5EF4-FFF2-40B4-BE49-F238E27FC236}">
                <a16:creationId xmlns:a16="http://schemas.microsoft.com/office/drawing/2014/main" id="{958C2179-C7F2-67E7-E08B-E7F8A2F2E722}"/>
              </a:ext>
            </a:extLst>
          </p:cNvPr>
          <p:cNvGraphicFramePr>
            <a:graphicFrameLocks noChangeAspect="1"/>
          </p:cNvGraphicFramePr>
          <p:nvPr/>
        </p:nvGraphicFramePr>
        <p:xfrm>
          <a:off x="7804153" y="1233488"/>
          <a:ext cx="646113" cy="355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469800" imgH="215640" progId="Equation.3">
                  <p:embed/>
                </p:oleObj>
              </mc:Choice>
              <mc:Fallback>
                <p:oleObj name="Equation" r:id="rId5" imgW="469800" imgH="215640" progId="Equation.3">
                  <p:embed/>
                  <p:pic>
                    <p:nvPicPr>
                      <p:cNvPr id="115751" name="Object 39">
                        <a:extLst>
                          <a:ext uri="{FF2B5EF4-FFF2-40B4-BE49-F238E27FC236}">
                            <a16:creationId xmlns:a16="http://schemas.microsoft.com/office/drawing/2014/main" id="{958C2179-C7F2-67E7-E08B-E7F8A2F2E722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804153" y="1233488"/>
                        <a:ext cx="646113" cy="355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5752" name="Object 40">
            <a:extLst>
              <a:ext uri="{FF2B5EF4-FFF2-40B4-BE49-F238E27FC236}">
                <a16:creationId xmlns:a16="http://schemas.microsoft.com/office/drawing/2014/main" id="{25742CA3-F833-0C91-4AAA-270EFA431ED0}"/>
              </a:ext>
            </a:extLst>
          </p:cNvPr>
          <p:cNvGraphicFramePr>
            <a:graphicFrameLocks noChangeAspect="1"/>
          </p:cNvGraphicFramePr>
          <p:nvPr/>
        </p:nvGraphicFramePr>
        <p:xfrm>
          <a:off x="7305675" y="4057652"/>
          <a:ext cx="192088" cy="3143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7" imgW="139680" imgH="190440" progId="Equation.3">
                  <p:embed/>
                </p:oleObj>
              </mc:Choice>
              <mc:Fallback>
                <p:oleObj name="Equation" r:id="rId7" imgW="139680" imgH="190440" progId="Equation.3">
                  <p:embed/>
                  <p:pic>
                    <p:nvPicPr>
                      <p:cNvPr id="115752" name="Object 40">
                        <a:extLst>
                          <a:ext uri="{FF2B5EF4-FFF2-40B4-BE49-F238E27FC236}">
                            <a16:creationId xmlns:a16="http://schemas.microsoft.com/office/drawing/2014/main" id="{25742CA3-F833-0C91-4AAA-270EFA431ED0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305675" y="4057652"/>
                        <a:ext cx="192088" cy="3143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5753" name="Object 41">
            <a:extLst>
              <a:ext uri="{FF2B5EF4-FFF2-40B4-BE49-F238E27FC236}">
                <a16:creationId xmlns:a16="http://schemas.microsoft.com/office/drawing/2014/main" id="{6160B4FA-1E64-5135-193F-9ED56C3A3A15}"/>
              </a:ext>
            </a:extLst>
          </p:cNvPr>
          <p:cNvGraphicFramePr>
            <a:graphicFrameLocks noChangeAspect="1"/>
          </p:cNvGraphicFramePr>
          <p:nvPr/>
        </p:nvGraphicFramePr>
        <p:xfrm>
          <a:off x="9272591" y="3994151"/>
          <a:ext cx="192087" cy="355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9" imgW="139680" imgH="215640" progId="Equation.3">
                  <p:embed/>
                </p:oleObj>
              </mc:Choice>
              <mc:Fallback>
                <p:oleObj name="Equation" r:id="rId9" imgW="139680" imgH="215640" progId="Equation.3">
                  <p:embed/>
                  <p:pic>
                    <p:nvPicPr>
                      <p:cNvPr id="115753" name="Object 41">
                        <a:extLst>
                          <a:ext uri="{FF2B5EF4-FFF2-40B4-BE49-F238E27FC236}">
                            <a16:creationId xmlns:a16="http://schemas.microsoft.com/office/drawing/2014/main" id="{6160B4FA-1E64-5135-193F-9ED56C3A3A15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272591" y="3994151"/>
                        <a:ext cx="192087" cy="355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F66A49-D922-7B36-29BE-8DCC0F03A5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5755" name="Picture 43">
            <a:extLst>
              <a:ext uri="{FF2B5EF4-FFF2-40B4-BE49-F238E27FC236}">
                <a16:creationId xmlns:a16="http://schemas.microsoft.com/office/drawing/2014/main" id="{84AE1693-6FA6-0D72-F135-4D3F437AFBB6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0452"/>
          <a:stretch>
            <a:fillRect/>
          </a:stretch>
        </p:blipFill>
        <p:spPr bwMode="auto">
          <a:xfrm>
            <a:off x="6792914" y="2395538"/>
            <a:ext cx="1497647" cy="385445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15714" name="Rectangle 2">
            <a:extLst>
              <a:ext uri="{FF2B5EF4-FFF2-40B4-BE49-F238E27FC236}">
                <a16:creationId xmlns:a16="http://schemas.microsoft.com/office/drawing/2014/main" id="{DDE353C5-DF21-A34C-7E01-A5A71A1D6A3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en-US"/>
              <a:t>Algebras </a:t>
            </a:r>
          </a:p>
        </p:txBody>
      </p:sp>
      <p:sp>
        <p:nvSpPr>
          <p:cNvPr id="115715" name="Rectangle 3">
            <a:extLst>
              <a:ext uri="{FF2B5EF4-FFF2-40B4-BE49-F238E27FC236}">
                <a16:creationId xmlns:a16="http://schemas.microsoft.com/office/drawing/2014/main" id="{524869A4-9340-F558-63EC-8CD25FE46602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/>
        <p:txBody>
          <a:bodyPr/>
          <a:lstStyle/>
          <a:p>
            <a:pPr>
              <a:buFontTx/>
              <a:buNone/>
            </a:pPr>
            <a:r>
              <a:rPr lang="en-US" altLang="en-US" sz="1800" dirty="0"/>
              <a:t>Multiplicative Inverse</a:t>
            </a:r>
          </a:p>
        </p:txBody>
      </p:sp>
      <p:graphicFrame>
        <p:nvGraphicFramePr>
          <p:cNvPr id="115716" name="Group 4">
            <a:extLst>
              <a:ext uri="{FF2B5EF4-FFF2-40B4-BE49-F238E27FC236}">
                <a16:creationId xmlns:a16="http://schemas.microsoft.com/office/drawing/2014/main" id="{1C838EF4-FAD9-F78A-898A-9E65C8A6BAE6}"/>
              </a:ext>
            </a:extLst>
          </p:cNvPr>
          <p:cNvGraphicFramePr>
            <a:graphicFrameLocks noGrp="1"/>
          </p:cNvGraphicFramePr>
          <p:nvPr/>
        </p:nvGraphicFramePr>
        <p:xfrm>
          <a:off x="2057403" y="1752601"/>
          <a:ext cx="347663" cy="1049339"/>
        </p:xfrm>
        <a:graphic>
          <a:graphicData uri="http://schemas.openxmlformats.org/drawingml/2006/table">
            <a:tbl>
              <a:tblPr/>
              <a:tblGrid>
                <a:gridCol w="347663">
                  <a:extLst>
                    <a:ext uri="{9D8B030D-6E8A-4147-A177-3AD203B41FA5}">
                      <a16:colId xmlns:a16="http://schemas.microsoft.com/office/drawing/2014/main" val="1679253298"/>
                    </a:ext>
                  </a:extLst>
                </a:gridCol>
              </a:tblGrid>
              <a:tr h="349251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a</a:t>
                      </a:r>
                      <a:r>
                        <a:rPr kumimoji="0" lang="en-US" altLang="en-US" sz="1200" b="0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i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7D7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89553652"/>
                  </a:ext>
                </a:extLst>
              </a:tr>
              <a:tr h="344488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a</a:t>
                      </a:r>
                      <a:r>
                        <a:rPr kumimoji="0" lang="en-US" altLang="en-US" sz="1200" b="0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j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7D7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30402112"/>
                  </a:ext>
                </a:extLst>
              </a:tr>
              <a:tr h="35560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a</a:t>
                      </a:r>
                      <a:r>
                        <a:rPr kumimoji="0" lang="en-US" altLang="en-US" sz="1200" b="0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k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7D7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67990175"/>
                  </a:ext>
                </a:extLst>
              </a:tr>
            </a:tbl>
          </a:graphicData>
        </a:graphic>
      </p:graphicFrame>
      <p:graphicFrame>
        <p:nvGraphicFramePr>
          <p:cNvPr id="115759" name="Group 47">
            <a:extLst>
              <a:ext uri="{FF2B5EF4-FFF2-40B4-BE49-F238E27FC236}">
                <a16:creationId xmlns:a16="http://schemas.microsoft.com/office/drawing/2014/main" id="{0DFF3389-A614-DB22-E92B-44D99F9632C0}"/>
              </a:ext>
            </a:extLst>
          </p:cNvPr>
          <p:cNvGraphicFramePr>
            <a:graphicFrameLocks noGrp="1"/>
          </p:cNvGraphicFramePr>
          <p:nvPr/>
        </p:nvGraphicFramePr>
        <p:xfrm>
          <a:off x="2971801" y="1752601"/>
          <a:ext cx="339725" cy="1049341"/>
        </p:xfrm>
        <a:graphic>
          <a:graphicData uri="http://schemas.openxmlformats.org/drawingml/2006/table">
            <a:tbl>
              <a:tblPr/>
              <a:tblGrid>
                <a:gridCol w="339725">
                  <a:extLst>
                    <a:ext uri="{9D8B030D-6E8A-4147-A177-3AD203B41FA5}">
                      <a16:colId xmlns:a16="http://schemas.microsoft.com/office/drawing/2014/main" val="1230613123"/>
                    </a:ext>
                  </a:extLst>
                </a:gridCol>
              </a:tblGrid>
              <a:tr h="338139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-a</a:t>
                      </a:r>
                      <a:r>
                        <a:rPr kumimoji="0" lang="en-US" altLang="en-US" sz="1200" b="0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i</a:t>
                      </a:r>
                    </a:p>
                  </a:txBody>
                  <a:tcPr marL="0" marR="0" marT="0" marB="0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76FF4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29298680"/>
                  </a:ext>
                </a:extLst>
              </a:tr>
              <a:tr h="350839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-</a:t>
                      </a:r>
                      <a:r>
                        <a:rPr kumimoji="0" lang="en-US" altLang="en-US" sz="12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a</a:t>
                      </a:r>
                      <a:r>
                        <a:rPr kumimoji="0" lang="en-US" altLang="en-US" sz="1200" b="0" i="0" u="none" strike="noStrike" cap="none" normalizeH="0" baseline="-2500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j</a:t>
                      </a:r>
                      <a:endParaRPr kumimoji="0" lang="en-US" altLang="en-US" sz="1200" b="0" i="0" u="none" strike="noStrike" cap="none" normalizeH="0" baseline="-2500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76FF4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20386144"/>
                  </a:ext>
                </a:extLst>
              </a:tr>
              <a:tr h="360363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-</a:t>
                      </a:r>
                      <a:r>
                        <a:rPr kumimoji="0" lang="en-US" altLang="en-US" sz="12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a</a:t>
                      </a:r>
                      <a:r>
                        <a:rPr kumimoji="0" lang="en-US" altLang="en-US" sz="1200" b="0" i="0" u="none" strike="noStrike" cap="none" normalizeH="0" baseline="-2500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k</a:t>
                      </a:r>
                      <a:endParaRPr kumimoji="0" lang="en-US" altLang="en-US" sz="1200" b="0" i="0" u="none" strike="noStrike" cap="none" normalizeH="0" baseline="-2500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76FF4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16030484"/>
                  </a:ext>
                </a:extLst>
              </a:tr>
            </a:tbl>
          </a:graphicData>
        </a:graphic>
      </p:graphicFrame>
      <p:sp>
        <p:nvSpPr>
          <p:cNvPr id="115750" name="Text Box 38">
            <a:extLst>
              <a:ext uri="{FF2B5EF4-FFF2-40B4-BE49-F238E27FC236}">
                <a16:creationId xmlns:a16="http://schemas.microsoft.com/office/drawing/2014/main" id="{DFA8E5E3-1461-0CA6-AC04-44A037FA045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66976" y="1217613"/>
            <a:ext cx="853119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 b="1" dirty="0"/>
              <a:t>b</a:t>
            </a:r>
            <a:r>
              <a:rPr lang="en-US" altLang="en-US" dirty="0"/>
              <a:t> = a</a:t>
            </a:r>
            <a:r>
              <a:rPr lang="en-US" altLang="en-US" b="0" baseline="30000" dirty="0"/>
              <a:t>-1</a:t>
            </a:r>
          </a:p>
        </p:txBody>
      </p:sp>
      <p:graphicFrame>
        <p:nvGraphicFramePr>
          <p:cNvPr id="115752" name="Object 40">
            <a:extLst>
              <a:ext uri="{FF2B5EF4-FFF2-40B4-BE49-F238E27FC236}">
                <a16:creationId xmlns:a16="http://schemas.microsoft.com/office/drawing/2014/main" id="{A7D03F29-E2EB-F4D2-31B1-F72BC01F164D}"/>
              </a:ext>
            </a:extLst>
          </p:cNvPr>
          <p:cNvGraphicFramePr>
            <a:graphicFrameLocks noChangeAspect="1"/>
          </p:cNvGraphicFramePr>
          <p:nvPr/>
        </p:nvGraphicFramePr>
        <p:xfrm>
          <a:off x="7305675" y="4057652"/>
          <a:ext cx="192088" cy="3143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139680" imgH="190440" progId="Equation.3">
                  <p:embed/>
                </p:oleObj>
              </mc:Choice>
              <mc:Fallback>
                <p:oleObj name="Equation" r:id="rId3" imgW="139680" imgH="190440" progId="Equation.3">
                  <p:embed/>
                  <p:pic>
                    <p:nvPicPr>
                      <p:cNvPr id="115752" name="Object 40">
                        <a:extLst>
                          <a:ext uri="{FF2B5EF4-FFF2-40B4-BE49-F238E27FC236}">
                            <a16:creationId xmlns:a16="http://schemas.microsoft.com/office/drawing/2014/main" id="{25742CA3-F833-0C91-4AAA-270EFA431ED0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305675" y="4057652"/>
                        <a:ext cx="192088" cy="3143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5753" name="Object 41">
            <a:extLst>
              <a:ext uri="{FF2B5EF4-FFF2-40B4-BE49-F238E27FC236}">
                <a16:creationId xmlns:a16="http://schemas.microsoft.com/office/drawing/2014/main" id="{0DB7116F-F27D-7289-0246-75DD1C3BDE7E}"/>
              </a:ext>
            </a:extLst>
          </p:cNvPr>
          <p:cNvGraphicFramePr>
            <a:graphicFrameLocks noChangeAspect="1"/>
          </p:cNvGraphicFramePr>
          <p:nvPr/>
        </p:nvGraphicFramePr>
        <p:xfrm>
          <a:off x="9272591" y="3994151"/>
          <a:ext cx="192087" cy="355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139680" imgH="215640" progId="Equation.3">
                  <p:embed/>
                </p:oleObj>
              </mc:Choice>
              <mc:Fallback>
                <p:oleObj name="Equation" r:id="rId5" imgW="139680" imgH="215640" progId="Equation.3">
                  <p:embed/>
                  <p:pic>
                    <p:nvPicPr>
                      <p:cNvPr id="115753" name="Object 41">
                        <a:extLst>
                          <a:ext uri="{FF2B5EF4-FFF2-40B4-BE49-F238E27FC236}">
                            <a16:creationId xmlns:a16="http://schemas.microsoft.com/office/drawing/2014/main" id="{6160B4FA-1E64-5135-193F-9ED56C3A3A15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272591" y="3994151"/>
                        <a:ext cx="192087" cy="355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2" name="Picture 43">
            <a:extLst>
              <a:ext uri="{FF2B5EF4-FFF2-40B4-BE49-F238E27FC236}">
                <a16:creationId xmlns:a16="http://schemas.microsoft.com/office/drawing/2014/main" id="{DC3BDDE7-DE56-1176-689F-854FBA40073B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6219" r="12605"/>
          <a:stretch>
            <a:fillRect/>
          </a:stretch>
        </p:blipFill>
        <p:spPr bwMode="auto">
          <a:xfrm>
            <a:off x="8580120" y="3886202"/>
            <a:ext cx="640080" cy="65722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93E4931B-75D8-9BF3-158D-C9D589460556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828800" y="3446460"/>
            <a:ext cx="1841500" cy="1219200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B84A01F0-0B8C-8B33-9C83-F811A2FCDCBA}"/>
                  </a:ext>
                </a:extLst>
              </p:cNvPr>
              <p:cNvSpPr txBox="1"/>
              <p:nvPr/>
            </p:nvSpPr>
            <p:spPr>
              <a:xfrm>
                <a:off x="7970520" y="1402279"/>
                <a:ext cx="858632" cy="31797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⃗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b="0" i="1"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</m:acc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acc>
                            <m:accPr>
                              <m:chr m:val="⃗"/>
                              <m:ctrlPr>
                                <a:rPr lang="en-US" b="0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</m:acc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−1</m:t>
                          </m:r>
                        </m:sup>
                      </m:sSup>
                    </m:oMath>
                  </m:oMathPara>
                </a14:m>
                <a:endParaRPr lang="en-US" b="0" dirty="0"/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B84A01F0-0B8C-8B33-9C83-F811A2FCDCB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70520" y="1402279"/>
                <a:ext cx="858632" cy="317972"/>
              </a:xfrm>
              <a:prstGeom prst="rect">
                <a:avLst/>
              </a:prstGeom>
              <a:blipFill>
                <a:blip r:embed="rId8"/>
                <a:stretch>
                  <a:fillRect l="-5714" t="-26923" r="-12857" b="-961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94979313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02" name="Rectangle 2">
            <a:extLst>
              <a:ext uri="{FF2B5EF4-FFF2-40B4-BE49-F238E27FC236}">
                <a16:creationId xmlns:a16="http://schemas.microsoft.com/office/drawing/2014/main" id="{D6ADAEB2-FDE1-99F3-CF02-06B29CA625C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en-US">
                <a:solidFill>
                  <a:schemeClr val="tx1"/>
                </a:solidFill>
              </a:rPr>
              <a:t>Normalized vector</a:t>
            </a:r>
            <a:r>
              <a:rPr lang="en-US" altLang="en-US"/>
              <a:t> </a:t>
            </a:r>
          </a:p>
        </p:txBody>
      </p:sp>
      <p:sp>
        <p:nvSpPr>
          <p:cNvPr id="307209" name="Text Box 9">
            <a:extLst>
              <a:ext uri="{FF2B5EF4-FFF2-40B4-BE49-F238E27FC236}">
                <a16:creationId xmlns:a16="http://schemas.microsoft.com/office/drawing/2014/main" id="{C0C27AD5-2DD7-DBC6-1EE5-1FC6F457FEA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92481" y="974725"/>
            <a:ext cx="9554846" cy="9159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r>
              <a:rPr lang="en-US" altLang="en-US" dirty="0"/>
              <a:t>A vector with the same direction as      and a length of 1: </a:t>
            </a:r>
          </a:p>
          <a:p>
            <a:r>
              <a:rPr lang="en-US" altLang="en-US" dirty="0"/>
              <a:t> </a:t>
            </a:r>
            <a:endParaRPr lang="en-US" altLang="en-US" b="0" dirty="0"/>
          </a:p>
          <a:p>
            <a:endParaRPr lang="en-US" altLang="en-US" b="0" dirty="0"/>
          </a:p>
        </p:txBody>
      </p:sp>
      <p:graphicFrame>
        <p:nvGraphicFramePr>
          <p:cNvPr id="307215" name="Object 15">
            <a:extLst>
              <a:ext uri="{FF2B5EF4-FFF2-40B4-BE49-F238E27FC236}">
                <a16:creationId xmlns:a16="http://schemas.microsoft.com/office/drawing/2014/main" id="{DA5B9831-04AD-F0DA-9CE3-38D32D0DC37E}"/>
              </a:ext>
            </a:extLst>
          </p:cNvPr>
          <p:cNvGraphicFramePr>
            <a:graphicFrameLocks noChangeAspect="1"/>
          </p:cNvGraphicFramePr>
          <p:nvPr/>
        </p:nvGraphicFramePr>
        <p:xfrm>
          <a:off x="8482014" y="3327401"/>
          <a:ext cx="174625" cy="3349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26720" imgH="203040" progId="Equation.3">
                  <p:embed/>
                </p:oleObj>
              </mc:Choice>
              <mc:Fallback>
                <p:oleObj name="Equation" r:id="rId2" imgW="126720" imgH="203040" progId="Equation.3">
                  <p:embed/>
                  <p:pic>
                    <p:nvPicPr>
                      <p:cNvPr id="307215" name="Object 15">
                        <a:extLst>
                          <a:ext uri="{FF2B5EF4-FFF2-40B4-BE49-F238E27FC236}">
                            <a16:creationId xmlns:a16="http://schemas.microsoft.com/office/drawing/2014/main" id="{DA5B9831-04AD-F0DA-9CE3-38D32D0DC37E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482014" y="3327401"/>
                        <a:ext cx="174625" cy="3349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07218" name="Line 18">
            <a:extLst>
              <a:ext uri="{FF2B5EF4-FFF2-40B4-BE49-F238E27FC236}">
                <a16:creationId xmlns:a16="http://schemas.microsoft.com/office/drawing/2014/main" id="{0313C839-B0D4-3BFB-DCFD-6E045B33A70F}"/>
              </a:ext>
            </a:extLst>
          </p:cNvPr>
          <p:cNvSpPr>
            <a:spLocks noChangeShapeType="1"/>
          </p:cNvSpPr>
          <p:nvPr/>
        </p:nvSpPr>
        <p:spPr bwMode="auto">
          <a:xfrm rot="19025537" flipV="1">
            <a:off x="7559675" y="3017839"/>
            <a:ext cx="2224088" cy="14287"/>
          </a:xfrm>
          <a:prstGeom prst="line">
            <a:avLst/>
          </a:prstGeom>
          <a:noFill/>
          <a:ln w="38100">
            <a:solidFill>
              <a:srgbClr val="339966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graphicFrame>
        <p:nvGraphicFramePr>
          <p:cNvPr id="307224" name="Object 24">
            <a:extLst>
              <a:ext uri="{FF2B5EF4-FFF2-40B4-BE49-F238E27FC236}">
                <a16:creationId xmlns:a16="http://schemas.microsoft.com/office/drawing/2014/main" id="{D7D7DFCE-F742-08C7-46E1-17D0AAEB91CF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981201" y="1646239"/>
          <a:ext cx="646113" cy="7762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469800" imgH="469800" progId="Equation.3">
                  <p:embed/>
                </p:oleObj>
              </mc:Choice>
              <mc:Fallback>
                <p:oleObj name="Equation" r:id="rId4" imgW="469800" imgH="469800" progId="Equation.3">
                  <p:embed/>
                  <p:pic>
                    <p:nvPicPr>
                      <p:cNvPr id="307224" name="Object 24">
                        <a:extLst>
                          <a:ext uri="{FF2B5EF4-FFF2-40B4-BE49-F238E27FC236}">
                            <a16:creationId xmlns:a16="http://schemas.microsoft.com/office/drawing/2014/main" id="{D7D7DFCE-F742-08C7-46E1-17D0AAEB91CF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81201" y="1646239"/>
                        <a:ext cx="646113" cy="7762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07225" name="Object 25">
            <a:extLst>
              <a:ext uri="{FF2B5EF4-FFF2-40B4-BE49-F238E27FC236}">
                <a16:creationId xmlns:a16="http://schemas.microsoft.com/office/drawing/2014/main" id="{B3F90654-7C03-66A8-516A-2F41ECD8BF2E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74710253"/>
              </p:ext>
            </p:extLst>
          </p:nvPr>
        </p:nvGraphicFramePr>
        <p:xfrm>
          <a:off x="4358640" y="960120"/>
          <a:ext cx="192088" cy="3143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139680" imgH="190440" progId="Equation.3">
                  <p:embed/>
                </p:oleObj>
              </mc:Choice>
              <mc:Fallback>
                <p:oleObj name="Equation" r:id="rId6" imgW="139680" imgH="190440" progId="Equation.3">
                  <p:embed/>
                  <p:pic>
                    <p:nvPicPr>
                      <p:cNvPr id="307225" name="Object 25">
                        <a:extLst>
                          <a:ext uri="{FF2B5EF4-FFF2-40B4-BE49-F238E27FC236}">
                            <a16:creationId xmlns:a16="http://schemas.microsoft.com/office/drawing/2014/main" id="{B3F90654-7C03-66A8-516A-2F41ECD8BF2E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358640" y="960120"/>
                        <a:ext cx="192088" cy="3143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07227" name="Object 27">
            <a:extLst>
              <a:ext uri="{FF2B5EF4-FFF2-40B4-BE49-F238E27FC236}">
                <a16:creationId xmlns:a16="http://schemas.microsoft.com/office/drawing/2014/main" id="{4A65FF58-C1C4-D5E3-2799-59AAF5050F16}"/>
              </a:ext>
            </a:extLst>
          </p:cNvPr>
          <p:cNvGraphicFramePr>
            <a:graphicFrameLocks noChangeAspect="1"/>
          </p:cNvGraphicFramePr>
          <p:nvPr/>
        </p:nvGraphicFramePr>
        <p:xfrm>
          <a:off x="8335964" y="2697164"/>
          <a:ext cx="192087" cy="3143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139680" imgH="190440" progId="Equation.3">
                  <p:embed/>
                </p:oleObj>
              </mc:Choice>
              <mc:Fallback>
                <p:oleObj name="Equation" r:id="rId8" imgW="139680" imgH="190440" progId="Equation.3">
                  <p:embed/>
                  <p:pic>
                    <p:nvPicPr>
                      <p:cNvPr id="307227" name="Object 27">
                        <a:extLst>
                          <a:ext uri="{FF2B5EF4-FFF2-40B4-BE49-F238E27FC236}">
                            <a16:creationId xmlns:a16="http://schemas.microsoft.com/office/drawing/2014/main" id="{4A65FF58-C1C4-D5E3-2799-59AAF5050F16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335964" y="2697164"/>
                        <a:ext cx="192087" cy="3143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07228" name="Line 28">
            <a:extLst>
              <a:ext uri="{FF2B5EF4-FFF2-40B4-BE49-F238E27FC236}">
                <a16:creationId xmlns:a16="http://schemas.microsoft.com/office/drawing/2014/main" id="{F4FC0D99-695B-A065-89CE-01BD7A73A8ED}"/>
              </a:ext>
            </a:extLst>
          </p:cNvPr>
          <p:cNvSpPr>
            <a:spLocks noChangeShapeType="1"/>
          </p:cNvSpPr>
          <p:nvPr/>
        </p:nvSpPr>
        <p:spPr bwMode="auto">
          <a:xfrm rot="19025537" flipV="1">
            <a:off x="7748588" y="3432175"/>
            <a:ext cx="1143000" cy="14288"/>
          </a:xfrm>
          <a:prstGeom prst="line">
            <a:avLst/>
          </a:prstGeom>
          <a:noFill/>
          <a:ln w="38100">
            <a:solidFill>
              <a:srgbClr val="339966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973193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490" name="Rectangle 2">
            <a:extLst>
              <a:ext uri="{FF2B5EF4-FFF2-40B4-BE49-F238E27FC236}">
                <a16:creationId xmlns:a16="http://schemas.microsoft.com/office/drawing/2014/main" id="{B648AA0C-AE9C-A2FA-7C1C-870E4A3761C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Multiplication</a:t>
            </a:r>
          </a:p>
        </p:txBody>
      </p:sp>
      <p:sp>
        <p:nvSpPr>
          <p:cNvPr id="191491" name="Rectangle 3">
            <a:extLst>
              <a:ext uri="{FF2B5EF4-FFF2-40B4-BE49-F238E27FC236}">
                <a16:creationId xmlns:a16="http://schemas.microsoft.com/office/drawing/2014/main" id="{318327DA-EC99-5E90-11D2-9DD24BB22DA4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1021080" y="1554480"/>
            <a:ext cx="8229600" cy="2743200"/>
          </a:xfrm>
        </p:spPr>
        <p:txBody>
          <a:bodyPr/>
          <a:lstStyle/>
          <a:p>
            <a:pPr>
              <a:buNone/>
              <a:tabLst>
                <a:tab pos="4457589" algn="r"/>
                <a:tab pos="7889677" algn="r"/>
              </a:tabLst>
            </a:pPr>
            <a:r>
              <a:rPr lang="en-US" altLang="en-US" dirty="0"/>
              <a:t>Among the types of vector multiplication</a:t>
            </a:r>
          </a:p>
          <a:p>
            <a:pPr>
              <a:tabLst>
                <a:tab pos="4457589" algn="r"/>
                <a:tab pos="7889677" algn="r"/>
              </a:tabLst>
            </a:pPr>
            <a:r>
              <a:rPr lang="en-US" altLang="en-US" dirty="0"/>
              <a:t>Scalar multiplication	</a:t>
            </a:r>
            <a:r>
              <a:rPr lang="en-US" altLang="en-US" i="1" dirty="0"/>
              <a:t>a</a:t>
            </a:r>
            <a:r>
              <a:rPr lang="en-US" altLang="en-US" b="1" dirty="0"/>
              <a:t>b</a:t>
            </a:r>
            <a:endParaRPr lang="en-US" altLang="en-US" dirty="0"/>
          </a:p>
          <a:p>
            <a:pPr>
              <a:tabLst>
                <a:tab pos="4457589" algn="r"/>
                <a:tab pos="7889677" algn="r"/>
              </a:tabLst>
            </a:pPr>
            <a:r>
              <a:rPr lang="en-US" altLang="en-US" dirty="0"/>
              <a:t>Inner product (dot product) 	</a:t>
            </a:r>
            <a:r>
              <a:rPr lang="en-US" altLang="en-US" b="1" dirty="0"/>
              <a:t>a</a:t>
            </a:r>
            <a:r>
              <a:rPr lang="en-US" altLang="en-US" dirty="0"/>
              <a:t> </a:t>
            </a:r>
            <a:r>
              <a:rPr lang="en-US" altLang="en-US" dirty="0">
                <a:latin typeface="Symbol" panose="05050102010706020507" pitchFamily="18" charset="2"/>
              </a:rPr>
              <a:t>· </a:t>
            </a:r>
            <a:r>
              <a:rPr lang="en-US" altLang="en-US" b="1" dirty="0"/>
              <a:t>b</a:t>
            </a:r>
          </a:p>
          <a:p>
            <a:pPr>
              <a:tabLst>
                <a:tab pos="4457589" algn="r"/>
                <a:tab pos="7889677" algn="r"/>
              </a:tabLst>
            </a:pPr>
            <a:r>
              <a:rPr lang="en-US" altLang="en-US" dirty="0"/>
              <a:t>Outer product 	</a:t>
            </a:r>
            <a:r>
              <a:rPr lang="en-US" altLang="en-US" b="1" dirty="0"/>
              <a:t>a</a:t>
            </a:r>
            <a:r>
              <a:rPr lang="en-US" altLang="en-US" dirty="0"/>
              <a:t> </a:t>
            </a:r>
            <a:r>
              <a:rPr lang="en-US" altLang="en-US" dirty="0">
                <a:latin typeface="Symbol" panose="05050102010706020507" pitchFamily="18" charset="2"/>
              </a:rPr>
              <a:t>* </a:t>
            </a:r>
            <a:r>
              <a:rPr lang="en-US" altLang="en-US" b="1" dirty="0"/>
              <a:t>b</a:t>
            </a:r>
          </a:p>
          <a:p>
            <a:pPr>
              <a:tabLst>
                <a:tab pos="4457589" algn="r"/>
                <a:tab pos="7889677" algn="r"/>
              </a:tabLst>
            </a:pPr>
            <a:r>
              <a:rPr lang="en-US" altLang="en-US" dirty="0"/>
              <a:t>Cross product 	</a:t>
            </a:r>
            <a:r>
              <a:rPr lang="en-US" altLang="en-US" b="1" dirty="0"/>
              <a:t>a</a:t>
            </a:r>
            <a:r>
              <a:rPr lang="en-US" altLang="en-US" dirty="0"/>
              <a:t> </a:t>
            </a:r>
            <a:r>
              <a:rPr lang="en-US" altLang="en-US" dirty="0">
                <a:latin typeface="Symbol" panose="05050102010706020507" pitchFamily="18" charset="2"/>
              </a:rPr>
              <a:t>´ </a:t>
            </a:r>
            <a:r>
              <a:rPr lang="en-US" altLang="en-US" b="1" dirty="0"/>
              <a:t>b</a:t>
            </a:r>
          </a:p>
          <a:p>
            <a:pPr>
              <a:tabLst>
                <a:tab pos="4457589" algn="r"/>
                <a:tab pos="7889677" algn="r"/>
              </a:tabLst>
            </a:pPr>
            <a:endParaRPr lang="en-US" altLang="en-US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738" name="Rectangle 2">
            <a:extLst>
              <a:ext uri="{FF2B5EF4-FFF2-40B4-BE49-F238E27FC236}">
                <a16:creationId xmlns:a16="http://schemas.microsoft.com/office/drawing/2014/main" id="{E2D38996-2C65-A934-187F-46D690FB1D2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en-US"/>
              <a:t>Multiplication</a:t>
            </a:r>
          </a:p>
        </p:txBody>
      </p:sp>
      <p:sp>
        <p:nvSpPr>
          <p:cNvPr id="116739" name="Rectangle 3">
            <a:extLst>
              <a:ext uri="{FF2B5EF4-FFF2-40B4-BE49-F238E27FC236}">
                <a16:creationId xmlns:a16="http://schemas.microsoft.com/office/drawing/2014/main" id="{D94A5D7F-DBE0-8237-08AA-B42D0BC0EF86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>
          <a:xfrm>
            <a:off x="1981201" y="914402"/>
            <a:ext cx="5570539" cy="5211763"/>
          </a:xfrm>
        </p:spPr>
        <p:txBody>
          <a:bodyPr/>
          <a:lstStyle/>
          <a:p>
            <a:pPr>
              <a:buFontTx/>
              <a:buNone/>
            </a:pPr>
            <a:r>
              <a:rPr lang="en-US" altLang="en-US" sz="1800" dirty="0"/>
              <a:t>Scalar multiplication: multiplication by a real number</a:t>
            </a:r>
          </a:p>
        </p:txBody>
      </p:sp>
      <p:graphicFrame>
        <p:nvGraphicFramePr>
          <p:cNvPr id="116825" name="Group 89">
            <a:extLst>
              <a:ext uri="{FF2B5EF4-FFF2-40B4-BE49-F238E27FC236}">
                <a16:creationId xmlns:a16="http://schemas.microsoft.com/office/drawing/2014/main" id="{5DB62680-B3A6-0D05-8441-2E98E44F86B7}"/>
              </a:ext>
            </a:extLst>
          </p:cNvPr>
          <p:cNvGraphicFramePr>
            <a:graphicFrameLocks noGrp="1"/>
          </p:cNvGraphicFramePr>
          <p:nvPr/>
        </p:nvGraphicFramePr>
        <p:xfrm>
          <a:off x="3140075" y="1836741"/>
          <a:ext cx="381000" cy="1049341"/>
        </p:xfrm>
        <a:graphic>
          <a:graphicData uri="http://schemas.openxmlformats.org/drawingml/2006/table">
            <a:tbl>
              <a:tblPr/>
              <a:tblGrid>
                <a:gridCol w="381000">
                  <a:extLst>
                    <a:ext uri="{9D8B030D-6E8A-4147-A177-3AD203B41FA5}">
                      <a16:colId xmlns:a16="http://schemas.microsoft.com/office/drawing/2014/main" val="2770348078"/>
                    </a:ext>
                  </a:extLst>
                </a:gridCol>
              </a:tblGrid>
              <a:tr h="338139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b</a:t>
                      </a:r>
                      <a:r>
                        <a:rPr kumimoji="0" lang="en-US" altLang="en-US" sz="1600" b="0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i</a:t>
                      </a:r>
                    </a:p>
                  </a:txBody>
                  <a:tcPr marL="0" marR="0" marT="0" marB="0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76FF4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89186679"/>
                  </a:ext>
                </a:extLst>
              </a:tr>
              <a:tr h="350839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b</a:t>
                      </a:r>
                      <a:r>
                        <a:rPr kumimoji="0" lang="en-US" altLang="en-US" sz="1600" b="0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j</a:t>
                      </a:r>
                    </a:p>
                  </a:txBody>
                  <a:tcPr marL="0" marR="0" marT="0" marB="0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76FF4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03064226"/>
                  </a:ext>
                </a:extLst>
              </a:tr>
              <a:tr h="360363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b</a:t>
                      </a:r>
                      <a:r>
                        <a:rPr kumimoji="0" lang="en-US" altLang="en-US" sz="1600" b="0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k</a:t>
                      </a:r>
                    </a:p>
                  </a:txBody>
                  <a:tcPr marL="0" marR="0" marT="0" marB="0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76FF4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64685065"/>
                  </a:ext>
                </a:extLst>
              </a:tr>
            </a:tbl>
          </a:graphicData>
        </a:graphic>
      </p:graphicFrame>
      <p:sp>
        <p:nvSpPr>
          <p:cNvPr id="116800" name="Text Box 64">
            <a:extLst>
              <a:ext uri="{FF2B5EF4-FFF2-40B4-BE49-F238E27FC236}">
                <a16:creationId xmlns:a16="http://schemas.microsoft.com/office/drawing/2014/main" id="{EF5295BD-8DA3-0232-2522-0035D48346C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719388" y="2290764"/>
            <a:ext cx="303288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 b="0" i="1" dirty="0">
                <a:latin typeface="Symath" pitchFamily="2" charset="0"/>
              </a:rPr>
              <a:t>a</a:t>
            </a:r>
            <a:endParaRPr lang="en-US" altLang="en-US" b="0" i="1" dirty="0"/>
          </a:p>
          <a:p>
            <a:endParaRPr lang="en-US" altLang="en-US" dirty="0"/>
          </a:p>
        </p:txBody>
      </p:sp>
      <p:sp>
        <p:nvSpPr>
          <p:cNvPr id="116801" name="Text Box 65">
            <a:extLst>
              <a:ext uri="{FF2B5EF4-FFF2-40B4-BE49-F238E27FC236}">
                <a16:creationId xmlns:a16="http://schemas.microsoft.com/office/drawing/2014/main" id="{D02AE3ED-8A85-23C5-C699-61982AF513D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633788" y="2125663"/>
            <a:ext cx="319318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/>
              <a:t>=</a:t>
            </a:r>
          </a:p>
        </p:txBody>
      </p:sp>
      <p:graphicFrame>
        <p:nvGraphicFramePr>
          <p:cNvPr id="116802" name="Object 66">
            <a:extLst>
              <a:ext uri="{FF2B5EF4-FFF2-40B4-BE49-F238E27FC236}">
                <a16:creationId xmlns:a16="http://schemas.microsoft.com/office/drawing/2014/main" id="{48317F49-0179-FFEC-0CDC-62860418ED68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293940" y="3908427"/>
          <a:ext cx="2103437" cy="7397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Worksheet" r:id="rId2" imgW="2010017" imgH="695233" progId="Excel.Sheet.8">
                  <p:embed/>
                </p:oleObj>
              </mc:Choice>
              <mc:Fallback>
                <p:oleObj name="Worksheet" r:id="rId2" imgW="2010017" imgH="695233" progId="Excel.Sheet.8">
                  <p:embed/>
                  <p:pic>
                    <p:nvPicPr>
                      <p:cNvPr id="116802" name="Object 66">
                        <a:extLst>
                          <a:ext uri="{FF2B5EF4-FFF2-40B4-BE49-F238E27FC236}">
                            <a16:creationId xmlns:a16="http://schemas.microsoft.com/office/drawing/2014/main" id="{48317F49-0179-FFEC-0CDC-62860418ED68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93940" y="3908427"/>
                        <a:ext cx="2103437" cy="7397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6803" name="Text Box 67">
            <a:extLst>
              <a:ext uri="{FF2B5EF4-FFF2-40B4-BE49-F238E27FC236}">
                <a16:creationId xmlns:a16="http://schemas.microsoft.com/office/drawing/2014/main" id="{8A76E3D7-AFC1-5D81-9482-E30D5563C99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619376" y="1370013"/>
            <a:ext cx="845103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 i="1"/>
              <a:t>a</a:t>
            </a:r>
            <a:r>
              <a:rPr lang="en-US" altLang="en-US" b="1"/>
              <a:t>b</a:t>
            </a:r>
            <a:r>
              <a:rPr lang="en-US" altLang="en-US"/>
              <a:t> = </a:t>
            </a:r>
            <a:r>
              <a:rPr lang="en-US" altLang="en-US" b="1"/>
              <a:t>c</a:t>
            </a:r>
          </a:p>
        </p:txBody>
      </p:sp>
      <p:graphicFrame>
        <p:nvGraphicFramePr>
          <p:cNvPr id="116804" name="Object 68">
            <a:extLst>
              <a:ext uri="{FF2B5EF4-FFF2-40B4-BE49-F238E27FC236}">
                <a16:creationId xmlns:a16="http://schemas.microsoft.com/office/drawing/2014/main" id="{5CF32399-E5EC-9FC8-8231-23D674ED8622}"/>
              </a:ext>
            </a:extLst>
          </p:cNvPr>
          <p:cNvGraphicFramePr>
            <a:graphicFrameLocks noChangeAspect="1"/>
          </p:cNvGraphicFramePr>
          <p:nvPr/>
        </p:nvGraphicFramePr>
        <p:xfrm>
          <a:off x="7966076" y="1385888"/>
          <a:ext cx="628651" cy="355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457200" imgH="215640" progId="Equation.3">
                  <p:embed/>
                </p:oleObj>
              </mc:Choice>
              <mc:Fallback>
                <p:oleObj name="Equation" r:id="rId4" imgW="457200" imgH="215640" progId="Equation.3">
                  <p:embed/>
                  <p:pic>
                    <p:nvPicPr>
                      <p:cNvPr id="116804" name="Object 68">
                        <a:extLst>
                          <a:ext uri="{FF2B5EF4-FFF2-40B4-BE49-F238E27FC236}">
                            <a16:creationId xmlns:a16="http://schemas.microsoft.com/office/drawing/2014/main" id="{5CF32399-E5EC-9FC8-8231-23D674ED8622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966076" y="1385888"/>
                        <a:ext cx="628651" cy="355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6826" name="Group 90">
            <a:extLst>
              <a:ext uri="{FF2B5EF4-FFF2-40B4-BE49-F238E27FC236}">
                <a16:creationId xmlns:a16="http://schemas.microsoft.com/office/drawing/2014/main" id="{2149CDCC-556A-3108-41AB-89F953CABD8B}"/>
              </a:ext>
            </a:extLst>
          </p:cNvPr>
          <p:cNvGraphicFramePr>
            <a:graphicFrameLocks noGrp="1"/>
          </p:cNvGraphicFramePr>
          <p:nvPr/>
        </p:nvGraphicFramePr>
        <p:xfrm>
          <a:off x="4114800" y="1836741"/>
          <a:ext cx="457200" cy="1049341"/>
        </p:xfrm>
        <a:graphic>
          <a:graphicData uri="http://schemas.openxmlformats.org/drawingml/2006/table">
            <a:tbl>
              <a:tblPr/>
              <a:tblGrid>
                <a:gridCol w="457200">
                  <a:extLst>
                    <a:ext uri="{9D8B030D-6E8A-4147-A177-3AD203B41FA5}">
                      <a16:colId xmlns:a16="http://schemas.microsoft.com/office/drawing/2014/main" val="1794447045"/>
                    </a:ext>
                  </a:extLst>
                </a:gridCol>
              </a:tblGrid>
              <a:tr h="338139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a</a:t>
                      </a:r>
                      <a:r>
                        <a:rPr kumimoji="0" lang="en-US" altLang="en-US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b</a:t>
                      </a:r>
                      <a:r>
                        <a:rPr kumimoji="0" lang="en-US" altLang="en-US" sz="1600" b="0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i</a:t>
                      </a:r>
                    </a:p>
                  </a:txBody>
                  <a:tcPr marL="0" marR="0" marT="0" marB="0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839CC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96623643"/>
                  </a:ext>
                </a:extLst>
              </a:tr>
              <a:tr h="350839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a</a:t>
                      </a:r>
                      <a:r>
                        <a:rPr kumimoji="0" lang="en-US" altLang="en-US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b</a:t>
                      </a:r>
                      <a:r>
                        <a:rPr kumimoji="0" lang="en-US" altLang="en-US" sz="1600" b="0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j</a:t>
                      </a:r>
                    </a:p>
                  </a:txBody>
                  <a:tcPr marL="0" marR="0" marT="0" marB="0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839CC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53095526"/>
                  </a:ext>
                </a:extLst>
              </a:tr>
              <a:tr h="360363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a</a:t>
                      </a:r>
                      <a:r>
                        <a:rPr kumimoji="0" lang="en-US" altLang="en-US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b</a:t>
                      </a:r>
                      <a:r>
                        <a:rPr kumimoji="0" lang="en-US" altLang="en-US" sz="1600" b="0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k</a:t>
                      </a:r>
                    </a:p>
                  </a:txBody>
                  <a:tcPr marL="0" marR="0" marT="0" marB="0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839CC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70250220"/>
                  </a:ext>
                </a:extLst>
              </a:tr>
            </a:tbl>
          </a:graphicData>
        </a:graphic>
      </p:graphicFrame>
      <p:pic>
        <p:nvPicPr>
          <p:cNvPr id="116828" name="Picture 92">
            <a:extLst>
              <a:ext uri="{FF2B5EF4-FFF2-40B4-BE49-F238E27FC236}">
                <a16:creationId xmlns:a16="http://schemas.microsoft.com/office/drawing/2014/main" id="{BC3DBFDF-4D18-0A84-D80D-C5A15644A92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54701" y="2111378"/>
            <a:ext cx="3930651" cy="29495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83650" name="Object 2">
            <a:extLst>
              <a:ext uri="{FF2B5EF4-FFF2-40B4-BE49-F238E27FC236}">
                <a16:creationId xmlns:a16="http://schemas.microsoft.com/office/drawing/2014/main" id="{8EFCE8B5-93A8-71D0-9618-187506C8C31A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038850" y="2719388"/>
          <a:ext cx="114300" cy="673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14120" imgH="672840" progId="Equation.3">
                  <p:embed/>
                </p:oleObj>
              </mc:Choice>
              <mc:Fallback>
                <p:oleObj name="Equation" r:id="rId2" imgW="114120" imgH="672840" progId="Equation.3">
                  <p:embed/>
                  <p:pic>
                    <p:nvPicPr>
                      <p:cNvPr id="283650" name="Object 2">
                        <a:extLst>
                          <a:ext uri="{FF2B5EF4-FFF2-40B4-BE49-F238E27FC236}">
                            <a16:creationId xmlns:a16="http://schemas.microsoft.com/office/drawing/2014/main" id="{8EFCE8B5-93A8-71D0-9618-187506C8C31A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38850" y="2719388"/>
                        <a:ext cx="114300" cy="673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83651" name="Group 3">
            <a:extLst>
              <a:ext uri="{FF2B5EF4-FFF2-40B4-BE49-F238E27FC236}">
                <a16:creationId xmlns:a16="http://schemas.microsoft.com/office/drawing/2014/main" id="{A3332BC5-2262-D5F2-C5FC-22E4E1F11BCB}"/>
              </a:ext>
            </a:extLst>
          </p:cNvPr>
          <p:cNvGraphicFramePr>
            <a:graphicFrameLocks noGrp="1"/>
          </p:cNvGraphicFramePr>
          <p:nvPr/>
        </p:nvGraphicFramePr>
        <p:xfrm>
          <a:off x="2057400" y="3055938"/>
          <a:ext cx="382588" cy="1049338"/>
        </p:xfrm>
        <a:graphic>
          <a:graphicData uri="http://schemas.openxmlformats.org/drawingml/2006/table">
            <a:tbl>
              <a:tblPr/>
              <a:tblGrid>
                <a:gridCol w="382588">
                  <a:extLst>
                    <a:ext uri="{9D8B030D-6E8A-4147-A177-3AD203B41FA5}">
                      <a16:colId xmlns:a16="http://schemas.microsoft.com/office/drawing/2014/main" val="2755293564"/>
                    </a:ext>
                  </a:extLst>
                </a:gridCol>
              </a:tblGrid>
              <a:tr h="34925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a</a:t>
                      </a:r>
                      <a:r>
                        <a:rPr kumimoji="0" lang="en-US" altLang="en-US" sz="1600" b="0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i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19521954"/>
                  </a:ext>
                </a:extLst>
              </a:tr>
              <a:tr h="344488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a</a:t>
                      </a:r>
                      <a:r>
                        <a:rPr kumimoji="0" lang="en-US" altLang="en-US" sz="1600" b="0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j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00899738"/>
                  </a:ext>
                </a:extLst>
              </a:tr>
              <a:tr h="35560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a</a:t>
                      </a:r>
                      <a:r>
                        <a:rPr kumimoji="0" lang="en-US" altLang="en-US" sz="1600" b="0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k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48361076"/>
                  </a:ext>
                </a:extLst>
              </a:tr>
            </a:tbl>
          </a:graphicData>
        </a:graphic>
      </p:graphicFrame>
      <p:sp>
        <p:nvSpPr>
          <p:cNvPr id="283661" name="Text Box 13">
            <a:extLst>
              <a:ext uri="{FF2B5EF4-FFF2-40B4-BE49-F238E27FC236}">
                <a16:creationId xmlns:a16="http://schemas.microsoft.com/office/drawing/2014/main" id="{F25B8081-C0F8-3D59-A27E-8BE9F1AE14E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51114" y="3417888"/>
            <a:ext cx="288925" cy="641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 b="0">
                <a:latin typeface="Symbol" panose="05050102010706020507" pitchFamily="18" charset="2"/>
              </a:rPr>
              <a:t>·</a:t>
            </a:r>
            <a:endParaRPr lang="en-US" altLang="en-US" b="0">
              <a:latin typeface="MS Shell Dlg" panose="020B0604020202020204" pitchFamily="34" charset="0"/>
            </a:endParaRPr>
          </a:p>
          <a:p>
            <a:endParaRPr lang="en-US" altLang="en-US" b="0"/>
          </a:p>
        </p:txBody>
      </p:sp>
      <p:sp>
        <p:nvSpPr>
          <p:cNvPr id="283662" name="Text Box 14">
            <a:extLst>
              <a:ext uri="{FF2B5EF4-FFF2-40B4-BE49-F238E27FC236}">
                <a16:creationId xmlns:a16="http://schemas.microsoft.com/office/drawing/2014/main" id="{D4707887-7FF6-D9CD-DDC4-DDA27EA2428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465513" y="3344863"/>
            <a:ext cx="317500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 b="0"/>
              <a:t>=</a:t>
            </a:r>
          </a:p>
        </p:txBody>
      </p:sp>
      <p:sp>
        <p:nvSpPr>
          <p:cNvPr id="283663" name="Text Box 15">
            <a:extLst>
              <a:ext uri="{FF2B5EF4-FFF2-40B4-BE49-F238E27FC236}">
                <a16:creationId xmlns:a16="http://schemas.microsoft.com/office/drawing/2014/main" id="{C55ADE87-6A14-C1B6-77D9-6283971BD8B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717926" y="3321051"/>
            <a:ext cx="2079625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/>
              <a:t>a</a:t>
            </a:r>
            <a:r>
              <a:rPr lang="en-US" altLang="en-US" b="0" i="1" baseline="-25000"/>
              <a:t>i</a:t>
            </a:r>
            <a:r>
              <a:rPr lang="en-US" altLang="en-US" b="0"/>
              <a:t>*</a:t>
            </a:r>
            <a:r>
              <a:rPr lang="en-US" altLang="en-US"/>
              <a:t>b</a:t>
            </a:r>
            <a:r>
              <a:rPr lang="en-US" altLang="en-US" b="0" i="1" baseline="-25000"/>
              <a:t>i </a:t>
            </a:r>
            <a:r>
              <a:rPr lang="en-US" altLang="en-US" b="0"/>
              <a:t>+ </a:t>
            </a:r>
            <a:r>
              <a:rPr lang="en-US" altLang="en-US"/>
              <a:t>a</a:t>
            </a:r>
            <a:r>
              <a:rPr lang="en-US" altLang="en-US" b="0" i="1" baseline="-25000"/>
              <a:t>j</a:t>
            </a:r>
            <a:r>
              <a:rPr lang="en-US" altLang="en-US" b="0"/>
              <a:t>*</a:t>
            </a:r>
            <a:r>
              <a:rPr lang="en-US" altLang="en-US"/>
              <a:t>b</a:t>
            </a:r>
            <a:r>
              <a:rPr lang="en-US" altLang="en-US" b="0" i="1" baseline="-25000"/>
              <a:t>j </a:t>
            </a:r>
            <a:r>
              <a:rPr lang="en-US" altLang="en-US" b="0"/>
              <a:t>+ </a:t>
            </a:r>
            <a:r>
              <a:rPr lang="en-US" altLang="en-US"/>
              <a:t>a</a:t>
            </a:r>
            <a:r>
              <a:rPr lang="en-US" altLang="en-US" b="0" i="1" baseline="-25000"/>
              <a:t>k</a:t>
            </a:r>
            <a:r>
              <a:rPr lang="en-US" altLang="en-US" b="0"/>
              <a:t>* </a:t>
            </a:r>
            <a:r>
              <a:rPr lang="en-US" altLang="en-US"/>
              <a:t>b</a:t>
            </a:r>
            <a:r>
              <a:rPr lang="en-US" altLang="en-US" b="0" i="1" baseline="-25000"/>
              <a:t>k</a:t>
            </a:r>
          </a:p>
        </p:txBody>
      </p:sp>
      <p:sp>
        <p:nvSpPr>
          <p:cNvPr id="283664" name="AutoShape 16">
            <a:extLst>
              <a:ext uri="{FF2B5EF4-FFF2-40B4-BE49-F238E27FC236}">
                <a16:creationId xmlns:a16="http://schemas.microsoft.com/office/drawing/2014/main" id="{1C2B8AC7-5A14-6AAA-6F3C-7334B688CC3E}"/>
              </a:ext>
            </a:extLst>
          </p:cNvPr>
          <p:cNvSpPr>
            <a:spLocks noChangeArrowheads="1"/>
          </p:cNvSpPr>
          <p:nvPr/>
        </p:nvSpPr>
        <p:spPr bwMode="auto">
          <a:xfrm>
            <a:off x="4002088" y="1685925"/>
            <a:ext cx="2667000" cy="1066800"/>
          </a:xfrm>
          <a:prstGeom prst="wedgeRectCallout">
            <a:avLst>
              <a:gd name="adj1" fmla="val -18394"/>
              <a:gd name="adj2" fmla="val 110565"/>
            </a:avLst>
          </a:prstGeom>
          <a:solidFill>
            <a:schemeClr val="accent1">
              <a:lumMod val="40000"/>
              <a:lumOff val="6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/>
          <a:lstStyle/>
          <a:p>
            <a:pPr algn="ctr"/>
            <a:r>
              <a:rPr lang="en-US" altLang="en-US" sz="1600" b="0" dirty="0"/>
              <a:t>A single number:</a:t>
            </a:r>
          </a:p>
          <a:p>
            <a:pPr algn="ctr"/>
            <a:endParaRPr lang="en-US" altLang="en-US" sz="1600" b="0" dirty="0"/>
          </a:p>
          <a:p>
            <a:pPr algn="ctr"/>
            <a:r>
              <a:rPr lang="en-US" altLang="en-US" sz="1600" b="0" i="1" dirty="0"/>
              <a:t>R</a:t>
            </a:r>
            <a:r>
              <a:rPr lang="en-US" altLang="en-US" sz="1600" b="0" baseline="30000" dirty="0"/>
              <a:t>n</a:t>
            </a:r>
            <a:r>
              <a:rPr lang="en-US" altLang="en-US" sz="1600" b="0" dirty="0"/>
              <a:t> X </a:t>
            </a:r>
            <a:r>
              <a:rPr lang="en-US" altLang="en-US" sz="1600" b="0" i="1" dirty="0"/>
              <a:t>R</a:t>
            </a:r>
            <a:r>
              <a:rPr lang="en-US" altLang="en-US" sz="1600" b="0" baseline="30000" dirty="0"/>
              <a:t>n</a:t>
            </a:r>
            <a:r>
              <a:rPr lang="en-US" altLang="en-US" sz="1600" b="0" dirty="0"/>
              <a:t> </a:t>
            </a:r>
            <a:r>
              <a:rPr lang="en-US" altLang="en-US" sz="1600" b="0" dirty="0">
                <a:latin typeface="Symbol" panose="05050102010706020507" pitchFamily="18" charset="2"/>
              </a:rPr>
              <a:t>® </a:t>
            </a:r>
            <a:r>
              <a:rPr lang="en-US" altLang="en-US" sz="1600" b="0" i="1" dirty="0"/>
              <a:t>R</a:t>
            </a:r>
            <a:endParaRPr lang="en-US" altLang="en-US" sz="1600" b="0" baseline="30000" dirty="0">
              <a:latin typeface="MS Shell Dlg" panose="020B0604020202020204" pitchFamily="34" charset="0"/>
            </a:endParaRPr>
          </a:p>
          <a:p>
            <a:pPr algn="ctr"/>
            <a:endParaRPr lang="en-US" altLang="en-US" sz="1600" b="0" dirty="0"/>
          </a:p>
        </p:txBody>
      </p:sp>
      <p:sp>
        <p:nvSpPr>
          <p:cNvPr id="283665" name="Text Box 17">
            <a:extLst>
              <a:ext uri="{FF2B5EF4-FFF2-40B4-BE49-F238E27FC236}">
                <a16:creationId xmlns:a16="http://schemas.microsoft.com/office/drawing/2014/main" id="{C6B5EC74-E22C-A46E-923A-E8E789A5815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51039" y="974726"/>
            <a:ext cx="2973387" cy="14652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en-US" altLang="en-US"/>
              <a:t> </a:t>
            </a:r>
            <a:endParaRPr lang="en-US" altLang="en-US" b="0"/>
          </a:p>
          <a:p>
            <a:endParaRPr lang="en-US" altLang="en-US" b="0"/>
          </a:p>
          <a:p>
            <a:r>
              <a:rPr lang="en-US" altLang="en-US" b="0" i="1"/>
              <a:t>R</a:t>
            </a:r>
            <a:r>
              <a:rPr lang="en-US" altLang="en-US" b="0" i="1" baseline="30000"/>
              <a:t>n </a:t>
            </a:r>
            <a:r>
              <a:rPr lang="en-US" altLang="en-US" b="0">
                <a:latin typeface="Symbol" panose="05050102010706020507" pitchFamily="18" charset="2"/>
              </a:rPr>
              <a:t>· </a:t>
            </a:r>
            <a:r>
              <a:rPr lang="en-US" altLang="en-US" b="0" i="1"/>
              <a:t>R</a:t>
            </a:r>
            <a:r>
              <a:rPr lang="en-US" altLang="en-US" b="0" i="1" baseline="30000"/>
              <a:t>n</a:t>
            </a:r>
            <a:r>
              <a:rPr lang="en-US" altLang="en-US" b="0" i="1" baseline="-25000"/>
              <a:t> </a:t>
            </a:r>
            <a:r>
              <a:rPr lang="en-US" altLang="en-US" b="0">
                <a:latin typeface="Symbol" panose="05050102010706020507" pitchFamily="18" charset="2"/>
              </a:rPr>
              <a:t>® </a:t>
            </a:r>
            <a:r>
              <a:rPr lang="en-US" altLang="en-US" b="0" i="1"/>
              <a:t>R</a:t>
            </a:r>
          </a:p>
          <a:p>
            <a:endParaRPr lang="en-US" altLang="en-US" b="0" i="1"/>
          </a:p>
          <a:p>
            <a:r>
              <a:rPr lang="en-US" altLang="en-US"/>
              <a:t>a</a:t>
            </a:r>
            <a:r>
              <a:rPr lang="en-US" altLang="en-US" i="1" baseline="30000"/>
              <a:t>T </a:t>
            </a:r>
            <a:r>
              <a:rPr lang="en-US" altLang="en-US" i="1"/>
              <a:t>* </a:t>
            </a:r>
            <a:r>
              <a:rPr lang="en-US" altLang="en-US"/>
              <a:t>b</a:t>
            </a:r>
            <a:r>
              <a:rPr lang="en-US" altLang="en-US" i="1"/>
              <a:t> </a:t>
            </a:r>
            <a:r>
              <a:rPr lang="en-US" altLang="en-US" b="0" i="1"/>
              <a:t>= </a:t>
            </a:r>
            <a:r>
              <a:rPr lang="en-US" altLang="en-US"/>
              <a:t>c</a:t>
            </a:r>
          </a:p>
        </p:txBody>
      </p:sp>
      <p:graphicFrame>
        <p:nvGraphicFramePr>
          <p:cNvPr id="283666" name="Group 18">
            <a:extLst>
              <a:ext uri="{FF2B5EF4-FFF2-40B4-BE49-F238E27FC236}">
                <a16:creationId xmlns:a16="http://schemas.microsoft.com/office/drawing/2014/main" id="{BA3662C3-AE0F-6B2F-B462-D99764FBA29B}"/>
              </a:ext>
            </a:extLst>
          </p:cNvPr>
          <p:cNvGraphicFramePr>
            <a:graphicFrameLocks noGrp="1"/>
          </p:cNvGraphicFramePr>
          <p:nvPr/>
        </p:nvGraphicFramePr>
        <p:xfrm>
          <a:off x="2971800" y="3055939"/>
          <a:ext cx="381000" cy="1049339"/>
        </p:xfrm>
        <a:graphic>
          <a:graphicData uri="http://schemas.openxmlformats.org/drawingml/2006/table">
            <a:tbl>
              <a:tblPr/>
              <a:tblGrid>
                <a:gridCol w="381000">
                  <a:extLst>
                    <a:ext uri="{9D8B030D-6E8A-4147-A177-3AD203B41FA5}">
                      <a16:colId xmlns:a16="http://schemas.microsoft.com/office/drawing/2014/main" val="1172353765"/>
                    </a:ext>
                  </a:extLst>
                </a:gridCol>
              </a:tblGrid>
              <a:tr h="338138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b</a:t>
                      </a:r>
                      <a:r>
                        <a:rPr kumimoji="0" lang="en-US" altLang="en-US" sz="1600" b="0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i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03314268"/>
                  </a:ext>
                </a:extLst>
              </a:tr>
              <a:tr h="350838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b</a:t>
                      </a:r>
                      <a:r>
                        <a:rPr kumimoji="0" lang="en-US" altLang="en-US" sz="1600" b="0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j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83249463"/>
                  </a:ext>
                </a:extLst>
              </a:tr>
              <a:tr h="360363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b</a:t>
                      </a:r>
                      <a:r>
                        <a:rPr kumimoji="0" lang="en-US" altLang="en-US" sz="1600" b="0" i="0" u="none" strike="noStrike" cap="none" normalizeH="0" baseline="-25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k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58198816"/>
                  </a:ext>
                </a:extLst>
              </a:tr>
            </a:tbl>
          </a:graphicData>
        </a:graphic>
      </p:graphicFrame>
      <p:sp>
        <p:nvSpPr>
          <p:cNvPr id="283677" name="Rectangle 29">
            <a:extLst>
              <a:ext uri="{FF2B5EF4-FFF2-40B4-BE49-F238E27FC236}">
                <a16:creationId xmlns:a16="http://schemas.microsoft.com/office/drawing/2014/main" id="{F93CC245-771E-BFB6-1595-40B0CDE5E6E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noFill/>
          <a:ln/>
        </p:spPr>
        <p:txBody>
          <a:bodyPr/>
          <a:lstStyle/>
          <a:p>
            <a:r>
              <a:rPr lang="en-US" altLang="en-US">
                <a:solidFill>
                  <a:schemeClr val="tx1"/>
                </a:solidFill>
              </a:rPr>
              <a:t>inner product / dot product</a:t>
            </a:r>
          </a:p>
        </p:txBody>
      </p:sp>
      <p:graphicFrame>
        <p:nvGraphicFramePr>
          <p:cNvPr id="283678" name="Object 30">
            <a:extLst>
              <a:ext uri="{FF2B5EF4-FFF2-40B4-BE49-F238E27FC236}">
                <a16:creationId xmlns:a16="http://schemas.microsoft.com/office/drawing/2014/main" id="{D57EA308-5A6F-7CF1-75DB-56F79F1A488A}"/>
              </a:ext>
            </a:extLst>
          </p:cNvPr>
          <p:cNvGraphicFramePr>
            <a:graphicFrameLocks noChangeAspect="1"/>
          </p:cNvGraphicFramePr>
          <p:nvPr/>
        </p:nvGraphicFramePr>
        <p:xfrm>
          <a:off x="8245475" y="1508125"/>
          <a:ext cx="960438" cy="355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698400" imgH="215640" progId="Equation.3">
                  <p:embed/>
                </p:oleObj>
              </mc:Choice>
              <mc:Fallback>
                <p:oleObj name="Equation" r:id="rId4" imgW="698400" imgH="215640" progId="Equation.3">
                  <p:embed/>
                  <p:pic>
                    <p:nvPicPr>
                      <p:cNvPr id="283678" name="Object 30">
                        <a:extLst>
                          <a:ext uri="{FF2B5EF4-FFF2-40B4-BE49-F238E27FC236}">
                            <a16:creationId xmlns:a16="http://schemas.microsoft.com/office/drawing/2014/main" id="{D57EA308-5A6F-7CF1-75DB-56F79F1A488A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245475" y="1508125"/>
                        <a:ext cx="960438" cy="355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2004DC69-3D2C-3FD2-509E-2788A1E824A8}"/>
              </a:ext>
            </a:extLst>
          </p:cNvPr>
          <p:cNvCxnSpPr/>
          <p:nvPr/>
        </p:nvCxnSpPr>
        <p:spPr bwMode="auto">
          <a:xfrm flipH="1">
            <a:off x="4411674" y="6477920"/>
            <a:ext cx="138457" cy="170770"/>
          </a:xfrm>
          <a:prstGeom prst="line">
            <a:avLst/>
          </a:prstGeom>
          <a:solidFill>
            <a:schemeClr val="accent1"/>
          </a:solidFill>
          <a:ln w="3810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D077230B-D8F3-7B1C-738A-B2D5F56187E6}"/>
              </a:ext>
            </a:extLst>
          </p:cNvPr>
          <p:cNvCxnSpPr/>
          <p:nvPr/>
        </p:nvCxnSpPr>
        <p:spPr bwMode="auto">
          <a:xfrm flipH="1">
            <a:off x="2804161" y="6477920"/>
            <a:ext cx="138457" cy="170770"/>
          </a:xfrm>
          <a:prstGeom prst="line">
            <a:avLst/>
          </a:prstGeom>
          <a:solidFill>
            <a:schemeClr val="accent1"/>
          </a:solidFill>
          <a:ln w="3810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aphicFrame>
        <p:nvGraphicFramePr>
          <p:cNvPr id="6" name="Group 6">
            <a:extLst>
              <a:ext uri="{FF2B5EF4-FFF2-40B4-BE49-F238E27FC236}">
                <a16:creationId xmlns:a16="http://schemas.microsoft.com/office/drawing/2014/main" id="{64420A76-656F-EF7E-0ECE-453F250E8D83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052977133"/>
              </p:ext>
            </p:extLst>
          </p:nvPr>
        </p:nvGraphicFramePr>
        <p:xfrm>
          <a:off x="4362054" y="4897537"/>
          <a:ext cx="509588" cy="1371600"/>
        </p:xfrm>
        <a:graphic>
          <a:graphicData uri="http://schemas.openxmlformats.org/drawingml/2006/table">
            <a:tbl>
              <a:tblPr/>
              <a:tblGrid>
                <a:gridCol w="509588">
                  <a:extLst>
                    <a:ext uri="{9D8B030D-6E8A-4147-A177-3AD203B41FA5}">
                      <a16:colId xmlns:a16="http://schemas.microsoft.com/office/drawing/2014/main" val="1718322747"/>
                    </a:ext>
                  </a:extLst>
                </a:gridCol>
              </a:tblGrid>
              <a:tr h="45720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3</a:t>
                      </a:r>
                    </a:p>
                  </a:txBody>
                  <a:tcPr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06586071"/>
                  </a:ext>
                </a:extLst>
              </a:tr>
              <a:tr h="45720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5</a:t>
                      </a:r>
                    </a:p>
                  </a:txBody>
                  <a:tcPr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81308325"/>
                  </a:ext>
                </a:extLst>
              </a:tr>
              <a:tr h="45720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7</a:t>
                      </a:r>
                    </a:p>
                  </a:txBody>
                  <a:tcPr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66943235"/>
                  </a:ext>
                </a:extLst>
              </a:tr>
            </a:tbl>
          </a:graphicData>
        </a:graphic>
      </p:graphicFrame>
      <p:graphicFrame>
        <p:nvGraphicFramePr>
          <p:cNvPr id="7" name="Group 52">
            <a:extLst>
              <a:ext uri="{FF2B5EF4-FFF2-40B4-BE49-F238E27FC236}">
                <a16:creationId xmlns:a16="http://schemas.microsoft.com/office/drawing/2014/main" id="{A6FE080D-D3F7-2C9F-8158-0EA93B4A4BC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77941286"/>
              </p:ext>
            </p:extLst>
          </p:nvPr>
        </p:nvGraphicFramePr>
        <p:xfrm>
          <a:off x="1981200" y="5426075"/>
          <a:ext cx="1371600" cy="457200"/>
        </p:xfrm>
        <a:graphic>
          <a:graphicData uri="http://schemas.openxmlformats.org/drawingml/2006/table">
            <a:tbl>
              <a:tblPr/>
              <a:tblGrid>
                <a:gridCol w="457200">
                  <a:extLst>
                    <a:ext uri="{9D8B030D-6E8A-4147-A177-3AD203B41FA5}">
                      <a16:colId xmlns:a16="http://schemas.microsoft.com/office/drawing/2014/main" val="2862576261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1244438841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588074699"/>
                    </a:ext>
                  </a:extLst>
                </a:gridCol>
              </a:tblGrid>
              <a:tr h="45720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2</a:t>
                      </a:r>
                    </a:p>
                  </a:txBody>
                  <a:tcPr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1</a:t>
                      </a:r>
                    </a:p>
                  </a:txBody>
                  <a:tcPr anchor="ctr" anchorCtr="1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3</a:t>
                      </a:r>
                    </a:p>
                  </a:txBody>
                  <a:tcPr anchor="ctr" anchorCtr="1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18797677"/>
                  </a:ext>
                </a:extLst>
              </a:tr>
            </a:tbl>
          </a:graphicData>
        </a:graphic>
      </p:graphicFrame>
      <p:sp>
        <p:nvSpPr>
          <p:cNvPr id="8" name="Text Box 78">
            <a:extLst>
              <a:ext uri="{FF2B5EF4-FFF2-40B4-BE49-F238E27FC236}">
                <a16:creationId xmlns:a16="http://schemas.microsoft.com/office/drawing/2014/main" id="{3EA21C85-1B51-1CE5-599B-7CA50CB5D22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314219" y="6378639"/>
            <a:ext cx="697627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 dirty="0"/>
              <a:t>1 x 3</a:t>
            </a:r>
          </a:p>
        </p:txBody>
      </p:sp>
      <p:sp>
        <p:nvSpPr>
          <p:cNvPr id="9" name="Text Box 79">
            <a:extLst>
              <a:ext uri="{FF2B5EF4-FFF2-40B4-BE49-F238E27FC236}">
                <a16:creationId xmlns:a16="http://schemas.microsoft.com/office/drawing/2014/main" id="{20CAF78E-D832-BB8A-794B-01491183C12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301094" y="6378639"/>
            <a:ext cx="697627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 dirty="0"/>
              <a:t>3 x 1</a:t>
            </a:r>
          </a:p>
        </p:txBody>
      </p:sp>
      <p:sp>
        <p:nvSpPr>
          <p:cNvPr id="10" name="Rectangle 89">
            <a:extLst>
              <a:ext uri="{FF2B5EF4-FFF2-40B4-BE49-F238E27FC236}">
                <a16:creationId xmlns:a16="http://schemas.microsoft.com/office/drawing/2014/main" id="{559DC872-C342-C692-0B44-7715C3488C19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08093" y="4930876"/>
            <a:ext cx="395287" cy="373063"/>
          </a:xfrm>
          <a:prstGeom prst="rect">
            <a:avLst/>
          </a:prstGeom>
          <a:solidFill>
            <a:srgbClr val="FF0000">
              <a:alpha val="47000"/>
            </a:srgbClr>
          </a:solidFill>
          <a:ln w="3175">
            <a:solidFill>
              <a:schemeClr val="tx1"/>
            </a:solidFill>
            <a:prstDash val="dash"/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1" name="Rectangle 90">
            <a:extLst>
              <a:ext uri="{FF2B5EF4-FFF2-40B4-BE49-F238E27FC236}">
                <a16:creationId xmlns:a16="http://schemas.microsoft.com/office/drawing/2014/main" id="{6E089A87-93D8-F81D-0E00-B112ED983A63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08093" y="5402363"/>
            <a:ext cx="395287" cy="373063"/>
          </a:xfrm>
          <a:prstGeom prst="rect">
            <a:avLst/>
          </a:prstGeom>
          <a:solidFill>
            <a:srgbClr val="00B050">
              <a:alpha val="47000"/>
            </a:srgbClr>
          </a:solidFill>
          <a:ln w="3175">
            <a:solidFill>
              <a:schemeClr val="tx1"/>
            </a:solidFill>
            <a:prstDash val="dash"/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2" name="Rectangle 91">
            <a:extLst>
              <a:ext uri="{FF2B5EF4-FFF2-40B4-BE49-F238E27FC236}">
                <a16:creationId xmlns:a16="http://schemas.microsoft.com/office/drawing/2014/main" id="{1071EE93-1BCB-DDDB-9AE6-B46B4C60CD69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08093" y="5835751"/>
            <a:ext cx="395287" cy="373063"/>
          </a:xfrm>
          <a:prstGeom prst="rect">
            <a:avLst/>
          </a:prstGeom>
          <a:solidFill>
            <a:schemeClr val="accent1">
              <a:alpha val="47000"/>
            </a:schemeClr>
          </a:solidFill>
          <a:ln w="3175">
            <a:solidFill>
              <a:schemeClr val="tx1"/>
            </a:solidFill>
            <a:prstDash val="dash"/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D486BFE8-404E-061E-90E2-D5C2E71167F5}"/>
              </a:ext>
            </a:extLst>
          </p:cNvPr>
          <p:cNvSpPr txBox="1"/>
          <p:nvPr/>
        </p:nvSpPr>
        <p:spPr>
          <a:xfrm>
            <a:off x="3677778" y="5454620"/>
            <a:ext cx="32733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/>
              <a:t>x</a:t>
            </a:r>
            <a:endParaRPr lang="en-US" sz="1400" dirty="0"/>
          </a:p>
        </p:txBody>
      </p:sp>
      <p:sp>
        <p:nvSpPr>
          <p:cNvPr id="14" name="Text Box 79">
            <a:extLst>
              <a:ext uri="{FF2B5EF4-FFF2-40B4-BE49-F238E27FC236}">
                <a16:creationId xmlns:a16="http://schemas.microsoft.com/office/drawing/2014/main" id="{82150548-E4F8-4E8E-59FA-0A3BBA583F4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867401" y="6378639"/>
            <a:ext cx="697627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 dirty="0"/>
              <a:t>1 x 1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ECA25D35-EA1A-0454-1F7E-04CFD159BD24}"/>
              </a:ext>
            </a:extLst>
          </p:cNvPr>
          <p:cNvSpPr txBox="1"/>
          <p:nvPr/>
        </p:nvSpPr>
        <p:spPr>
          <a:xfrm>
            <a:off x="5304987" y="5387996"/>
            <a:ext cx="39466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=</a:t>
            </a:r>
            <a:endParaRPr lang="en-US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0290D01C-98FE-37B0-9622-63412603CE23}"/>
              </a:ext>
            </a:extLst>
          </p:cNvPr>
          <p:cNvSpPr txBox="1"/>
          <p:nvPr/>
        </p:nvSpPr>
        <p:spPr>
          <a:xfrm>
            <a:off x="7516734" y="4831129"/>
            <a:ext cx="1568058" cy="188199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000" dirty="0">
                <a:solidFill>
                  <a:srgbClr val="FF0000"/>
                </a:solidFill>
              </a:rPr>
              <a:t>2 * 3     =   6</a:t>
            </a:r>
            <a:endParaRPr lang="en-US" sz="2000" dirty="0"/>
          </a:p>
          <a:p>
            <a:pPr>
              <a:lnSpc>
                <a:spcPct val="150000"/>
              </a:lnSpc>
            </a:pPr>
            <a:r>
              <a:rPr lang="en-US" sz="2000" dirty="0">
                <a:solidFill>
                  <a:srgbClr val="00B050"/>
                </a:solidFill>
              </a:rPr>
              <a:t>1 * 5     =   5</a:t>
            </a:r>
            <a:endParaRPr lang="en-US" sz="2000" dirty="0"/>
          </a:p>
          <a:p>
            <a:pPr>
              <a:lnSpc>
                <a:spcPct val="150000"/>
              </a:lnSpc>
            </a:pPr>
            <a:r>
              <a:rPr lang="en-US" sz="2000" u="sng" dirty="0">
                <a:solidFill>
                  <a:srgbClr val="0070C0"/>
                </a:solidFill>
              </a:rPr>
              <a:t>3 * 7     = 21</a:t>
            </a:r>
          </a:p>
          <a:p>
            <a:pPr>
              <a:lnSpc>
                <a:spcPct val="150000"/>
              </a:lnSpc>
            </a:pPr>
            <a:r>
              <a:rPr lang="en-US" sz="2000" dirty="0"/>
              <a:t>6+</a:t>
            </a:r>
            <a:r>
              <a:rPr lang="en-US" sz="2000" dirty="0">
                <a:solidFill>
                  <a:srgbClr val="00B050"/>
                </a:solidFill>
              </a:rPr>
              <a:t>5</a:t>
            </a:r>
            <a:r>
              <a:rPr lang="en-US" sz="2000" dirty="0"/>
              <a:t>+</a:t>
            </a:r>
            <a:r>
              <a:rPr lang="en-US" sz="2000" dirty="0">
                <a:solidFill>
                  <a:srgbClr val="0070C0"/>
                </a:solidFill>
              </a:rPr>
              <a:t>21</a:t>
            </a:r>
            <a:r>
              <a:rPr lang="en-US" sz="2000" dirty="0"/>
              <a:t>= 32</a:t>
            </a:r>
          </a:p>
        </p:txBody>
      </p:sp>
      <p:sp>
        <p:nvSpPr>
          <p:cNvPr id="17" name="Rectangle 89">
            <a:extLst>
              <a:ext uri="{FF2B5EF4-FFF2-40B4-BE49-F238E27FC236}">
                <a16:creationId xmlns:a16="http://schemas.microsoft.com/office/drawing/2014/main" id="{A076E251-ACBD-70EC-3742-B8E2738638F7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12091" y="5468732"/>
            <a:ext cx="395287" cy="373063"/>
          </a:xfrm>
          <a:prstGeom prst="rect">
            <a:avLst/>
          </a:prstGeom>
          <a:solidFill>
            <a:srgbClr val="FF0000">
              <a:alpha val="47000"/>
            </a:srgbClr>
          </a:solidFill>
          <a:ln w="3175">
            <a:solidFill>
              <a:schemeClr val="tx1"/>
            </a:solidFill>
            <a:prstDash val="dash"/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8" name="Rectangle 89">
            <a:extLst>
              <a:ext uri="{FF2B5EF4-FFF2-40B4-BE49-F238E27FC236}">
                <a16:creationId xmlns:a16="http://schemas.microsoft.com/office/drawing/2014/main" id="{5F553DFA-2789-CE0F-D9C5-6138F6AD266B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64614" y="5468732"/>
            <a:ext cx="395287" cy="373063"/>
          </a:xfrm>
          <a:prstGeom prst="rect">
            <a:avLst/>
          </a:prstGeom>
          <a:solidFill>
            <a:srgbClr val="00B050">
              <a:alpha val="47000"/>
            </a:srgbClr>
          </a:solidFill>
          <a:ln w="3175">
            <a:solidFill>
              <a:schemeClr val="tx1"/>
            </a:solidFill>
            <a:prstDash val="dash"/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9" name="Rectangle 89">
            <a:extLst>
              <a:ext uri="{FF2B5EF4-FFF2-40B4-BE49-F238E27FC236}">
                <a16:creationId xmlns:a16="http://schemas.microsoft.com/office/drawing/2014/main" id="{74074CD0-CCF8-1CBB-ADEF-A776A8F545DE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17137" y="5468732"/>
            <a:ext cx="395287" cy="373063"/>
          </a:xfrm>
          <a:prstGeom prst="rect">
            <a:avLst/>
          </a:prstGeom>
          <a:solidFill>
            <a:schemeClr val="accent1">
              <a:alpha val="47000"/>
            </a:schemeClr>
          </a:solidFill>
          <a:ln w="3175">
            <a:solidFill>
              <a:schemeClr val="tx1"/>
            </a:solidFill>
            <a:prstDash val="dash"/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graphicFrame>
        <p:nvGraphicFramePr>
          <p:cNvPr id="20" name="Group 6">
            <a:extLst>
              <a:ext uri="{FF2B5EF4-FFF2-40B4-BE49-F238E27FC236}">
                <a16:creationId xmlns:a16="http://schemas.microsoft.com/office/drawing/2014/main" id="{1AAF371E-B6D7-102A-D2E3-7A34FB898289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474185390"/>
              </p:ext>
            </p:extLst>
          </p:nvPr>
        </p:nvGraphicFramePr>
        <p:xfrm>
          <a:off x="6007484" y="5419283"/>
          <a:ext cx="509588" cy="457200"/>
        </p:xfrm>
        <a:graphic>
          <a:graphicData uri="http://schemas.openxmlformats.org/drawingml/2006/table">
            <a:tbl>
              <a:tblPr/>
              <a:tblGrid>
                <a:gridCol w="509588">
                  <a:extLst>
                    <a:ext uri="{9D8B030D-6E8A-4147-A177-3AD203B41FA5}">
                      <a16:colId xmlns:a16="http://schemas.microsoft.com/office/drawing/2014/main" val="1718322747"/>
                    </a:ext>
                  </a:extLst>
                </a:gridCol>
              </a:tblGrid>
              <a:tr h="45720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32</a:t>
                      </a:r>
                    </a:p>
                  </a:txBody>
                  <a:tcPr anchor="ctr" anchorCtr="1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06586071"/>
                  </a:ext>
                </a:extLst>
              </a:tr>
            </a:tbl>
          </a:graphicData>
        </a:graphic>
      </p:graphicFrame>
      <p:sp>
        <p:nvSpPr>
          <p:cNvPr id="21" name="TextBox 20">
            <a:extLst>
              <a:ext uri="{FF2B5EF4-FFF2-40B4-BE49-F238E27FC236}">
                <a16:creationId xmlns:a16="http://schemas.microsoft.com/office/drawing/2014/main" id="{D8047B51-F00A-4DFE-13CC-A0A4ACA06679}"/>
              </a:ext>
            </a:extLst>
          </p:cNvPr>
          <p:cNvSpPr txBox="1"/>
          <p:nvPr/>
        </p:nvSpPr>
        <p:spPr>
          <a:xfrm>
            <a:off x="3677778" y="6363250"/>
            <a:ext cx="32733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/>
              <a:t>x</a:t>
            </a:r>
            <a:endParaRPr lang="en-US" sz="1400" dirty="0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B8AD6FC2-1E65-004B-DF8B-E187C1AB1205}"/>
              </a:ext>
            </a:extLst>
          </p:cNvPr>
          <p:cNvSpPr txBox="1"/>
          <p:nvPr/>
        </p:nvSpPr>
        <p:spPr>
          <a:xfrm>
            <a:off x="5304987" y="6301695"/>
            <a:ext cx="39466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=</a:t>
            </a:r>
            <a:endParaRPr lang="en-US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674" name="Text Box 2">
            <a:extLst>
              <a:ext uri="{FF2B5EF4-FFF2-40B4-BE49-F238E27FC236}">
                <a16:creationId xmlns:a16="http://schemas.microsoft.com/office/drawing/2014/main" id="{1DD11940-B874-0901-7AB0-2F23AD00695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51038" y="974725"/>
            <a:ext cx="8031162" cy="9159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en-US" altLang="en-US" b="0" i="1" dirty="0"/>
              <a:t>R</a:t>
            </a:r>
            <a:r>
              <a:rPr lang="en-US" altLang="en-US" b="0" i="1" baseline="30000" dirty="0"/>
              <a:t>n </a:t>
            </a:r>
            <a:r>
              <a:rPr lang="en-US" altLang="en-US" b="0" dirty="0">
                <a:latin typeface="Symbol" panose="05050102010706020507" pitchFamily="18" charset="2"/>
              </a:rPr>
              <a:t>· </a:t>
            </a:r>
            <a:r>
              <a:rPr lang="en-US" altLang="en-US" b="0" i="1" dirty="0"/>
              <a:t>R</a:t>
            </a:r>
            <a:r>
              <a:rPr lang="en-US" altLang="en-US" b="0" i="1" baseline="30000" dirty="0"/>
              <a:t>n</a:t>
            </a:r>
            <a:r>
              <a:rPr lang="en-US" altLang="en-US" b="0" i="1" baseline="-25000" dirty="0"/>
              <a:t> </a:t>
            </a:r>
            <a:r>
              <a:rPr lang="en-US" altLang="en-US" b="0" dirty="0">
                <a:latin typeface="Symbol" panose="05050102010706020507" pitchFamily="18" charset="2"/>
              </a:rPr>
              <a:t>® </a:t>
            </a:r>
            <a:r>
              <a:rPr lang="en-US" altLang="en-US" b="0" i="1" dirty="0"/>
              <a:t>R</a:t>
            </a:r>
          </a:p>
          <a:p>
            <a:endParaRPr lang="en-US" altLang="en-US" b="0" dirty="0"/>
          </a:p>
          <a:p>
            <a:r>
              <a:rPr lang="en-US" altLang="en-US" b="0" dirty="0"/>
              <a:t>EXAMPLE: The </a:t>
            </a:r>
            <a:r>
              <a:rPr lang="en-US" altLang="en-US" b="0" dirty="0">
                <a:solidFill>
                  <a:srgbClr val="FF0000"/>
                </a:solidFill>
              </a:rPr>
              <a:t>length</a:t>
            </a:r>
            <a:r>
              <a:rPr lang="en-US" altLang="en-US" b="0" dirty="0"/>
              <a:t> of a vector is its inner product </a:t>
            </a:r>
            <a:r>
              <a:rPr lang="en-US" altLang="en-US" b="0" dirty="0">
                <a:solidFill>
                  <a:srgbClr val="FF0000"/>
                </a:solidFill>
              </a:rPr>
              <a:t>with itself</a:t>
            </a:r>
          </a:p>
        </p:txBody>
      </p:sp>
      <p:sp>
        <p:nvSpPr>
          <p:cNvPr id="284675" name="Rectangle 3">
            <a:extLst>
              <a:ext uri="{FF2B5EF4-FFF2-40B4-BE49-F238E27FC236}">
                <a16:creationId xmlns:a16="http://schemas.microsoft.com/office/drawing/2014/main" id="{FF63AC78-2167-F3B2-65B3-41BF9AB644F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838200" y="365126"/>
            <a:ext cx="10515600" cy="531366"/>
          </a:xfrm>
          <a:noFill/>
          <a:ln/>
        </p:spPr>
        <p:txBody>
          <a:bodyPr>
            <a:normAutofit fontScale="90000"/>
          </a:bodyPr>
          <a:lstStyle/>
          <a:p>
            <a:r>
              <a:rPr lang="en-US" altLang="en-US" dirty="0">
                <a:solidFill>
                  <a:schemeClr val="tx1"/>
                </a:solidFill>
              </a:rPr>
              <a:t>inner product / dot product</a:t>
            </a:r>
          </a:p>
        </p:txBody>
      </p:sp>
      <p:graphicFrame>
        <p:nvGraphicFramePr>
          <p:cNvPr id="284680" name="Object 8">
            <a:extLst>
              <a:ext uri="{FF2B5EF4-FFF2-40B4-BE49-F238E27FC236}">
                <a16:creationId xmlns:a16="http://schemas.microsoft.com/office/drawing/2014/main" id="{06B4AD69-E6E5-A0B0-EE6C-D97FC5F260C5}"/>
              </a:ext>
            </a:extLst>
          </p:cNvPr>
          <p:cNvGraphicFramePr>
            <a:graphicFrameLocks noGrp="1" noChangeAspect="1"/>
          </p:cNvGraphicFramePr>
          <p:nvPr>
            <p:ph sz="half" idx="1"/>
          </p:nvPr>
        </p:nvGraphicFramePr>
        <p:xfrm>
          <a:off x="2074863" y="2103438"/>
          <a:ext cx="4033837" cy="5429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981080" imgH="266400" progId="Equation.3">
                  <p:embed/>
                </p:oleObj>
              </mc:Choice>
              <mc:Fallback>
                <p:oleObj name="Equation" r:id="rId2" imgW="1981080" imgH="266400" progId="Equation.3">
                  <p:embed/>
                  <p:pic>
                    <p:nvPicPr>
                      <p:cNvPr id="284680" name="Object 8">
                        <a:extLst>
                          <a:ext uri="{FF2B5EF4-FFF2-40B4-BE49-F238E27FC236}">
                            <a16:creationId xmlns:a16="http://schemas.microsoft.com/office/drawing/2014/main" id="{06B4AD69-E6E5-A0B0-EE6C-D97FC5F260C5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74863" y="2103438"/>
                        <a:ext cx="4033837" cy="5429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84676" name="Group 4">
            <a:extLst>
              <a:ext uri="{FF2B5EF4-FFF2-40B4-BE49-F238E27FC236}">
                <a16:creationId xmlns:a16="http://schemas.microsoft.com/office/drawing/2014/main" id="{0CB91988-F9E7-7419-3B45-C1A9372E833A}"/>
              </a:ext>
            </a:extLst>
          </p:cNvPr>
          <p:cNvGrpSpPr>
            <a:grpSpLocks/>
          </p:cNvGrpSpPr>
          <p:nvPr/>
        </p:nvGrpSpPr>
        <p:grpSpPr bwMode="auto">
          <a:xfrm>
            <a:off x="1981200" y="5030788"/>
            <a:ext cx="3467100" cy="1365250"/>
            <a:chOff x="432" y="1298"/>
            <a:chExt cx="3279" cy="1296"/>
          </a:xfrm>
        </p:grpSpPr>
        <p:graphicFrame>
          <p:nvGraphicFramePr>
            <p:cNvPr id="284677" name="Object 5">
              <a:extLst>
                <a:ext uri="{FF2B5EF4-FFF2-40B4-BE49-F238E27FC236}">
                  <a16:creationId xmlns:a16="http://schemas.microsoft.com/office/drawing/2014/main" id="{8EABB5ED-B1DE-DDC8-DCC7-CE338A8C8845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432" y="1298"/>
            <a:ext cx="3279" cy="65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Worksheet" r:id="rId4" imgW="3495779" imgH="695233" progId="Excel.Sheet.8">
                    <p:embed/>
                  </p:oleObj>
                </mc:Choice>
                <mc:Fallback>
                  <p:oleObj name="Worksheet" r:id="rId4" imgW="3495779" imgH="695233" progId="Excel.Sheet.8">
                    <p:embed/>
                    <p:pic>
                      <p:nvPicPr>
                        <p:cNvPr id="284677" name="Object 5">
                          <a:extLst>
                            <a:ext uri="{FF2B5EF4-FFF2-40B4-BE49-F238E27FC236}">
                              <a16:creationId xmlns:a16="http://schemas.microsoft.com/office/drawing/2014/main" id="{8EABB5ED-B1DE-DDC8-DCC7-CE338A8C8845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32" y="1298"/>
                          <a:ext cx="3279" cy="65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84678" name="Rectangle 6">
              <a:extLst>
                <a:ext uri="{FF2B5EF4-FFF2-40B4-BE49-F238E27FC236}">
                  <a16:creationId xmlns:a16="http://schemas.microsoft.com/office/drawing/2014/main" id="{C4929892-482A-9FAF-B81D-70281200D53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80" y="1584"/>
              <a:ext cx="275" cy="35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en-US" b="0">
                  <a:latin typeface="Symath" pitchFamily="2" charset="0"/>
                </a:rPr>
                <a:t>S</a:t>
              </a:r>
            </a:p>
          </p:txBody>
        </p:sp>
        <p:sp>
          <p:nvSpPr>
            <p:cNvPr id="284679" name="Rectangle 7">
              <a:extLst>
                <a:ext uri="{FF2B5EF4-FFF2-40B4-BE49-F238E27FC236}">
                  <a16:creationId xmlns:a16="http://schemas.microsoft.com/office/drawing/2014/main" id="{7D276F85-79A1-44E9-B712-3DD150D9CF0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81" y="2246"/>
              <a:ext cx="174" cy="34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endParaRPr lang="en-US" altLang="en-US" b="0">
                <a:latin typeface="Symath" pitchFamily="2" charset="0"/>
              </a:endParaRPr>
            </a:p>
          </p:txBody>
        </p:sp>
      </p:grpSp>
      <p:sp>
        <p:nvSpPr>
          <p:cNvPr id="284681" name="Line 9">
            <a:extLst>
              <a:ext uri="{FF2B5EF4-FFF2-40B4-BE49-F238E27FC236}">
                <a16:creationId xmlns:a16="http://schemas.microsoft.com/office/drawing/2014/main" id="{C29D45DD-0B80-2B05-3D3A-F88B927DE48D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7559675" y="3292476"/>
            <a:ext cx="2147888" cy="1279525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graphicFrame>
        <p:nvGraphicFramePr>
          <p:cNvPr id="284682" name="Object 10">
            <a:extLst>
              <a:ext uri="{FF2B5EF4-FFF2-40B4-BE49-F238E27FC236}">
                <a16:creationId xmlns:a16="http://schemas.microsoft.com/office/drawing/2014/main" id="{923A178D-9B78-D022-B23C-357EF3CAB482}"/>
              </a:ext>
            </a:extLst>
          </p:cNvPr>
          <p:cNvGraphicFramePr>
            <a:graphicFrameLocks noChangeAspect="1"/>
          </p:cNvGraphicFramePr>
          <p:nvPr/>
        </p:nvGraphicFramePr>
        <p:xfrm>
          <a:off x="7239001" y="2239964"/>
          <a:ext cx="695325" cy="3381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545760" imgH="266400" progId="Equation.3">
                  <p:embed/>
                </p:oleObj>
              </mc:Choice>
              <mc:Fallback>
                <p:oleObj name="Equation" r:id="rId6" imgW="545760" imgH="266400" progId="Equation.3">
                  <p:embed/>
                  <p:pic>
                    <p:nvPicPr>
                      <p:cNvPr id="284682" name="Object 10">
                        <a:extLst>
                          <a:ext uri="{FF2B5EF4-FFF2-40B4-BE49-F238E27FC236}">
                            <a16:creationId xmlns:a16="http://schemas.microsoft.com/office/drawing/2014/main" id="{923A178D-9B78-D022-B23C-357EF3CAB482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239001" y="2239964"/>
                        <a:ext cx="695325" cy="3381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84683" name="Object 11">
            <a:extLst>
              <a:ext uri="{FF2B5EF4-FFF2-40B4-BE49-F238E27FC236}">
                <a16:creationId xmlns:a16="http://schemas.microsoft.com/office/drawing/2014/main" id="{9E987323-2F19-0123-2ED0-39800A16D67D}"/>
              </a:ext>
            </a:extLst>
          </p:cNvPr>
          <p:cNvGraphicFramePr>
            <a:graphicFrameLocks noChangeAspect="1"/>
          </p:cNvGraphicFramePr>
          <p:nvPr/>
        </p:nvGraphicFramePr>
        <p:xfrm>
          <a:off x="7285038" y="4527550"/>
          <a:ext cx="177800" cy="241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139680" imgH="190440" progId="Equation.3">
                  <p:embed/>
                </p:oleObj>
              </mc:Choice>
              <mc:Fallback>
                <p:oleObj name="Equation" r:id="rId8" imgW="139680" imgH="190440" progId="Equation.3">
                  <p:embed/>
                  <p:pic>
                    <p:nvPicPr>
                      <p:cNvPr id="284683" name="Object 11">
                        <a:extLst>
                          <a:ext uri="{FF2B5EF4-FFF2-40B4-BE49-F238E27FC236}">
                            <a16:creationId xmlns:a16="http://schemas.microsoft.com/office/drawing/2014/main" id="{9E987323-2F19-0123-2ED0-39800A16D67D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285038" y="4527550"/>
                        <a:ext cx="177800" cy="2413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84684" name="Line 12">
            <a:extLst>
              <a:ext uri="{FF2B5EF4-FFF2-40B4-BE49-F238E27FC236}">
                <a16:creationId xmlns:a16="http://schemas.microsoft.com/office/drawing/2014/main" id="{B7DF4129-53AD-B2FA-B7F9-1C5DE287F332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7559675" y="4022726"/>
            <a:ext cx="2147888" cy="1279525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graphicFrame>
        <p:nvGraphicFramePr>
          <p:cNvPr id="284685" name="Object 13">
            <a:extLst>
              <a:ext uri="{FF2B5EF4-FFF2-40B4-BE49-F238E27FC236}">
                <a16:creationId xmlns:a16="http://schemas.microsoft.com/office/drawing/2014/main" id="{5E728AA7-802F-54B0-202D-77DEDAEC7CAE}"/>
              </a:ext>
            </a:extLst>
          </p:cNvPr>
          <p:cNvGraphicFramePr>
            <a:graphicFrameLocks noChangeAspect="1"/>
          </p:cNvGraphicFramePr>
          <p:nvPr/>
        </p:nvGraphicFramePr>
        <p:xfrm>
          <a:off x="7285038" y="5257800"/>
          <a:ext cx="177800" cy="241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139680" imgH="190440" progId="Equation.3">
                  <p:embed/>
                </p:oleObj>
              </mc:Choice>
              <mc:Fallback>
                <p:oleObj name="Equation" r:id="rId10" imgW="139680" imgH="190440" progId="Equation.3">
                  <p:embed/>
                  <p:pic>
                    <p:nvPicPr>
                      <p:cNvPr id="284685" name="Object 13">
                        <a:extLst>
                          <a:ext uri="{FF2B5EF4-FFF2-40B4-BE49-F238E27FC236}">
                            <a16:creationId xmlns:a16="http://schemas.microsoft.com/office/drawing/2014/main" id="{5E728AA7-802F-54B0-202D-77DEDAEC7CAE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285038" y="5257800"/>
                        <a:ext cx="177800" cy="2413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84686" name="Rectangle 14">
            <a:extLst>
              <a:ext uri="{FF2B5EF4-FFF2-40B4-BE49-F238E27FC236}">
                <a16:creationId xmlns:a16="http://schemas.microsoft.com/office/drawing/2014/main" id="{5AF3BF66-4E4E-29FE-946C-C1C37D5FCCCD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35964" y="4251326"/>
            <a:ext cx="242374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 b="0">
                <a:latin typeface="SymbolProp BT" pitchFamily="18" charset="2"/>
              </a:rPr>
              <a:t>·</a:t>
            </a:r>
          </a:p>
        </p:txBody>
      </p:sp>
      <p:graphicFrame>
        <p:nvGraphicFramePr>
          <p:cNvPr id="284687" name="Object 15">
            <a:extLst>
              <a:ext uri="{FF2B5EF4-FFF2-40B4-BE49-F238E27FC236}">
                <a16:creationId xmlns:a16="http://schemas.microsoft.com/office/drawing/2014/main" id="{FA7CAE20-23BD-B826-AD19-F71A2506D605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073275" y="2697163"/>
          <a:ext cx="3028950" cy="20177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1" imgW="1485720" imgH="990360" progId="Equation.3">
                  <p:embed/>
                </p:oleObj>
              </mc:Choice>
              <mc:Fallback>
                <p:oleObj name="Equation" r:id="rId11" imgW="1485720" imgH="990360" progId="Equation.3">
                  <p:embed/>
                  <p:pic>
                    <p:nvPicPr>
                      <p:cNvPr id="284687" name="Object 15">
                        <a:extLst>
                          <a:ext uri="{FF2B5EF4-FFF2-40B4-BE49-F238E27FC236}">
                            <a16:creationId xmlns:a16="http://schemas.microsoft.com/office/drawing/2014/main" id="{FA7CAE20-23BD-B826-AD19-F71A2506D605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73275" y="2697163"/>
                        <a:ext cx="3028950" cy="20177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84688" name="Object 16">
            <a:extLst>
              <a:ext uri="{FF2B5EF4-FFF2-40B4-BE49-F238E27FC236}">
                <a16:creationId xmlns:a16="http://schemas.microsoft.com/office/drawing/2014/main" id="{4F6EBE2C-E587-1FBC-D770-BF9F2A073EA3}"/>
              </a:ext>
            </a:extLst>
          </p:cNvPr>
          <p:cNvGraphicFramePr>
            <a:graphicFrameLocks noChangeAspect="1"/>
          </p:cNvGraphicFramePr>
          <p:nvPr/>
        </p:nvGraphicFramePr>
        <p:xfrm>
          <a:off x="7924800" y="914400"/>
          <a:ext cx="960438" cy="355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3" imgW="698400" imgH="215640" progId="Equation.3">
                  <p:embed/>
                </p:oleObj>
              </mc:Choice>
              <mc:Fallback>
                <p:oleObj name="Equation" r:id="rId13" imgW="698400" imgH="215640" progId="Equation.3">
                  <p:embed/>
                  <p:pic>
                    <p:nvPicPr>
                      <p:cNvPr id="284688" name="Object 16">
                        <a:extLst>
                          <a:ext uri="{FF2B5EF4-FFF2-40B4-BE49-F238E27FC236}">
                            <a16:creationId xmlns:a16="http://schemas.microsoft.com/office/drawing/2014/main" id="{4F6EBE2C-E587-1FBC-D770-BF9F2A073EA3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924800" y="914400"/>
                        <a:ext cx="960438" cy="355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8466" name="Text Box 2">
            <a:extLst>
              <a:ext uri="{FF2B5EF4-FFF2-40B4-BE49-F238E27FC236}">
                <a16:creationId xmlns:a16="http://schemas.microsoft.com/office/drawing/2014/main" id="{F09F372E-74D6-7EF0-B2F8-8EF6237ADA3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51038" y="974725"/>
            <a:ext cx="8031162" cy="9159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en-US" altLang="en-US" b="0" i="1" dirty="0"/>
              <a:t>R</a:t>
            </a:r>
            <a:r>
              <a:rPr lang="en-US" altLang="en-US" b="0" i="1" baseline="30000" dirty="0"/>
              <a:t>n </a:t>
            </a:r>
            <a:r>
              <a:rPr lang="en-US" altLang="en-US" b="0" dirty="0">
                <a:latin typeface="Symbol" panose="05050102010706020507" pitchFamily="18" charset="2"/>
              </a:rPr>
              <a:t>· </a:t>
            </a:r>
            <a:r>
              <a:rPr lang="en-US" altLang="en-US" b="0" i="1" dirty="0"/>
              <a:t>R</a:t>
            </a:r>
            <a:r>
              <a:rPr lang="en-US" altLang="en-US" b="0" i="1" baseline="30000" dirty="0"/>
              <a:t>n</a:t>
            </a:r>
            <a:r>
              <a:rPr lang="en-US" altLang="en-US" b="0" i="1" baseline="-25000" dirty="0"/>
              <a:t> </a:t>
            </a:r>
            <a:r>
              <a:rPr lang="en-US" altLang="en-US" b="0" dirty="0">
                <a:latin typeface="Symbol" panose="05050102010706020507" pitchFamily="18" charset="2"/>
              </a:rPr>
              <a:t>® </a:t>
            </a:r>
            <a:r>
              <a:rPr lang="en-US" altLang="en-US" b="0" i="1" dirty="0"/>
              <a:t>R</a:t>
            </a:r>
          </a:p>
          <a:p>
            <a:endParaRPr lang="en-US" altLang="en-US" b="0" dirty="0"/>
          </a:p>
          <a:p>
            <a:r>
              <a:rPr lang="en-US" altLang="en-US" b="0" dirty="0"/>
              <a:t>EXAMPLE: The </a:t>
            </a:r>
            <a:r>
              <a:rPr lang="en-US" altLang="en-US" b="0" dirty="0">
                <a:solidFill>
                  <a:srgbClr val="FF0000"/>
                </a:solidFill>
              </a:rPr>
              <a:t>length</a:t>
            </a:r>
            <a:r>
              <a:rPr lang="en-US" altLang="en-US" b="0" dirty="0"/>
              <a:t> of a vector is its inner product </a:t>
            </a:r>
            <a:r>
              <a:rPr lang="en-US" altLang="en-US" b="0" dirty="0">
                <a:solidFill>
                  <a:srgbClr val="FF0000"/>
                </a:solidFill>
              </a:rPr>
              <a:t>with itself</a:t>
            </a:r>
          </a:p>
        </p:txBody>
      </p:sp>
      <p:graphicFrame>
        <p:nvGraphicFramePr>
          <p:cNvPr id="318472" name="Object 8">
            <a:extLst>
              <a:ext uri="{FF2B5EF4-FFF2-40B4-BE49-F238E27FC236}">
                <a16:creationId xmlns:a16="http://schemas.microsoft.com/office/drawing/2014/main" id="{7C0721C9-CC65-D003-AE94-53BFF9DDFCC5}"/>
              </a:ext>
            </a:extLst>
          </p:cNvPr>
          <p:cNvGraphicFramePr>
            <a:graphicFrameLocks noGrp="1" noChangeAspect="1"/>
          </p:cNvGraphicFramePr>
          <p:nvPr>
            <p:ph sz="half" idx="1"/>
          </p:nvPr>
        </p:nvGraphicFramePr>
        <p:xfrm>
          <a:off x="2074863" y="2103438"/>
          <a:ext cx="4033837" cy="5429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981080" imgH="266400" progId="Equation.3">
                  <p:embed/>
                </p:oleObj>
              </mc:Choice>
              <mc:Fallback>
                <p:oleObj name="Equation" r:id="rId2" imgW="1981080" imgH="266400" progId="Equation.3">
                  <p:embed/>
                  <p:pic>
                    <p:nvPicPr>
                      <p:cNvPr id="318472" name="Object 8">
                        <a:extLst>
                          <a:ext uri="{FF2B5EF4-FFF2-40B4-BE49-F238E27FC236}">
                            <a16:creationId xmlns:a16="http://schemas.microsoft.com/office/drawing/2014/main" id="{7C0721C9-CC65-D003-AE94-53BFF9DDFCC5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74863" y="2103438"/>
                        <a:ext cx="4033837" cy="5429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318468" name="Group 4">
            <a:extLst>
              <a:ext uri="{FF2B5EF4-FFF2-40B4-BE49-F238E27FC236}">
                <a16:creationId xmlns:a16="http://schemas.microsoft.com/office/drawing/2014/main" id="{0C6621B8-FF5B-A770-CEA4-75C4720D6F39}"/>
              </a:ext>
            </a:extLst>
          </p:cNvPr>
          <p:cNvGrpSpPr>
            <a:grpSpLocks/>
          </p:cNvGrpSpPr>
          <p:nvPr/>
        </p:nvGrpSpPr>
        <p:grpSpPr bwMode="auto">
          <a:xfrm>
            <a:off x="1981200" y="5030788"/>
            <a:ext cx="3467100" cy="1365250"/>
            <a:chOff x="432" y="1298"/>
            <a:chExt cx="3279" cy="1296"/>
          </a:xfrm>
        </p:grpSpPr>
        <p:graphicFrame>
          <p:nvGraphicFramePr>
            <p:cNvPr id="318469" name="Object 5">
              <a:extLst>
                <a:ext uri="{FF2B5EF4-FFF2-40B4-BE49-F238E27FC236}">
                  <a16:creationId xmlns:a16="http://schemas.microsoft.com/office/drawing/2014/main" id="{134FE94B-9D18-510B-BD15-DBEC3C32BD3B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432" y="1298"/>
            <a:ext cx="3279" cy="65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Worksheet" r:id="rId4" imgW="3495779" imgH="695233" progId="Excel.Sheet.8">
                    <p:embed/>
                  </p:oleObj>
                </mc:Choice>
                <mc:Fallback>
                  <p:oleObj name="Worksheet" r:id="rId4" imgW="3495779" imgH="695233" progId="Excel.Sheet.8">
                    <p:embed/>
                    <p:pic>
                      <p:nvPicPr>
                        <p:cNvPr id="318469" name="Object 5">
                          <a:extLst>
                            <a:ext uri="{FF2B5EF4-FFF2-40B4-BE49-F238E27FC236}">
                              <a16:creationId xmlns:a16="http://schemas.microsoft.com/office/drawing/2014/main" id="{134FE94B-9D18-510B-BD15-DBEC3C32BD3B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32" y="1298"/>
                          <a:ext cx="3279" cy="65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318470" name="Rectangle 6">
              <a:extLst>
                <a:ext uri="{FF2B5EF4-FFF2-40B4-BE49-F238E27FC236}">
                  <a16:creationId xmlns:a16="http://schemas.microsoft.com/office/drawing/2014/main" id="{33B81770-F7B3-2DA5-8CC2-225AF77086A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80" y="1584"/>
              <a:ext cx="275" cy="35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en-US" b="0">
                  <a:latin typeface="Symath" pitchFamily="2" charset="0"/>
                </a:rPr>
                <a:t>S</a:t>
              </a:r>
            </a:p>
          </p:txBody>
        </p:sp>
        <p:sp>
          <p:nvSpPr>
            <p:cNvPr id="318471" name="Rectangle 7">
              <a:extLst>
                <a:ext uri="{FF2B5EF4-FFF2-40B4-BE49-F238E27FC236}">
                  <a16:creationId xmlns:a16="http://schemas.microsoft.com/office/drawing/2014/main" id="{184BDCAF-ADCC-75BA-4D4F-E13FD509F47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81" y="2246"/>
              <a:ext cx="174" cy="34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endParaRPr lang="en-US" altLang="en-US" b="0">
                <a:latin typeface="Symath" pitchFamily="2" charset="0"/>
              </a:endParaRPr>
            </a:p>
          </p:txBody>
        </p:sp>
      </p:grpSp>
      <p:sp>
        <p:nvSpPr>
          <p:cNvPr id="318473" name="Line 9">
            <a:extLst>
              <a:ext uri="{FF2B5EF4-FFF2-40B4-BE49-F238E27FC236}">
                <a16:creationId xmlns:a16="http://schemas.microsoft.com/office/drawing/2014/main" id="{DA52B97A-7F98-FA7B-3CA2-709C274D3ADC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7559675" y="3292476"/>
            <a:ext cx="2147888" cy="1279525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graphicFrame>
        <p:nvGraphicFramePr>
          <p:cNvPr id="318474" name="Object 10">
            <a:extLst>
              <a:ext uri="{FF2B5EF4-FFF2-40B4-BE49-F238E27FC236}">
                <a16:creationId xmlns:a16="http://schemas.microsoft.com/office/drawing/2014/main" id="{334C964C-61FE-98BB-37E9-64A00C55EBA0}"/>
              </a:ext>
            </a:extLst>
          </p:cNvPr>
          <p:cNvGraphicFramePr>
            <a:graphicFrameLocks noChangeAspect="1"/>
          </p:cNvGraphicFramePr>
          <p:nvPr/>
        </p:nvGraphicFramePr>
        <p:xfrm>
          <a:off x="7239001" y="2239964"/>
          <a:ext cx="695325" cy="3381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545760" imgH="266400" progId="Equation.3">
                  <p:embed/>
                </p:oleObj>
              </mc:Choice>
              <mc:Fallback>
                <p:oleObj name="Equation" r:id="rId6" imgW="545760" imgH="266400" progId="Equation.3">
                  <p:embed/>
                  <p:pic>
                    <p:nvPicPr>
                      <p:cNvPr id="318474" name="Object 10">
                        <a:extLst>
                          <a:ext uri="{FF2B5EF4-FFF2-40B4-BE49-F238E27FC236}">
                            <a16:creationId xmlns:a16="http://schemas.microsoft.com/office/drawing/2014/main" id="{334C964C-61FE-98BB-37E9-64A00C55EBA0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239001" y="2239964"/>
                        <a:ext cx="695325" cy="3381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18475" name="Object 11">
            <a:extLst>
              <a:ext uri="{FF2B5EF4-FFF2-40B4-BE49-F238E27FC236}">
                <a16:creationId xmlns:a16="http://schemas.microsoft.com/office/drawing/2014/main" id="{29E038A3-F28F-0C38-82B6-FA8C6C7BCB7C}"/>
              </a:ext>
            </a:extLst>
          </p:cNvPr>
          <p:cNvGraphicFramePr>
            <a:graphicFrameLocks noChangeAspect="1"/>
          </p:cNvGraphicFramePr>
          <p:nvPr/>
        </p:nvGraphicFramePr>
        <p:xfrm>
          <a:off x="7285038" y="4527550"/>
          <a:ext cx="177800" cy="241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139680" imgH="190440" progId="Equation.3">
                  <p:embed/>
                </p:oleObj>
              </mc:Choice>
              <mc:Fallback>
                <p:oleObj name="Equation" r:id="rId8" imgW="139680" imgH="190440" progId="Equation.3">
                  <p:embed/>
                  <p:pic>
                    <p:nvPicPr>
                      <p:cNvPr id="318475" name="Object 11">
                        <a:extLst>
                          <a:ext uri="{FF2B5EF4-FFF2-40B4-BE49-F238E27FC236}">
                            <a16:creationId xmlns:a16="http://schemas.microsoft.com/office/drawing/2014/main" id="{29E038A3-F28F-0C38-82B6-FA8C6C7BCB7C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285038" y="4527550"/>
                        <a:ext cx="177800" cy="2413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18476" name="Line 12">
            <a:extLst>
              <a:ext uri="{FF2B5EF4-FFF2-40B4-BE49-F238E27FC236}">
                <a16:creationId xmlns:a16="http://schemas.microsoft.com/office/drawing/2014/main" id="{B731EB11-070C-6782-E6F6-532FECC27B89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7559675" y="4022726"/>
            <a:ext cx="2147888" cy="1279525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graphicFrame>
        <p:nvGraphicFramePr>
          <p:cNvPr id="318477" name="Object 13">
            <a:extLst>
              <a:ext uri="{FF2B5EF4-FFF2-40B4-BE49-F238E27FC236}">
                <a16:creationId xmlns:a16="http://schemas.microsoft.com/office/drawing/2014/main" id="{066DFAB1-DB66-45C8-10D9-72D6154C466D}"/>
              </a:ext>
            </a:extLst>
          </p:cNvPr>
          <p:cNvGraphicFramePr>
            <a:graphicFrameLocks noChangeAspect="1"/>
          </p:cNvGraphicFramePr>
          <p:nvPr/>
        </p:nvGraphicFramePr>
        <p:xfrm>
          <a:off x="7285038" y="5257800"/>
          <a:ext cx="177800" cy="241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139680" imgH="190440" progId="Equation.3">
                  <p:embed/>
                </p:oleObj>
              </mc:Choice>
              <mc:Fallback>
                <p:oleObj name="Equation" r:id="rId10" imgW="139680" imgH="190440" progId="Equation.3">
                  <p:embed/>
                  <p:pic>
                    <p:nvPicPr>
                      <p:cNvPr id="318477" name="Object 13">
                        <a:extLst>
                          <a:ext uri="{FF2B5EF4-FFF2-40B4-BE49-F238E27FC236}">
                            <a16:creationId xmlns:a16="http://schemas.microsoft.com/office/drawing/2014/main" id="{066DFAB1-DB66-45C8-10D9-72D6154C466D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285038" y="5257800"/>
                        <a:ext cx="177800" cy="2413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18478" name="Rectangle 14">
            <a:extLst>
              <a:ext uri="{FF2B5EF4-FFF2-40B4-BE49-F238E27FC236}">
                <a16:creationId xmlns:a16="http://schemas.microsoft.com/office/drawing/2014/main" id="{BADCEAE6-FA67-0ADB-E8A9-A649C73153C0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35964" y="4251326"/>
            <a:ext cx="242374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 b="0">
                <a:latin typeface="SymbolProp BT" pitchFamily="18" charset="2"/>
              </a:rPr>
              <a:t>·</a:t>
            </a:r>
          </a:p>
        </p:txBody>
      </p:sp>
      <p:graphicFrame>
        <p:nvGraphicFramePr>
          <p:cNvPr id="318479" name="Object 15">
            <a:extLst>
              <a:ext uri="{FF2B5EF4-FFF2-40B4-BE49-F238E27FC236}">
                <a16:creationId xmlns:a16="http://schemas.microsoft.com/office/drawing/2014/main" id="{5F5B318F-954C-591B-2BFD-2A37F9DAE230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073275" y="2697163"/>
          <a:ext cx="3028950" cy="20177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1" imgW="1485720" imgH="990360" progId="Equation.3">
                  <p:embed/>
                </p:oleObj>
              </mc:Choice>
              <mc:Fallback>
                <p:oleObj name="Equation" r:id="rId11" imgW="1485720" imgH="990360" progId="Equation.3">
                  <p:embed/>
                  <p:pic>
                    <p:nvPicPr>
                      <p:cNvPr id="318479" name="Object 15">
                        <a:extLst>
                          <a:ext uri="{FF2B5EF4-FFF2-40B4-BE49-F238E27FC236}">
                            <a16:creationId xmlns:a16="http://schemas.microsoft.com/office/drawing/2014/main" id="{5F5B318F-954C-591B-2BFD-2A37F9DAE230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73275" y="2697163"/>
                        <a:ext cx="3028950" cy="20177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18480" name="Object 16">
            <a:extLst>
              <a:ext uri="{FF2B5EF4-FFF2-40B4-BE49-F238E27FC236}">
                <a16:creationId xmlns:a16="http://schemas.microsoft.com/office/drawing/2014/main" id="{178BD2C3-F48A-FE99-73E9-6A215AC46ED7}"/>
              </a:ext>
            </a:extLst>
          </p:cNvPr>
          <p:cNvGraphicFramePr>
            <a:graphicFrameLocks noChangeAspect="1"/>
          </p:cNvGraphicFramePr>
          <p:nvPr/>
        </p:nvGraphicFramePr>
        <p:xfrm>
          <a:off x="7924800" y="914400"/>
          <a:ext cx="960438" cy="355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3" imgW="698400" imgH="215640" progId="Equation.3">
                  <p:embed/>
                </p:oleObj>
              </mc:Choice>
              <mc:Fallback>
                <p:oleObj name="Equation" r:id="rId13" imgW="698400" imgH="215640" progId="Equation.3">
                  <p:embed/>
                  <p:pic>
                    <p:nvPicPr>
                      <p:cNvPr id="318480" name="Object 16">
                        <a:extLst>
                          <a:ext uri="{FF2B5EF4-FFF2-40B4-BE49-F238E27FC236}">
                            <a16:creationId xmlns:a16="http://schemas.microsoft.com/office/drawing/2014/main" id="{178BD2C3-F48A-FE99-73E9-6A215AC46ED7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924800" y="914400"/>
                        <a:ext cx="960438" cy="355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18481" name="AutoShape 17">
            <a:extLst>
              <a:ext uri="{FF2B5EF4-FFF2-40B4-BE49-F238E27FC236}">
                <a16:creationId xmlns:a16="http://schemas.microsoft.com/office/drawing/2014/main" id="{4083ED5F-23D8-37CB-A27C-5DDF12F8E8B8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30876" y="5532438"/>
            <a:ext cx="3795713" cy="1066800"/>
          </a:xfrm>
          <a:prstGeom prst="wedgeRectCallout">
            <a:avLst>
              <a:gd name="adj1" fmla="val -24569"/>
              <a:gd name="adj2" fmla="val -395088"/>
            </a:avLst>
          </a:prstGeom>
          <a:solidFill>
            <a:schemeClr val="accent1">
              <a:lumMod val="40000"/>
              <a:lumOff val="6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/>
          <a:lstStyle/>
          <a:p>
            <a:r>
              <a:rPr lang="en-US" altLang="en-US" sz="1600" b="0"/>
              <a:t>This is why Euclidean space is sometimes called an </a:t>
            </a:r>
          </a:p>
          <a:p>
            <a:r>
              <a:rPr lang="en-US" altLang="en-US" sz="1600" b="0"/>
              <a:t>“inner product space”</a:t>
            </a:r>
            <a:endParaRPr lang="en-US" altLang="en-US" sz="1600" b="0">
              <a:latin typeface="MS Shell Dlg" panose="020B0604020202020204" pitchFamily="34" charset="0"/>
            </a:endParaRPr>
          </a:p>
          <a:p>
            <a:endParaRPr lang="en-US" altLang="en-US" sz="1600" b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A79F6A4A-0C68-3392-36B1-70A97D13686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838200" y="365126"/>
            <a:ext cx="10515600" cy="531366"/>
          </a:xfrm>
          <a:noFill/>
          <a:ln/>
        </p:spPr>
        <p:txBody>
          <a:bodyPr>
            <a:normAutofit fontScale="90000"/>
          </a:bodyPr>
          <a:lstStyle/>
          <a:p>
            <a:r>
              <a:rPr lang="en-US" altLang="en-US" dirty="0">
                <a:solidFill>
                  <a:schemeClr val="tx1"/>
                </a:solidFill>
              </a:rPr>
              <a:t>inner product / dot product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698" name="Text Box 2">
            <a:extLst>
              <a:ext uri="{FF2B5EF4-FFF2-40B4-BE49-F238E27FC236}">
                <a16:creationId xmlns:a16="http://schemas.microsoft.com/office/drawing/2014/main" id="{4F28924D-780A-AB5B-1EBB-0F8065B476A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51038" y="1504713"/>
            <a:ext cx="8031162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en-US" altLang="en-US" b="0" i="1" dirty="0"/>
              <a:t>“Find the length of vector       “</a:t>
            </a:r>
          </a:p>
        </p:txBody>
      </p:sp>
      <p:sp>
        <p:nvSpPr>
          <p:cNvPr id="285699" name="Rectangle 3">
            <a:extLst>
              <a:ext uri="{FF2B5EF4-FFF2-40B4-BE49-F238E27FC236}">
                <a16:creationId xmlns:a16="http://schemas.microsoft.com/office/drawing/2014/main" id="{EAA12715-DED4-F367-7320-768F213B9E6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noFill/>
          <a:ln/>
        </p:spPr>
        <p:txBody>
          <a:bodyPr/>
          <a:lstStyle/>
          <a:p>
            <a:r>
              <a:rPr lang="en-US" altLang="en-US" dirty="0">
                <a:solidFill>
                  <a:schemeClr val="tx1"/>
                </a:solidFill>
              </a:rPr>
              <a:t>inner product / dot product</a:t>
            </a:r>
          </a:p>
        </p:txBody>
      </p:sp>
      <p:graphicFrame>
        <p:nvGraphicFramePr>
          <p:cNvPr id="285704" name="Object 8">
            <a:extLst>
              <a:ext uri="{FF2B5EF4-FFF2-40B4-BE49-F238E27FC236}">
                <a16:creationId xmlns:a16="http://schemas.microsoft.com/office/drawing/2014/main" id="{F445537F-37D8-4A3E-76F0-9E7454B4B398}"/>
              </a:ext>
            </a:extLst>
          </p:cNvPr>
          <p:cNvGraphicFramePr>
            <a:graphicFrameLocks noGrp="1" noChangeAspect="1"/>
          </p:cNvGraphicFramePr>
          <p:nvPr>
            <p:ph sz="half" idx="1"/>
          </p:nvPr>
        </p:nvGraphicFramePr>
        <p:xfrm>
          <a:off x="2074863" y="2103438"/>
          <a:ext cx="4033837" cy="5429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981080" imgH="266400" progId="Equation.3">
                  <p:embed/>
                </p:oleObj>
              </mc:Choice>
              <mc:Fallback>
                <p:oleObj name="Equation" r:id="rId2" imgW="1981080" imgH="266400" progId="Equation.3">
                  <p:embed/>
                  <p:pic>
                    <p:nvPicPr>
                      <p:cNvPr id="285704" name="Object 8">
                        <a:extLst>
                          <a:ext uri="{FF2B5EF4-FFF2-40B4-BE49-F238E27FC236}">
                            <a16:creationId xmlns:a16="http://schemas.microsoft.com/office/drawing/2014/main" id="{F445537F-37D8-4A3E-76F0-9E7454B4B398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74863" y="2103438"/>
                        <a:ext cx="4033837" cy="5429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85700" name="Group 4">
            <a:extLst>
              <a:ext uri="{FF2B5EF4-FFF2-40B4-BE49-F238E27FC236}">
                <a16:creationId xmlns:a16="http://schemas.microsoft.com/office/drawing/2014/main" id="{EE65A123-A669-C8C2-DBE5-0D10EC3E358F}"/>
              </a:ext>
            </a:extLst>
          </p:cNvPr>
          <p:cNvGrpSpPr>
            <a:grpSpLocks/>
          </p:cNvGrpSpPr>
          <p:nvPr/>
        </p:nvGrpSpPr>
        <p:grpSpPr bwMode="auto">
          <a:xfrm>
            <a:off x="1981201" y="5029200"/>
            <a:ext cx="3495675" cy="1366838"/>
            <a:chOff x="432" y="1296"/>
            <a:chExt cx="3306" cy="1298"/>
          </a:xfrm>
        </p:grpSpPr>
        <p:graphicFrame>
          <p:nvGraphicFramePr>
            <p:cNvPr id="285701" name="Object 5">
              <a:extLst>
                <a:ext uri="{FF2B5EF4-FFF2-40B4-BE49-F238E27FC236}">
                  <a16:creationId xmlns:a16="http://schemas.microsoft.com/office/drawing/2014/main" id="{FF57AA58-B46B-E43B-3B16-C256E3DC6AF6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432" y="1296"/>
            <a:ext cx="3306" cy="66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Worksheet" r:id="rId4" imgW="3495675" imgH="695325" progId="Excel.Sheet.8">
                    <p:embed/>
                  </p:oleObj>
                </mc:Choice>
                <mc:Fallback>
                  <p:oleObj name="Worksheet" r:id="rId4" imgW="3495675" imgH="695325" progId="Excel.Sheet.8">
                    <p:embed/>
                    <p:pic>
                      <p:nvPicPr>
                        <p:cNvPr id="285701" name="Object 5">
                          <a:extLst>
                            <a:ext uri="{FF2B5EF4-FFF2-40B4-BE49-F238E27FC236}">
                              <a16:creationId xmlns:a16="http://schemas.microsoft.com/office/drawing/2014/main" id="{FF57AA58-B46B-E43B-3B16-C256E3DC6AF6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32" y="1296"/>
                          <a:ext cx="3306" cy="661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85702" name="Rectangle 6">
              <a:extLst>
                <a:ext uri="{FF2B5EF4-FFF2-40B4-BE49-F238E27FC236}">
                  <a16:creationId xmlns:a16="http://schemas.microsoft.com/office/drawing/2014/main" id="{20A982AD-FA8B-C9E2-8214-97C8014AA6F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80" y="1584"/>
              <a:ext cx="275" cy="35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en-US" b="0">
                  <a:latin typeface="Symath" pitchFamily="2" charset="0"/>
                </a:rPr>
                <a:t>S</a:t>
              </a:r>
            </a:p>
          </p:txBody>
        </p:sp>
        <p:sp>
          <p:nvSpPr>
            <p:cNvPr id="285703" name="Rectangle 7">
              <a:extLst>
                <a:ext uri="{FF2B5EF4-FFF2-40B4-BE49-F238E27FC236}">
                  <a16:creationId xmlns:a16="http://schemas.microsoft.com/office/drawing/2014/main" id="{82B50DE5-E022-1F72-E976-2A31F1C7DFC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81" y="2246"/>
              <a:ext cx="174" cy="34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endParaRPr lang="en-US" altLang="en-US" b="0">
                <a:latin typeface="Symath" pitchFamily="2" charset="0"/>
              </a:endParaRPr>
            </a:p>
          </p:txBody>
        </p:sp>
      </p:grpSp>
      <p:sp>
        <p:nvSpPr>
          <p:cNvPr id="285705" name="Line 9">
            <a:extLst>
              <a:ext uri="{FF2B5EF4-FFF2-40B4-BE49-F238E27FC236}">
                <a16:creationId xmlns:a16="http://schemas.microsoft.com/office/drawing/2014/main" id="{DC1497FB-A103-7AC1-C344-A08D20E0A87C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7559675" y="3292476"/>
            <a:ext cx="2147888" cy="1279525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graphicFrame>
        <p:nvGraphicFramePr>
          <p:cNvPr id="285706" name="Object 10">
            <a:extLst>
              <a:ext uri="{FF2B5EF4-FFF2-40B4-BE49-F238E27FC236}">
                <a16:creationId xmlns:a16="http://schemas.microsoft.com/office/drawing/2014/main" id="{9E8416F5-5A1E-CD08-7017-99698BEBBD17}"/>
              </a:ext>
            </a:extLst>
          </p:cNvPr>
          <p:cNvGraphicFramePr>
            <a:graphicFrameLocks noChangeAspect="1"/>
          </p:cNvGraphicFramePr>
          <p:nvPr/>
        </p:nvGraphicFramePr>
        <p:xfrm>
          <a:off x="7788276" y="2103438"/>
          <a:ext cx="422275" cy="495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215640" imgH="253800" progId="Equation.3">
                  <p:embed/>
                </p:oleObj>
              </mc:Choice>
              <mc:Fallback>
                <p:oleObj name="Equation" r:id="rId6" imgW="215640" imgH="253800" progId="Equation.3">
                  <p:embed/>
                  <p:pic>
                    <p:nvPicPr>
                      <p:cNvPr id="285706" name="Object 10">
                        <a:extLst>
                          <a:ext uri="{FF2B5EF4-FFF2-40B4-BE49-F238E27FC236}">
                            <a16:creationId xmlns:a16="http://schemas.microsoft.com/office/drawing/2014/main" id="{9E8416F5-5A1E-CD08-7017-99698BEBBD17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788276" y="2103438"/>
                        <a:ext cx="422275" cy="4953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85707" name="Object 11">
            <a:extLst>
              <a:ext uri="{FF2B5EF4-FFF2-40B4-BE49-F238E27FC236}">
                <a16:creationId xmlns:a16="http://schemas.microsoft.com/office/drawing/2014/main" id="{033C73ED-4FC6-13A8-C674-918AA911F63E}"/>
              </a:ext>
            </a:extLst>
          </p:cNvPr>
          <p:cNvGraphicFramePr>
            <a:graphicFrameLocks noChangeAspect="1"/>
          </p:cNvGraphicFramePr>
          <p:nvPr/>
        </p:nvGraphicFramePr>
        <p:xfrm>
          <a:off x="7285038" y="4527550"/>
          <a:ext cx="177800" cy="241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139680" imgH="190440" progId="Equation.3">
                  <p:embed/>
                </p:oleObj>
              </mc:Choice>
              <mc:Fallback>
                <p:oleObj name="Equation" r:id="rId8" imgW="139680" imgH="190440" progId="Equation.3">
                  <p:embed/>
                  <p:pic>
                    <p:nvPicPr>
                      <p:cNvPr id="285707" name="Object 11">
                        <a:extLst>
                          <a:ext uri="{FF2B5EF4-FFF2-40B4-BE49-F238E27FC236}">
                            <a16:creationId xmlns:a16="http://schemas.microsoft.com/office/drawing/2014/main" id="{033C73ED-4FC6-13A8-C674-918AA911F63E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285038" y="4527550"/>
                        <a:ext cx="177800" cy="2413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85708" name="Line 12">
            <a:extLst>
              <a:ext uri="{FF2B5EF4-FFF2-40B4-BE49-F238E27FC236}">
                <a16:creationId xmlns:a16="http://schemas.microsoft.com/office/drawing/2014/main" id="{3CDA8748-3BC4-91AC-21A9-265F590E8D65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7559675" y="4022726"/>
            <a:ext cx="2147888" cy="1279525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graphicFrame>
        <p:nvGraphicFramePr>
          <p:cNvPr id="285709" name="Object 13">
            <a:extLst>
              <a:ext uri="{FF2B5EF4-FFF2-40B4-BE49-F238E27FC236}">
                <a16:creationId xmlns:a16="http://schemas.microsoft.com/office/drawing/2014/main" id="{32DF2C08-972D-3D9A-D4B1-20803698DC83}"/>
              </a:ext>
            </a:extLst>
          </p:cNvPr>
          <p:cNvGraphicFramePr>
            <a:graphicFrameLocks noChangeAspect="1"/>
          </p:cNvGraphicFramePr>
          <p:nvPr/>
        </p:nvGraphicFramePr>
        <p:xfrm>
          <a:off x="7285038" y="5257800"/>
          <a:ext cx="177800" cy="241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139680" imgH="190440" progId="Equation.3">
                  <p:embed/>
                </p:oleObj>
              </mc:Choice>
              <mc:Fallback>
                <p:oleObj name="Equation" r:id="rId10" imgW="139680" imgH="190440" progId="Equation.3">
                  <p:embed/>
                  <p:pic>
                    <p:nvPicPr>
                      <p:cNvPr id="285709" name="Object 13">
                        <a:extLst>
                          <a:ext uri="{FF2B5EF4-FFF2-40B4-BE49-F238E27FC236}">
                            <a16:creationId xmlns:a16="http://schemas.microsoft.com/office/drawing/2014/main" id="{32DF2C08-972D-3D9A-D4B1-20803698DC83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285038" y="5257800"/>
                        <a:ext cx="177800" cy="2413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85710" name="Rectangle 14">
            <a:extLst>
              <a:ext uri="{FF2B5EF4-FFF2-40B4-BE49-F238E27FC236}">
                <a16:creationId xmlns:a16="http://schemas.microsoft.com/office/drawing/2014/main" id="{86D59247-E7FD-490C-832E-EABD3D268C01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35964" y="4251326"/>
            <a:ext cx="242374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 b="0">
                <a:latin typeface="SymbolProp BT" pitchFamily="18" charset="2"/>
              </a:rPr>
              <a:t>·</a:t>
            </a:r>
          </a:p>
        </p:txBody>
      </p:sp>
      <p:graphicFrame>
        <p:nvGraphicFramePr>
          <p:cNvPr id="285711" name="Object 15">
            <a:extLst>
              <a:ext uri="{FF2B5EF4-FFF2-40B4-BE49-F238E27FC236}">
                <a16:creationId xmlns:a16="http://schemas.microsoft.com/office/drawing/2014/main" id="{37D22914-3FFF-BC85-584F-56D37C47CF72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073275" y="2697163"/>
          <a:ext cx="3028950" cy="20177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1" imgW="1485720" imgH="990360" progId="Equation.3">
                  <p:embed/>
                </p:oleObj>
              </mc:Choice>
              <mc:Fallback>
                <p:oleObj name="Equation" r:id="rId11" imgW="1485720" imgH="990360" progId="Equation.3">
                  <p:embed/>
                  <p:pic>
                    <p:nvPicPr>
                      <p:cNvPr id="285711" name="Object 15">
                        <a:extLst>
                          <a:ext uri="{FF2B5EF4-FFF2-40B4-BE49-F238E27FC236}">
                            <a16:creationId xmlns:a16="http://schemas.microsoft.com/office/drawing/2014/main" id="{37D22914-3FFF-BC85-584F-56D37C47CF72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73275" y="2697163"/>
                        <a:ext cx="3028950" cy="20177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85712" name="Object 16">
            <a:extLst>
              <a:ext uri="{FF2B5EF4-FFF2-40B4-BE49-F238E27FC236}">
                <a16:creationId xmlns:a16="http://schemas.microsoft.com/office/drawing/2014/main" id="{7DC543CE-1B86-0172-5CDC-F7A2B1F65714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632325" y="1554164"/>
          <a:ext cx="211138" cy="2889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3" imgW="139680" imgH="190440" progId="Equation.3">
                  <p:embed/>
                </p:oleObj>
              </mc:Choice>
              <mc:Fallback>
                <p:oleObj name="Equation" r:id="rId13" imgW="139680" imgH="190440" progId="Equation.3">
                  <p:embed/>
                  <p:pic>
                    <p:nvPicPr>
                      <p:cNvPr id="285712" name="Object 16">
                        <a:extLst>
                          <a:ext uri="{FF2B5EF4-FFF2-40B4-BE49-F238E27FC236}">
                            <a16:creationId xmlns:a16="http://schemas.microsoft.com/office/drawing/2014/main" id="{7DC543CE-1B86-0172-5CDC-F7A2B1F65714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632325" y="1554164"/>
                        <a:ext cx="211138" cy="2889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85713" name="AutoShape 17">
            <a:extLst>
              <a:ext uri="{FF2B5EF4-FFF2-40B4-BE49-F238E27FC236}">
                <a16:creationId xmlns:a16="http://schemas.microsoft.com/office/drawing/2014/main" id="{AF4E43A3-B16D-F13A-1456-021352030FAE}"/>
              </a:ext>
            </a:extLst>
          </p:cNvPr>
          <p:cNvSpPr>
            <a:spLocks noChangeArrowheads="1"/>
          </p:cNvSpPr>
          <p:nvPr/>
        </p:nvSpPr>
        <p:spPr bwMode="auto">
          <a:xfrm>
            <a:off x="7239001" y="503238"/>
            <a:ext cx="2835275" cy="976312"/>
          </a:xfrm>
          <a:prstGeom prst="wedgeRectCallout">
            <a:avLst>
              <a:gd name="adj1" fmla="val -22060"/>
              <a:gd name="adj2" fmla="val 108375"/>
            </a:avLst>
          </a:prstGeom>
          <a:solidFill>
            <a:schemeClr val="accent1">
              <a:lumMod val="40000"/>
              <a:lumOff val="6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/>
          <a:lstStyle/>
          <a:p>
            <a:r>
              <a:rPr lang="en-US" altLang="en-US" sz="1600" b="0"/>
              <a:t>This is the answer I’m going to be looking for</a:t>
            </a:r>
            <a:endParaRPr lang="en-US" altLang="en-US" sz="1600" b="0">
              <a:latin typeface="MS Shell Dlg" panose="020B0604020202020204" pitchFamily="34" charset="0"/>
            </a:endParaRPr>
          </a:p>
          <a:p>
            <a:endParaRPr lang="en-US" altLang="en-US" sz="1600" b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22" name="Rectangle 2">
            <a:extLst>
              <a:ext uri="{FF2B5EF4-FFF2-40B4-BE49-F238E27FC236}">
                <a16:creationId xmlns:a16="http://schemas.microsoft.com/office/drawing/2014/main" id="{EE1663B3-D614-2293-F57A-0822865866B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en-US" dirty="0"/>
              <a:t>Multiplication </a:t>
            </a:r>
          </a:p>
        </p:txBody>
      </p:sp>
      <p:sp>
        <p:nvSpPr>
          <p:cNvPr id="286723" name="Text Box 3">
            <a:extLst>
              <a:ext uri="{FF2B5EF4-FFF2-40B4-BE49-F238E27FC236}">
                <a16:creationId xmlns:a16="http://schemas.microsoft.com/office/drawing/2014/main" id="{F837EEE1-C691-1A33-085E-38F8E66605F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51039" y="974726"/>
            <a:ext cx="8396287" cy="11906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en-US" altLang="en-US" b="1" dirty="0"/>
              <a:t>More generally, the dot product is:</a:t>
            </a:r>
          </a:p>
          <a:p>
            <a:r>
              <a:rPr lang="en-US" altLang="en-US" b="0" dirty="0"/>
              <a:t>(length of a) * (length of b) * (cosine of angle between a and b)</a:t>
            </a:r>
          </a:p>
          <a:p>
            <a:endParaRPr lang="en-US" altLang="en-US" b="0" dirty="0"/>
          </a:p>
          <a:p>
            <a:endParaRPr lang="en-US" altLang="en-US" b="0" dirty="0"/>
          </a:p>
        </p:txBody>
      </p:sp>
      <p:graphicFrame>
        <p:nvGraphicFramePr>
          <p:cNvPr id="286724" name="Object 4">
            <a:extLst>
              <a:ext uri="{FF2B5EF4-FFF2-40B4-BE49-F238E27FC236}">
                <a16:creationId xmlns:a16="http://schemas.microsoft.com/office/drawing/2014/main" id="{ECB21E4F-A506-2C60-B80D-F6DD5E5FC3C7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545901422"/>
              </p:ext>
            </p:extLst>
          </p:nvPr>
        </p:nvGraphicFramePr>
        <p:xfrm>
          <a:off x="4386581" y="1996394"/>
          <a:ext cx="2043113" cy="5016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485720" imgH="304560" progId="Equation.3">
                  <p:embed/>
                </p:oleObj>
              </mc:Choice>
              <mc:Fallback>
                <p:oleObj name="Equation" r:id="rId2" imgW="1485720" imgH="304560" progId="Equation.3">
                  <p:embed/>
                  <p:pic>
                    <p:nvPicPr>
                      <p:cNvPr id="286724" name="Object 4">
                        <a:extLst>
                          <a:ext uri="{FF2B5EF4-FFF2-40B4-BE49-F238E27FC236}">
                            <a16:creationId xmlns:a16="http://schemas.microsoft.com/office/drawing/2014/main" id="{ECB21E4F-A506-2C60-B80D-F6DD5E5FC3C7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386581" y="1996394"/>
                        <a:ext cx="2043113" cy="5016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86725" name="Group 5">
            <a:extLst>
              <a:ext uri="{FF2B5EF4-FFF2-40B4-BE49-F238E27FC236}">
                <a16:creationId xmlns:a16="http://schemas.microsoft.com/office/drawing/2014/main" id="{49F421F6-7F5D-61BA-3C37-10EB0F6B1934}"/>
              </a:ext>
            </a:extLst>
          </p:cNvPr>
          <p:cNvGrpSpPr>
            <a:grpSpLocks/>
          </p:cNvGrpSpPr>
          <p:nvPr/>
        </p:nvGrpSpPr>
        <p:grpSpPr bwMode="auto">
          <a:xfrm>
            <a:off x="8701087" y="782490"/>
            <a:ext cx="1646238" cy="1960562"/>
            <a:chOff x="3792" y="1587"/>
            <a:chExt cx="1037" cy="1235"/>
          </a:xfrm>
        </p:grpSpPr>
        <p:graphicFrame>
          <p:nvGraphicFramePr>
            <p:cNvPr id="286726" name="Object 6">
              <a:extLst>
                <a:ext uri="{FF2B5EF4-FFF2-40B4-BE49-F238E27FC236}">
                  <a16:creationId xmlns:a16="http://schemas.microsoft.com/office/drawing/2014/main" id="{9DD20235-244C-E1EC-C250-399091FA7151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4282" y="2249"/>
            <a:ext cx="240" cy="15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4" imgW="380880" imgH="241200" progId="Equation.3">
                    <p:embed/>
                  </p:oleObj>
                </mc:Choice>
                <mc:Fallback>
                  <p:oleObj name="Equation" r:id="rId4" imgW="380880" imgH="241200" progId="Equation.3">
                    <p:embed/>
                    <p:pic>
                      <p:nvPicPr>
                        <p:cNvPr id="286726" name="Object 6">
                          <a:extLst>
                            <a:ext uri="{FF2B5EF4-FFF2-40B4-BE49-F238E27FC236}">
                              <a16:creationId xmlns:a16="http://schemas.microsoft.com/office/drawing/2014/main" id="{9DD20235-244C-E1EC-C250-399091FA7151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282" y="2249"/>
                          <a:ext cx="240" cy="15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86727" name="Line 7">
              <a:extLst>
                <a:ext uri="{FF2B5EF4-FFF2-40B4-BE49-F238E27FC236}">
                  <a16:creationId xmlns:a16="http://schemas.microsoft.com/office/drawing/2014/main" id="{EFC8B06A-064F-83F9-8575-FC6EFEF03477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792" y="1587"/>
              <a:ext cx="1037" cy="979"/>
            </a:xfrm>
            <a:prstGeom prst="line">
              <a:avLst/>
            </a:prstGeom>
            <a:noFill/>
            <a:ln w="38100">
              <a:solidFill>
                <a:srgbClr val="339966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286728" name="Line 8">
              <a:extLst>
                <a:ext uri="{FF2B5EF4-FFF2-40B4-BE49-F238E27FC236}">
                  <a16:creationId xmlns:a16="http://schemas.microsoft.com/office/drawing/2014/main" id="{F7297A06-711A-BD61-EA7D-DF7448A9580A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792" y="2566"/>
              <a:ext cx="662" cy="0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graphicFrame>
          <p:nvGraphicFramePr>
            <p:cNvPr id="286729" name="Object 9">
              <a:extLst>
                <a:ext uri="{FF2B5EF4-FFF2-40B4-BE49-F238E27FC236}">
                  <a16:creationId xmlns:a16="http://schemas.microsoft.com/office/drawing/2014/main" id="{0BC751BF-83B4-3EDE-B732-8168F35164B4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4166" y="2624"/>
            <a:ext cx="121" cy="19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6" imgW="139680" imgH="190440" progId="Equation.3">
                    <p:embed/>
                  </p:oleObj>
                </mc:Choice>
                <mc:Fallback>
                  <p:oleObj name="Equation" r:id="rId6" imgW="139680" imgH="190440" progId="Equation.3">
                    <p:embed/>
                    <p:pic>
                      <p:nvPicPr>
                        <p:cNvPr id="286729" name="Object 9">
                          <a:extLst>
                            <a:ext uri="{FF2B5EF4-FFF2-40B4-BE49-F238E27FC236}">
                              <a16:creationId xmlns:a16="http://schemas.microsoft.com/office/drawing/2014/main" id="{0BC751BF-83B4-3EDE-B732-8168F35164B4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166" y="2624"/>
                          <a:ext cx="121" cy="19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86730" name="Object 10">
              <a:extLst>
                <a:ext uri="{FF2B5EF4-FFF2-40B4-BE49-F238E27FC236}">
                  <a16:creationId xmlns:a16="http://schemas.microsoft.com/office/drawing/2014/main" id="{29A6AE49-24B8-7D5B-DA46-F0476553DB31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4224" y="1760"/>
            <a:ext cx="121" cy="22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8" imgW="139680" imgH="215640" progId="Equation.3">
                    <p:embed/>
                  </p:oleObj>
                </mc:Choice>
                <mc:Fallback>
                  <p:oleObj name="Equation" r:id="rId8" imgW="139680" imgH="215640" progId="Equation.3">
                    <p:embed/>
                    <p:pic>
                      <p:nvPicPr>
                        <p:cNvPr id="286730" name="Object 10">
                          <a:extLst>
                            <a:ext uri="{FF2B5EF4-FFF2-40B4-BE49-F238E27FC236}">
                              <a16:creationId xmlns:a16="http://schemas.microsoft.com/office/drawing/2014/main" id="{29A6AE49-24B8-7D5B-DA46-F0476553DB31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224" y="1760"/>
                          <a:ext cx="121" cy="22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86731" name="Arc 11">
              <a:extLst>
                <a:ext uri="{FF2B5EF4-FFF2-40B4-BE49-F238E27FC236}">
                  <a16:creationId xmlns:a16="http://schemas.microsoft.com/office/drawing/2014/main" id="{735C6A7D-B67F-404A-AC18-951B98A858C1}"/>
                </a:ext>
              </a:extLst>
            </p:cNvPr>
            <p:cNvSpPr>
              <a:spLocks/>
            </p:cNvSpPr>
            <p:nvPr/>
          </p:nvSpPr>
          <p:spPr bwMode="auto">
            <a:xfrm>
              <a:off x="4022" y="2247"/>
              <a:ext cx="259" cy="318"/>
            </a:xfrm>
            <a:custGeom>
              <a:avLst/>
              <a:gdLst>
                <a:gd name="G0" fmla="+- 0 0 0"/>
                <a:gd name="G1" fmla="+- 19916 0 0"/>
                <a:gd name="G2" fmla="+- 21600 0 0"/>
                <a:gd name="T0" fmla="*/ 8362 w 21600"/>
                <a:gd name="T1" fmla="*/ 0 h 19916"/>
                <a:gd name="T2" fmla="*/ 21600 w 21600"/>
                <a:gd name="T3" fmla="*/ 19916 h 19916"/>
                <a:gd name="T4" fmla="*/ 0 w 21600"/>
                <a:gd name="T5" fmla="*/ 19916 h 199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1600" h="19916" fill="none" extrusionOk="0">
                  <a:moveTo>
                    <a:pt x="8361" y="0"/>
                  </a:moveTo>
                  <a:cubicBezTo>
                    <a:pt x="16382" y="3367"/>
                    <a:pt x="21600" y="11217"/>
                    <a:pt x="21600" y="19916"/>
                  </a:cubicBezTo>
                </a:path>
                <a:path w="21600" h="19916" stroke="0" extrusionOk="0">
                  <a:moveTo>
                    <a:pt x="8361" y="0"/>
                  </a:moveTo>
                  <a:cubicBezTo>
                    <a:pt x="16382" y="3367"/>
                    <a:pt x="21600" y="11217"/>
                    <a:pt x="21600" y="19916"/>
                  </a:cubicBezTo>
                  <a:lnTo>
                    <a:pt x="0" y="19916"/>
                  </a:lnTo>
                  <a:close/>
                </a:path>
              </a:pathLst>
            </a:cu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graphicFrame>
        <p:nvGraphicFramePr>
          <p:cNvPr id="286732" name="Object 12">
            <a:extLst>
              <a:ext uri="{FF2B5EF4-FFF2-40B4-BE49-F238E27FC236}">
                <a16:creationId xmlns:a16="http://schemas.microsoft.com/office/drawing/2014/main" id="{BA91B650-E4ED-33A3-25F3-8C16A69992B1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548489907"/>
              </p:ext>
            </p:extLst>
          </p:nvPr>
        </p:nvGraphicFramePr>
        <p:xfrm>
          <a:off x="2130426" y="1847171"/>
          <a:ext cx="1274763" cy="7127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927000" imgH="431640" progId="Equation.3">
                  <p:embed/>
                </p:oleObj>
              </mc:Choice>
              <mc:Fallback>
                <p:oleObj name="Equation" r:id="rId10" imgW="927000" imgH="431640" progId="Equation.3">
                  <p:embed/>
                  <p:pic>
                    <p:nvPicPr>
                      <p:cNvPr id="286732" name="Object 12">
                        <a:extLst>
                          <a:ext uri="{FF2B5EF4-FFF2-40B4-BE49-F238E27FC236}">
                            <a16:creationId xmlns:a16="http://schemas.microsoft.com/office/drawing/2014/main" id="{BA91B650-E4ED-33A3-25F3-8C16A69992B1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30426" y="1847171"/>
                        <a:ext cx="1274763" cy="7127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" name="Group 1">
            <a:extLst>
              <a:ext uri="{FF2B5EF4-FFF2-40B4-BE49-F238E27FC236}">
                <a16:creationId xmlns:a16="http://schemas.microsoft.com/office/drawing/2014/main" id="{9EA64D33-313E-A8D3-A091-116813FEC20D}"/>
              </a:ext>
            </a:extLst>
          </p:cNvPr>
          <p:cNvGrpSpPr/>
          <p:nvPr/>
        </p:nvGrpSpPr>
        <p:grpSpPr>
          <a:xfrm>
            <a:off x="1981201" y="2714307"/>
            <a:ext cx="8396287" cy="1948964"/>
            <a:chOff x="427038" y="2884085"/>
            <a:chExt cx="8396287" cy="1948964"/>
          </a:xfrm>
        </p:grpSpPr>
        <p:sp>
          <p:nvSpPr>
            <p:cNvPr id="18" name="Line 8">
              <a:extLst>
                <a:ext uri="{FF2B5EF4-FFF2-40B4-BE49-F238E27FC236}">
                  <a16:creationId xmlns:a16="http://schemas.microsoft.com/office/drawing/2014/main" id="{1C9009F7-0DEE-054A-559D-E0D4F6979707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7175182" y="4438314"/>
              <a:ext cx="1603058" cy="0"/>
            </a:xfrm>
            <a:prstGeom prst="line">
              <a:avLst/>
            </a:prstGeom>
            <a:noFill/>
            <a:ln w="38100">
              <a:solidFill>
                <a:srgbClr val="FF7D7D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" name="Text Box 3">
              <a:extLst>
                <a:ext uri="{FF2B5EF4-FFF2-40B4-BE49-F238E27FC236}">
                  <a16:creationId xmlns:a16="http://schemas.microsoft.com/office/drawing/2014/main" id="{79154863-0D67-7BA5-9600-859E19B8456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27038" y="3114676"/>
              <a:ext cx="8396287" cy="147732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r>
                <a:rPr lang="en-US" altLang="en-US" b="1" dirty="0"/>
                <a:t>If </a:t>
              </a:r>
              <a:r>
                <a:rPr lang="en-US" altLang="en-US" b="1" u="sng" dirty="0"/>
                <a:t>one</a:t>
              </a:r>
              <a:r>
                <a:rPr lang="en-US" altLang="en-US" b="1" dirty="0"/>
                <a:t> of the vectors (a) is length = 1</a:t>
              </a:r>
            </a:p>
            <a:p>
              <a:r>
                <a:rPr lang="en-US" altLang="en-US" b="0" dirty="0"/>
                <a:t>The dot product       = the projected length of b onto a,</a:t>
              </a:r>
            </a:p>
            <a:p>
              <a:r>
                <a:rPr lang="en-US" altLang="en-US" b="0" dirty="0"/>
                <a:t>And the vector from the origin of a to this point is </a:t>
              </a:r>
            </a:p>
            <a:p>
              <a:endParaRPr lang="en-US" altLang="en-US" b="0" dirty="0"/>
            </a:p>
            <a:p>
              <a:endParaRPr lang="en-US" altLang="en-US" b="0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graphicFrame>
              <p:nvGraphicFramePr>
                <p:cNvPr id="5" name="Object 4">
                  <a:extLst>
                    <a:ext uri="{FF2B5EF4-FFF2-40B4-BE49-F238E27FC236}">
                      <a16:creationId xmlns:a16="http://schemas.microsoft.com/office/drawing/2014/main" id="{43DC6DEF-AA4D-C62D-FA7B-D8B46D26EEEB}"/>
                    </a:ext>
                  </a:extLst>
                </p:cNvPr>
                <p:cNvGraphicFramePr>
                  <a:graphicFrameLocks noChangeAspect="1"/>
                </p:cNvGraphicFramePr>
                <p:nvPr>
                  <p:extLst>
                    <p:ext uri="{D42A27DB-BD31-4B8C-83A1-F6EECF244321}">
                      <p14:modId xmlns:p14="http://schemas.microsoft.com/office/powerpoint/2010/main" val="971304891"/>
                    </p:ext>
                  </p:extLst>
                </p:nvPr>
              </p:nvGraphicFramePr>
              <p:xfrm>
                <a:off x="2862580" y="4182820"/>
                <a:ext cx="2043113" cy="501650"/>
              </p:xfrm>
              <a:graphic>
                <a:graphicData uri="http://schemas.openxmlformats.org/presentationml/2006/ole">
                  <mc:AlternateContent>
                    <mc:Choice xmlns:v="urn:schemas-microsoft-com:vml" Requires="v">
                      <p:oleObj name="Equation" r:id="rId2" imgW="1485720" imgH="304560" progId="Equation.3">
                        <p:embed/>
                      </p:oleObj>
                    </mc:Choice>
                    <mc:Fallback>
                      <p:oleObj name="Equation" r:id="rId2" imgW="1485720" imgH="304560" progId="Equation.3">
                        <p:embed/>
                        <p:pic>
                          <p:nvPicPr>
                            <p:cNvPr id="5" name="Object 4">
                              <a:extLst>
                                <a:ext uri="{FF2B5EF4-FFF2-40B4-BE49-F238E27FC236}">
                                  <a16:creationId xmlns:a16="http://schemas.microsoft.com/office/drawing/2014/main" id="{43DC6DEF-AA4D-C62D-FA7B-D8B46D26EEEB}"/>
                                </a:ext>
                              </a:extLst>
                            </p:cNvPr>
                            <p:cNvPicPr>
                              <a:picLocks noChangeAspect="1" noChangeArrowheads="1"/>
                            </p:cNvPicPr>
                            <p:nvPr/>
                          </p:nvPicPr>
                          <p:blipFill>
                            <a:blip r:embed="rId3">
                              <a:extLst>
                                <a:ext uri="{28A0092B-C50C-407E-A947-70E740481C1C}">
                                  <a14:useLocalDpi val="0"/>
                                </a:ext>
                              </a:extLst>
                            </a:blip>
                            <a:srcRect/>
                            <a:stretch>
                              <a:fillRect/>
                            </a:stretch>
                          </p:blipFill>
                          <p:spPr bwMode="auto">
                            <a:xfrm>
                              <a:off x="2862580" y="4182820"/>
                              <a:ext cx="2043113" cy="501650"/>
                            </a:xfrm>
                            <a:prstGeom prst="rect">
                              <a:avLst/>
                            </a:prstGeom>
                            <a:noFill/>
                            <a:ln>
                              <a:noFill/>
                            </a:ln>
                            <a:effectLst/>
                            <a:extLst>
                              <a:ext uri="{909E8E84-426E-40DD-AFC4-6F175D3DCCD1}">
                                <a14:hiddenFill>
                                  <a:solidFill>
                                    <a:srgbClr val="FFFFFF"/>
                                  </a:solidFill>
                                </a14:hiddenFill>
                              </a:ext>
                              <a:ext uri="{91240B29-F687-4F45-9708-019B960494DF}">
                                <a14:hiddenLine w="9525">
                                  <a:solidFill>
                                    <a:srgbClr val="000000"/>
                                  </a:solidFill>
                                  <a:miter lim="800000"/>
                                  <a:headEnd/>
                                  <a:tailEnd/>
                                </a14:hiddenLine>
                              </a:ext>
                              <a:ext uri="{AF507438-7753-43E0-B8FC-AC1667EBCBE1}">
                                <a14:hiddenEffects>
                                  <a:effectLst>
                                    <a:outerShdw dist="35921" dir="2700000" algn="ctr" rotWithShape="0">
                                      <a:srgbClr val="808080"/>
                                    </a:outerShdw>
                                  </a:effectLst>
                                </a14:hiddenEffects>
                              </a:ext>
                            </a:extLst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</mc:Choice>
          <mc:Fallback xmlns="">
            <p:graphicFrame>
              <p:nvGraphicFramePr>
                <p:cNvPr id="5" name="Object 4">
                  <a:extLst>
                    <a:ext uri="{FF2B5EF4-FFF2-40B4-BE49-F238E27FC236}">
                      <a16:creationId xmlns:a16="http://schemas.microsoft.com/office/drawing/2014/main" id="{43DC6DEF-AA4D-C62D-FA7B-D8B46D26EEEB}"/>
                    </a:ext>
                  </a:extLst>
                </p:cNvPr>
                <p:cNvGraphicFramePr>
                  <a:graphicFrameLocks noChangeAspect="1"/>
                </p:cNvGraphicFramePr>
                <p:nvPr>
                  <p:extLst>
                    <p:ext uri="{D42A27DB-BD31-4B8C-83A1-F6EECF244321}">
                      <p14:modId xmlns:p14="http://schemas.microsoft.com/office/powerpoint/2010/main" val="971304891"/>
                    </p:ext>
                  </p:extLst>
                </p:nvPr>
              </p:nvGraphicFramePr>
              <p:xfrm>
                <a:off x="2862580" y="4182820"/>
                <a:ext cx="2043113" cy="501650"/>
              </p:xfrm>
              <a:graphic>
                <a:graphicData uri="http://schemas.openxmlformats.org/presentationml/2006/ole">
                  <mc:AlternateContent>
                    <mc:Choice xmlns:v="urn:schemas-microsoft-com:vml" Requires="v">
                      <p:oleObj name="Equation" r:id="rId12" imgW="1485720" imgH="304560" progId="Equation.3">
                        <p:embed/>
                      </p:oleObj>
                    </mc:Choice>
                    <mc:Fallback>
                      <p:oleObj name="Equation" r:id="rId12" imgW="1485720" imgH="304560" progId="Equation.3">
                        <p:embed/>
                        <p:pic>
                          <p:nvPicPr>
                            <p:cNvPr id="5" name="Object 4">
                              <a:extLst>
                                <a:ext uri="{FF2B5EF4-FFF2-40B4-BE49-F238E27FC236}">
                                  <a16:creationId xmlns:a16="http://schemas.microsoft.com/office/drawing/2014/main" id="{43DC6DEF-AA4D-C62D-FA7B-D8B46D26EEEB}"/>
                                </a:ext>
                              </a:extLst>
                            </p:cNvPr>
                            <p:cNvPicPr>
                              <a:picLocks noChangeAspect="1" noChangeArrowheads="1"/>
                            </p:cNvPicPr>
                            <p:nvPr/>
                          </p:nvPicPr>
                          <p:blipFill>
                            <a:blip r:embed="rId13">
                              <a:extLst>
                                <a:ext uri="{28A0092B-C50C-407E-A947-70E740481C1C}">
                                  <a14:useLocalDpi xmlns:a14="http://schemas.microsoft.com/office/drawing/2010/main" val="0"/>
                                </a:ext>
                              </a:extLst>
                            </a:blip>
                            <a:srcRect/>
                            <a:stretch>
                              <a:fillRect/>
                            </a:stretch>
                          </p:blipFill>
                          <p:spPr bwMode="auto">
                            <a:xfrm>
                              <a:off x="2862580" y="4182820"/>
                              <a:ext cx="2043113" cy="501650"/>
                            </a:xfrm>
                            <a:prstGeom prst="rect">
                              <a:avLst/>
                            </a:prstGeom>
                            <a:noFill/>
                            <a:ln>
                              <a:noFill/>
                            </a:ln>
                            <a:effectLst/>
                            <a:extLst>
                              <a:ext uri="{909E8E84-426E-40DD-AFC4-6F175D3DCCD1}">
                                <a14:hiddenFill xmlns:a14="http://schemas.microsoft.com/office/drawing/2010/main">
                                  <a:solidFill>
                                    <a:srgbClr val="FFFFFF"/>
                                  </a:solidFill>
                                </a14:hiddenFill>
                              </a:ext>
                              <a:ext uri="{91240B29-F687-4F45-9708-019B960494DF}">
                                <a14:hiddenLine xmlns:a14="http://schemas.microsoft.com/office/drawing/2010/main" w="9525">
                                  <a:solidFill>
                                    <a:srgbClr val="000000"/>
                                  </a:solidFill>
                                  <a:miter lim="800000"/>
                                  <a:headEnd/>
                                  <a:tailEnd/>
                                </a14:hiddenLine>
                              </a:ext>
                              <a:ext uri="{AF507438-7753-43E0-B8FC-AC1667EBCBE1}">
                                <a14:hiddenEffects xmlns:a14="http://schemas.microsoft.com/office/drawing/2010/main">
                                  <a:effectLst>
                                    <a:outerShdw dist="35921" dir="2700000" algn="ctr" rotWithShape="0">
                                      <a:srgbClr val="808080"/>
                                    </a:outerShdw>
                                  </a:effectLst>
                                </a14:hiddenEffects>
                              </a:ext>
                            </a:extLst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</mc:Fallback>
        </mc:AlternateContent>
        <mc:AlternateContent xmlns:mc="http://schemas.openxmlformats.org/markup-compatibility/2006" xmlns:a14="http://schemas.microsoft.com/office/drawing/2010/main">
          <mc:Choice Requires="a14">
            <p:graphicFrame>
              <p:nvGraphicFramePr>
                <p:cNvPr id="7" name="Object 6">
                  <a:extLst>
                    <a:ext uri="{FF2B5EF4-FFF2-40B4-BE49-F238E27FC236}">
                      <a16:creationId xmlns:a16="http://schemas.microsoft.com/office/drawing/2014/main" id="{B4EB3714-FD10-EFDA-7ED4-91C269CDD491}"/>
                    </a:ext>
                  </a:extLst>
                </p:cNvPr>
                <p:cNvGraphicFramePr>
                  <a:graphicFrameLocks noChangeAspect="1"/>
                </p:cNvGraphicFramePr>
                <p:nvPr>
                  <p:extLst>
                    <p:ext uri="{D42A27DB-BD31-4B8C-83A1-F6EECF244321}">
                      <p14:modId xmlns:p14="http://schemas.microsoft.com/office/powerpoint/2010/main" val="1326321607"/>
                    </p:ext>
                  </p:extLst>
                </p:nvPr>
              </p:nvGraphicFramePr>
              <p:xfrm>
                <a:off x="7954962" y="3935010"/>
                <a:ext cx="381000" cy="241300"/>
              </p:xfrm>
              <a:graphic>
                <a:graphicData uri="http://schemas.openxmlformats.org/presentationml/2006/ole">
                  <mc:AlternateContent>
                    <mc:Choice xmlns:v="urn:schemas-microsoft-com:vml" Requires="v">
                      <p:oleObj name="Equation" r:id="rId4" imgW="380880" imgH="241200" progId="Equation.3">
                        <p:embed/>
                      </p:oleObj>
                    </mc:Choice>
                    <mc:Fallback>
                      <p:oleObj name="Equation" r:id="rId4" imgW="380880" imgH="241200" progId="Equation.3">
                        <p:embed/>
                        <p:pic>
                          <p:nvPicPr>
                            <p:cNvPr id="7" name="Object 6">
                              <a:extLst>
                                <a:ext uri="{FF2B5EF4-FFF2-40B4-BE49-F238E27FC236}">
                                  <a16:creationId xmlns:a16="http://schemas.microsoft.com/office/drawing/2014/main" id="{B4EB3714-FD10-EFDA-7ED4-91C269CDD491}"/>
                                </a:ext>
                              </a:extLst>
                            </p:cNvPr>
                            <p:cNvPicPr>
                              <a:picLocks noChangeAspect="1" noChangeArrowheads="1"/>
                            </p:cNvPicPr>
                            <p:nvPr/>
                          </p:nvPicPr>
                          <p:blipFill>
                            <a:blip r:embed="rId5">
                              <a:extLst>
                                <a:ext uri="{28A0092B-C50C-407E-A947-70E740481C1C}">
                                  <a14:useLocalDpi val="0"/>
                                </a:ext>
                              </a:extLst>
                            </a:blip>
                            <a:srcRect/>
                            <a:stretch>
                              <a:fillRect/>
                            </a:stretch>
                          </p:blipFill>
                          <p:spPr bwMode="auto">
                            <a:xfrm>
                              <a:off x="7954962" y="3935010"/>
                              <a:ext cx="381000" cy="241300"/>
                            </a:xfrm>
                            <a:prstGeom prst="rect">
                              <a:avLst/>
                            </a:prstGeom>
                            <a:noFill/>
                            <a:ln>
                              <a:noFill/>
                            </a:ln>
                            <a:effectLst/>
                            <a:extLst>
                              <a:ext uri="{909E8E84-426E-40DD-AFC4-6F175D3DCCD1}">
                                <a14:hiddenFill>
                                  <a:solidFill>
                                    <a:schemeClr val="accent1"/>
                                  </a:solidFill>
                                </a14:hiddenFill>
                              </a:ext>
                              <a:ext uri="{91240B29-F687-4F45-9708-019B960494DF}">
                                <a14:hiddenLine w="9525">
                                  <a:solidFill>
                                    <a:schemeClr val="tx1"/>
                                  </a:solidFill>
                                  <a:miter lim="800000"/>
                                  <a:headEnd/>
                                  <a:tailEnd/>
                                </a14:hiddenLine>
                              </a:ext>
                              <a:ext uri="{AF507438-7753-43E0-B8FC-AC1667EBCBE1}">
                                <a14:hiddenEffects>
                                  <a:effectLst>
                                    <a:outerShdw dist="35921" dir="2700000" algn="ctr" rotWithShape="0">
                                      <a:schemeClr val="bg2"/>
                                    </a:outerShdw>
                                  </a:effectLst>
                                </a14:hiddenEffects>
                              </a:ext>
                            </a:extLst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</mc:Choice>
          <mc:Fallback xmlns="">
            <p:graphicFrame>
              <p:nvGraphicFramePr>
                <p:cNvPr id="7" name="Object 6">
                  <a:extLst>
                    <a:ext uri="{FF2B5EF4-FFF2-40B4-BE49-F238E27FC236}">
                      <a16:creationId xmlns:a16="http://schemas.microsoft.com/office/drawing/2014/main" id="{B4EB3714-FD10-EFDA-7ED4-91C269CDD491}"/>
                    </a:ext>
                  </a:extLst>
                </p:cNvPr>
                <p:cNvGraphicFramePr>
                  <a:graphicFrameLocks noChangeAspect="1"/>
                </p:cNvGraphicFramePr>
                <p:nvPr>
                  <p:extLst>
                    <p:ext uri="{D42A27DB-BD31-4B8C-83A1-F6EECF244321}">
                      <p14:modId xmlns:p14="http://schemas.microsoft.com/office/powerpoint/2010/main" val="1326321607"/>
                    </p:ext>
                  </p:extLst>
                </p:nvPr>
              </p:nvGraphicFramePr>
              <p:xfrm>
                <a:off x="7954962" y="3935010"/>
                <a:ext cx="381000" cy="241300"/>
              </p:xfrm>
              <a:graphic>
                <a:graphicData uri="http://schemas.openxmlformats.org/presentationml/2006/ole">
                  <mc:AlternateContent>
                    <mc:Choice xmlns:v="urn:schemas-microsoft-com:vml" Requires="v">
                      <p:oleObj name="Equation" r:id="rId14" imgW="380880" imgH="241200" progId="Equation.3">
                        <p:embed/>
                      </p:oleObj>
                    </mc:Choice>
                    <mc:Fallback>
                      <p:oleObj name="Equation" r:id="rId14" imgW="380880" imgH="241200" progId="Equation.3">
                        <p:embed/>
                        <p:pic>
                          <p:nvPicPr>
                            <p:cNvPr id="7" name="Object 6">
                              <a:extLst>
                                <a:ext uri="{FF2B5EF4-FFF2-40B4-BE49-F238E27FC236}">
                                  <a16:creationId xmlns:a16="http://schemas.microsoft.com/office/drawing/2014/main" id="{B4EB3714-FD10-EFDA-7ED4-91C269CDD491}"/>
                                </a:ext>
                              </a:extLst>
                            </p:cNvPr>
                            <p:cNvPicPr>
                              <a:picLocks noChangeAspect="1" noChangeArrowheads="1"/>
                            </p:cNvPicPr>
                            <p:nvPr/>
                          </p:nvPicPr>
                          <p:blipFill>
                            <a:blip r:embed="rId15">
                              <a:extLst>
                                <a:ext uri="{28A0092B-C50C-407E-A947-70E740481C1C}">
                                  <a14:useLocalDpi xmlns:a14="http://schemas.microsoft.com/office/drawing/2010/main" val="0"/>
                                </a:ext>
                              </a:extLst>
                            </a:blip>
                            <a:srcRect/>
                            <a:stretch>
                              <a:fillRect/>
                            </a:stretch>
                          </p:blipFill>
                          <p:spPr bwMode="auto">
                            <a:xfrm>
                              <a:off x="7954962" y="3935010"/>
                              <a:ext cx="381000" cy="241300"/>
                            </a:xfrm>
                            <a:prstGeom prst="rect">
                              <a:avLst/>
                            </a:prstGeom>
                            <a:noFill/>
                            <a:ln>
                              <a:noFill/>
                            </a:ln>
                            <a:effectLst/>
                            <a:extLst>
                              <a:ext uri="{909E8E84-426E-40DD-AFC4-6F175D3DCCD1}">
                                <a14:hiddenFill xmlns:a14="http://schemas.microsoft.com/office/drawing/2010/main">
                                  <a:solidFill>
                                    <a:schemeClr val="accent1"/>
                                  </a:solidFill>
                                </a14:hiddenFill>
                              </a:ext>
                              <a:ext uri="{91240B29-F687-4F45-9708-019B960494DF}">
                                <a14:hiddenLine xmlns:a14="http://schemas.microsoft.com/office/drawing/2010/main" w="9525">
                                  <a:solidFill>
                                    <a:schemeClr val="tx1"/>
                                  </a:solidFill>
                                  <a:miter lim="800000"/>
                                  <a:headEnd/>
                                  <a:tailEnd/>
                                </a14:hiddenLine>
                              </a:ext>
                              <a:ext uri="{AF507438-7753-43E0-B8FC-AC1667EBCBE1}">
                                <a14:hiddenEffects xmlns:a14="http://schemas.microsoft.com/office/drawing/2010/main">
                                  <a:effectLst>
                                    <a:outerShdw dist="35921" dir="2700000" algn="ctr" rotWithShape="0">
                                      <a:schemeClr val="bg2"/>
                                    </a:outerShdw>
                                  </a:effectLst>
                                </a14:hiddenEffects>
                              </a:ext>
                            </a:extLst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</mc:Fallback>
        </mc:AlternateContent>
        <p:sp>
          <p:nvSpPr>
            <p:cNvPr id="8" name="Line 7">
              <a:extLst>
                <a:ext uri="{FF2B5EF4-FFF2-40B4-BE49-F238E27FC236}">
                  <a16:creationId xmlns:a16="http://schemas.microsoft.com/office/drawing/2014/main" id="{BF76615C-C510-9697-9664-FAEA8EC7B0E4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7177087" y="2884085"/>
              <a:ext cx="1646238" cy="1554163"/>
            </a:xfrm>
            <a:prstGeom prst="line">
              <a:avLst/>
            </a:prstGeom>
            <a:noFill/>
            <a:ln w="38100">
              <a:solidFill>
                <a:srgbClr val="339966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9" name="Line 8">
              <a:extLst>
                <a:ext uri="{FF2B5EF4-FFF2-40B4-BE49-F238E27FC236}">
                  <a16:creationId xmlns:a16="http://schemas.microsoft.com/office/drawing/2014/main" id="{E4F16BC3-C05D-0D73-CFFB-710E6C881A16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7177088" y="4438248"/>
              <a:ext cx="683578" cy="0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graphicFrame>
              <p:nvGraphicFramePr>
                <p:cNvPr id="11" name="Object 10">
                  <a:extLst>
                    <a:ext uri="{FF2B5EF4-FFF2-40B4-BE49-F238E27FC236}">
                      <a16:creationId xmlns:a16="http://schemas.microsoft.com/office/drawing/2014/main" id="{4365CF0F-D987-BDBA-25DD-BC25146CAFDD}"/>
                    </a:ext>
                  </a:extLst>
                </p:cNvPr>
                <p:cNvGraphicFramePr>
                  <a:graphicFrameLocks noChangeAspect="1"/>
                </p:cNvGraphicFramePr>
                <p:nvPr>
                  <p:extLst>
                    <p:ext uri="{D42A27DB-BD31-4B8C-83A1-F6EECF244321}">
                      <p14:modId xmlns:p14="http://schemas.microsoft.com/office/powerpoint/2010/main" val="2124225078"/>
                    </p:ext>
                  </p:extLst>
                </p:nvPr>
              </p:nvGraphicFramePr>
              <p:xfrm>
                <a:off x="7862887" y="3158723"/>
                <a:ext cx="192088" cy="355600"/>
              </p:xfrm>
              <a:graphic>
                <a:graphicData uri="http://schemas.openxmlformats.org/presentationml/2006/ole">
                  <mc:AlternateContent>
                    <mc:Choice xmlns:v="urn:schemas-microsoft-com:vml" Requires="v">
                      <p:oleObj name="Equation" r:id="rId8" imgW="139680" imgH="215640" progId="Equation.3">
                        <p:embed/>
                      </p:oleObj>
                    </mc:Choice>
                    <mc:Fallback>
                      <p:oleObj name="Equation" r:id="rId8" imgW="139680" imgH="215640" progId="Equation.3">
                        <p:embed/>
                        <p:pic>
                          <p:nvPicPr>
                            <p:cNvPr id="11" name="Object 10">
                              <a:extLst>
                                <a:ext uri="{FF2B5EF4-FFF2-40B4-BE49-F238E27FC236}">
                                  <a16:creationId xmlns:a16="http://schemas.microsoft.com/office/drawing/2014/main" id="{4365CF0F-D987-BDBA-25DD-BC25146CAFDD}"/>
                                </a:ext>
                              </a:extLst>
                            </p:cNvPr>
                            <p:cNvPicPr>
                              <a:picLocks noChangeAspect="1" noChangeArrowheads="1"/>
                            </p:cNvPicPr>
                            <p:nvPr/>
                          </p:nvPicPr>
                          <p:blipFill>
                            <a:blip r:embed="rId9">
                              <a:extLst>
                                <a:ext uri="{28A0092B-C50C-407E-A947-70E740481C1C}">
                                  <a14:useLocalDpi val="0"/>
                                </a:ext>
                              </a:extLst>
                            </a:blip>
                            <a:srcRect/>
                            <a:stretch>
                              <a:fillRect/>
                            </a:stretch>
                          </p:blipFill>
                          <p:spPr bwMode="auto">
                            <a:xfrm>
                              <a:off x="7862887" y="3158723"/>
                              <a:ext cx="192088" cy="355600"/>
                            </a:xfrm>
                            <a:prstGeom prst="rect">
                              <a:avLst/>
                            </a:prstGeom>
                            <a:noFill/>
                            <a:ln>
                              <a:noFill/>
                            </a:ln>
                            <a:effectLst/>
                            <a:extLst>
                              <a:ext uri="{909E8E84-426E-40DD-AFC4-6F175D3DCCD1}">
                                <a14:hiddenFill>
                                  <a:solidFill>
                                    <a:srgbClr val="FFFFFF"/>
                                  </a:solidFill>
                                </a14:hiddenFill>
                              </a:ext>
                              <a:ext uri="{91240B29-F687-4F45-9708-019B960494DF}">
                                <a14:hiddenLine w="9525">
                                  <a:solidFill>
                                    <a:srgbClr val="000000"/>
                                  </a:solidFill>
                                  <a:miter lim="800000"/>
                                  <a:headEnd/>
                                  <a:tailEnd/>
                                </a14:hiddenLine>
                              </a:ext>
                              <a:ext uri="{AF507438-7753-43E0-B8FC-AC1667EBCBE1}">
                                <a14:hiddenEffects>
                                  <a:effectLst>
                                    <a:outerShdw dist="35921" dir="2700000" algn="ctr" rotWithShape="0">
                                      <a:srgbClr val="808080"/>
                                    </a:outerShdw>
                                  </a:effectLst>
                                </a14:hiddenEffects>
                              </a:ext>
                            </a:extLst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</mc:Choice>
          <mc:Fallback xmlns="">
            <p:graphicFrame>
              <p:nvGraphicFramePr>
                <p:cNvPr id="11" name="Object 10">
                  <a:extLst>
                    <a:ext uri="{FF2B5EF4-FFF2-40B4-BE49-F238E27FC236}">
                      <a16:creationId xmlns:a16="http://schemas.microsoft.com/office/drawing/2014/main" id="{4365CF0F-D987-BDBA-25DD-BC25146CAFDD}"/>
                    </a:ext>
                  </a:extLst>
                </p:cNvPr>
                <p:cNvGraphicFramePr>
                  <a:graphicFrameLocks noChangeAspect="1"/>
                </p:cNvGraphicFramePr>
                <p:nvPr>
                  <p:extLst>
                    <p:ext uri="{D42A27DB-BD31-4B8C-83A1-F6EECF244321}">
                      <p14:modId xmlns:p14="http://schemas.microsoft.com/office/powerpoint/2010/main" val="2124225078"/>
                    </p:ext>
                  </p:extLst>
                </p:nvPr>
              </p:nvGraphicFramePr>
              <p:xfrm>
                <a:off x="7862887" y="3158723"/>
                <a:ext cx="192088" cy="355600"/>
              </p:xfrm>
              <a:graphic>
                <a:graphicData uri="http://schemas.openxmlformats.org/presentationml/2006/ole">
                  <mc:AlternateContent>
                    <mc:Choice xmlns:v="urn:schemas-microsoft-com:vml" Requires="v">
                      <p:oleObj name="Equation" r:id="rId16" imgW="139680" imgH="215640" progId="Equation.3">
                        <p:embed/>
                      </p:oleObj>
                    </mc:Choice>
                    <mc:Fallback>
                      <p:oleObj name="Equation" r:id="rId16" imgW="139680" imgH="215640" progId="Equation.3">
                        <p:embed/>
                        <p:pic>
                          <p:nvPicPr>
                            <p:cNvPr id="11" name="Object 10">
                              <a:extLst>
                                <a:ext uri="{FF2B5EF4-FFF2-40B4-BE49-F238E27FC236}">
                                  <a16:creationId xmlns:a16="http://schemas.microsoft.com/office/drawing/2014/main" id="{4365CF0F-D987-BDBA-25DD-BC25146CAFDD}"/>
                                </a:ext>
                              </a:extLst>
                            </p:cNvPr>
                            <p:cNvPicPr>
                              <a:picLocks noChangeAspect="1" noChangeArrowheads="1"/>
                            </p:cNvPicPr>
                            <p:nvPr/>
                          </p:nvPicPr>
                          <p:blipFill>
                            <a:blip r:embed="rId17">
                              <a:extLst>
                                <a:ext uri="{28A0092B-C50C-407E-A947-70E740481C1C}">
                                  <a14:useLocalDpi xmlns:a14="http://schemas.microsoft.com/office/drawing/2010/main" val="0"/>
                                </a:ext>
                              </a:extLst>
                            </a:blip>
                            <a:srcRect/>
                            <a:stretch>
                              <a:fillRect/>
                            </a:stretch>
                          </p:blipFill>
                          <p:spPr bwMode="auto">
                            <a:xfrm>
                              <a:off x="7862887" y="3158723"/>
                              <a:ext cx="192088" cy="355600"/>
                            </a:xfrm>
                            <a:prstGeom prst="rect">
                              <a:avLst/>
                            </a:prstGeom>
                            <a:noFill/>
                            <a:ln>
                              <a:noFill/>
                            </a:ln>
                            <a:effectLst/>
                            <a:extLst>
                              <a:ext uri="{909E8E84-426E-40DD-AFC4-6F175D3DCCD1}">
                                <a14:hiddenFill xmlns:a14="http://schemas.microsoft.com/office/drawing/2010/main">
                                  <a:solidFill>
                                    <a:srgbClr val="FFFFFF"/>
                                  </a:solidFill>
                                </a14:hiddenFill>
                              </a:ext>
                              <a:ext uri="{91240B29-F687-4F45-9708-019B960494DF}">
                                <a14:hiddenLine xmlns:a14="http://schemas.microsoft.com/office/drawing/2010/main" w="9525">
                                  <a:solidFill>
                                    <a:srgbClr val="000000"/>
                                  </a:solidFill>
                                  <a:miter lim="800000"/>
                                  <a:headEnd/>
                                  <a:tailEnd/>
                                </a14:hiddenLine>
                              </a:ext>
                              <a:ext uri="{AF507438-7753-43E0-B8FC-AC1667EBCBE1}">
                                <a14:hiddenEffects xmlns:a14="http://schemas.microsoft.com/office/drawing/2010/main">
                                  <a:effectLst>
                                    <a:outerShdw dist="35921" dir="2700000" algn="ctr" rotWithShape="0">
                                      <a:srgbClr val="808080"/>
                                    </a:outerShdw>
                                  </a:effectLst>
                                </a14:hiddenEffects>
                              </a:ext>
                            </a:extLst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</mc:Fallback>
        </mc:AlternateContent>
        <p:sp>
          <p:nvSpPr>
            <p:cNvPr id="12" name="Arc 11">
              <a:extLst>
                <a:ext uri="{FF2B5EF4-FFF2-40B4-BE49-F238E27FC236}">
                  <a16:creationId xmlns:a16="http://schemas.microsoft.com/office/drawing/2014/main" id="{31DF2A39-C7F6-9108-0B31-E295FCD5C778}"/>
                </a:ext>
              </a:extLst>
            </p:cNvPr>
            <p:cNvSpPr>
              <a:spLocks/>
            </p:cNvSpPr>
            <p:nvPr/>
          </p:nvSpPr>
          <p:spPr bwMode="auto">
            <a:xfrm>
              <a:off x="7542212" y="3931835"/>
              <a:ext cx="411163" cy="504825"/>
            </a:xfrm>
            <a:custGeom>
              <a:avLst/>
              <a:gdLst>
                <a:gd name="G0" fmla="+- 0 0 0"/>
                <a:gd name="G1" fmla="+- 19916 0 0"/>
                <a:gd name="G2" fmla="+- 21600 0 0"/>
                <a:gd name="T0" fmla="*/ 8362 w 21600"/>
                <a:gd name="T1" fmla="*/ 0 h 19916"/>
                <a:gd name="T2" fmla="*/ 21600 w 21600"/>
                <a:gd name="T3" fmla="*/ 19916 h 19916"/>
                <a:gd name="T4" fmla="*/ 0 w 21600"/>
                <a:gd name="T5" fmla="*/ 19916 h 199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1600" h="19916" fill="none" extrusionOk="0">
                  <a:moveTo>
                    <a:pt x="8361" y="0"/>
                  </a:moveTo>
                  <a:cubicBezTo>
                    <a:pt x="16382" y="3367"/>
                    <a:pt x="21600" y="11217"/>
                    <a:pt x="21600" y="19916"/>
                  </a:cubicBezTo>
                </a:path>
                <a:path w="21600" h="19916" stroke="0" extrusionOk="0">
                  <a:moveTo>
                    <a:pt x="8361" y="0"/>
                  </a:moveTo>
                  <a:cubicBezTo>
                    <a:pt x="16382" y="3367"/>
                    <a:pt x="21600" y="11217"/>
                    <a:pt x="21600" y="19916"/>
                  </a:cubicBezTo>
                  <a:lnTo>
                    <a:pt x="0" y="19916"/>
                  </a:lnTo>
                  <a:close/>
                </a:path>
              </a:pathLst>
            </a:cu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6" name="TextBox 15">
                  <a:extLst>
                    <a:ext uri="{FF2B5EF4-FFF2-40B4-BE49-F238E27FC236}">
                      <a16:creationId xmlns:a16="http://schemas.microsoft.com/office/drawing/2014/main" id="{F3424500-9165-B539-5D43-FCE18CB141EB}"/>
                    </a:ext>
                  </a:extLst>
                </p:cNvPr>
                <p:cNvSpPr txBox="1"/>
                <p:nvPr/>
              </p:nvSpPr>
              <p:spPr>
                <a:xfrm>
                  <a:off x="2148840" y="3383280"/>
                  <a:ext cx="413831" cy="317972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acc>
                          <m:accPr>
                            <m:chr m:val="⃗"/>
                            <m:ctrlPr>
                              <a:rPr lang="en-US" b="1" i="1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</m:acc>
                        <m:r>
                          <m:rPr>
                            <m:nor/>
                          </m:rPr>
                          <a:rPr lang="en-US"/>
                          <m:t>·</m:t>
                        </m:r>
                        <m:acc>
                          <m:accPr>
                            <m:chr m:val="̂"/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</m:acc>
                      </m:oMath>
                    </m:oMathPara>
                  </a14:m>
                  <a:endParaRPr lang="en-US" b="0" dirty="0"/>
                </a:p>
              </p:txBody>
            </p:sp>
          </mc:Choice>
          <mc:Fallback xmlns="">
            <p:sp>
              <p:nvSpPr>
                <p:cNvPr id="16" name="TextBox 15">
                  <a:extLst>
                    <a:ext uri="{FF2B5EF4-FFF2-40B4-BE49-F238E27FC236}">
                      <a16:creationId xmlns:a16="http://schemas.microsoft.com/office/drawing/2014/main" id="{F3424500-9165-B539-5D43-FCE18CB141E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148840" y="3383280"/>
                  <a:ext cx="413831" cy="317972"/>
                </a:xfrm>
                <a:prstGeom prst="rect">
                  <a:avLst/>
                </a:prstGeom>
                <a:blipFill>
                  <a:blip r:embed="rId18"/>
                  <a:stretch>
                    <a:fillRect l="-10294" t="-7692" r="-80882" b="-7692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3" name="Straight Connector 2">
              <a:extLst>
                <a:ext uri="{FF2B5EF4-FFF2-40B4-BE49-F238E27FC236}">
                  <a16:creationId xmlns:a16="http://schemas.microsoft.com/office/drawing/2014/main" id="{38842D7E-85B7-3BFF-9D04-4BED620BF372}"/>
                </a:ext>
              </a:extLst>
            </p:cNvPr>
            <p:cNvCxnSpPr>
              <a:stCxn id="8" idx="1"/>
            </p:cNvCxnSpPr>
            <p:nvPr/>
          </p:nvCxnSpPr>
          <p:spPr bwMode="auto">
            <a:xfrm flipH="1">
              <a:off x="8778240" y="2884085"/>
              <a:ext cx="45085" cy="1582103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5" name="TextBox 14">
                  <a:extLst>
                    <a:ext uri="{FF2B5EF4-FFF2-40B4-BE49-F238E27FC236}">
                      <a16:creationId xmlns:a16="http://schemas.microsoft.com/office/drawing/2014/main" id="{882C3C3D-CA1B-304F-8AD8-49DC0E96A820}"/>
                    </a:ext>
                  </a:extLst>
                </p:cNvPr>
                <p:cNvSpPr txBox="1"/>
                <p:nvPr/>
              </p:nvSpPr>
              <p:spPr>
                <a:xfrm>
                  <a:off x="7540625" y="4463717"/>
                  <a:ext cx="320040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acc>
                          <m:accPr>
                            <m:chr m:val="̂"/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</m:acc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15" name="TextBox 14">
                  <a:extLst>
                    <a:ext uri="{FF2B5EF4-FFF2-40B4-BE49-F238E27FC236}">
                      <a16:creationId xmlns:a16="http://schemas.microsoft.com/office/drawing/2014/main" id="{882C3C3D-CA1B-304F-8AD8-49DC0E96A82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540625" y="4463717"/>
                  <a:ext cx="320040" cy="369332"/>
                </a:xfrm>
                <a:prstGeom prst="rect">
                  <a:avLst/>
                </a:prstGeom>
                <a:blipFill>
                  <a:blip r:embed="rId19"/>
                  <a:stretch>
                    <a:fillRect t="-6557" r="-7692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7" name="TextBox 16">
                  <a:extLst>
                    <a:ext uri="{FF2B5EF4-FFF2-40B4-BE49-F238E27FC236}">
                      <a16:creationId xmlns:a16="http://schemas.microsoft.com/office/drawing/2014/main" id="{64E22AF6-4F63-55F2-2312-1CB4C62F7A9C}"/>
                    </a:ext>
                  </a:extLst>
                </p:cNvPr>
                <p:cNvSpPr txBox="1"/>
                <p:nvPr/>
              </p:nvSpPr>
              <p:spPr>
                <a:xfrm>
                  <a:off x="8228012" y="4450125"/>
                  <a:ext cx="413831" cy="317972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acc>
                          <m:accPr>
                            <m:chr m:val="⃗"/>
                            <m:ctrlPr>
                              <a:rPr lang="en-US" b="1" i="1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</m:acc>
                        <m:r>
                          <m:rPr>
                            <m:nor/>
                          </m:rPr>
                          <a:rPr lang="en-US"/>
                          <m:t>·</m:t>
                        </m:r>
                        <m:acc>
                          <m:accPr>
                            <m:chr m:val="̂"/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</m:acc>
                      </m:oMath>
                    </m:oMathPara>
                  </a14:m>
                  <a:endParaRPr lang="en-US" b="0" dirty="0"/>
                </a:p>
              </p:txBody>
            </p:sp>
          </mc:Choice>
          <mc:Fallback xmlns="">
            <p:sp>
              <p:nvSpPr>
                <p:cNvPr id="17" name="TextBox 16">
                  <a:extLst>
                    <a:ext uri="{FF2B5EF4-FFF2-40B4-BE49-F238E27FC236}">
                      <a16:creationId xmlns:a16="http://schemas.microsoft.com/office/drawing/2014/main" id="{64E22AF6-4F63-55F2-2312-1CB4C62F7A9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228012" y="4450125"/>
                  <a:ext cx="413831" cy="317972"/>
                </a:xfrm>
                <a:prstGeom prst="rect">
                  <a:avLst/>
                </a:prstGeom>
                <a:blipFill>
                  <a:blip r:embed="rId20"/>
                  <a:stretch>
                    <a:fillRect l="-10294" t="-7692" r="-79412" b="-7692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id="{5E731134-437B-CE47-7DBB-1801B50F3223}"/>
              </a:ext>
            </a:extLst>
          </p:cNvPr>
          <p:cNvGrpSpPr/>
          <p:nvPr/>
        </p:nvGrpSpPr>
        <p:grpSpPr>
          <a:xfrm>
            <a:off x="1937652" y="4706138"/>
            <a:ext cx="8396287" cy="2189471"/>
            <a:chOff x="427038" y="4940461"/>
            <a:chExt cx="8396287" cy="2189471"/>
          </a:xfrm>
        </p:grpSpPr>
        <p:sp>
          <p:nvSpPr>
            <p:cNvPr id="19" name="Line 8">
              <a:extLst>
                <a:ext uri="{FF2B5EF4-FFF2-40B4-BE49-F238E27FC236}">
                  <a16:creationId xmlns:a16="http://schemas.microsoft.com/office/drawing/2014/main" id="{F24E97E0-233E-629D-7505-3CA224F21050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7175182" y="6735197"/>
              <a:ext cx="1603058" cy="0"/>
            </a:xfrm>
            <a:prstGeom prst="line">
              <a:avLst/>
            </a:prstGeom>
            <a:noFill/>
            <a:ln w="38100">
              <a:solidFill>
                <a:srgbClr val="FF7D7D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" name="Text Box 3">
              <a:extLst>
                <a:ext uri="{FF2B5EF4-FFF2-40B4-BE49-F238E27FC236}">
                  <a16:creationId xmlns:a16="http://schemas.microsoft.com/office/drawing/2014/main" id="{CEDE7F6F-2FFD-F77F-9F5C-02BD91CC97F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27038" y="4940461"/>
              <a:ext cx="8396287" cy="120032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r>
                <a:rPr lang="en-US" altLang="en-US" b="1" dirty="0"/>
                <a:t>If </a:t>
              </a:r>
              <a:r>
                <a:rPr lang="en-US" altLang="en-US" b="1" u="sng" dirty="0"/>
                <a:t>both</a:t>
              </a:r>
              <a:r>
                <a:rPr lang="en-US" altLang="en-US" b="1" dirty="0"/>
                <a:t> of the vectors (</a:t>
              </a:r>
              <a:r>
                <a:rPr lang="en-US" altLang="en-US" b="1" dirty="0" err="1"/>
                <a:t>a,b</a:t>
              </a:r>
              <a:r>
                <a:rPr lang="en-US" altLang="en-US" b="1" dirty="0"/>
                <a:t>) are length = 1</a:t>
              </a:r>
            </a:p>
            <a:p>
              <a:r>
                <a:rPr lang="en-US" altLang="en-US" b="0" dirty="0"/>
                <a:t>The dot product       = the cosine of the angle between the vectors</a:t>
              </a:r>
            </a:p>
            <a:p>
              <a:endParaRPr lang="en-US" altLang="en-US" b="0" dirty="0"/>
            </a:p>
            <a:p>
              <a:endParaRPr lang="en-US" altLang="en-US" b="0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graphicFrame>
              <p:nvGraphicFramePr>
                <p:cNvPr id="22" name="Object 21">
                  <a:extLst>
                    <a:ext uri="{FF2B5EF4-FFF2-40B4-BE49-F238E27FC236}">
                      <a16:creationId xmlns:a16="http://schemas.microsoft.com/office/drawing/2014/main" id="{AEA57007-EE30-4CDF-A6B7-69E9D6A25B4F}"/>
                    </a:ext>
                  </a:extLst>
                </p:cNvPr>
                <p:cNvGraphicFramePr>
                  <a:graphicFrameLocks noChangeAspect="1"/>
                </p:cNvGraphicFramePr>
                <p:nvPr>
                  <p:extLst>
                    <p:ext uri="{D42A27DB-BD31-4B8C-83A1-F6EECF244321}">
                      <p14:modId xmlns:p14="http://schemas.microsoft.com/office/powerpoint/2010/main" val="2567700728"/>
                    </p:ext>
                  </p:extLst>
                </p:nvPr>
              </p:nvGraphicFramePr>
              <p:xfrm>
                <a:off x="7954962" y="6231893"/>
                <a:ext cx="381000" cy="241300"/>
              </p:xfrm>
              <a:graphic>
                <a:graphicData uri="http://schemas.openxmlformats.org/presentationml/2006/ole">
                  <mc:AlternateContent>
                    <mc:Choice xmlns:v="urn:schemas-microsoft-com:vml" Requires="v">
                      <p:oleObj name="Equation" r:id="rId4" imgW="380880" imgH="241200" progId="Equation.3">
                        <p:embed/>
                      </p:oleObj>
                    </mc:Choice>
                    <mc:Fallback>
                      <p:oleObj name="Equation" r:id="rId4" imgW="380880" imgH="241200" progId="Equation.3">
                        <p:embed/>
                        <p:pic>
                          <p:nvPicPr>
                            <p:cNvPr id="22" name="Object 21">
                              <a:extLst>
                                <a:ext uri="{FF2B5EF4-FFF2-40B4-BE49-F238E27FC236}">
                                  <a16:creationId xmlns:a16="http://schemas.microsoft.com/office/drawing/2014/main" id="{AEA57007-EE30-4CDF-A6B7-69E9D6A25B4F}"/>
                                </a:ext>
                              </a:extLst>
                            </p:cNvPr>
                            <p:cNvPicPr>
                              <a:picLocks noChangeAspect="1" noChangeArrowheads="1"/>
                            </p:cNvPicPr>
                            <p:nvPr/>
                          </p:nvPicPr>
                          <p:blipFill>
                            <a:blip r:embed="rId5">
                              <a:extLst>
                                <a:ext uri="{28A0092B-C50C-407E-A947-70E740481C1C}">
                                  <a14:useLocalDpi val="0"/>
                                </a:ext>
                              </a:extLst>
                            </a:blip>
                            <a:srcRect/>
                            <a:stretch>
                              <a:fillRect/>
                            </a:stretch>
                          </p:blipFill>
                          <p:spPr bwMode="auto">
                            <a:xfrm>
                              <a:off x="7954962" y="6231893"/>
                              <a:ext cx="381000" cy="241300"/>
                            </a:xfrm>
                            <a:prstGeom prst="rect">
                              <a:avLst/>
                            </a:prstGeom>
                            <a:noFill/>
                            <a:ln>
                              <a:noFill/>
                            </a:ln>
                            <a:effectLst/>
                            <a:extLst>
                              <a:ext uri="{909E8E84-426E-40DD-AFC4-6F175D3DCCD1}">
                                <a14:hiddenFill>
                                  <a:solidFill>
                                    <a:schemeClr val="accent1"/>
                                  </a:solidFill>
                                </a14:hiddenFill>
                              </a:ext>
                              <a:ext uri="{91240B29-F687-4F45-9708-019B960494DF}">
                                <a14:hiddenLine w="9525">
                                  <a:solidFill>
                                    <a:schemeClr val="tx1"/>
                                  </a:solidFill>
                                  <a:miter lim="800000"/>
                                  <a:headEnd/>
                                  <a:tailEnd/>
                                </a14:hiddenLine>
                              </a:ext>
                              <a:ext uri="{AF507438-7753-43E0-B8FC-AC1667EBCBE1}">
                                <a14:hiddenEffects>
                                  <a:effectLst>
                                    <a:outerShdw dist="35921" dir="2700000" algn="ctr" rotWithShape="0">
                                      <a:schemeClr val="bg2"/>
                                    </a:outerShdw>
                                  </a:effectLst>
                                </a14:hiddenEffects>
                              </a:ext>
                            </a:extLst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</mc:Choice>
          <mc:Fallback xmlns="">
            <p:graphicFrame>
              <p:nvGraphicFramePr>
                <p:cNvPr id="22" name="Object 21">
                  <a:extLst>
                    <a:ext uri="{FF2B5EF4-FFF2-40B4-BE49-F238E27FC236}">
                      <a16:creationId xmlns:a16="http://schemas.microsoft.com/office/drawing/2014/main" id="{AEA57007-EE30-4CDF-A6B7-69E9D6A25B4F}"/>
                    </a:ext>
                  </a:extLst>
                </p:cNvPr>
                <p:cNvGraphicFramePr>
                  <a:graphicFrameLocks noChangeAspect="1"/>
                </p:cNvGraphicFramePr>
                <p:nvPr>
                  <p:extLst>
                    <p:ext uri="{D42A27DB-BD31-4B8C-83A1-F6EECF244321}">
                      <p14:modId xmlns:p14="http://schemas.microsoft.com/office/powerpoint/2010/main" val="2567700728"/>
                    </p:ext>
                  </p:extLst>
                </p:nvPr>
              </p:nvGraphicFramePr>
              <p:xfrm>
                <a:off x="7954962" y="6231893"/>
                <a:ext cx="381000" cy="241300"/>
              </p:xfrm>
              <a:graphic>
                <a:graphicData uri="http://schemas.openxmlformats.org/presentationml/2006/ole">
                  <mc:AlternateContent>
                    <mc:Choice xmlns:v="urn:schemas-microsoft-com:vml" Requires="v">
                      <p:oleObj name="Equation" r:id="rId14" imgW="380880" imgH="241200" progId="Equation.3">
                        <p:embed/>
                      </p:oleObj>
                    </mc:Choice>
                    <mc:Fallback>
                      <p:oleObj name="Equation" r:id="rId14" imgW="380880" imgH="241200" progId="Equation.3">
                        <p:embed/>
                        <p:pic>
                          <p:nvPicPr>
                            <p:cNvPr id="22" name="Object 21">
                              <a:extLst>
                                <a:ext uri="{FF2B5EF4-FFF2-40B4-BE49-F238E27FC236}">
                                  <a16:creationId xmlns:a16="http://schemas.microsoft.com/office/drawing/2014/main" id="{AEA57007-EE30-4CDF-A6B7-69E9D6A25B4F}"/>
                                </a:ext>
                              </a:extLst>
                            </p:cNvPr>
                            <p:cNvPicPr>
                              <a:picLocks noChangeAspect="1" noChangeArrowheads="1"/>
                            </p:cNvPicPr>
                            <p:nvPr/>
                          </p:nvPicPr>
                          <p:blipFill>
                            <a:blip r:embed="rId15">
                              <a:extLst>
                                <a:ext uri="{28A0092B-C50C-407E-A947-70E740481C1C}">
                                  <a14:useLocalDpi xmlns:a14="http://schemas.microsoft.com/office/drawing/2010/main" val="0"/>
                                </a:ext>
                              </a:extLst>
                            </a:blip>
                            <a:srcRect/>
                            <a:stretch>
                              <a:fillRect/>
                            </a:stretch>
                          </p:blipFill>
                          <p:spPr bwMode="auto">
                            <a:xfrm>
                              <a:off x="7954962" y="6231893"/>
                              <a:ext cx="381000" cy="241300"/>
                            </a:xfrm>
                            <a:prstGeom prst="rect">
                              <a:avLst/>
                            </a:prstGeom>
                            <a:noFill/>
                            <a:ln>
                              <a:noFill/>
                            </a:ln>
                            <a:effectLst/>
                            <a:extLst>
                              <a:ext uri="{909E8E84-426E-40DD-AFC4-6F175D3DCCD1}">
                                <a14:hiddenFill xmlns:a14="http://schemas.microsoft.com/office/drawing/2010/main">
                                  <a:solidFill>
                                    <a:schemeClr val="accent1"/>
                                  </a:solidFill>
                                </a14:hiddenFill>
                              </a:ext>
                              <a:ext uri="{91240B29-F687-4F45-9708-019B960494DF}">
                                <a14:hiddenLine xmlns:a14="http://schemas.microsoft.com/office/drawing/2010/main" w="9525">
                                  <a:solidFill>
                                    <a:schemeClr val="tx1"/>
                                  </a:solidFill>
                                  <a:miter lim="800000"/>
                                  <a:headEnd/>
                                  <a:tailEnd/>
                                </a14:hiddenLine>
                              </a:ext>
                              <a:ext uri="{AF507438-7753-43E0-B8FC-AC1667EBCBE1}">
                                <a14:hiddenEffects xmlns:a14="http://schemas.microsoft.com/office/drawing/2010/main">
                                  <a:effectLst>
                                    <a:outerShdw dist="35921" dir="2700000" algn="ctr" rotWithShape="0">
                                      <a:schemeClr val="bg2"/>
                                    </a:outerShdw>
                                  </a:effectLst>
                                </a14:hiddenEffects>
                              </a:ext>
                            </a:extLst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</mc:Fallback>
        </mc:AlternateContent>
        <p:sp>
          <p:nvSpPr>
            <p:cNvPr id="23" name="Line 7">
              <a:extLst>
                <a:ext uri="{FF2B5EF4-FFF2-40B4-BE49-F238E27FC236}">
                  <a16:creationId xmlns:a16="http://schemas.microsoft.com/office/drawing/2014/main" id="{C241F53A-2621-29DA-3B6C-38DB25C76295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7177087" y="5180968"/>
              <a:ext cx="1646238" cy="1554163"/>
            </a:xfrm>
            <a:prstGeom prst="line">
              <a:avLst/>
            </a:prstGeom>
            <a:noFill/>
            <a:ln w="38100">
              <a:solidFill>
                <a:srgbClr val="339966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24" name="Line 8">
              <a:extLst>
                <a:ext uri="{FF2B5EF4-FFF2-40B4-BE49-F238E27FC236}">
                  <a16:creationId xmlns:a16="http://schemas.microsoft.com/office/drawing/2014/main" id="{5334A7D0-373D-1316-77BC-248DD6DA93C7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7177088" y="6735131"/>
              <a:ext cx="683578" cy="0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graphicFrame>
              <p:nvGraphicFramePr>
                <p:cNvPr id="25" name="Object 24">
                  <a:extLst>
                    <a:ext uri="{FF2B5EF4-FFF2-40B4-BE49-F238E27FC236}">
                      <a16:creationId xmlns:a16="http://schemas.microsoft.com/office/drawing/2014/main" id="{EC5FD636-1AE9-0F49-1CC4-45F95D7A83F5}"/>
                    </a:ext>
                  </a:extLst>
                </p:cNvPr>
                <p:cNvGraphicFramePr>
                  <a:graphicFrameLocks noChangeAspect="1"/>
                </p:cNvGraphicFramePr>
                <p:nvPr>
                  <p:extLst>
                    <p:ext uri="{D42A27DB-BD31-4B8C-83A1-F6EECF244321}">
                      <p14:modId xmlns:p14="http://schemas.microsoft.com/office/powerpoint/2010/main" val="363491704"/>
                    </p:ext>
                  </p:extLst>
                </p:nvPr>
              </p:nvGraphicFramePr>
              <p:xfrm>
                <a:off x="7862887" y="5455606"/>
                <a:ext cx="192088" cy="355600"/>
              </p:xfrm>
              <a:graphic>
                <a:graphicData uri="http://schemas.openxmlformats.org/presentationml/2006/ole">
                  <mc:AlternateContent>
                    <mc:Choice xmlns:v="urn:schemas-microsoft-com:vml" Requires="v">
                      <p:oleObj name="Equation" r:id="rId16" imgW="139680" imgH="215640" progId="Equation.3">
                        <p:embed/>
                      </p:oleObj>
                    </mc:Choice>
                    <mc:Fallback>
                      <p:oleObj name="Equation" r:id="rId16" imgW="139680" imgH="215640" progId="Equation.3">
                        <p:embed/>
                        <p:pic>
                          <p:nvPicPr>
                            <p:cNvPr id="25" name="Object 24">
                              <a:extLst>
                                <a:ext uri="{FF2B5EF4-FFF2-40B4-BE49-F238E27FC236}">
                                  <a16:creationId xmlns:a16="http://schemas.microsoft.com/office/drawing/2014/main" id="{EC5FD636-1AE9-0F49-1CC4-45F95D7A83F5}"/>
                                </a:ext>
                              </a:extLst>
                            </p:cNvPr>
                            <p:cNvPicPr>
                              <a:picLocks noChangeAspect="1" noChangeArrowheads="1"/>
                            </p:cNvPicPr>
                            <p:nvPr/>
                          </p:nvPicPr>
                          <p:blipFill>
                            <a:blip r:embed="rId17">
                              <a:extLst>
                                <a:ext uri="{28A0092B-C50C-407E-A947-70E740481C1C}">
                                  <a14:useLocalDpi val="0"/>
                                </a:ext>
                              </a:extLst>
                            </a:blip>
                            <a:srcRect/>
                            <a:stretch>
                              <a:fillRect/>
                            </a:stretch>
                          </p:blipFill>
                          <p:spPr bwMode="auto">
                            <a:xfrm>
                              <a:off x="7862887" y="5455606"/>
                              <a:ext cx="192088" cy="355600"/>
                            </a:xfrm>
                            <a:prstGeom prst="rect">
                              <a:avLst/>
                            </a:prstGeom>
                            <a:noFill/>
                            <a:ln>
                              <a:noFill/>
                            </a:ln>
                            <a:effectLst/>
                            <a:extLst>
                              <a:ext uri="{909E8E84-426E-40DD-AFC4-6F175D3DCCD1}">
                                <a14:hiddenFill>
                                  <a:solidFill>
                                    <a:srgbClr val="FFFFFF"/>
                                  </a:solidFill>
                                </a14:hiddenFill>
                              </a:ext>
                              <a:ext uri="{91240B29-F687-4F45-9708-019B960494DF}">
                                <a14:hiddenLine w="9525">
                                  <a:solidFill>
                                    <a:srgbClr val="000000"/>
                                  </a:solidFill>
                                  <a:miter lim="800000"/>
                                  <a:headEnd/>
                                  <a:tailEnd/>
                                </a14:hiddenLine>
                              </a:ext>
                              <a:ext uri="{AF507438-7753-43E0-B8FC-AC1667EBCBE1}">
                                <a14:hiddenEffects>
                                  <a:effectLst>
                                    <a:outerShdw dist="35921" dir="2700000" algn="ctr" rotWithShape="0">
                                      <a:srgbClr val="808080"/>
                                    </a:outerShdw>
                                  </a:effectLst>
                                </a14:hiddenEffects>
                              </a:ext>
                            </a:extLst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</mc:Choice>
          <mc:Fallback xmlns="">
            <p:graphicFrame>
              <p:nvGraphicFramePr>
                <p:cNvPr id="25" name="Object 24">
                  <a:extLst>
                    <a:ext uri="{FF2B5EF4-FFF2-40B4-BE49-F238E27FC236}">
                      <a16:creationId xmlns:a16="http://schemas.microsoft.com/office/drawing/2014/main" id="{EC5FD636-1AE9-0F49-1CC4-45F95D7A83F5}"/>
                    </a:ext>
                  </a:extLst>
                </p:cNvPr>
                <p:cNvGraphicFramePr>
                  <a:graphicFrameLocks noChangeAspect="1"/>
                </p:cNvGraphicFramePr>
                <p:nvPr>
                  <p:extLst>
                    <p:ext uri="{D42A27DB-BD31-4B8C-83A1-F6EECF244321}">
                      <p14:modId xmlns:p14="http://schemas.microsoft.com/office/powerpoint/2010/main" val="363491704"/>
                    </p:ext>
                  </p:extLst>
                </p:nvPr>
              </p:nvGraphicFramePr>
              <p:xfrm>
                <a:off x="7862887" y="5455606"/>
                <a:ext cx="192088" cy="355600"/>
              </p:xfrm>
              <a:graphic>
                <a:graphicData uri="http://schemas.openxmlformats.org/presentationml/2006/ole">
                  <mc:AlternateContent>
                    <mc:Choice xmlns:v="urn:schemas-microsoft-com:vml" Requires="v">
                      <p:oleObj name="Equation" r:id="rId16" imgW="139680" imgH="215640" progId="Equation.3">
                        <p:embed/>
                      </p:oleObj>
                    </mc:Choice>
                    <mc:Fallback>
                      <p:oleObj name="Equation" r:id="rId16" imgW="139680" imgH="215640" progId="Equation.3">
                        <p:embed/>
                        <p:pic>
                          <p:nvPicPr>
                            <p:cNvPr id="25" name="Object 24">
                              <a:extLst>
                                <a:ext uri="{FF2B5EF4-FFF2-40B4-BE49-F238E27FC236}">
                                  <a16:creationId xmlns:a16="http://schemas.microsoft.com/office/drawing/2014/main" id="{EC5FD636-1AE9-0F49-1CC4-45F95D7A83F5}"/>
                                </a:ext>
                              </a:extLst>
                            </p:cNvPr>
                            <p:cNvPicPr>
                              <a:picLocks noChangeAspect="1" noChangeArrowheads="1"/>
                            </p:cNvPicPr>
                            <p:nvPr/>
                          </p:nvPicPr>
                          <p:blipFill>
                            <a:blip r:embed="rId17">
                              <a:extLst>
                                <a:ext uri="{28A0092B-C50C-407E-A947-70E740481C1C}">
                                  <a14:useLocalDpi xmlns:a14="http://schemas.microsoft.com/office/drawing/2010/main" val="0"/>
                                </a:ext>
                              </a:extLst>
                            </a:blip>
                            <a:srcRect/>
                            <a:stretch>
                              <a:fillRect/>
                            </a:stretch>
                          </p:blipFill>
                          <p:spPr bwMode="auto">
                            <a:xfrm>
                              <a:off x="7862887" y="5455606"/>
                              <a:ext cx="192088" cy="355600"/>
                            </a:xfrm>
                            <a:prstGeom prst="rect">
                              <a:avLst/>
                            </a:prstGeom>
                            <a:noFill/>
                            <a:ln>
                              <a:noFill/>
                            </a:ln>
                            <a:effectLst/>
                            <a:extLst>
                              <a:ext uri="{909E8E84-426E-40DD-AFC4-6F175D3DCCD1}">
                                <a14:hiddenFill xmlns:a14="http://schemas.microsoft.com/office/drawing/2010/main">
                                  <a:solidFill>
                                    <a:srgbClr val="FFFFFF"/>
                                  </a:solidFill>
                                </a14:hiddenFill>
                              </a:ext>
                              <a:ext uri="{91240B29-F687-4F45-9708-019B960494DF}">
                                <a14:hiddenLine xmlns:a14="http://schemas.microsoft.com/office/drawing/2010/main" w="9525">
                                  <a:solidFill>
                                    <a:srgbClr val="000000"/>
                                  </a:solidFill>
                                  <a:miter lim="800000"/>
                                  <a:headEnd/>
                                  <a:tailEnd/>
                                </a14:hiddenLine>
                              </a:ext>
                              <a:ext uri="{AF507438-7753-43E0-B8FC-AC1667EBCBE1}">
                                <a14:hiddenEffects xmlns:a14="http://schemas.microsoft.com/office/drawing/2010/main">
                                  <a:effectLst>
                                    <a:outerShdw dist="35921" dir="2700000" algn="ctr" rotWithShape="0">
                                      <a:srgbClr val="808080"/>
                                    </a:outerShdw>
                                  </a:effectLst>
                                </a14:hiddenEffects>
                              </a:ext>
                            </a:extLst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</mc:Fallback>
        </mc:AlternateContent>
        <p:sp>
          <p:nvSpPr>
            <p:cNvPr id="26" name="Arc 11">
              <a:extLst>
                <a:ext uri="{FF2B5EF4-FFF2-40B4-BE49-F238E27FC236}">
                  <a16:creationId xmlns:a16="http://schemas.microsoft.com/office/drawing/2014/main" id="{027363B3-2E2C-99C9-C412-167FE37CAC1A}"/>
                </a:ext>
              </a:extLst>
            </p:cNvPr>
            <p:cNvSpPr>
              <a:spLocks/>
            </p:cNvSpPr>
            <p:nvPr/>
          </p:nvSpPr>
          <p:spPr bwMode="auto">
            <a:xfrm>
              <a:off x="7542212" y="6228718"/>
              <a:ext cx="411163" cy="504825"/>
            </a:xfrm>
            <a:custGeom>
              <a:avLst/>
              <a:gdLst>
                <a:gd name="G0" fmla="+- 0 0 0"/>
                <a:gd name="G1" fmla="+- 19916 0 0"/>
                <a:gd name="G2" fmla="+- 21600 0 0"/>
                <a:gd name="T0" fmla="*/ 8362 w 21600"/>
                <a:gd name="T1" fmla="*/ 0 h 19916"/>
                <a:gd name="T2" fmla="*/ 21600 w 21600"/>
                <a:gd name="T3" fmla="*/ 19916 h 19916"/>
                <a:gd name="T4" fmla="*/ 0 w 21600"/>
                <a:gd name="T5" fmla="*/ 19916 h 199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1600" h="19916" fill="none" extrusionOk="0">
                  <a:moveTo>
                    <a:pt x="8361" y="0"/>
                  </a:moveTo>
                  <a:cubicBezTo>
                    <a:pt x="16382" y="3367"/>
                    <a:pt x="21600" y="11217"/>
                    <a:pt x="21600" y="19916"/>
                  </a:cubicBezTo>
                </a:path>
                <a:path w="21600" h="19916" stroke="0" extrusionOk="0">
                  <a:moveTo>
                    <a:pt x="8361" y="0"/>
                  </a:moveTo>
                  <a:cubicBezTo>
                    <a:pt x="16382" y="3367"/>
                    <a:pt x="21600" y="11217"/>
                    <a:pt x="21600" y="19916"/>
                  </a:cubicBezTo>
                  <a:lnTo>
                    <a:pt x="0" y="19916"/>
                  </a:lnTo>
                  <a:close/>
                </a:path>
              </a:pathLst>
            </a:cu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8" name="TextBox 27">
                  <a:extLst>
                    <a:ext uri="{FF2B5EF4-FFF2-40B4-BE49-F238E27FC236}">
                      <a16:creationId xmlns:a16="http://schemas.microsoft.com/office/drawing/2014/main" id="{FFEB69DF-ABFE-272F-1D1E-6C1F43B5C893}"/>
                    </a:ext>
                  </a:extLst>
                </p:cNvPr>
                <p:cNvSpPr txBox="1"/>
                <p:nvPr/>
              </p:nvSpPr>
              <p:spPr>
                <a:xfrm>
                  <a:off x="2148840" y="5249519"/>
                  <a:ext cx="405047" cy="291811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acc>
                          <m:accPr>
                            <m:chr m:val="̂"/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</m:acc>
                        <m:r>
                          <m:rPr>
                            <m:nor/>
                          </m:rPr>
                          <a:rPr lang="en-US"/>
                          <m:t>·</m:t>
                        </m:r>
                        <m:acc>
                          <m:accPr>
                            <m:chr m:val="̂"/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</m:acc>
                      </m:oMath>
                    </m:oMathPara>
                  </a14:m>
                  <a:endParaRPr lang="en-US" b="0" dirty="0"/>
                </a:p>
              </p:txBody>
            </p:sp>
          </mc:Choice>
          <mc:Fallback xmlns="">
            <p:sp>
              <p:nvSpPr>
                <p:cNvPr id="28" name="TextBox 27">
                  <a:extLst>
                    <a:ext uri="{FF2B5EF4-FFF2-40B4-BE49-F238E27FC236}">
                      <a16:creationId xmlns:a16="http://schemas.microsoft.com/office/drawing/2014/main" id="{FFEB69DF-ABFE-272F-1D1E-6C1F43B5C89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148840" y="5249519"/>
                  <a:ext cx="405047" cy="291811"/>
                </a:xfrm>
                <a:prstGeom prst="rect">
                  <a:avLst/>
                </a:prstGeom>
                <a:blipFill>
                  <a:blip r:embed="rId21"/>
                  <a:stretch>
                    <a:fillRect l="-11940" t="-20833" r="-83582" b="-625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29" name="Straight Connector 28">
              <a:extLst>
                <a:ext uri="{FF2B5EF4-FFF2-40B4-BE49-F238E27FC236}">
                  <a16:creationId xmlns:a16="http://schemas.microsoft.com/office/drawing/2014/main" id="{486415CD-9399-CA24-A2F2-0B2338D7B2D6}"/>
                </a:ext>
              </a:extLst>
            </p:cNvPr>
            <p:cNvCxnSpPr>
              <a:stCxn id="23" idx="1"/>
            </p:cNvCxnSpPr>
            <p:nvPr/>
          </p:nvCxnSpPr>
          <p:spPr bwMode="auto">
            <a:xfrm flipH="1">
              <a:off x="8778240" y="5180968"/>
              <a:ext cx="45085" cy="1582103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0" name="TextBox 29">
                  <a:extLst>
                    <a:ext uri="{FF2B5EF4-FFF2-40B4-BE49-F238E27FC236}">
                      <a16:creationId xmlns:a16="http://schemas.microsoft.com/office/drawing/2014/main" id="{9236AFBD-EDDD-C199-94A5-0DE907CFE9C5}"/>
                    </a:ext>
                  </a:extLst>
                </p:cNvPr>
                <p:cNvSpPr txBox="1"/>
                <p:nvPr/>
              </p:nvSpPr>
              <p:spPr>
                <a:xfrm>
                  <a:off x="7540625" y="6760600"/>
                  <a:ext cx="320040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acc>
                          <m:accPr>
                            <m:chr m:val="̂"/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</m:acc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30" name="TextBox 29">
                  <a:extLst>
                    <a:ext uri="{FF2B5EF4-FFF2-40B4-BE49-F238E27FC236}">
                      <a16:creationId xmlns:a16="http://schemas.microsoft.com/office/drawing/2014/main" id="{9236AFBD-EDDD-C199-94A5-0DE907CFE9C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540625" y="6760600"/>
                  <a:ext cx="320040" cy="369332"/>
                </a:xfrm>
                <a:prstGeom prst="rect">
                  <a:avLst/>
                </a:prstGeom>
                <a:blipFill>
                  <a:blip r:embed="rId22"/>
                  <a:stretch>
                    <a:fillRect t="-6667" r="-7692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1" name="TextBox 30">
                  <a:extLst>
                    <a:ext uri="{FF2B5EF4-FFF2-40B4-BE49-F238E27FC236}">
                      <a16:creationId xmlns:a16="http://schemas.microsoft.com/office/drawing/2014/main" id="{8A7CBDB8-FEBE-6DC3-4776-D1E704C3C41A}"/>
                    </a:ext>
                  </a:extLst>
                </p:cNvPr>
                <p:cNvSpPr txBox="1"/>
                <p:nvPr/>
              </p:nvSpPr>
              <p:spPr>
                <a:xfrm>
                  <a:off x="8228012" y="6747008"/>
                  <a:ext cx="413831" cy="317972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acc>
                          <m:accPr>
                            <m:chr m:val="⃗"/>
                            <m:ctrlPr>
                              <a:rPr lang="en-US" b="1" i="1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</m:acc>
                        <m:r>
                          <m:rPr>
                            <m:nor/>
                          </m:rPr>
                          <a:rPr lang="en-US"/>
                          <m:t>·</m:t>
                        </m:r>
                        <m:acc>
                          <m:accPr>
                            <m:chr m:val="̂"/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</m:acc>
                      </m:oMath>
                    </m:oMathPara>
                  </a14:m>
                  <a:endParaRPr lang="en-US" b="0" dirty="0"/>
                </a:p>
              </p:txBody>
            </p:sp>
          </mc:Choice>
          <mc:Fallback xmlns="">
            <p:sp>
              <p:nvSpPr>
                <p:cNvPr id="31" name="TextBox 30">
                  <a:extLst>
                    <a:ext uri="{FF2B5EF4-FFF2-40B4-BE49-F238E27FC236}">
                      <a16:creationId xmlns:a16="http://schemas.microsoft.com/office/drawing/2014/main" id="{8A7CBDB8-FEBE-6DC3-4776-D1E704C3C41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228012" y="6747008"/>
                  <a:ext cx="413831" cy="317972"/>
                </a:xfrm>
                <a:prstGeom prst="rect">
                  <a:avLst/>
                </a:prstGeom>
                <a:blipFill>
                  <a:blip r:embed="rId23"/>
                  <a:stretch>
                    <a:fillRect l="-10448" t="-7547" r="-82090" b="-566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2" name="TextBox 31">
                  <a:extLst>
                    <a:ext uri="{FF2B5EF4-FFF2-40B4-BE49-F238E27FC236}">
                      <a16:creationId xmlns:a16="http://schemas.microsoft.com/office/drawing/2014/main" id="{F38B97DF-F4AB-DE25-064C-8A2746EB6808}"/>
                    </a:ext>
                  </a:extLst>
                </p:cNvPr>
                <p:cNvSpPr txBox="1"/>
                <p:nvPr/>
              </p:nvSpPr>
              <p:spPr>
                <a:xfrm>
                  <a:off x="817923" y="6123431"/>
                  <a:ext cx="3923510" cy="314060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func>
                          <m:funcPr>
                            <m:ctrlPr>
                              <a:rPr lang="en-US" i="1" smtClean="0"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acc>
                              <m:accPr>
                                <m:chr m:val="̂"/>
                                <m:ctrlPr>
                                  <a:rPr lang="en-US" b="0" i="1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b="0" i="1">
                                    <a:latin typeface="Cambria Math" panose="02040503050406030204" pitchFamily="18" charset="0"/>
                                  </a:rPr>
                                  <m:t>𝑎</m:t>
                                </m:r>
                              </m:e>
                            </m:acc>
                            <m:acc>
                              <m:accPr>
                                <m:chr m:val="̂"/>
                                <m:ctrlPr>
                                  <a:rPr lang="en-US" b="0" i="1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m:rPr>
                                    <m:nor/>
                                  </m:rPr>
                                  <a:rPr lang="en-US"/>
                                  <m:t>·</m:t>
                                </m:r>
                                <m:r>
                                  <a:rPr lang="en-US" b="0" i="1">
                                    <a:latin typeface="Cambria Math" panose="02040503050406030204" pitchFamily="18" charset="0"/>
                                  </a:rPr>
                                  <m:t>𝑏</m:t>
                                </m:r>
                              </m:e>
                            </m:acc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=</m:t>
                            </m:r>
                            <m:r>
                              <m:rPr>
                                <m:sty m:val="p"/>
                              </m:rPr>
                              <a:rPr lang="en-US" i="0" smtClean="0">
                                <a:latin typeface="Cambria Math" panose="02040503050406030204" pitchFamily="18" charset="0"/>
                              </a:rPr>
                              <m:t>cos</m:t>
                            </m:r>
                          </m:fName>
                          <m:e>
                            <m:d>
                              <m:dPr>
                                <m:ctrlPr>
                                  <a:rPr lang="en-US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∠</m:t>
                                </m:r>
                                <m:acc>
                                  <m:accPr>
                                    <m:chr m:val="̂"/>
                                    <m:ctrlPr>
                                      <a:rPr lang="en-US" b="0" i="1"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en-US" b="0" i="1">
                                        <a:latin typeface="Cambria Math" panose="02040503050406030204" pitchFamily="18" charset="0"/>
                                      </a:rPr>
                                      <m:t>𝑎</m:t>
                                    </m:r>
                                  </m:e>
                                </m:acc>
                                <m:acc>
                                  <m:accPr>
                                    <m:chr m:val="̂"/>
                                    <m:ctrlPr>
                                      <a:rPr lang="en-US" b="0" i="1"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𝑏</m:t>
                                    </m:r>
                                  </m:e>
                                </m:acc>
                              </m:e>
                            </m:d>
                            <m:r>
                              <a:rPr lang="en-US" b="1" i="1" smtClean="0">
                                <a:latin typeface="Cambria Math" panose="02040503050406030204" pitchFamily="18" charset="0"/>
                              </a:rPr>
                              <m:t>        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∠</m:t>
                            </m:r>
                            <m:acc>
                              <m:accPr>
                                <m:chr m:val="̂"/>
                                <m:ctrlPr>
                                  <a:rPr lang="en-US" b="0" i="1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b="0" i="1">
                                    <a:latin typeface="Cambria Math" panose="02040503050406030204" pitchFamily="18" charset="0"/>
                                  </a:rPr>
                                  <m:t>𝑎</m:t>
                                </m:r>
                              </m:e>
                            </m:acc>
                            <m:acc>
                              <m:accPr>
                                <m:chr m:val="̂"/>
                                <m:ctrlPr>
                                  <a:rPr lang="en-US" b="0" i="1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b="0" i="1">
                                    <a:latin typeface="Cambria Math" panose="02040503050406030204" pitchFamily="18" charset="0"/>
                                  </a:rPr>
                                  <m:t>𝑏</m:t>
                                </m:r>
                              </m:e>
                            </m:acc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= </m:t>
                            </m:r>
                            <m:func>
                              <m:func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funcPr>
                              <m:fName>
                                <m:sSup>
                                  <m:sSup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en-US" b="0" i="0" smtClean="0">
                                        <a:latin typeface="Cambria Math" panose="02040503050406030204" pitchFamily="18" charset="0"/>
                                      </a:rPr>
                                      <m:t>cos</m:t>
                                    </m:r>
                                  </m:e>
                                  <m:sup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−1</m:t>
                                    </m:r>
                                  </m:sup>
                                </m:sSup>
                              </m:fName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acc>
                                  <m:accPr>
                                    <m:chr m:val="̂"/>
                                    <m:ctrlPr>
                                      <a:rPr lang="en-US" b="0" i="1"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en-US" b="0" i="1">
                                        <a:latin typeface="Cambria Math" panose="02040503050406030204" pitchFamily="18" charset="0"/>
                                      </a:rPr>
                                      <m:t>𝑎</m:t>
                                    </m:r>
                                  </m:e>
                                </m:acc>
                                <m:acc>
                                  <m:accPr>
                                    <m:chr m:val="̂"/>
                                    <m:ctrlPr>
                                      <a:rPr lang="en-US" b="0" i="1"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m:rPr>
                                        <m:nor/>
                                      </m:rPr>
                                      <a:rPr lang="en-US"/>
                                      <m:t>·</m:t>
                                    </m:r>
                                    <m:r>
                                      <a:rPr lang="en-US" b="0" i="1">
                                        <a:latin typeface="Cambria Math" panose="02040503050406030204" pitchFamily="18" charset="0"/>
                                      </a:rPr>
                                      <m:t>𝑏</m:t>
                                    </m:r>
                                  </m:e>
                                </m:acc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e>
                            </m:func>
                          </m:e>
                        </m:func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32" name="TextBox 31">
                  <a:extLst>
                    <a:ext uri="{FF2B5EF4-FFF2-40B4-BE49-F238E27FC236}">
                      <a16:creationId xmlns:a16="http://schemas.microsoft.com/office/drawing/2014/main" id="{F38B97DF-F4AB-DE25-064C-8A2746EB680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17923" y="6123431"/>
                  <a:ext cx="3923510" cy="314060"/>
                </a:xfrm>
                <a:prstGeom prst="rect">
                  <a:avLst/>
                </a:prstGeom>
                <a:blipFill>
                  <a:blip r:embed="rId24"/>
                  <a:stretch>
                    <a:fillRect t="-13462" r="-6522" b="-2500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94F3DCFC-DCB9-63A9-E8FC-7FCA994213EE}"/>
                  </a:ext>
                </a:extLst>
              </p:cNvPr>
              <p:cNvSpPr txBox="1"/>
              <p:nvPr/>
            </p:nvSpPr>
            <p:spPr>
              <a:xfrm>
                <a:off x="6149181" y="2558114"/>
                <a:ext cx="141064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n-US"/>
                        <m:t>·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94F3DCFC-DCB9-63A9-E8FC-7FCA994213E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49181" y="2558114"/>
                <a:ext cx="141064" cy="276999"/>
              </a:xfrm>
              <a:prstGeom prst="rect">
                <a:avLst/>
              </a:prstGeom>
              <a:blipFill>
                <a:blip r:embed="rId25"/>
                <a:stretch>
                  <a:fillRect l="-4348" r="-434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770" name="Rectangle 2">
            <a:extLst>
              <a:ext uri="{FF2B5EF4-FFF2-40B4-BE49-F238E27FC236}">
                <a16:creationId xmlns:a16="http://schemas.microsoft.com/office/drawing/2014/main" id="{F0ABC8A5-B401-7512-C2D8-16FABE5C1CD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en-US">
                <a:solidFill>
                  <a:schemeClr val="tx1"/>
                </a:solidFill>
              </a:rPr>
              <a:t>inner product / dot product</a:t>
            </a:r>
            <a:r>
              <a:rPr lang="en-US" altLang="en-US"/>
              <a:t> </a:t>
            </a:r>
          </a:p>
        </p:txBody>
      </p:sp>
      <p:graphicFrame>
        <p:nvGraphicFramePr>
          <p:cNvPr id="288780" name="Object 12">
            <a:extLst>
              <a:ext uri="{FF2B5EF4-FFF2-40B4-BE49-F238E27FC236}">
                <a16:creationId xmlns:a16="http://schemas.microsoft.com/office/drawing/2014/main" id="{4A20DF54-85CF-4BE6-3FED-7CC4CBBFA9F8}"/>
              </a:ext>
            </a:extLst>
          </p:cNvPr>
          <p:cNvGraphicFramePr>
            <a:graphicFrameLocks noGrp="1" noChangeAspect="1"/>
          </p:cNvGraphicFramePr>
          <p:nvPr>
            <p:ph sz="half" idx="1"/>
          </p:nvPr>
        </p:nvGraphicFramePr>
        <p:xfrm>
          <a:off x="8564563" y="4114800"/>
          <a:ext cx="473075" cy="3000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380880" imgH="241200" progId="Equation.3">
                  <p:embed/>
                </p:oleObj>
              </mc:Choice>
              <mc:Fallback>
                <p:oleObj name="Equation" r:id="rId2" imgW="380880" imgH="241200" progId="Equation.3">
                  <p:embed/>
                  <p:pic>
                    <p:nvPicPr>
                      <p:cNvPr id="288780" name="Object 12">
                        <a:extLst>
                          <a:ext uri="{FF2B5EF4-FFF2-40B4-BE49-F238E27FC236}">
                            <a16:creationId xmlns:a16="http://schemas.microsoft.com/office/drawing/2014/main" id="{4A20DF54-85CF-4BE6-3FED-7CC4CBBFA9F8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564563" y="4114800"/>
                        <a:ext cx="473075" cy="3000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88772" name="Object 4">
            <a:extLst>
              <a:ext uri="{FF2B5EF4-FFF2-40B4-BE49-F238E27FC236}">
                <a16:creationId xmlns:a16="http://schemas.microsoft.com/office/drawing/2014/main" id="{D765CC95-41C8-57E1-3707-6E4532A2D332}"/>
              </a:ext>
            </a:extLst>
          </p:cNvPr>
          <p:cNvGraphicFramePr>
            <a:graphicFrameLocks noGrp="1" noChangeAspect="1"/>
          </p:cNvGraphicFramePr>
          <p:nvPr>
            <p:ph sz="quarter" idx="2"/>
          </p:nvPr>
        </p:nvGraphicFramePr>
        <p:xfrm>
          <a:off x="2620963" y="2651125"/>
          <a:ext cx="1189037" cy="355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850680" imgH="253800" progId="Equation.3">
                  <p:embed/>
                </p:oleObj>
              </mc:Choice>
              <mc:Fallback>
                <p:oleObj name="Equation" r:id="rId4" imgW="850680" imgH="253800" progId="Equation.3">
                  <p:embed/>
                  <p:pic>
                    <p:nvPicPr>
                      <p:cNvPr id="288772" name="Object 4">
                        <a:extLst>
                          <a:ext uri="{FF2B5EF4-FFF2-40B4-BE49-F238E27FC236}">
                            <a16:creationId xmlns:a16="http://schemas.microsoft.com/office/drawing/2014/main" id="{D765CC95-41C8-57E1-3707-6E4532A2D332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20963" y="2651125"/>
                        <a:ext cx="1189037" cy="355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88771" name="Text Box 3">
            <a:extLst>
              <a:ext uri="{FF2B5EF4-FFF2-40B4-BE49-F238E27FC236}">
                <a16:creationId xmlns:a16="http://schemas.microsoft.com/office/drawing/2014/main" id="{9D425364-77E3-4163-FE23-1E2628B1032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51038" y="974726"/>
            <a:ext cx="5745162" cy="25638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endParaRPr lang="en-US" altLang="en-US" b="0"/>
          </a:p>
          <a:p>
            <a:endParaRPr lang="en-US" altLang="en-US" b="0"/>
          </a:p>
          <a:p>
            <a:endParaRPr lang="en-US" altLang="en-US" b="0"/>
          </a:p>
          <a:p>
            <a:endParaRPr lang="en-US" altLang="en-US" b="0"/>
          </a:p>
          <a:p>
            <a:endParaRPr lang="en-US" altLang="en-US" b="0"/>
          </a:p>
          <a:p>
            <a:r>
              <a:rPr lang="en-US" altLang="en-US" b="0"/>
              <a:t>Examples:</a:t>
            </a:r>
          </a:p>
          <a:p>
            <a:r>
              <a:rPr lang="en-US" altLang="en-US" b="0"/>
              <a:t>		, and a and b are </a:t>
            </a:r>
            <a:r>
              <a:rPr lang="en-US" altLang="en-US" b="0" i="1"/>
              <a:t>parallel</a:t>
            </a:r>
          </a:p>
          <a:p>
            <a:endParaRPr lang="en-US" altLang="en-US" b="0"/>
          </a:p>
          <a:p>
            <a:endParaRPr lang="en-US" altLang="en-US" b="0"/>
          </a:p>
        </p:txBody>
      </p:sp>
      <p:grpSp>
        <p:nvGrpSpPr>
          <p:cNvPr id="288773" name="Group 5">
            <a:extLst>
              <a:ext uri="{FF2B5EF4-FFF2-40B4-BE49-F238E27FC236}">
                <a16:creationId xmlns:a16="http://schemas.microsoft.com/office/drawing/2014/main" id="{3A8A8ABC-F2B4-6845-628C-73A4A40D81D9}"/>
              </a:ext>
            </a:extLst>
          </p:cNvPr>
          <p:cNvGrpSpPr>
            <a:grpSpLocks/>
          </p:cNvGrpSpPr>
          <p:nvPr/>
        </p:nvGrpSpPr>
        <p:grpSpPr bwMode="auto">
          <a:xfrm>
            <a:off x="1844676" y="3886201"/>
            <a:ext cx="4022725" cy="1566863"/>
            <a:chOff x="432" y="1298"/>
            <a:chExt cx="3279" cy="1238"/>
          </a:xfrm>
        </p:grpSpPr>
        <p:graphicFrame>
          <p:nvGraphicFramePr>
            <p:cNvPr id="288774" name="Object 6">
              <a:extLst>
                <a:ext uri="{FF2B5EF4-FFF2-40B4-BE49-F238E27FC236}">
                  <a16:creationId xmlns:a16="http://schemas.microsoft.com/office/drawing/2014/main" id="{7C532278-7F9C-0394-9F29-E37F539A8BAF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432" y="1298"/>
            <a:ext cx="3279" cy="65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Worksheet" r:id="rId6" imgW="3495779" imgH="695233" progId="Excel.Sheet.8">
                    <p:embed/>
                  </p:oleObj>
                </mc:Choice>
                <mc:Fallback>
                  <p:oleObj name="Worksheet" r:id="rId6" imgW="3495779" imgH="695233" progId="Excel.Sheet.8">
                    <p:embed/>
                    <p:pic>
                      <p:nvPicPr>
                        <p:cNvPr id="288774" name="Object 6">
                          <a:extLst>
                            <a:ext uri="{FF2B5EF4-FFF2-40B4-BE49-F238E27FC236}">
                              <a16:creationId xmlns:a16="http://schemas.microsoft.com/office/drawing/2014/main" id="{7C532278-7F9C-0394-9F29-E37F539A8BAF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32" y="1298"/>
                          <a:ext cx="3279" cy="65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88775" name="Rectangle 7">
              <a:extLst>
                <a:ext uri="{FF2B5EF4-FFF2-40B4-BE49-F238E27FC236}">
                  <a16:creationId xmlns:a16="http://schemas.microsoft.com/office/drawing/2014/main" id="{2F6CB6A7-BA19-EEF5-9A6E-43FE31FB617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80" y="1584"/>
              <a:ext cx="237" cy="29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en-US" b="0">
                  <a:latin typeface="Symath" pitchFamily="2" charset="0"/>
                </a:rPr>
                <a:t>S</a:t>
              </a:r>
            </a:p>
          </p:txBody>
        </p:sp>
        <p:sp>
          <p:nvSpPr>
            <p:cNvPr id="288776" name="Rectangle 8">
              <a:extLst>
                <a:ext uri="{FF2B5EF4-FFF2-40B4-BE49-F238E27FC236}">
                  <a16:creationId xmlns:a16="http://schemas.microsoft.com/office/drawing/2014/main" id="{C8946DBA-D90F-5DDF-94A6-9DF055AC91B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82" y="2246"/>
              <a:ext cx="150" cy="29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endParaRPr lang="en-US" altLang="en-US" b="0">
                <a:latin typeface="Symath" pitchFamily="2" charset="0"/>
              </a:endParaRPr>
            </a:p>
          </p:txBody>
        </p:sp>
      </p:grpSp>
      <p:sp>
        <p:nvSpPr>
          <p:cNvPr id="288777" name="Text Box 9">
            <a:extLst>
              <a:ext uri="{FF2B5EF4-FFF2-40B4-BE49-F238E27FC236}">
                <a16:creationId xmlns:a16="http://schemas.microsoft.com/office/drawing/2014/main" id="{56DD4536-1F33-0C50-56C5-2450026EA84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51039" y="974726"/>
            <a:ext cx="8396287" cy="11906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en-US" altLang="en-US"/>
              <a:t>More generally, the dot product is:</a:t>
            </a:r>
          </a:p>
          <a:p>
            <a:r>
              <a:rPr lang="en-US" altLang="en-US" b="0"/>
              <a:t>The (length of a) * (length of b) * (cosine of angle between a and b)</a:t>
            </a:r>
          </a:p>
          <a:p>
            <a:endParaRPr lang="en-US" altLang="en-US" b="0"/>
          </a:p>
          <a:p>
            <a:endParaRPr lang="en-US" altLang="en-US" b="0"/>
          </a:p>
        </p:txBody>
      </p:sp>
      <p:graphicFrame>
        <p:nvGraphicFramePr>
          <p:cNvPr id="288778" name="Object 10">
            <a:extLst>
              <a:ext uri="{FF2B5EF4-FFF2-40B4-BE49-F238E27FC236}">
                <a16:creationId xmlns:a16="http://schemas.microsoft.com/office/drawing/2014/main" id="{7B6D4726-285E-AF83-4A03-69E5D36E5D5A}"/>
              </a:ext>
            </a:extLst>
          </p:cNvPr>
          <p:cNvGraphicFramePr>
            <a:graphicFrameLocks noChangeAspect="1"/>
          </p:cNvGraphicFramePr>
          <p:nvPr/>
        </p:nvGraphicFramePr>
        <p:xfrm>
          <a:off x="7604126" y="1787526"/>
          <a:ext cx="2112963" cy="3968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1536480" imgH="241200" progId="Equation.3">
                  <p:embed/>
                </p:oleObj>
              </mc:Choice>
              <mc:Fallback>
                <p:oleObj name="Equation" r:id="rId8" imgW="1536480" imgH="241200" progId="Equation.3">
                  <p:embed/>
                  <p:pic>
                    <p:nvPicPr>
                      <p:cNvPr id="288778" name="Object 10">
                        <a:extLst>
                          <a:ext uri="{FF2B5EF4-FFF2-40B4-BE49-F238E27FC236}">
                            <a16:creationId xmlns:a16="http://schemas.microsoft.com/office/drawing/2014/main" id="{7B6D4726-285E-AF83-4A03-69E5D36E5D5A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604126" y="1787526"/>
                        <a:ext cx="2112963" cy="3968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88779" name="Object 11">
            <a:extLst>
              <a:ext uri="{FF2B5EF4-FFF2-40B4-BE49-F238E27FC236}">
                <a16:creationId xmlns:a16="http://schemas.microsoft.com/office/drawing/2014/main" id="{B13E8672-7AB2-9E50-C162-13FB43CEBEEF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490788" y="1628775"/>
          <a:ext cx="1274762" cy="7127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927000" imgH="431640" progId="Equation.3">
                  <p:embed/>
                </p:oleObj>
              </mc:Choice>
              <mc:Fallback>
                <p:oleObj name="Equation" r:id="rId10" imgW="927000" imgH="431640" progId="Equation.3">
                  <p:embed/>
                  <p:pic>
                    <p:nvPicPr>
                      <p:cNvPr id="288779" name="Object 11">
                        <a:extLst>
                          <a:ext uri="{FF2B5EF4-FFF2-40B4-BE49-F238E27FC236}">
                            <a16:creationId xmlns:a16="http://schemas.microsoft.com/office/drawing/2014/main" id="{B13E8672-7AB2-9E50-C162-13FB43CEBEEF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90788" y="1628775"/>
                        <a:ext cx="1274762" cy="7127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88781" name="Group 13">
            <a:extLst>
              <a:ext uri="{FF2B5EF4-FFF2-40B4-BE49-F238E27FC236}">
                <a16:creationId xmlns:a16="http://schemas.microsoft.com/office/drawing/2014/main" id="{DED3AA14-DBD7-0FEE-5F4C-367D35528CFA}"/>
              </a:ext>
            </a:extLst>
          </p:cNvPr>
          <p:cNvGrpSpPr>
            <a:grpSpLocks/>
          </p:cNvGrpSpPr>
          <p:nvPr/>
        </p:nvGrpSpPr>
        <p:grpSpPr bwMode="auto">
          <a:xfrm rot="-2562564">
            <a:off x="8289925" y="3703639"/>
            <a:ext cx="1644650" cy="503237"/>
            <a:chOff x="4234" y="2649"/>
            <a:chExt cx="1036" cy="317"/>
          </a:xfrm>
        </p:grpSpPr>
        <p:sp>
          <p:nvSpPr>
            <p:cNvPr id="288782" name="Line 14">
              <a:extLst>
                <a:ext uri="{FF2B5EF4-FFF2-40B4-BE49-F238E27FC236}">
                  <a16:creationId xmlns:a16="http://schemas.microsoft.com/office/drawing/2014/main" id="{DF8E31BE-5CA0-CE0B-8DEE-8CC833B44DAF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234" y="2966"/>
              <a:ext cx="1036" cy="0"/>
            </a:xfrm>
            <a:prstGeom prst="line">
              <a:avLst/>
            </a:prstGeom>
            <a:noFill/>
            <a:ln w="38100">
              <a:solidFill>
                <a:srgbClr val="339966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88783" name="Line 15">
              <a:extLst>
                <a:ext uri="{FF2B5EF4-FFF2-40B4-BE49-F238E27FC236}">
                  <a16:creationId xmlns:a16="http://schemas.microsoft.com/office/drawing/2014/main" id="{70ABDD6B-D8AB-9CBB-0D11-998E0F87F916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234" y="2649"/>
              <a:ext cx="1036" cy="0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aphicFrame>
        <p:nvGraphicFramePr>
          <p:cNvPr id="288784" name="Object 16">
            <a:extLst>
              <a:ext uri="{FF2B5EF4-FFF2-40B4-BE49-F238E27FC236}">
                <a16:creationId xmlns:a16="http://schemas.microsoft.com/office/drawing/2014/main" id="{ECE547F5-93EA-127B-D52E-5310AC4CC46C}"/>
              </a:ext>
            </a:extLst>
          </p:cNvPr>
          <p:cNvGraphicFramePr>
            <a:graphicFrameLocks noChangeAspect="1"/>
          </p:cNvGraphicFramePr>
          <p:nvPr/>
        </p:nvGraphicFramePr>
        <p:xfrm>
          <a:off x="8382000" y="4525964"/>
          <a:ext cx="192088" cy="3143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2" imgW="139680" imgH="190440" progId="Equation.3">
                  <p:embed/>
                </p:oleObj>
              </mc:Choice>
              <mc:Fallback>
                <p:oleObj name="Equation" r:id="rId12" imgW="139680" imgH="190440" progId="Equation.3">
                  <p:embed/>
                  <p:pic>
                    <p:nvPicPr>
                      <p:cNvPr id="288784" name="Object 16">
                        <a:extLst>
                          <a:ext uri="{FF2B5EF4-FFF2-40B4-BE49-F238E27FC236}">
                            <a16:creationId xmlns:a16="http://schemas.microsoft.com/office/drawing/2014/main" id="{ECE547F5-93EA-127B-D52E-5310AC4CC46C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382000" y="4525964"/>
                        <a:ext cx="192088" cy="3143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88785" name="Object 17">
            <a:extLst>
              <a:ext uri="{FF2B5EF4-FFF2-40B4-BE49-F238E27FC236}">
                <a16:creationId xmlns:a16="http://schemas.microsoft.com/office/drawing/2014/main" id="{20CB5C33-8E17-0C29-DCDD-FE2D3FD00DCF}"/>
              </a:ext>
            </a:extLst>
          </p:cNvPr>
          <p:cNvGraphicFramePr>
            <a:graphicFrameLocks noChangeAspect="1"/>
          </p:cNvGraphicFramePr>
          <p:nvPr/>
        </p:nvGraphicFramePr>
        <p:xfrm>
          <a:off x="8016875" y="4068763"/>
          <a:ext cx="192088" cy="355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4" imgW="139680" imgH="215640" progId="Equation.3">
                  <p:embed/>
                </p:oleObj>
              </mc:Choice>
              <mc:Fallback>
                <p:oleObj name="Equation" r:id="rId14" imgW="139680" imgH="215640" progId="Equation.3">
                  <p:embed/>
                  <p:pic>
                    <p:nvPicPr>
                      <p:cNvPr id="288785" name="Object 17">
                        <a:extLst>
                          <a:ext uri="{FF2B5EF4-FFF2-40B4-BE49-F238E27FC236}">
                            <a16:creationId xmlns:a16="http://schemas.microsoft.com/office/drawing/2014/main" id="{20CB5C33-8E17-0C29-DCDD-FE2D3FD00DCF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016875" y="4068763"/>
                        <a:ext cx="192088" cy="355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88786" name="AutoShape 18">
            <a:extLst>
              <a:ext uri="{FF2B5EF4-FFF2-40B4-BE49-F238E27FC236}">
                <a16:creationId xmlns:a16="http://schemas.microsoft.com/office/drawing/2014/main" id="{015D71EB-15B2-D973-B6B2-5AA024F8773B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78163" y="5486400"/>
            <a:ext cx="3795712" cy="1066800"/>
          </a:xfrm>
          <a:prstGeom prst="wedgeRectCallout">
            <a:avLst>
              <a:gd name="adj1" fmla="val -44815"/>
              <a:gd name="adj2" fmla="val -112204"/>
            </a:avLst>
          </a:prstGeom>
          <a:solidFill>
            <a:schemeClr val="accent1">
              <a:lumMod val="40000"/>
              <a:lumOff val="6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/>
          <a:lstStyle/>
          <a:p>
            <a:r>
              <a:rPr lang="en-US" altLang="en-US" sz="1600" b="0" dirty="0"/>
              <a:t>sin(45</a:t>
            </a:r>
            <a:r>
              <a:rPr lang="en-US" altLang="en-US" sz="1600" b="0" dirty="0">
                <a:latin typeface="Symbol" panose="05050102010706020507" pitchFamily="18" charset="2"/>
              </a:rPr>
              <a:t>°</a:t>
            </a:r>
            <a:r>
              <a:rPr lang="en-US" altLang="en-US" sz="1600" b="0" dirty="0"/>
              <a:t>)=cos(45</a:t>
            </a:r>
            <a:r>
              <a:rPr lang="en-US" altLang="en-US" sz="1600" b="0" dirty="0">
                <a:latin typeface="Symbol" panose="05050102010706020507" pitchFamily="18" charset="2"/>
              </a:rPr>
              <a:t>°</a:t>
            </a:r>
            <a:r>
              <a:rPr lang="en-US" altLang="en-US" sz="1600" b="0" dirty="0"/>
              <a:t>)=</a:t>
            </a:r>
            <a:endParaRPr lang="en-US" altLang="en-US" sz="1600" b="0" dirty="0">
              <a:latin typeface="MS Shell Dlg" panose="020B0604020202020204" pitchFamily="34" charset="0"/>
            </a:endParaRPr>
          </a:p>
          <a:p>
            <a:endParaRPr lang="en-US" altLang="en-US" sz="1600" b="0" dirty="0"/>
          </a:p>
        </p:txBody>
      </p:sp>
      <p:graphicFrame>
        <p:nvGraphicFramePr>
          <p:cNvPr id="288787" name="Object 19">
            <a:extLst>
              <a:ext uri="{FF2B5EF4-FFF2-40B4-BE49-F238E27FC236}">
                <a16:creationId xmlns:a16="http://schemas.microsoft.com/office/drawing/2014/main" id="{6B3112CE-2D05-5A66-2FC1-91042161BA97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906963" y="5486400"/>
          <a:ext cx="811212" cy="533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6" imgW="787320" imgH="431640" progId="Equation.3">
                  <p:embed/>
                </p:oleObj>
              </mc:Choice>
              <mc:Fallback>
                <p:oleObj name="Equation" r:id="rId16" imgW="787320" imgH="431640" progId="Equation.3">
                  <p:embed/>
                  <p:pic>
                    <p:nvPicPr>
                      <p:cNvPr id="288787" name="Object 19">
                        <a:extLst>
                          <a:ext uri="{FF2B5EF4-FFF2-40B4-BE49-F238E27FC236}">
                            <a16:creationId xmlns:a16="http://schemas.microsoft.com/office/drawing/2014/main" id="{6B3112CE-2D05-5A66-2FC1-91042161BA97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906963" y="5486400"/>
                        <a:ext cx="811212" cy="533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794" name="Rectangle 2">
            <a:extLst>
              <a:ext uri="{FF2B5EF4-FFF2-40B4-BE49-F238E27FC236}">
                <a16:creationId xmlns:a16="http://schemas.microsoft.com/office/drawing/2014/main" id="{B795022D-718D-85F1-2347-57739D109E4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en-US">
                <a:solidFill>
                  <a:schemeClr val="tx1"/>
                </a:solidFill>
              </a:rPr>
              <a:t>inner product / dot product</a:t>
            </a:r>
            <a:r>
              <a:rPr lang="en-US" altLang="en-US"/>
              <a:t> </a:t>
            </a:r>
          </a:p>
        </p:txBody>
      </p:sp>
      <p:graphicFrame>
        <p:nvGraphicFramePr>
          <p:cNvPr id="289796" name="Object 4">
            <a:extLst>
              <a:ext uri="{FF2B5EF4-FFF2-40B4-BE49-F238E27FC236}">
                <a16:creationId xmlns:a16="http://schemas.microsoft.com/office/drawing/2014/main" id="{5976033A-4CA4-D80E-EE57-8922C3E7A577}"/>
              </a:ext>
            </a:extLst>
          </p:cNvPr>
          <p:cNvGraphicFramePr>
            <a:graphicFrameLocks noGrp="1" noChangeAspect="1"/>
          </p:cNvGraphicFramePr>
          <p:nvPr>
            <p:ph sz="half" idx="1"/>
          </p:nvPr>
        </p:nvGraphicFramePr>
        <p:xfrm>
          <a:off x="2620963" y="2651125"/>
          <a:ext cx="1189037" cy="355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850680" imgH="253800" progId="Equation.3">
                  <p:embed/>
                </p:oleObj>
              </mc:Choice>
              <mc:Fallback>
                <p:oleObj name="Equation" r:id="rId2" imgW="850680" imgH="253800" progId="Equation.3">
                  <p:embed/>
                  <p:pic>
                    <p:nvPicPr>
                      <p:cNvPr id="289796" name="Object 4">
                        <a:extLst>
                          <a:ext uri="{FF2B5EF4-FFF2-40B4-BE49-F238E27FC236}">
                            <a16:creationId xmlns:a16="http://schemas.microsoft.com/office/drawing/2014/main" id="{5976033A-4CA4-D80E-EE57-8922C3E7A577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20963" y="2651125"/>
                        <a:ext cx="1189037" cy="355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89795" name="Text Box 3">
            <a:extLst>
              <a:ext uri="{FF2B5EF4-FFF2-40B4-BE49-F238E27FC236}">
                <a16:creationId xmlns:a16="http://schemas.microsoft.com/office/drawing/2014/main" id="{728568F4-D588-A12F-6F18-7DD13BFE6B3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51038" y="974726"/>
            <a:ext cx="5745162" cy="25638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endParaRPr lang="en-US" altLang="en-US" b="0"/>
          </a:p>
          <a:p>
            <a:endParaRPr lang="en-US" altLang="en-US" b="0"/>
          </a:p>
          <a:p>
            <a:endParaRPr lang="en-US" altLang="en-US" b="0"/>
          </a:p>
          <a:p>
            <a:endParaRPr lang="en-US" altLang="en-US" b="0"/>
          </a:p>
          <a:p>
            <a:endParaRPr lang="en-US" altLang="en-US" b="0"/>
          </a:p>
          <a:p>
            <a:r>
              <a:rPr lang="en-US" altLang="en-US" b="0"/>
              <a:t>Examples:</a:t>
            </a:r>
          </a:p>
          <a:p>
            <a:r>
              <a:rPr lang="en-US" altLang="en-US" b="0"/>
              <a:t>		, and a and b are </a:t>
            </a:r>
            <a:r>
              <a:rPr lang="en-US" altLang="en-US" b="0" i="1"/>
              <a:t>perpendicular</a:t>
            </a:r>
          </a:p>
          <a:p>
            <a:endParaRPr lang="en-US" altLang="en-US" b="0"/>
          </a:p>
          <a:p>
            <a:endParaRPr lang="en-US" altLang="en-US" b="0"/>
          </a:p>
        </p:txBody>
      </p:sp>
      <p:grpSp>
        <p:nvGrpSpPr>
          <p:cNvPr id="289797" name="Group 5">
            <a:extLst>
              <a:ext uri="{FF2B5EF4-FFF2-40B4-BE49-F238E27FC236}">
                <a16:creationId xmlns:a16="http://schemas.microsoft.com/office/drawing/2014/main" id="{CE94EAF6-3AA6-2E17-64F5-AFC1E3880B7F}"/>
              </a:ext>
            </a:extLst>
          </p:cNvPr>
          <p:cNvGrpSpPr>
            <a:grpSpLocks/>
          </p:cNvGrpSpPr>
          <p:nvPr/>
        </p:nvGrpSpPr>
        <p:grpSpPr bwMode="auto">
          <a:xfrm>
            <a:off x="1844676" y="3886201"/>
            <a:ext cx="4022725" cy="1566863"/>
            <a:chOff x="432" y="1298"/>
            <a:chExt cx="3279" cy="1238"/>
          </a:xfrm>
        </p:grpSpPr>
        <p:graphicFrame>
          <p:nvGraphicFramePr>
            <p:cNvPr id="289798" name="Object 6">
              <a:extLst>
                <a:ext uri="{FF2B5EF4-FFF2-40B4-BE49-F238E27FC236}">
                  <a16:creationId xmlns:a16="http://schemas.microsoft.com/office/drawing/2014/main" id="{AD6A8C07-7EE7-80B5-D2B4-0DDCAC9ACF3A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432" y="1298"/>
            <a:ext cx="3279" cy="65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Worksheet" r:id="rId4" imgW="3495779" imgH="695233" progId="Excel.Sheet.8">
                    <p:embed/>
                  </p:oleObj>
                </mc:Choice>
                <mc:Fallback>
                  <p:oleObj name="Worksheet" r:id="rId4" imgW="3495779" imgH="695233" progId="Excel.Sheet.8">
                    <p:embed/>
                    <p:pic>
                      <p:nvPicPr>
                        <p:cNvPr id="289798" name="Object 6">
                          <a:extLst>
                            <a:ext uri="{FF2B5EF4-FFF2-40B4-BE49-F238E27FC236}">
                              <a16:creationId xmlns:a16="http://schemas.microsoft.com/office/drawing/2014/main" id="{AD6A8C07-7EE7-80B5-D2B4-0DDCAC9ACF3A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32" y="1298"/>
                          <a:ext cx="3279" cy="65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89799" name="Rectangle 7">
              <a:extLst>
                <a:ext uri="{FF2B5EF4-FFF2-40B4-BE49-F238E27FC236}">
                  <a16:creationId xmlns:a16="http://schemas.microsoft.com/office/drawing/2014/main" id="{3B353BF0-8B94-F5A0-2B7E-5FACA77BF8D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80" y="1584"/>
              <a:ext cx="237" cy="29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en-US" b="0">
                  <a:latin typeface="Symath" pitchFamily="2" charset="0"/>
                </a:rPr>
                <a:t>S</a:t>
              </a:r>
            </a:p>
          </p:txBody>
        </p:sp>
        <p:sp>
          <p:nvSpPr>
            <p:cNvPr id="289800" name="Rectangle 8">
              <a:extLst>
                <a:ext uri="{FF2B5EF4-FFF2-40B4-BE49-F238E27FC236}">
                  <a16:creationId xmlns:a16="http://schemas.microsoft.com/office/drawing/2014/main" id="{C7513615-CBDF-2C8E-52E1-A5F3F8F5C56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82" y="2246"/>
              <a:ext cx="150" cy="29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endParaRPr lang="en-US" altLang="en-US" b="0">
                <a:latin typeface="Symath" pitchFamily="2" charset="0"/>
              </a:endParaRPr>
            </a:p>
          </p:txBody>
        </p:sp>
      </p:grpSp>
      <p:sp>
        <p:nvSpPr>
          <p:cNvPr id="289801" name="Text Box 9">
            <a:extLst>
              <a:ext uri="{FF2B5EF4-FFF2-40B4-BE49-F238E27FC236}">
                <a16:creationId xmlns:a16="http://schemas.microsoft.com/office/drawing/2014/main" id="{A2A89F13-8F4E-4600-F3BC-A3F512B4A05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51039" y="974726"/>
            <a:ext cx="8396287" cy="11906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en-US" altLang="en-US"/>
              <a:t>More generally, the dot product is:</a:t>
            </a:r>
          </a:p>
          <a:p>
            <a:r>
              <a:rPr lang="en-US" altLang="en-US" b="0"/>
              <a:t>The (length of a) * (length of b) * (cosine of angle between a and b)</a:t>
            </a:r>
          </a:p>
          <a:p>
            <a:endParaRPr lang="en-US" altLang="en-US" b="0"/>
          </a:p>
          <a:p>
            <a:endParaRPr lang="en-US" altLang="en-US" b="0"/>
          </a:p>
        </p:txBody>
      </p:sp>
      <p:graphicFrame>
        <p:nvGraphicFramePr>
          <p:cNvPr id="289802" name="Object 10">
            <a:extLst>
              <a:ext uri="{FF2B5EF4-FFF2-40B4-BE49-F238E27FC236}">
                <a16:creationId xmlns:a16="http://schemas.microsoft.com/office/drawing/2014/main" id="{27D4ADB3-589B-49E2-39F9-EC9C8E85BF42}"/>
              </a:ext>
            </a:extLst>
          </p:cNvPr>
          <p:cNvGraphicFramePr>
            <a:graphicFrameLocks noChangeAspect="1"/>
          </p:cNvGraphicFramePr>
          <p:nvPr/>
        </p:nvGraphicFramePr>
        <p:xfrm>
          <a:off x="7604126" y="1787526"/>
          <a:ext cx="2112963" cy="3968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1536480" imgH="241200" progId="Equation.3">
                  <p:embed/>
                </p:oleObj>
              </mc:Choice>
              <mc:Fallback>
                <p:oleObj name="Equation" r:id="rId6" imgW="1536480" imgH="241200" progId="Equation.3">
                  <p:embed/>
                  <p:pic>
                    <p:nvPicPr>
                      <p:cNvPr id="289802" name="Object 10">
                        <a:extLst>
                          <a:ext uri="{FF2B5EF4-FFF2-40B4-BE49-F238E27FC236}">
                            <a16:creationId xmlns:a16="http://schemas.microsoft.com/office/drawing/2014/main" id="{27D4ADB3-589B-49E2-39F9-EC9C8E85BF42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604126" y="1787526"/>
                        <a:ext cx="2112963" cy="3968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89803" name="Object 11">
            <a:extLst>
              <a:ext uri="{FF2B5EF4-FFF2-40B4-BE49-F238E27FC236}">
                <a16:creationId xmlns:a16="http://schemas.microsoft.com/office/drawing/2014/main" id="{81791A4B-D52B-99F9-C718-F57C546FA325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490788" y="1628775"/>
          <a:ext cx="1274762" cy="7127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927000" imgH="431640" progId="Equation.3">
                  <p:embed/>
                </p:oleObj>
              </mc:Choice>
              <mc:Fallback>
                <p:oleObj name="Equation" r:id="rId8" imgW="927000" imgH="431640" progId="Equation.3">
                  <p:embed/>
                  <p:pic>
                    <p:nvPicPr>
                      <p:cNvPr id="289803" name="Object 11">
                        <a:extLst>
                          <a:ext uri="{FF2B5EF4-FFF2-40B4-BE49-F238E27FC236}">
                            <a16:creationId xmlns:a16="http://schemas.microsoft.com/office/drawing/2014/main" id="{81791A4B-D52B-99F9-C718-F57C546FA325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90788" y="1628775"/>
                        <a:ext cx="1274762" cy="7127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89804" name="Group 12">
            <a:extLst>
              <a:ext uri="{FF2B5EF4-FFF2-40B4-BE49-F238E27FC236}">
                <a16:creationId xmlns:a16="http://schemas.microsoft.com/office/drawing/2014/main" id="{21211047-44AE-6115-09D3-E37A60EAC17F}"/>
              </a:ext>
            </a:extLst>
          </p:cNvPr>
          <p:cNvGrpSpPr>
            <a:grpSpLocks/>
          </p:cNvGrpSpPr>
          <p:nvPr/>
        </p:nvGrpSpPr>
        <p:grpSpPr bwMode="auto">
          <a:xfrm>
            <a:off x="7924800" y="3475039"/>
            <a:ext cx="1600200" cy="1639887"/>
            <a:chOff x="4032" y="2189"/>
            <a:chExt cx="1008" cy="1033"/>
          </a:xfrm>
        </p:grpSpPr>
        <p:graphicFrame>
          <p:nvGraphicFramePr>
            <p:cNvPr id="289805" name="Object 13">
              <a:extLst>
                <a:ext uri="{FF2B5EF4-FFF2-40B4-BE49-F238E27FC236}">
                  <a16:creationId xmlns:a16="http://schemas.microsoft.com/office/drawing/2014/main" id="{1681904B-9F2B-6349-DBAC-8ED464B48601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4464" y="2592"/>
            <a:ext cx="298" cy="18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0" imgW="380880" imgH="241200" progId="Equation.3">
                    <p:embed/>
                  </p:oleObj>
                </mc:Choice>
                <mc:Fallback>
                  <p:oleObj name="Equation" r:id="rId10" imgW="380880" imgH="241200" progId="Equation.3">
                    <p:embed/>
                    <p:pic>
                      <p:nvPicPr>
                        <p:cNvPr id="289805" name="Object 13">
                          <a:extLst>
                            <a:ext uri="{FF2B5EF4-FFF2-40B4-BE49-F238E27FC236}">
                              <a16:creationId xmlns:a16="http://schemas.microsoft.com/office/drawing/2014/main" id="{1681904B-9F2B-6349-DBAC-8ED464B48601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1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464" y="2592"/>
                          <a:ext cx="298" cy="189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89806" name="Line 14">
              <a:extLst>
                <a:ext uri="{FF2B5EF4-FFF2-40B4-BE49-F238E27FC236}">
                  <a16:creationId xmlns:a16="http://schemas.microsoft.com/office/drawing/2014/main" id="{40BF28E1-424B-8C20-3BAE-CC2CF1948380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234" y="2966"/>
              <a:ext cx="806" cy="0"/>
            </a:xfrm>
            <a:prstGeom prst="line">
              <a:avLst/>
            </a:prstGeom>
            <a:noFill/>
            <a:ln w="38100">
              <a:solidFill>
                <a:srgbClr val="339966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89807" name="Line 15">
              <a:extLst>
                <a:ext uri="{FF2B5EF4-FFF2-40B4-BE49-F238E27FC236}">
                  <a16:creationId xmlns:a16="http://schemas.microsoft.com/office/drawing/2014/main" id="{50AE75A7-82D2-F16A-5F85-66B45462C40A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234" y="2189"/>
              <a:ext cx="0" cy="777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graphicFrame>
          <p:nvGraphicFramePr>
            <p:cNvPr id="289808" name="Object 16">
              <a:extLst>
                <a:ext uri="{FF2B5EF4-FFF2-40B4-BE49-F238E27FC236}">
                  <a16:creationId xmlns:a16="http://schemas.microsoft.com/office/drawing/2014/main" id="{CD6E214D-AFB2-68DD-FB0A-515F0263C76D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4406" y="3024"/>
            <a:ext cx="121" cy="19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2" imgW="139680" imgH="190440" progId="Equation.3">
                    <p:embed/>
                  </p:oleObj>
                </mc:Choice>
                <mc:Fallback>
                  <p:oleObj name="Equation" r:id="rId12" imgW="139680" imgH="190440" progId="Equation.3">
                    <p:embed/>
                    <p:pic>
                      <p:nvPicPr>
                        <p:cNvPr id="289808" name="Object 16">
                          <a:extLst>
                            <a:ext uri="{FF2B5EF4-FFF2-40B4-BE49-F238E27FC236}">
                              <a16:creationId xmlns:a16="http://schemas.microsoft.com/office/drawing/2014/main" id="{CD6E214D-AFB2-68DD-FB0A-515F0263C76D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406" y="3024"/>
                          <a:ext cx="121" cy="19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89809" name="Object 17">
              <a:extLst>
                <a:ext uri="{FF2B5EF4-FFF2-40B4-BE49-F238E27FC236}">
                  <a16:creationId xmlns:a16="http://schemas.microsoft.com/office/drawing/2014/main" id="{7F031C36-F85B-F16D-AC24-753611A41CFB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4032" y="2477"/>
            <a:ext cx="121" cy="22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4" imgW="139680" imgH="215640" progId="Equation.3">
                    <p:embed/>
                  </p:oleObj>
                </mc:Choice>
                <mc:Fallback>
                  <p:oleObj name="Equation" r:id="rId14" imgW="139680" imgH="215640" progId="Equation.3">
                    <p:embed/>
                    <p:pic>
                      <p:nvPicPr>
                        <p:cNvPr id="289809" name="Object 17">
                          <a:extLst>
                            <a:ext uri="{FF2B5EF4-FFF2-40B4-BE49-F238E27FC236}">
                              <a16:creationId xmlns:a16="http://schemas.microsoft.com/office/drawing/2014/main" id="{7F031C36-F85B-F16D-AC24-753611A41CFB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032" y="2477"/>
                          <a:ext cx="121" cy="22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89810" name="Arc 18">
              <a:extLst>
                <a:ext uri="{FF2B5EF4-FFF2-40B4-BE49-F238E27FC236}">
                  <a16:creationId xmlns:a16="http://schemas.microsoft.com/office/drawing/2014/main" id="{EEFD8D41-9F90-5111-14B3-E2BC53076887}"/>
                </a:ext>
              </a:extLst>
            </p:cNvPr>
            <p:cNvSpPr>
              <a:spLocks/>
            </p:cNvSpPr>
            <p:nvPr/>
          </p:nvSpPr>
          <p:spPr bwMode="auto">
            <a:xfrm>
              <a:off x="4061" y="2650"/>
              <a:ext cx="442" cy="318"/>
            </a:xfrm>
            <a:custGeom>
              <a:avLst/>
              <a:gdLst>
                <a:gd name="G0" fmla="+- 0 0 0"/>
                <a:gd name="G1" fmla="+- 19916 0 0"/>
                <a:gd name="G2" fmla="+- 21600 0 0"/>
                <a:gd name="T0" fmla="*/ 8362 w 21600"/>
                <a:gd name="T1" fmla="*/ 0 h 19916"/>
                <a:gd name="T2" fmla="*/ 21600 w 21600"/>
                <a:gd name="T3" fmla="*/ 19916 h 19916"/>
                <a:gd name="T4" fmla="*/ 0 w 21600"/>
                <a:gd name="T5" fmla="*/ 19916 h 199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1600" h="19916" fill="none" extrusionOk="0">
                  <a:moveTo>
                    <a:pt x="8361" y="0"/>
                  </a:moveTo>
                  <a:cubicBezTo>
                    <a:pt x="16382" y="3367"/>
                    <a:pt x="21600" y="11217"/>
                    <a:pt x="21600" y="19916"/>
                  </a:cubicBezTo>
                </a:path>
                <a:path w="21600" h="19916" stroke="0" extrusionOk="0">
                  <a:moveTo>
                    <a:pt x="8361" y="0"/>
                  </a:moveTo>
                  <a:cubicBezTo>
                    <a:pt x="16382" y="3367"/>
                    <a:pt x="21600" y="11217"/>
                    <a:pt x="21600" y="19916"/>
                  </a:cubicBezTo>
                  <a:lnTo>
                    <a:pt x="0" y="19916"/>
                  </a:lnTo>
                  <a:close/>
                </a:path>
              </a:pathLst>
            </a:cu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818" name="Rectangle 2">
            <a:extLst>
              <a:ext uri="{FF2B5EF4-FFF2-40B4-BE49-F238E27FC236}">
                <a16:creationId xmlns:a16="http://schemas.microsoft.com/office/drawing/2014/main" id="{AF3F871F-82DF-347B-F1F9-4D1BE2F8001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en-US">
                <a:solidFill>
                  <a:schemeClr val="tx1"/>
                </a:solidFill>
              </a:rPr>
              <a:t>inner product / dot product</a:t>
            </a:r>
            <a:r>
              <a:rPr lang="en-US" altLang="en-US"/>
              <a:t> </a:t>
            </a:r>
          </a:p>
        </p:txBody>
      </p:sp>
      <p:graphicFrame>
        <p:nvGraphicFramePr>
          <p:cNvPr id="290830" name="Object 14">
            <a:extLst>
              <a:ext uri="{FF2B5EF4-FFF2-40B4-BE49-F238E27FC236}">
                <a16:creationId xmlns:a16="http://schemas.microsoft.com/office/drawing/2014/main" id="{95B4A395-67DA-D939-69A4-7437C58675CC}"/>
              </a:ext>
            </a:extLst>
          </p:cNvPr>
          <p:cNvGraphicFramePr>
            <a:graphicFrameLocks noGrp="1" noChangeAspect="1"/>
          </p:cNvGraphicFramePr>
          <p:nvPr>
            <p:ph sz="half" idx="1"/>
          </p:nvPr>
        </p:nvGraphicFramePr>
        <p:xfrm>
          <a:off x="8610600" y="4114800"/>
          <a:ext cx="473075" cy="3000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380880" imgH="241200" progId="Equation.3">
                  <p:embed/>
                </p:oleObj>
              </mc:Choice>
              <mc:Fallback>
                <p:oleObj name="Equation" r:id="rId2" imgW="380880" imgH="241200" progId="Equation.3">
                  <p:embed/>
                  <p:pic>
                    <p:nvPicPr>
                      <p:cNvPr id="290830" name="Object 14">
                        <a:extLst>
                          <a:ext uri="{FF2B5EF4-FFF2-40B4-BE49-F238E27FC236}">
                            <a16:creationId xmlns:a16="http://schemas.microsoft.com/office/drawing/2014/main" id="{95B4A395-67DA-D939-69A4-7437C58675CC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610600" y="4114800"/>
                        <a:ext cx="473075" cy="3000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90820" name="Object 4">
            <a:extLst>
              <a:ext uri="{FF2B5EF4-FFF2-40B4-BE49-F238E27FC236}">
                <a16:creationId xmlns:a16="http://schemas.microsoft.com/office/drawing/2014/main" id="{F0F6373E-8A14-1C04-C371-E5788F1B1A61}"/>
              </a:ext>
            </a:extLst>
          </p:cNvPr>
          <p:cNvGraphicFramePr>
            <a:graphicFrameLocks noGrp="1" noChangeAspect="1"/>
          </p:cNvGraphicFramePr>
          <p:nvPr>
            <p:ph sz="quarter" idx="2"/>
          </p:nvPr>
        </p:nvGraphicFramePr>
        <p:xfrm>
          <a:off x="2620963" y="2651125"/>
          <a:ext cx="1189037" cy="355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850680" imgH="253800" progId="Equation.3">
                  <p:embed/>
                </p:oleObj>
              </mc:Choice>
              <mc:Fallback>
                <p:oleObj name="Equation" r:id="rId4" imgW="850680" imgH="253800" progId="Equation.3">
                  <p:embed/>
                  <p:pic>
                    <p:nvPicPr>
                      <p:cNvPr id="290820" name="Object 4">
                        <a:extLst>
                          <a:ext uri="{FF2B5EF4-FFF2-40B4-BE49-F238E27FC236}">
                            <a16:creationId xmlns:a16="http://schemas.microsoft.com/office/drawing/2014/main" id="{F0F6373E-8A14-1C04-C371-E5788F1B1A61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20963" y="2651125"/>
                        <a:ext cx="1189037" cy="355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90819" name="Text Box 3">
            <a:extLst>
              <a:ext uri="{FF2B5EF4-FFF2-40B4-BE49-F238E27FC236}">
                <a16:creationId xmlns:a16="http://schemas.microsoft.com/office/drawing/2014/main" id="{6F563EF3-5864-B31A-D6DD-90D835CF86F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51038" y="974726"/>
            <a:ext cx="5745162" cy="25638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endParaRPr lang="en-US" altLang="en-US" b="0"/>
          </a:p>
          <a:p>
            <a:endParaRPr lang="en-US" altLang="en-US" b="0"/>
          </a:p>
          <a:p>
            <a:endParaRPr lang="en-US" altLang="en-US" b="0"/>
          </a:p>
          <a:p>
            <a:endParaRPr lang="en-US" altLang="en-US" b="0"/>
          </a:p>
          <a:p>
            <a:endParaRPr lang="en-US" altLang="en-US" b="0"/>
          </a:p>
          <a:p>
            <a:r>
              <a:rPr lang="en-US" altLang="en-US" b="0"/>
              <a:t>Examples:</a:t>
            </a:r>
          </a:p>
          <a:p>
            <a:r>
              <a:rPr lang="en-US" altLang="en-US" b="0"/>
              <a:t>		, and a and b are </a:t>
            </a:r>
            <a:r>
              <a:rPr lang="en-US" altLang="en-US" b="0" i="1"/>
              <a:t>perpendicular</a:t>
            </a:r>
          </a:p>
          <a:p>
            <a:endParaRPr lang="en-US" altLang="en-US" b="0"/>
          </a:p>
          <a:p>
            <a:endParaRPr lang="en-US" altLang="en-US" b="0"/>
          </a:p>
        </p:txBody>
      </p:sp>
      <p:grpSp>
        <p:nvGrpSpPr>
          <p:cNvPr id="290821" name="Group 5">
            <a:extLst>
              <a:ext uri="{FF2B5EF4-FFF2-40B4-BE49-F238E27FC236}">
                <a16:creationId xmlns:a16="http://schemas.microsoft.com/office/drawing/2014/main" id="{C05852D0-DA78-1987-CBE9-57072ABED629}"/>
              </a:ext>
            </a:extLst>
          </p:cNvPr>
          <p:cNvGrpSpPr>
            <a:grpSpLocks/>
          </p:cNvGrpSpPr>
          <p:nvPr/>
        </p:nvGrpSpPr>
        <p:grpSpPr bwMode="auto">
          <a:xfrm>
            <a:off x="1844676" y="3886201"/>
            <a:ext cx="4022725" cy="1566863"/>
            <a:chOff x="432" y="1298"/>
            <a:chExt cx="3279" cy="1238"/>
          </a:xfrm>
        </p:grpSpPr>
        <p:graphicFrame>
          <p:nvGraphicFramePr>
            <p:cNvPr id="290822" name="Object 6">
              <a:extLst>
                <a:ext uri="{FF2B5EF4-FFF2-40B4-BE49-F238E27FC236}">
                  <a16:creationId xmlns:a16="http://schemas.microsoft.com/office/drawing/2014/main" id="{94F95FFB-A820-497B-C189-39DC7D53BF74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432" y="1298"/>
            <a:ext cx="3279" cy="65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Worksheet" r:id="rId6" imgW="3495779" imgH="695233" progId="Excel.Sheet.8">
                    <p:embed/>
                  </p:oleObj>
                </mc:Choice>
                <mc:Fallback>
                  <p:oleObj name="Worksheet" r:id="rId6" imgW="3495779" imgH="695233" progId="Excel.Sheet.8">
                    <p:embed/>
                    <p:pic>
                      <p:nvPicPr>
                        <p:cNvPr id="290822" name="Object 6">
                          <a:extLst>
                            <a:ext uri="{FF2B5EF4-FFF2-40B4-BE49-F238E27FC236}">
                              <a16:creationId xmlns:a16="http://schemas.microsoft.com/office/drawing/2014/main" id="{94F95FFB-A820-497B-C189-39DC7D53BF74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32" y="1298"/>
                          <a:ext cx="3279" cy="65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90823" name="Rectangle 7">
              <a:extLst>
                <a:ext uri="{FF2B5EF4-FFF2-40B4-BE49-F238E27FC236}">
                  <a16:creationId xmlns:a16="http://schemas.microsoft.com/office/drawing/2014/main" id="{82E0C2BE-7A46-09FC-02E4-E6DDE1415AA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80" y="1584"/>
              <a:ext cx="237" cy="29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en-US" b="0">
                  <a:latin typeface="Symath" pitchFamily="2" charset="0"/>
                </a:rPr>
                <a:t>S</a:t>
              </a:r>
            </a:p>
          </p:txBody>
        </p:sp>
        <p:sp>
          <p:nvSpPr>
            <p:cNvPr id="290824" name="Rectangle 8">
              <a:extLst>
                <a:ext uri="{FF2B5EF4-FFF2-40B4-BE49-F238E27FC236}">
                  <a16:creationId xmlns:a16="http://schemas.microsoft.com/office/drawing/2014/main" id="{4394ADA2-6859-5AE4-8325-D895BBB5DA8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82" y="2246"/>
              <a:ext cx="150" cy="29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endParaRPr lang="en-US" altLang="en-US" b="0">
                <a:latin typeface="Symath" pitchFamily="2" charset="0"/>
              </a:endParaRPr>
            </a:p>
          </p:txBody>
        </p:sp>
      </p:grpSp>
      <p:sp>
        <p:nvSpPr>
          <p:cNvPr id="290825" name="Text Box 9">
            <a:extLst>
              <a:ext uri="{FF2B5EF4-FFF2-40B4-BE49-F238E27FC236}">
                <a16:creationId xmlns:a16="http://schemas.microsoft.com/office/drawing/2014/main" id="{061621BD-6E27-98D5-7368-DCACB678EC8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51039" y="974726"/>
            <a:ext cx="8396287" cy="11906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en-US" altLang="en-US"/>
              <a:t>More generally, the dot product is:</a:t>
            </a:r>
          </a:p>
          <a:p>
            <a:r>
              <a:rPr lang="en-US" altLang="en-US" b="0"/>
              <a:t>The (length of a) * (length of b) * (cosine of angle between a and b)</a:t>
            </a:r>
          </a:p>
          <a:p>
            <a:endParaRPr lang="en-US" altLang="en-US" b="0"/>
          </a:p>
          <a:p>
            <a:endParaRPr lang="en-US" altLang="en-US" b="0"/>
          </a:p>
        </p:txBody>
      </p:sp>
      <p:graphicFrame>
        <p:nvGraphicFramePr>
          <p:cNvPr id="290826" name="Object 10">
            <a:extLst>
              <a:ext uri="{FF2B5EF4-FFF2-40B4-BE49-F238E27FC236}">
                <a16:creationId xmlns:a16="http://schemas.microsoft.com/office/drawing/2014/main" id="{2E680C70-F018-6DE2-BD5A-15890325757D}"/>
              </a:ext>
            </a:extLst>
          </p:cNvPr>
          <p:cNvGraphicFramePr>
            <a:graphicFrameLocks noChangeAspect="1"/>
          </p:cNvGraphicFramePr>
          <p:nvPr/>
        </p:nvGraphicFramePr>
        <p:xfrm>
          <a:off x="7604126" y="1787526"/>
          <a:ext cx="2112963" cy="3968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1536480" imgH="241200" progId="Equation.3">
                  <p:embed/>
                </p:oleObj>
              </mc:Choice>
              <mc:Fallback>
                <p:oleObj name="Equation" r:id="rId8" imgW="1536480" imgH="241200" progId="Equation.3">
                  <p:embed/>
                  <p:pic>
                    <p:nvPicPr>
                      <p:cNvPr id="290826" name="Object 10">
                        <a:extLst>
                          <a:ext uri="{FF2B5EF4-FFF2-40B4-BE49-F238E27FC236}">
                            <a16:creationId xmlns:a16="http://schemas.microsoft.com/office/drawing/2014/main" id="{2E680C70-F018-6DE2-BD5A-15890325757D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604126" y="1787526"/>
                        <a:ext cx="2112963" cy="3968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90827" name="Object 11">
            <a:extLst>
              <a:ext uri="{FF2B5EF4-FFF2-40B4-BE49-F238E27FC236}">
                <a16:creationId xmlns:a16="http://schemas.microsoft.com/office/drawing/2014/main" id="{53DFBCCC-6E00-5231-2306-F82A2268213C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490788" y="1628775"/>
          <a:ext cx="1274762" cy="7127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927000" imgH="431640" progId="Equation.3">
                  <p:embed/>
                </p:oleObj>
              </mc:Choice>
              <mc:Fallback>
                <p:oleObj name="Equation" r:id="rId10" imgW="927000" imgH="431640" progId="Equation.3">
                  <p:embed/>
                  <p:pic>
                    <p:nvPicPr>
                      <p:cNvPr id="290827" name="Object 11">
                        <a:extLst>
                          <a:ext uri="{FF2B5EF4-FFF2-40B4-BE49-F238E27FC236}">
                            <a16:creationId xmlns:a16="http://schemas.microsoft.com/office/drawing/2014/main" id="{53DFBCCC-6E00-5231-2306-F82A2268213C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90788" y="1628775"/>
                        <a:ext cx="1274762" cy="7127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90828" name="AutoShape 12">
            <a:extLst>
              <a:ext uri="{FF2B5EF4-FFF2-40B4-BE49-F238E27FC236}">
                <a16:creationId xmlns:a16="http://schemas.microsoft.com/office/drawing/2014/main" id="{A975952A-4857-A7C2-AC80-742778EBDE57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78163" y="5486400"/>
            <a:ext cx="4114800" cy="1066800"/>
          </a:xfrm>
          <a:prstGeom prst="wedgeRectCallout">
            <a:avLst>
              <a:gd name="adj1" fmla="val -45218"/>
              <a:gd name="adj2" fmla="val -112204"/>
            </a:avLst>
          </a:prstGeom>
          <a:solidFill>
            <a:schemeClr val="accent1">
              <a:lumMod val="40000"/>
              <a:lumOff val="6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/>
          <a:lstStyle/>
          <a:p>
            <a:r>
              <a:rPr lang="en-US" altLang="en-US" sz="1600" b="0" dirty="0"/>
              <a:t>sin(45</a:t>
            </a:r>
            <a:r>
              <a:rPr lang="en-US" altLang="en-US" sz="1600" b="0" dirty="0">
                <a:latin typeface="Symbol" panose="05050102010706020507" pitchFamily="18" charset="2"/>
              </a:rPr>
              <a:t>°</a:t>
            </a:r>
            <a:r>
              <a:rPr lang="en-US" altLang="en-US" sz="1600" b="0" dirty="0"/>
              <a:t>)=cos(45</a:t>
            </a:r>
            <a:r>
              <a:rPr lang="en-US" altLang="en-US" sz="1600" b="0" dirty="0">
                <a:latin typeface="Symbol" panose="05050102010706020507" pitchFamily="18" charset="2"/>
              </a:rPr>
              <a:t>°</a:t>
            </a:r>
            <a:r>
              <a:rPr lang="en-US" altLang="en-US" sz="1600" b="0" dirty="0"/>
              <a:t>)=</a:t>
            </a:r>
            <a:endParaRPr lang="en-US" altLang="en-US" sz="1600" b="0" dirty="0">
              <a:latin typeface="MS Shell Dlg" panose="020B0604020202020204" pitchFamily="34" charset="0"/>
            </a:endParaRPr>
          </a:p>
          <a:p>
            <a:endParaRPr lang="en-US" altLang="en-US" sz="1600" b="0" dirty="0"/>
          </a:p>
          <a:p>
            <a:r>
              <a:rPr lang="en-US" altLang="en-US" sz="1600" b="0" dirty="0"/>
              <a:t>sin(135</a:t>
            </a:r>
            <a:r>
              <a:rPr lang="en-US" altLang="en-US" sz="1600" b="0" dirty="0">
                <a:latin typeface="Symbol" panose="05050102010706020507" pitchFamily="18" charset="2"/>
              </a:rPr>
              <a:t>°</a:t>
            </a:r>
            <a:r>
              <a:rPr lang="en-US" altLang="en-US" sz="1600" b="0" dirty="0"/>
              <a:t>)=                   cos(135</a:t>
            </a:r>
            <a:r>
              <a:rPr lang="en-US" altLang="en-US" sz="1600" b="0" dirty="0">
                <a:latin typeface="Symbol" panose="05050102010706020507" pitchFamily="18" charset="2"/>
              </a:rPr>
              <a:t>°</a:t>
            </a:r>
            <a:r>
              <a:rPr lang="en-US" altLang="en-US" sz="1600" b="0" dirty="0"/>
              <a:t>)=</a:t>
            </a:r>
            <a:endParaRPr lang="en-US" altLang="en-US" sz="1600" b="0" dirty="0">
              <a:latin typeface="MS Shell Dlg" panose="020B0604020202020204" pitchFamily="34" charset="0"/>
            </a:endParaRPr>
          </a:p>
          <a:p>
            <a:endParaRPr lang="en-US" altLang="en-US" sz="1600" b="0" dirty="0"/>
          </a:p>
        </p:txBody>
      </p:sp>
      <p:graphicFrame>
        <p:nvGraphicFramePr>
          <p:cNvPr id="290829" name="Object 13">
            <a:extLst>
              <a:ext uri="{FF2B5EF4-FFF2-40B4-BE49-F238E27FC236}">
                <a16:creationId xmlns:a16="http://schemas.microsoft.com/office/drawing/2014/main" id="{32F80565-8B7F-2475-298D-E4837B057619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221163" y="5897563"/>
          <a:ext cx="811212" cy="533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2" imgW="787320" imgH="431640" progId="Equation.3">
                  <p:embed/>
                </p:oleObj>
              </mc:Choice>
              <mc:Fallback>
                <p:oleObj name="Equation" r:id="rId12" imgW="787320" imgH="431640" progId="Equation.3">
                  <p:embed/>
                  <p:pic>
                    <p:nvPicPr>
                      <p:cNvPr id="290829" name="Object 13">
                        <a:extLst>
                          <a:ext uri="{FF2B5EF4-FFF2-40B4-BE49-F238E27FC236}">
                            <a16:creationId xmlns:a16="http://schemas.microsoft.com/office/drawing/2014/main" id="{32F80565-8B7F-2475-298D-E4837B057619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221163" y="5897563"/>
                        <a:ext cx="811212" cy="533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90831" name="Object 15">
            <a:extLst>
              <a:ext uri="{FF2B5EF4-FFF2-40B4-BE49-F238E27FC236}">
                <a16:creationId xmlns:a16="http://schemas.microsoft.com/office/drawing/2014/main" id="{0A77D2F0-17DB-6955-A55B-FCD29286F4C9}"/>
              </a:ext>
            </a:extLst>
          </p:cNvPr>
          <p:cNvGraphicFramePr>
            <a:graphicFrameLocks noChangeAspect="1"/>
          </p:cNvGraphicFramePr>
          <p:nvPr/>
        </p:nvGraphicFramePr>
        <p:xfrm>
          <a:off x="9250364" y="4572001"/>
          <a:ext cx="192087" cy="3143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4" imgW="139680" imgH="190440" progId="Equation.3">
                  <p:embed/>
                </p:oleObj>
              </mc:Choice>
              <mc:Fallback>
                <p:oleObj name="Equation" r:id="rId14" imgW="139680" imgH="190440" progId="Equation.3">
                  <p:embed/>
                  <p:pic>
                    <p:nvPicPr>
                      <p:cNvPr id="290831" name="Object 15">
                        <a:extLst>
                          <a:ext uri="{FF2B5EF4-FFF2-40B4-BE49-F238E27FC236}">
                            <a16:creationId xmlns:a16="http://schemas.microsoft.com/office/drawing/2014/main" id="{0A77D2F0-17DB-6955-A55B-FCD29286F4C9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250364" y="4572001"/>
                        <a:ext cx="192087" cy="3143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90832" name="Object 16">
            <a:extLst>
              <a:ext uri="{FF2B5EF4-FFF2-40B4-BE49-F238E27FC236}">
                <a16:creationId xmlns:a16="http://schemas.microsoft.com/office/drawing/2014/main" id="{3F0758A9-774C-B43A-2AA7-2337761316E2}"/>
              </a:ext>
            </a:extLst>
          </p:cNvPr>
          <p:cNvGraphicFramePr>
            <a:graphicFrameLocks noChangeAspect="1"/>
          </p:cNvGraphicFramePr>
          <p:nvPr/>
        </p:nvGraphicFramePr>
        <p:xfrm>
          <a:off x="8061325" y="4389438"/>
          <a:ext cx="192088" cy="355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6" imgW="139680" imgH="215640" progId="Equation.3">
                  <p:embed/>
                </p:oleObj>
              </mc:Choice>
              <mc:Fallback>
                <p:oleObj name="Equation" r:id="rId16" imgW="139680" imgH="215640" progId="Equation.3">
                  <p:embed/>
                  <p:pic>
                    <p:nvPicPr>
                      <p:cNvPr id="290832" name="Object 16">
                        <a:extLst>
                          <a:ext uri="{FF2B5EF4-FFF2-40B4-BE49-F238E27FC236}">
                            <a16:creationId xmlns:a16="http://schemas.microsoft.com/office/drawing/2014/main" id="{3F0758A9-774C-B43A-2AA7-2337761316E2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061325" y="4389438"/>
                        <a:ext cx="192088" cy="355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90833" name="Group 17">
            <a:extLst>
              <a:ext uri="{FF2B5EF4-FFF2-40B4-BE49-F238E27FC236}">
                <a16:creationId xmlns:a16="http://schemas.microsoft.com/office/drawing/2014/main" id="{08544D44-0CAF-7262-44F2-921312C9C544}"/>
              </a:ext>
            </a:extLst>
          </p:cNvPr>
          <p:cNvGrpSpPr>
            <a:grpSpLocks/>
          </p:cNvGrpSpPr>
          <p:nvPr/>
        </p:nvGrpSpPr>
        <p:grpSpPr bwMode="auto">
          <a:xfrm rot="-2574463">
            <a:off x="7970838" y="3475038"/>
            <a:ext cx="1554162" cy="1236662"/>
            <a:chOff x="4061" y="2189"/>
            <a:chExt cx="979" cy="779"/>
          </a:xfrm>
        </p:grpSpPr>
        <p:sp>
          <p:nvSpPr>
            <p:cNvPr id="290834" name="Line 18">
              <a:extLst>
                <a:ext uri="{FF2B5EF4-FFF2-40B4-BE49-F238E27FC236}">
                  <a16:creationId xmlns:a16="http://schemas.microsoft.com/office/drawing/2014/main" id="{88BF96E5-C75D-663E-AAFA-B0DB4F94DD44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234" y="2966"/>
              <a:ext cx="806" cy="0"/>
            </a:xfrm>
            <a:prstGeom prst="line">
              <a:avLst/>
            </a:prstGeom>
            <a:noFill/>
            <a:ln w="38100">
              <a:solidFill>
                <a:srgbClr val="339966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90835" name="Line 19">
              <a:extLst>
                <a:ext uri="{FF2B5EF4-FFF2-40B4-BE49-F238E27FC236}">
                  <a16:creationId xmlns:a16="http://schemas.microsoft.com/office/drawing/2014/main" id="{000AE814-FDFA-7EA4-E1B3-5E4948885B7A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234" y="2189"/>
              <a:ext cx="0" cy="777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90836" name="Arc 20">
              <a:extLst>
                <a:ext uri="{FF2B5EF4-FFF2-40B4-BE49-F238E27FC236}">
                  <a16:creationId xmlns:a16="http://schemas.microsoft.com/office/drawing/2014/main" id="{4ADCC181-0DB2-799E-639F-CA4DBEEF60E9}"/>
                </a:ext>
              </a:extLst>
            </p:cNvPr>
            <p:cNvSpPr>
              <a:spLocks/>
            </p:cNvSpPr>
            <p:nvPr/>
          </p:nvSpPr>
          <p:spPr bwMode="auto">
            <a:xfrm>
              <a:off x="4061" y="2650"/>
              <a:ext cx="442" cy="318"/>
            </a:xfrm>
            <a:custGeom>
              <a:avLst/>
              <a:gdLst>
                <a:gd name="G0" fmla="+- 0 0 0"/>
                <a:gd name="G1" fmla="+- 19916 0 0"/>
                <a:gd name="G2" fmla="+- 21600 0 0"/>
                <a:gd name="T0" fmla="*/ 8362 w 21600"/>
                <a:gd name="T1" fmla="*/ 0 h 19916"/>
                <a:gd name="T2" fmla="*/ 21600 w 21600"/>
                <a:gd name="T3" fmla="*/ 19916 h 19916"/>
                <a:gd name="T4" fmla="*/ 0 w 21600"/>
                <a:gd name="T5" fmla="*/ 19916 h 199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1600" h="19916" fill="none" extrusionOk="0">
                  <a:moveTo>
                    <a:pt x="8361" y="0"/>
                  </a:moveTo>
                  <a:cubicBezTo>
                    <a:pt x="16382" y="3367"/>
                    <a:pt x="21600" y="11217"/>
                    <a:pt x="21600" y="19916"/>
                  </a:cubicBezTo>
                </a:path>
                <a:path w="21600" h="19916" stroke="0" extrusionOk="0">
                  <a:moveTo>
                    <a:pt x="8361" y="0"/>
                  </a:moveTo>
                  <a:cubicBezTo>
                    <a:pt x="16382" y="3367"/>
                    <a:pt x="21600" y="11217"/>
                    <a:pt x="21600" y="19916"/>
                  </a:cubicBezTo>
                  <a:lnTo>
                    <a:pt x="0" y="19916"/>
                  </a:lnTo>
                  <a:close/>
                </a:path>
              </a:pathLst>
            </a:cu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graphicFrame>
        <p:nvGraphicFramePr>
          <p:cNvPr id="290837" name="Object 21">
            <a:extLst>
              <a:ext uri="{FF2B5EF4-FFF2-40B4-BE49-F238E27FC236}">
                <a16:creationId xmlns:a16="http://schemas.microsoft.com/office/drawing/2014/main" id="{FC3C357B-FCA2-75BF-17A8-7307F66AC587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188076" y="5897563"/>
          <a:ext cx="1006475" cy="533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8" imgW="977760" imgH="431640" progId="Equation.3">
                  <p:embed/>
                </p:oleObj>
              </mc:Choice>
              <mc:Fallback>
                <p:oleObj name="Equation" r:id="rId18" imgW="977760" imgH="431640" progId="Equation.3">
                  <p:embed/>
                  <p:pic>
                    <p:nvPicPr>
                      <p:cNvPr id="290837" name="Object 21">
                        <a:extLst>
                          <a:ext uri="{FF2B5EF4-FFF2-40B4-BE49-F238E27FC236}">
                            <a16:creationId xmlns:a16="http://schemas.microsoft.com/office/drawing/2014/main" id="{FC3C357B-FCA2-75BF-17A8-7307F66AC587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188076" y="5897563"/>
                        <a:ext cx="1006475" cy="533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90838" name="Object 22">
            <a:extLst>
              <a:ext uri="{FF2B5EF4-FFF2-40B4-BE49-F238E27FC236}">
                <a16:creationId xmlns:a16="http://schemas.microsoft.com/office/drawing/2014/main" id="{BB12D13A-2D67-B3C3-1D51-13C2CA8FA2A9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999038" y="5486400"/>
          <a:ext cx="811212" cy="533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0" imgW="787320" imgH="431640" progId="Equation.3">
                  <p:embed/>
                </p:oleObj>
              </mc:Choice>
              <mc:Fallback>
                <p:oleObj name="Equation" r:id="rId20" imgW="787320" imgH="431640" progId="Equation.3">
                  <p:embed/>
                  <p:pic>
                    <p:nvPicPr>
                      <p:cNvPr id="290838" name="Object 22">
                        <a:extLst>
                          <a:ext uri="{FF2B5EF4-FFF2-40B4-BE49-F238E27FC236}">
                            <a16:creationId xmlns:a16="http://schemas.microsoft.com/office/drawing/2014/main" id="{BB12D13A-2D67-B3C3-1D51-13C2CA8FA2A9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999038" y="5486400"/>
                        <a:ext cx="811212" cy="533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844" name="Rectangle 4">
            <a:extLst>
              <a:ext uri="{FF2B5EF4-FFF2-40B4-BE49-F238E27FC236}">
                <a16:creationId xmlns:a16="http://schemas.microsoft.com/office/drawing/2014/main" id="{4D79246B-824E-62F1-36F3-6AA6993AE10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noFill/>
          <a:ln/>
        </p:spPr>
        <p:txBody>
          <a:bodyPr/>
          <a:lstStyle/>
          <a:p>
            <a:r>
              <a:rPr lang="en-US" altLang="en-US">
                <a:solidFill>
                  <a:schemeClr val="tx1"/>
                </a:solidFill>
              </a:rPr>
              <a:t>inner product / dot product</a:t>
            </a:r>
          </a:p>
        </p:txBody>
      </p:sp>
      <p:graphicFrame>
        <p:nvGraphicFramePr>
          <p:cNvPr id="291842" name="Object 2">
            <a:extLst>
              <a:ext uri="{FF2B5EF4-FFF2-40B4-BE49-F238E27FC236}">
                <a16:creationId xmlns:a16="http://schemas.microsoft.com/office/drawing/2014/main" id="{99E0EB7A-7AC0-3DAA-0F90-EB9826585162}"/>
              </a:ext>
            </a:extLst>
          </p:cNvPr>
          <p:cNvGraphicFramePr>
            <a:graphicFrameLocks noGrp="1" noChangeAspect="1"/>
          </p:cNvGraphicFramePr>
          <p:nvPr>
            <p:ph sz="half" idx="1"/>
            <p:extLst>
              <p:ext uri="{D42A27DB-BD31-4B8C-83A1-F6EECF244321}">
                <p14:modId xmlns:p14="http://schemas.microsoft.com/office/powerpoint/2010/main" val="4002406311"/>
              </p:ext>
            </p:extLst>
          </p:nvPr>
        </p:nvGraphicFramePr>
        <p:xfrm>
          <a:off x="786921" y="3852863"/>
          <a:ext cx="4886325" cy="2667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Worksheet" r:id="rId2" imgW="4886221" imgH="2667185" progId="Excel.Sheet.8">
                  <p:embed/>
                </p:oleObj>
              </mc:Choice>
              <mc:Fallback>
                <p:oleObj name="Worksheet" r:id="rId2" imgW="4886221" imgH="2667185" progId="Excel.Sheet.8">
                  <p:embed/>
                  <p:pic>
                    <p:nvPicPr>
                      <p:cNvPr id="291842" name="Object 2">
                        <a:extLst>
                          <a:ext uri="{FF2B5EF4-FFF2-40B4-BE49-F238E27FC236}">
                            <a16:creationId xmlns:a16="http://schemas.microsoft.com/office/drawing/2014/main" id="{99E0EB7A-7AC0-3DAA-0F90-EB9826585162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86921" y="3852863"/>
                        <a:ext cx="4886325" cy="2667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91843" name="Text Box 3">
            <a:extLst>
              <a:ext uri="{FF2B5EF4-FFF2-40B4-BE49-F238E27FC236}">
                <a16:creationId xmlns:a16="http://schemas.microsoft.com/office/drawing/2014/main" id="{43E6F8F0-DE51-89A6-F02D-9D3861F2E25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51038" y="974725"/>
            <a:ext cx="8031162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endParaRPr lang="en-US" altLang="en-US" b="0" i="1" dirty="0">
              <a:solidFill>
                <a:srgbClr val="FF0000"/>
              </a:solidFill>
            </a:endParaRPr>
          </a:p>
          <a:p>
            <a:r>
              <a:rPr lang="en-US" altLang="en-US" b="0" i="1" dirty="0"/>
              <a:t>“Find the angle between        and      “</a:t>
            </a:r>
          </a:p>
        </p:txBody>
      </p:sp>
      <p:graphicFrame>
        <p:nvGraphicFramePr>
          <p:cNvPr id="291846" name="Object 6">
            <a:extLst>
              <a:ext uri="{FF2B5EF4-FFF2-40B4-BE49-F238E27FC236}">
                <a16:creationId xmlns:a16="http://schemas.microsoft.com/office/drawing/2014/main" id="{41234516-0C35-5CE0-7D28-61EF5E58E883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632325" y="1554164"/>
          <a:ext cx="211138" cy="2889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139680" imgH="190440" progId="Equation.3">
                  <p:embed/>
                </p:oleObj>
              </mc:Choice>
              <mc:Fallback>
                <p:oleObj name="Equation" r:id="rId4" imgW="139680" imgH="190440" progId="Equation.3">
                  <p:embed/>
                  <p:pic>
                    <p:nvPicPr>
                      <p:cNvPr id="291846" name="Object 6">
                        <a:extLst>
                          <a:ext uri="{FF2B5EF4-FFF2-40B4-BE49-F238E27FC236}">
                            <a16:creationId xmlns:a16="http://schemas.microsoft.com/office/drawing/2014/main" id="{41234516-0C35-5CE0-7D28-61EF5E58E883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632325" y="1554164"/>
                        <a:ext cx="211138" cy="2889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91847" name="Object 7">
            <a:extLst>
              <a:ext uri="{FF2B5EF4-FFF2-40B4-BE49-F238E27FC236}">
                <a16:creationId xmlns:a16="http://schemas.microsoft.com/office/drawing/2014/main" id="{2551DD7B-0D67-3183-960D-35013ADAF7E9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456239" y="1535114"/>
          <a:ext cx="211137" cy="3270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139680" imgH="215640" progId="Equation.3">
                  <p:embed/>
                </p:oleObj>
              </mc:Choice>
              <mc:Fallback>
                <p:oleObj name="Equation" r:id="rId6" imgW="139680" imgH="215640" progId="Equation.3">
                  <p:embed/>
                  <p:pic>
                    <p:nvPicPr>
                      <p:cNvPr id="291847" name="Object 7">
                        <a:extLst>
                          <a:ext uri="{FF2B5EF4-FFF2-40B4-BE49-F238E27FC236}">
                            <a16:creationId xmlns:a16="http://schemas.microsoft.com/office/drawing/2014/main" id="{2551DD7B-0D67-3183-960D-35013ADAF7E9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456239" y="1535114"/>
                        <a:ext cx="211137" cy="3270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91849" name="Group 9">
            <a:extLst>
              <a:ext uri="{FF2B5EF4-FFF2-40B4-BE49-F238E27FC236}">
                <a16:creationId xmlns:a16="http://schemas.microsoft.com/office/drawing/2014/main" id="{D0B1A80A-5D2D-40A6-EBFA-E5CBEA34E47D}"/>
              </a:ext>
            </a:extLst>
          </p:cNvPr>
          <p:cNvGrpSpPr>
            <a:grpSpLocks/>
          </p:cNvGrpSpPr>
          <p:nvPr/>
        </p:nvGrpSpPr>
        <p:grpSpPr bwMode="auto">
          <a:xfrm>
            <a:off x="7878764" y="3886201"/>
            <a:ext cx="1646237" cy="1960563"/>
            <a:chOff x="3792" y="1587"/>
            <a:chExt cx="1037" cy="1235"/>
          </a:xfrm>
        </p:grpSpPr>
        <p:graphicFrame>
          <p:nvGraphicFramePr>
            <p:cNvPr id="291850" name="Object 10">
              <a:extLst>
                <a:ext uri="{FF2B5EF4-FFF2-40B4-BE49-F238E27FC236}">
                  <a16:creationId xmlns:a16="http://schemas.microsoft.com/office/drawing/2014/main" id="{ACBD2088-63EA-8736-DB86-3CBB70F0C47E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4282" y="2249"/>
            <a:ext cx="240" cy="15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8" imgW="380880" imgH="241200" progId="Equation.3">
                    <p:embed/>
                  </p:oleObj>
                </mc:Choice>
                <mc:Fallback>
                  <p:oleObj name="Equation" r:id="rId8" imgW="380880" imgH="241200" progId="Equation.3">
                    <p:embed/>
                    <p:pic>
                      <p:nvPicPr>
                        <p:cNvPr id="291850" name="Object 10">
                          <a:extLst>
                            <a:ext uri="{FF2B5EF4-FFF2-40B4-BE49-F238E27FC236}">
                              <a16:creationId xmlns:a16="http://schemas.microsoft.com/office/drawing/2014/main" id="{ACBD2088-63EA-8736-DB86-3CBB70F0C47E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282" y="2249"/>
                          <a:ext cx="240" cy="15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91851" name="Line 11">
              <a:extLst>
                <a:ext uri="{FF2B5EF4-FFF2-40B4-BE49-F238E27FC236}">
                  <a16:creationId xmlns:a16="http://schemas.microsoft.com/office/drawing/2014/main" id="{87DC8DFD-B8EF-2AC4-2E22-DC3EDE66E375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792" y="1587"/>
              <a:ext cx="1037" cy="979"/>
            </a:xfrm>
            <a:prstGeom prst="line">
              <a:avLst/>
            </a:prstGeom>
            <a:noFill/>
            <a:ln w="38100">
              <a:solidFill>
                <a:srgbClr val="339966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91852" name="Line 12">
              <a:extLst>
                <a:ext uri="{FF2B5EF4-FFF2-40B4-BE49-F238E27FC236}">
                  <a16:creationId xmlns:a16="http://schemas.microsoft.com/office/drawing/2014/main" id="{87FA8C53-8B19-E87F-1920-041652416D54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792" y="2566"/>
              <a:ext cx="662" cy="0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graphicFrame>
          <p:nvGraphicFramePr>
            <p:cNvPr id="291853" name="Object 13">
              <a:extLst>
                <a:ext uri="{FF2B5EF4-FFF2-40B4-BE49-F238E27FC236}">
                  <a16:creationId xmlns:a16="http://schemas.microsoft.com/office/drawing/2014/main" id="{4787508F-9ACA-1FD6-CE12-751A3EBC80F7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4166" y="2624"/>
            <a:ext cx="121" cy="19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0" imgW="139680" imgH="190440" progId="Equation.3">
                    <p:embed/>
                  </p:oleObj>
                </mc:Choice>
                <mc:Fallback>
                  <p:oleObj name="Equation" r:id="rId10" imgW="139680" imgH="190440" progId="Equation.3">
                    <p:embed/>
                    <p:pic>
                      <p:nvPicPr>
                        <p:cNvPr id="291853" name="Object 13">
                          <a:extLst>
                            <a:ext uri="{FF2B5EF4-FFF2-40B4-BE49-F238E27FC236}">
                              <a16:creationId xmlns:a16="http://schemas.microsoft.com/office/drawing/2014/main" id="{4787508F-9ACA-1FD6-CE12-751A3EBC80F7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1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166" y="2624"/>
                          <a:ext cx="121" cy="19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91854" name="Object 14">
              <a:extLst>
                <a:ext uri="{FF2B5EF4-FFF2-40B4-BE49-F238E27FC236}">
                  <a16:creationId xmlns:a16="http://schemas.microsoft.com/office/drawing/2014/main" id="{FEBE5C9A-95E1-CE42-F549-284B0FAE856A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4224" y="1760"/>
            <a:ext cx="121" cy="22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2" imgW="139680" imgH="215640" progId="Equation.3">
                    <p:embed/>
                  </p:oleObj>
                </mc:Choice>
                <mc:Fallback>
                  <p:oleObj name="Equation" r:id="rId12" imgW="139680" imgH="215640" progId="Equation.3">
                    <p:embed/>
                    <p:pic>
                      <p:nvPicPr>
                        <p:cNvPr id="291854" name="Object 14">
                          <a:extLst>
                            <a:ext uri="{FF2B5EF4-FFF2-40B4-BE49-F238E27FC236}">
                              <a16:creationId xmlns:a16="http://schemas.microsoft.com/office/drawing/2014/main" id="{FEBE5C9A-95E1-CE42-F549-284B0FAE856A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224" y="1760"/>
                          <a:ext cx="121" cy="22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91855" name="Arc 15">
              <a:extLst>
                <a:ext uri="{FF2B5EF4-FFF2-40B4-BE49-F238E27FC236}">
                  <a16:creationId xmlns:a16="http://schemas.microsoft.com/office/drawing/2014/main" id="{625DD0C5-05E1-C4E6-1404-6DEB4BB663C9}"/>
                </a:ext>
              </a:extLst>
            </p:cNvPr>
            <p:cNvSpPr>
              <a:spLocks/>
            </p:cNvSpPr>
            <p:nvPr/>
          </p:nvSpPr>
          <p:spPr bwMode="auto">
            <a:xfrm>
              <a:off x="4022" y="2247"/>
              <a:ext cx="259" cy="318"/>
            </a:xfrm>
            <a:custGeom>
              <a:avLst/>
              <a:gdLst>
                <a:gd name="G0" fmla="+- 0 0 0"/>
                <a:gd name="G1" fmla="+- 19916 0 0"/>
                <a:gd name="G2" fmla="+- 21600 0 0"/>
                <a:gd name="T0" fmla="*/ 8362 w 21600"/>
                <a:gd name="T1" fmla="*/ 0 h 19916"/>
                <a:gd name="T2" fmla="*/ 21600 w 21600"/>
                <a:gd name="T3" fmla="*/ 19916 h 19916"/>
                <a:gd name="T4" fmla="*/ 0 w 21600"/>
                <a:gd name="T5" fmla="*/ 19916 h 199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1600" h="19916" fill="none" extrusionOk="0">
                  <a:moveTo>
                    <a:pt x="8361" y="0"/>
                  </a:moveTo>
                  <a:cubicBezTo>
                    <a:pt x="16382" y="3367"/>
                    <a:pt x="21600" y="11217"/>
                    <a:pt x="21600" y="19916"/>
                  </a:cubicBezTo>
                </a:path>
                <a:path w="21600" h="19916" stroke="0" extrusionOk="0">
                  <a:moveTo>
                    <a:pt x="8361" y="0"/>
                  </a:moveTo>
                  <a:cubicBezTo>
                    <a:pt x="16382" y="3367"/>
                    <a:pt x="21600" y="11217"/>
                    <a:pt x="21600" y="19916"/>
                  </a:cubicBezTo>
                  <a:lnTo>
                    <a:pt x="0" y="19916"/>
                  </a:lnTo>
                  <a:close/>
                </a:path>
              </a:pathLst>
            </a:cu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graphicFrame>
        <p:nvGraphicFramePr>
          <p:cNvPr id="291856" name="Object 16">
            <a:extLst>
              <a:ext uri="{FF2B5EF4-FFF2-40B4-BE49-F238E27FC236}">
                <a16:creationId xmlns:a16="http://schemas.microsoft.com/office/drawing/2014/main" id="{B01222F3-8162-E7F6-50E8-0C1A13417F81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027238" y="2011364"/>
          <a:ext cx="3200400" cy="14620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4" imgW="2057400" imgH="939600" progId="Equation.3">
                  <p:embed/>
                </p:oleObj>
              </mc:Choice>
              <mc:Fallback>
                <p:oleObj name="Equation" r:id="rId14" imgW="2057400" imgH="939600" progId="Equation.3">
                  <p:embed/>
                  <p:pic>
                    <p:nvPicPr>
                      <p:cNvPr id="291856" name="Object 16">
                        <a:extLst>
                          <a:ext uri="{FF2B5EF4-FFF2-40B4-BE49-F238E27FC236}">
                            <a16:creationId xmlns:a16="http://schemas.microsoft.com/office/drawing/2014/main" id="{B01222F3-8162-E7F6-50E8-0C1A13417F81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27238" y="2011364"/>
                        <a:ext cx="3200400" cy="14620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91860" name="Object 20">
            <a:extLst>
              <a:ext uri="{FF2B5EF4-FFF2-40B4-BE49-F238E27FC236}">
                <a16:creationId xmlns:a16="http://schemas.microsoft.com/office/drawing/2014/main" id="{617FF74B-D0B5-0CBF-8969-B2B0227C66E6}"/>
              </a:ext>
            </a:extLst>
          </p:cNvPr>
          <p:cNvGraphicFramePr>
            <a:graphicFrameLocks noChangeAspect="1"/>
          </p:cNvGraphicFramePr>
          <p:nvPr/>
        </p:nvGraphicFramePr>
        <p:xfrm>
          <a:off x="7192964" y="2193926"/>
          <a:ext cx="2936875" cy="12874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6" imgW="1447560" imgH="634680" progId="Equation.3">
                  <p:embed/>
                </p:oleObj>
              </mc:Choice>
              <mc:Fallback>
                <p:oleObj name="Equation" r:id="rId16" imgW="1447560" imgH="634680" progId="Equation.3">
                  <p:embed/>
                  <p:pic>
                    <p:nvPicPr>
                      <p:cNvPr id="291860" name="Object 20">
                        <a:extLst>
                          <a:ext uri="{FF2B5EF4-FFF2-40B4-BE49-F238E27FC236}">
                            <a16:creationId xmlns:a16="http://schemas.microsoft.com/office/drawing/2014/main" id="{617FF74B-D0B5-0CBF-8969-B2B0227C66E6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192964" y="2193926"/>
                        <a:ext cx="2936875" cy="12874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E4D4146-6F2E-340C-CF7B-83A49BF5F8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844" name="Rectangle 4">
            <a:extLst>
              <a:ext uri="{FF2B5EF4-FFF2-40B4-BE49-F238E27FC236}">
                <a16:creationId xmlns:a16="http://schemas.microsoft.com/office/drawing/2014/main" id="{07705B9E-B5BD-DEC6-0678-9552B9C25FF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noFill/>
          <a:ln/>
        </p:spPr>
        <p:txBody>
          <a:bodyPr/>
          <a:lstStyle/>
          <a:p>
            <a:r>
              <a:rPr lang="en-US" altLang="en-US">
                <a:solidFill>
                  <a:schemeClr val="tx1"/>
                </a:solidFill>
              </a:rPr>
              <a:t>inner product / dot product</a:t>
            </a:r>
          </a:p>
        </p:txBody>
      </p:sp>
      <p:graphicFrame>
        <p:nvGraphicFramePr>
          <p:cNvPr id="291842" name="Object 2">
            <a:extLst>
              <a:ext uri="{FF2B5EF4-FFF2-40B4-BE49-F238E27FC236}">
                <a16:creationId xmlns:a16="http://schemas.microsoft.com/office/drawing/2014/main" id="{7FC53ADA-CD0D-C0BF-CF13-0FE6F510C913}"/>
              </a:ext>
            </a:extLst>
          </p:cNvPr>
          <p:cNvGraphicFramePr>
            <a:graphicFrameLocks noGrp="1" noChangeAspect="1"/>
          </p:cNvGraphicFramePr>
          <p:nvPr>
            <p:ph sz="half" idx="1"/>
          </p:nvPr>
        </p:nvGraphicFramePr>
        <p:xfrm>
          <a:off x="786921" y="3852863"/>
          <a:ext cx="4886325" cy="2667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Worksheet" r:id="rId2" imgW="4886221" imgH="2667185" progId="Excel.Sheet.8">
                  <p:embed/>
                </p:oleObj>
              </mc:Choice>
              <mc:Fallback>
                <p:oleObj name="Worksheet" r:id="rId2" imgW="4886221" imgH="2667185" progId="Excel.Sheet.8">
                  <p:embed/>
                  <p:pic>
                    <p:nvPicPr>
                      <p:cNvPr id="291842" name="Object 2">
                        <a:extLst>
                          <a:ext uri="{FF2B5EF4-FFF2-40B4-BE49-F238E27FC236}">
                            <a16:creationId xmlns:a16="http://schemas.microsoft.com/office/drawing/2014/main" id="{99E0EB7A-7AC0-3DAA-0F90-EB9826585162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86921" y="3852863"/>
                        <a:ext cx="4886325" cy="2667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91843" name="Text Box 3">
            <a:extLst>
              <a:ext uri="{FF2B5EF4-FFF2-40B4-BE49-F238E27FC236}">
                <a16:creationId xmlns:a16="http://schemas.microsoft.com/office/drawing/2014/main" id="{AEB41B0C-1F80-A28A-5C89-EA875BA6515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51038" y="974725"/>
            <a:ext cx="8031162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endParaRPr lang="en-US" altLang="en-US" b="0" i="1" dirty="0">
              <a:solidFill>
                <a:srgbClr val="FF0000"/>
              </a:solidFill>
            </a:endParaRPr>
          </a:p>
          <a:p>
            <a:r>
              <a:rPr lang="en-US" altLang="en-US" b="0" i="1" dirty="0"/>
              <a:t>“Find the angle between        and      “</a:t>
            </a:r>
          </a:p>
        </p:txBody>
      </p:sp>
      <p:graphicFrame>
        <p:nvGraphicFramePr>
          <p:cNvPr id="291846" name="Object 6">
            <a:extLst>
              <a:ext uri="{FF2B5EF4-FFF2-40B4-BE49-F238E27FC236}">
                <a16:creationId xmlns:a16="http://schemas.microsoft.com/office/drawing/2014/main" id="{31C34BDC-E717-D285-812D-135C3E386B42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632325" y="1554164"/>
          <a:ext cx="211138" cy="2889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139680" imgH="190440" progId="Equation.3">
                  <p:embed/>
                </p:oleObj>
              </mc:Choice>
              <mc:Fallback>
                <p:oleObj name="Equation" r:id="rId4" imgW="139680" imgH="190440" progId="Equation.3">
                  <p:embed/>
                  <p:pic>
                    <p:nvPicPr>
                      <p:cNvPr id="291846" name="Object 6">
                        <a:extLst>
                          <a:ext uri="{FF2B5EF4-FFF2-40B4-BE49-F238E27FC236}">
                            <a16:creationId xmlns:a16="http://schemas.microsoft.com/office/drawing/2014/main" id="{41234516-0C35-5CE0-7D28-61EF5E58E883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632325" y="1554164"/>
                        <a:ext cx="211138" cy="2889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91847" name="Object 7">
            <a:extLst>
              <a:ext uri="{FF2B5EF4-FFF2-40B4-BE49-F238E27FC236}">
                <a16:creationId xmlns:a16="http://schemas.microsoft.com/office/drawing/2014/main" id="{8BBFDFF0-6160-60D3-9ED4-86A18CBF14D3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456239" y="1535114"/>
          <a:ext cx="211137" cy="3270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139680" imgH="215640" progId="Equation.3">
                  <p:embed/>
                </p:oleObj>
              </mc:Choice>
              <mc:Fallback>
                <p:oleObj name="Equation" r:id="rId6" imgW="139680" imgH="215640" progId="Equation.3">
                  <p:embed/>
                  <p:pic>
                    <p:nvPicPr>
                      <p:cNvPr id="291847" name="Object 7">
                        <a:extLst>
                          <a:ext uri="{FF2B5EF4-FFF2-40B4-BE49-F238E27FC236}">
                            <a16:creationId xmlns:a16="http://schemas.microsoft.com/office/drawing/2014/main" id="{2551DD7B-0D67-3183-960D-35013ADAF7E9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456239" y="1535114"/>
                        <a:ext cx="211137" cy="3270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91849" name="Group 9">
            <a:extLst>
              <a:ext uri="{FF2B5EF4-FFF2-40B4-BE49-F238E27FC236}">
                <a16:creationId xmlns:a16="http://schemas.microsoft.com/office/drawing/2014/main" id="{08E9B692-B7C0-410F-3C3D-27FBF83F9387}"/>
              </a:ext>
            </a:extLst>
          </p:cNvPr>
          <p:cNvGrpSpPr>
            <a:grpSpLocks/>
          </p:cNvGrpSpPr>
          <p:nvPr/>
        </p:nvGrpSpPr>
        <p:grpSpPr bwMode="auto">
          <a:xfrm>
            <a:off x="7878764" y="3886201"/>
            <a:ext cx="1646237" cy="1960563"/>
            <a:chOff x="3792" y="1587"/>
            <a:chExt cx="1037" cy="1235"/>
          </a:xfrm>
        </p:grpSpPr>
        <p:graphicFrame>
          <p:nvGraphicFramePr>
            <p:cNvPr id="291850" name="Object 10">
              <a:extLst>
                <a:ext uri="{FF2B5EF4-FFF2-40B4-BE49-F238E27FC236}">
                  <a16:creationId xmlns:a16="http://schemas.microsoft.com/office/drawing/2014/main" id="{E58EF2E8-8D31-8AF4-6AA8-F89586CAA7DD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4282" y="2249"/>
            <a:ext cx="240" cy="15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8" imgW="380880" imgH="241200" progId="Equation.3">
                    <p:embed/>
                  </p:oleObj>
                </mc:Choice>
                <mc:Fallback>
                  <p:oleObj name="Equation" r:id="rId8" imgW="380880" imgH="241200" progId="Equation.3">
                    <p:embed/>
                    <p:pic>
                      <p:nvPicPr>
                        <p:cNvPr id="291850" name="Object 10">
                          <a:extLst>
                            <a:ext uri="{FF2B5EF4-FFF2-40B4-BE49-F238E27FC236}">
                              <a16:creationId xmlns:a16="http://schemas.microsoft.com/office/drawing/2014/main" id="{ACBD2088-63EA-8736-DB86-3CBB70F0C47E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282" y="2249"/>
                          <a:ext cx="240" cy="15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91851" name="Line 11">
              <a:extLst>
                <a:ext uri="{FF2B5EF4-FFF2-40B4-BE49-F238E27FC236}">
                  <a16:creationId xmlns:a16="http://schemas.microsoft.com/office/drawing/2014/main" id="{3CE263DA-C217-F249-5CD6-EE6576ACCCC4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792" y="1587"/>
              <a:ext cx="1037" cy="979"/>
            </a:xfrm>
            <a:prstGeom prst="line">
              <a:avLst/>
            </a:prstGeom>
            <a:noFill/>
            <a:ln w="38100">
              <a:solidFill>
                <a:srgbClr val="339966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91852" name="Line 12">
              <a:extLst>
                <a:ext uri="{FF2B5EF4-FFF2-40B4-BE49-F238E27FC236}">
                  <a16:creationId xmlns:a16="http://schemas.microsoft.com/office/drawing/2014/main" id="{B6D3A18C-20DA-DB1D-B892-BE195A9A5842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792" y="2566"/>
              <a:ext cx="662" cy="0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graphicFrame>
          <p:nvGraphicFramePr>
            <p:cNvPr id="291853" name="Object 13">
              <a:extLst>
                <a:ext uri="{FF2B5EF4-FFF2-40B4-BE49-F238E27FC236}">
                  <a16:creationId xmlns:a16="http://schemas.microsoft.com/office/drawing/2014/main" id="{F96A1B33-13B1-E8E4-628E-233BAD738893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4166" y="2624"/>
            <a:ext cx="121" cy="19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0" imgW="139680" imgH="190440" progId="Equation.3">
                    <p:embed/>
                  </p:oleObj>
                </mc:Choice>
                <mc:Fallback>
                  <p:oleObj name="Equation" r:id="rId10" imgW="139680" imgH="190440" progId="Equation.3">
                    <p:embed/>
                    <p:pic>
                      <p:nvPicPr>
                        <p:cNvPr id="291853" name="Object 13">
                          <a:extLst>
                            <a:ext uri="{FF2B5EF4-FFF2-40B4-BE49-F238E27FC236}">
                              <a16:creationId xmlns:a16="http://schemas.microsoft.com/office/drawing/2014/main" id="{4787508F-9ACA-1FD6-CE12-751A3EBC80F7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1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166" y="2624"/>
                          <a:ext cx="121" cy="19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91854" name="Object 14">
              <a:extLst>
                <a:ext uri="{FF2B5EF4-FFF2-40B4-BE49-F238E27FC236}">
                  <a16:creationId xmlns:a16="http://schemas.microsoft.com/office/drawing/2014/main" id="{75EB81AE-C020-FB56-D399-56A7F4DBFAF0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4224" y="1760"/>
            <a:ext cx="121" cy="22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2" imgW="139680" imgH="215640" progId="Equation.3">
                    <p:embed/>
                  </p:oleObj>
                </mc:Choice>
                <mc:Fallback>
                  <p:oleObj name="Equation" r:id="rId12" imgW="139680" imgH="215640" progId="Equation.3">
                    <p:embed/>
                    <p:pic>
                      <p:nvPicPr>
                        <p:cNvPr id="291854" name="Object 14">
                          <a:extLst>
                            <a:ext uri="{FF2B5EF4-FFF2-40B4-BE49-F238E27FC236}">
                              <a16:creationId xmlns:a16="http://schemas.microsoft.com/office/drawing/2014/main" id="{FEBE5C9A-95E1-CE42-F549-284B0FAE856A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224" y="1760"/>
                          <a:ext cx="121" cy="22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91855" name="Arc 15">
              <a:extLst>
                <a:ext uri="{FF2B5EF4-FFF2-40B4-BE49-F238E27FC236}">
                  <a16:creationId xmlns:a16="http://schemas.microsoft.com/office/drawing/2014/main" id="{349371D5-70E3-C47C-3FD7-61663447B51C}"/>
                </a:ext>
              </a:extLst>
            </p:cNvPr>
            <p:cNvSpPr>
              <a:spLocks/>
            </p:cNvSpPr>
            <p:nvPr/>
          </p:nvSpPr>
          <p:spPr bwMode="auto">
            <a:xfrm>
              <a:off x="4022" y="2247"/>
              <a:ext cx="259" cy="318"/>
            </a:xfrm>
            <a:custGeom>
              <a:avLst/>
              <a:gdLst>
                <a:gd name="G0" fmla="+- 0 0 0"/>
                <a:gd name="G1" fmla="+- 19916 0 0"/>
                <a:gd name="G2" fmla="+- 21600 0 0"/>
                <a:gd name="T0" fmla="*/ 8362 w 21600"/>
                <a:gd name="T1" fmla="*/ 0 h 19916"/>
                <a:gd name="T2" fmla="*/ 21600 w 21600"/>
                <a:gd name="T3" fmla="*/ 19916 h 19916"/>
                <a:gd name="T4" fmla="*/ 0 w 21600"/>
                <a:gd name="T5" fmla="*/ 19916 h 199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1600" h="19916" fill="none" extrusionOk="0">
                  <a:moveTo>
                    <a:pt x="8361" y="0"/>
                  </a:moveTo>
                  <a:cubicBezTo>
                    <a:pt x="16382" y="3367"/>
                    <a:pt x="21600" y="11217"/>
                    <a:pt x="21600" y="19916"/>
                  </a:cubicBezTo>
                </a:path>
                <a:path w="21600" h="19916" stroke="0" extrusionOk="0">
                  <a:moveTo>
                    <a:pt x="8361" y="0"/>
                  </a:moveTo>
                  <a:cubicBezTo>
                    <a:pt x="16382" y="3367"/>
                    <a:pt x="21600" y="11217"/>
                    <a:pt x="21600" y="19916"/>
                  </a:cubicBezTo>
                  <a:lnTo>
                    <a:pt x="0" y="19916"/>
                  </a:lnTo>
                  <a:close/>
                </a:path>
              </a:pathLst>
            </a:cu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graphicFrame>
        <p:nvGraphicFramePr>
          <p:cNvPr id="291856" name="Object 16">
            <a:extLst>
              <a:ext uri="{FF2B5EF4-FFF2-40B4-BE49-F238E27FC236}">
                <a16:creationId xmlns:a16="http://schemas.microsoft.com/office/drawing/2014/main" id="{F93BD654-DFB1-544A-AE33-484B99967DAD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027238" y="2011364"/>
          <a:ext cx="3200400" cy="14620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4" imgW="2057400" imgH="939600" progId="Equation.3">
                  <p:embed/>
                </p:oleObj>
              </mc:Choice>
              <mc:Fallback>
                <p:oleObj name="Equation" r:id="rId14" imgW="2057400" imgH="939600" progId="Equation.3">
                  <p:embed/>
                  <p:pic>
                    <p:nvPicPr>
                      <p:cNvPr id="291856" name="Object 16">
                        <a:extLst>
                          <a:ext uri="{FF2B5EF4-FFF2-40B4-BE49-F238E27FC236}">
                            <a16:creationId xmlns:a16="http://schemas.microsoft.com/office/drawing/2014/main" id="{B01222F3-8162-E7F6-50E8-0C1A13417F81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27238" y="2011364"/>
                        <a:ext cx="3200400" cy="14620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91861" name="AutoShape 21">
            <a:extLst>
              <a:ext uri="{FF2B5EF4-FFF2-40B4-BE49-F238E27FC236}">
                <a16:creationId xmlns:a16="http://schemas.microsoft.com/office/drawing/2014/main" id="{5FBA7695-780D-2BD0-6DE2-72012B37B914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04126" y="868363"/>
            <a:ext cx="2835275" cy="976312"/>
          </a:xfrm>
          <a:prstGeom prst="wedgeRectCallout">
            <a:avLst>
              <a:gd name="adj1" fmla="val -22060"/>
              <a:gd name="adj2" fmla="val 108375"/>
            </a:avLst>
          </a:prstGeom>
          <a:solidFill>
            <a:schemeClr val="accent1">
              <a:lumMod val="40000"/>
              <a:lumOff val="6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/>
          <a:lstStyle/>
          <a:p>
            <a:r>
              <a:rPr lang="en-US" altLang="en-US" sz="1600" b="0" dirty="0"/>
              <a:t>Or simply</a:t>
            </a:r>
            <a:endParaRPr lang="en-US" altLang="en-US" sz="1600" b="0" dirty="0">
              <a:latin typeface="MS Shell Dlg" panose="020B0604020202020204" pitchFamily="34" charset="0"/>
            </a:endParaRPr>
          </a:p>
          <a:p>
            <a:endParaRPr lang="en-US" altLang="en-US" sz="1600" b="0" dirty="0"/>
          </a:p>
        </p:txBody>
      </p:sp>
      <p:graphicFrame>
        <p:nvGraphicFramePr>
          <p:cNvPr id="2" name="Object 20">
            <a:extLst>
              <a:ext uri="{FF2B5EF4-FFF2-40B4-BE49-F238E27FC236}">
                <a16:creationId xmlns:a16="http://schemas.microsoft.com/office/drawing/2014/main" id="{E4DC4922-EF47-3393-41A6-E265DF144883}"/>
              </a:ext>
            </a:extLst>
          </p:cNvPr>
          <p:cNvGraphicFramePr>
            <a:graphicFrameLocks noChangeAspect="1"/>
          </p:cNvGraphicFramePr>
          <p:nvPr/>
        </p:nvGraphicFramePr>
        <p:xfrm>
          <a:off x="7500939" y="2579688"/>
          <a:ext cx="2319337" cy="5143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6" imgW="1143000" imgH="253800" progId="Equation.3">
                  <p:embed/>
                </p:oleObj>
              </mc:Choice>
              <mc:Fallback>
                <p:oleObj name="Equation" r:id="rId16" imgW="1143000" imgH="253800" progId="Equation.3">
                  <p:embed/>
                  <p:pic>
                    <p:nvPicPr>
                      <p:cNvPr id="309268" name="Object 20">
                        <a:extLst>
                          <a:ext uri="{FF2B5EF4-FFF2-40B4-BE49-F238E27FC236}">
                            <a16:creationId xmlns:a16="http://schemas.microsoft.com/office/drawing/2014/main" id="{C536179E-33AB-7261-82BB-F466ABD79CA4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500939" y="2579688"/>
                        <a:ext cx="2319337" cy="5143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75671066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891" name="Rectangle 3">
            <a:extLst>
              <a:ext uri="{FF2B5EF4-FFF2-40B4-BE49-F238E27FC236}">
                <a16:creationId xmlns:a16="http://schemas.microsoft.com/office/drawing/2014/main" id="{2262509A-7EDC-E9C2-7568-6AAE36D5F27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792480" y="91440"/>
            <a:ext cx="10515600" cy="612057"/>
          </a:xfrm>
          <a:noFill/>
          <a:ln/>
        </p:spPr>
        <p:txBody>
          <a:bodyPr>
            <a:normAutofit fontScale="90000"/>
          </a:bodyPr>
          <a:lstStyle/>
          <a:p>
            <a:r>
              <a:rPr lang="en-US" altLang="en-US" dirty="0">
                <a:solidFill>
                  <a:schemeClr val="tx1"/>
                </a:solidFill>
              </a:rPr>
              <a:t>Point3f and Vector3f in </a:t>
            </a:r>
            <a:r>
              <a:rPr lang="en-US" altLang="en-US" dirty="0" err="1">
                <a:solidFill>
                  <a:schemeClr val="tx1"/>
                </a:solidFill>
              </a:rPr>
              <a:t>Rhino.Common</a:t>
            </a:r>
            <a:endParaRPr lang="en-US" altLang="en-US" dirty="0">
              <a:solidFill>
                <a:schemeClr val="tx1"/>
              </a:solidFill>
            </a:endParaRPr>
          </a:p>
        </p:txBody>
      </p:sp>
      <p:pic>
        <p:nvPicPr>
          <p:cNvPr id="23" name="Picture 22">
            <a:extLst>
              <a:ext uri="{FF2B5EF4-FFF2-40B4-BE49-F238E27FC236}">
                <a16:creationId xmlns:a16="http://schemas.microsoft.com/office/drawing/2014/main" id="{418E07C3-8944-0095-868D-69927AB2B9A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98920" y="1143000"/>
            <a:ext cx="4892359" cy="4768676"/>
          </a:xfrm>
          <a:prstGeom prst="rect">
            <a:avLst/>
          </a:prstGeom>
        </p:spPr>
      </p:pic>
      <p:sp>
        <p:nvSpPr>
          <p:cNvPr id="25" name="TextBox 24">
            <a:extLst>
              <a:ext uri="{FF2B5EF4-FFF2-40B4-BE49-F238E27FC236}">
                <a16:creationId xmlns:a16="http://schemas.microsoft.com/office/drawing/2014/main" id="{B861C500-6FDB-7CF7-0A83-BA4235311AF9}"/>
              </a:ext>
            </a:extLst>
          </p:cNvPr>
          <p:cNvSpPr txBox="1"/>
          <p:nvPr/>
        </p:nvSpPr>
        <p:spPr>
          <a:xfrm>
            <a:off x="2804160" y="684962"/>
            <a:ext cx="112827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en-US" u="sng" dirty="0">
                <a:solidFill>
                  <a:schemeClr val="tx1"/>
                </a:solidFill>
              </a:rPr>
              <a:t>Point3f</a:t>
            </a:r>
            <a:endParaRPr lang="en-US" u="sng" dirty="0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276293DC-7CF4-2465-D336-96534BC1F870}"/>
              </a:ext>
            </a:extLst>
          </p:cNvPr>
          <p:cNvSpPr txBox="1"/>
          <p:nvPr/>
        </p:nvSpPr>
        <p:spPr>
          <a:xfrm>
            <a:off x="8153400" y="684962"/>
            <a:ext cx="112827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en-US" u="sng" dirty="0">
                <a:solidFill>
                  <a:schemeClr val="tx1"/>
                </a:solidFill>
              </a:rPr>
              <a:t>Vector3f</a:t>
            </a:r>
            <a:endParaRPr lang="en-US" u="sng" dirty="0"/>
          </a:p>
        </p:txBody>
      </p:sp>
      <p:pic>
        <p:nvPicPr>
          <p:cNvPr id="28" name="Picture 27">
            <a:extLst>
              <a:ext uri="{FF2B5EF4-FFF2-40B4-BE49-F238E27FC236}">
                <a16:creationId xmlns:a16="http://schemas.microsoft.com/office/drawing/2014/main" id="{A12BAC2B-FA3A-D0F0-D55F-E12323EAC936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21496"/>
          <a:stretch>
            <a:fillRect/>
          </a:stretch>
        </p:blipFill>
        <p:spPr>
          <a:xfrm>
            <a:off x="808956" y="1067886"/>
            <a:ext cx="5029200" cy="2544673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13FF2F-7543-09E5-2E6A-DF8DB6BC07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60DD67EA-877D-BCCA-2464-82BA1CCEA3E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9139" y="1103335"/>
            <a:ext cx="5692934" cy="3443196"/>
          </a:xfrm>
          <a:prstGeom prst="rect">
            <a:avLst/>
          </a:prstGeom>
        </p:spPr>
      </p:pic>
      <p:sp>
        <p:nvSpPr>
          <p:cNvPr id="293891" name="Rectangle 3">
            <a:extLst>
              <a:ext uri="{FF2B5EF4-FFF2-40B4-BE49-F238E27FC236}">
                <a16:creationId xmlns:a16="http://schemas.microsoft.com/office/drawing/2014/main" id="{6685E34B-C079-B7FF-5B37-7447212CB17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792480" y="91440"/>
            <a:ext cx="10515600" cy="612057"/>
          </a:xfrm>
          <a:noFill/>
          <a:ln/>
        </p:spPr>
        <p:txBody>
          <a:bodyPr>
            <a:normAutofit fontScale="90000"/>
          </a:bodyPr>
          <a:lstStyle/>
          <a:p>
            <a:r>
              <a:rPr lang="en-US" altLang="en-US" dirty="0">
                <a:solidFill>
                  <a:schemeClr val="tx1"/>
                </a:solidFill>
              </a:rPr>
              <a:t>Point3f and Vector3f in </a:t>
            </a:r>
            <a:r>
              <a:rPr lang="en-US" altLang="en-US" dirty="0" err="1">
                <a:solidFill>
                  <a:schemeClr val="tx1"/>
                </a:solidFill>
              </a:rPr>
              <a:t>Rhino.Common</a:t>
            </a:r>
            <a:endParaRPr lang="en-US" altLang="en-US" dirty="0">
              <a:solidFill>
                <a:schemeClr val="tx1"/>
              </a:solidFill>
            </a:endParaRPr>
          </a:p>
        </p:txBody>
      </p:sp>
      <p:pic>
        <p:nvPicPr>
          <p:cNvPr id="23" name="Picture 22">
            <a:extLst>
              <a:ext uri="{FF2B5EF4-FFF2-40B4-BE49-F238E27FC236}">
                <a16:creationId xmlns:a16="http://schemas.microsoft.com/office/drawing/2014/main" id="{F06C3A11-47E0-C8AC-6036-B74E2D9D9FE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98920" y="1188720"/>
            <a:ext cx="4892359" cy="4768676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7F5781C7-B7D8-8E3C-3458-8C730142357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98920" y="1103335"/>
            <a:ext cx="5617486" cy="5754665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187DD7ED-6156-0DD3-9D00-DB050009F91D}"/>
              </a:ext>
            </a:extLst>
          </p:cNvPr>
          <p:cNvSpPr txBox="1"/>
          <p:nvPr/>
        </p:nvSpPr>
        <p:spPr>
          <a:xfrm>
            <a:off x="2804160" y="684962"/>
            <a:ext cx="112827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en-US" u="sng" dirty="0">
                <a:solidFill>
                  <a:schemeClr val="tx1"/>
                </a:solidFill>
              </a:rPr>
              <a:t>Point3f</a:t>
            </a:r>
            <a:endParaRPr lang="en-US" u="sng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F3C5EC6-4CDA-A770-D661-61B2255A14AF}"/>
              </a:ext>
            </a:extLst>
          </p:cNvPr>
          <p:cNvSpPr txBox="1"/>
          <p:nvPr/>
        </p:nvSpPr>
        <p:spPr>
          <a:xfrm>
            <a:off x="8153400" y="684962"/>
            <a:ext cx="112827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en-US" u="sng" dirty="0">
                <a:solidFill>
                  <a:schemeClr val="tx1"/>
                </a:solidFill>
              </a:rPr>
              <a:t>Vector3f</a:t>
            </a:r>
            <a:endParaRPr lang="en-US" u="sng" dirty="0"/>
          </a:p>
        </p:txBody>
      </p:sp>
    </p:spTree>
    <p:extLst>
      <p:ext uri="{BB962C8B-B14F-4D97-AF65-F5344CB8AC3E}">
        <p14:creationId xmlns:p14="http://schemas.microsoft.com/office/powerpoint/2010/main" val="1394254650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23DAE5-B5EA-503F-178E-4D8C6AB76D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891" name="Rectangle 3">
            <a:extLst>
              <a:ext uri="{FF2B5EF4-FFF2-40B4-BE49-F238E27FC236}">
                <a16:creationId xmlns:a16="http://schemas.microsoft.com/office/drawing/2014/main" id="{10C177D0-1513-C473-34F9-8A804E877A3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792480" y="91440"/>
            <a:ext cx="10515600" cy="612057"/>
          </a:xfrm>
          <a:noFill/>
          <a:ln/>
        </p:spPr>
        <p:txBody>
          <a:bodyPr>
            <a:normAutofit fontScale="90000"/>
          </a:bodyPr>
          <a:lstStyle/>
          <a:p>
            <a:r>
              <a:rPr lang="en-US" altLang="en-US" dirty="0">
                <a:solidFill>
                  <a:schemeClr val="tx1"/>
                </a:solidFill>
              </a:rPr>
              <a:t>Point3f and Vector3f in </a:t>
            </a:r>
            <a:r>
              <a:rPr lang="en-US" altLang="en-US" dirty="0" err="1">
                <a:solidFill>
                  <a:schemeClr val="tx1"/>
                </a:solidFill>
              </a:rPr>
              <a:t>Rhino.Common</a:t>
            </a:r>
            <a:endParaRPr lang="en-US" altLang="en-US" dirty="0">
              <a:solidFill>
                <a:schemeClr val="tx1"/>
              </a:solidFill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DDC89CCE-DA08-7AC7-8803-1C5FD28E977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98920" y="1143000"/>
            <a:ext cx="5151077" cy="4122233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3D16A2A7-B6E0-E2E8-4916-6CFE095A30D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5592" y="1067886"/>
            <a:ext cx="5020757" cy="348435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63F82C7F-6995-4085-06E4-644A523756DC}"/>
              </a:ext>
            </a:extLst>
          </p:cNvPr>
          <p:cNvSpPr txBox="1"/>
          <p:nvPr/>
        </p:nvSpPr>
        <p:spPr>
          <a:xfrm>
            <a:off x="2804160" y="684962"/>
            <a:ext cx="112827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en-US" u="sng" dirty="0">
                <a:solidFill>
                  <a:schemeClr val="tx1"/>
                </a:solidFill>
              </a:rPr>
              <a:t>Point3f</a:t>
            </a:r>
            <a:endParaRPr lang="en-US" u="sng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6E3FE0D-2A6D-790C-CD98-6761C500132A}"/>
              </a:ext>
            </a:extLst>
          </p:cNvPr>
          <p:cNvSpPr txBox="1"/>
          <p:nvPr/>
        </p:nvSpPr>
        <p:spPr>
          <a:xfrm>
            <a:off x="8153400" y="684962"/>
            <a:ext cx="112827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en-US" u="sng" dirty="0">
                <a:solidFill>
                  <a:schemeClr val="tx1"/>
                </a:solidFill>
              </a:rPr>
              <a:t>Vector3f</a:t>
            </a:r>
            <a:endParaRPr lang="en-US" u="sng" dirty="0"/>
          </a:p>
        </p:txBody>
      </p:sp>
    </p:spTree>
    <p:extLst>
      <p:ext uri="{BB962C8B-B14F-4D97-AF65-F5344CB8AC3E}">
        <p14:creationId xmlns:p14="http://schemas.microsoft.com/office/powerpoint/2010/main" val="3509084156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7A1B922-94A2-60F5-D6AF-47C04E1AEC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Line 12">
            <a:extLst>
              <a:ext uri="{FF2B5EF4-FFF2-40B4-BE49-F238E27FC236}">
                <a16:creationId xmlns:a16="http://schemas.microsoft.com/office/drawing/2014/main" id="{CDDC5999-B4FB-28AE-8D85-D953808F132B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4221480" y="5166360"/>
            <a:ext cx="1600994" cy="0"/>
          </a:xfrm>
          <a:prstGeom prst="line">
            <a:avLst/>
          </a:prstGeom>
          <a:noFill/>
          <a:ln w="38100">
            <a:solidFill>
              <a:srgbClr val="FF7D7D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93890" name="Text Box 2">
            <a:extLst>
              <a:ext uri="{FF2B5EF4-FFF2-40B4-BE49-F238E27FC236}">
                <a16:creationId xmlns:a16="http://schemas.microsoft.com/office/drawing/2014/main" id="{FDCA134E-450D-D1F8-DA70-5EA33D020D2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38544" y="1397869"/>
            <a:ext cx="8031162" cy="175432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en-US" altLang="en-US" b="0" i="1" dirty="0"/>
              <a:t>Ask the user for three points, representing the start point of 2 vectors and the 2 end points. Using only vector functions and scalar algebra </a:t>
            </a:r>
            <a:r>
              <a:rPr lang="en-US" altLang="en-US" b="0" dirty="0"/>
              <a:t>(+,-,*,/,</a:t>
            </a:r>
            <a:r>
              <a:rPr lang="en-US" dirty="0"/>
              <a:t> ·, </a:t>
            </a:r>
            <a:r>
              <a:rPr lang="en-US" b="0" dirty="0" err="1"/>
              <a:t>acos</a:t>
            </a:r>
            <a:r>
              <a:rPr lang="en-US" altLang="en-US" b="0" dirty="0"/>
              <a:t>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en-US" b="0" i="1" dirty="0"/>
              <a:t>Determine the lengths of each vector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en-US" b="0" i="1" dirty="0"/>
              <a:t>Determine the angle &lt;ab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en-US" b="0" i="1" dirty="0"/>
              <a:t>Determine the projection of the end point of b on a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en-US" b="0" i="1" dirty="0"/>
          </a:p>
        </p:txBody>
      </p:sp>
      <p:sp>
        <p:nvSpPr>
          <p:cNvPr id="293891" name="Rectangle 3">
            <a:extLst>
              <a:ext uri="{FF2B5EF4-FFF2-40B4-BE49-F238E27FC236}">
                <a16:creationId xmlns:a16="http://schemas.microsoft.com/office/drawing/2014/main" id="{25229C23-6C24-5582-B1CE-9A99C51E47E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noFill/>
          <a:ln/>
        </p:spPr>
        <p:txBody>
          <a:bodyPr/>
          <a:lstStyle/>
          <a:p>
            <a:r>
              <a:rPr lang="en-US" altLang="en-US" dirty="0">
                <a:solidFill>
                  <a:schemeClr val="tx1"/>
                </a:solidFill>
              </a:rPr>
              <a:t>In class exercise</a:t>
            </a:r>
          </a:p>
        </p:txBody>
      </p:sp>
      <p:graphicFrame>
        <p:nvGraphicFramePr>
          <p:cNvPr id="4" name="Object 10">
            <a:extLst>
              <a:ext uri="{FF2B5EF4-FFF2-40B4-BE49-F238E27FC236}">
                <a16:creationId xmlns:a16="http://schemas.microsoft.com/office/drawing/2014/main" id="{DD43472B-9448-FEC2-DDDA-9B0E19684565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954112" y="4657201"/>
          <a:ext cx="381000" cy="241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380880" imgH="241200" progId="Equation.3">
                  <p:embed/>
                </p:oleObj>
              </mc:Choice>
              <mc:Fallback>
                <p:oleObj name="Equation" r:id="rId2" imgW="380880" imgH="241200" progId="Equation.3">
                  <p:embed/>
                  <p:pic>
                    <p:nvPicPr>
                      <p:cNvPr id="4" name="Object 10">
                        <a:extLst>
                          <a:ext uri="{FF2B5EF4-FFF2-40B4-BE49-F238E27FC236}">
                            <a16:creationId xmlns:a16="http://schemas.microsoft.com/office/drawing/2014/main" id="{286FEA26-248A-5F1B-2E3C-17AE4DBA89B3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954112" y="4657201"/>
                        <a:ext cx="381000" cy="2413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Object 13">
            <a:extLst>
              <a:ext uri="{FF2B5EF4-FFF2-40B4-BE49-F238E27FC236}">
                <a16:creationId xmlns:a16="http://schemas.microsoft.com/office/drawing/2014/main" id="{EEBECE59-576F-E371-F594-496C7FE99883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769963" y="5252515"/>
          <a:ext cx="192087" cy="3143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139680" imgH="190440" progId="Equation.3">
                  <p:embed/>
                </p:oleObj>
              </mc:Choice>
              <mc:Fallback>
                <p:oleObj name="Equation" r:id="rId4" imgW="139680" imgH="190440" progId="Equation.3">
                  <p:embed/>
                  <p:pic>
                    <p:nvPicPr>
                      <p:cNvPr id="7" name="Object 13">
                        <a:extLst>
                          <a:ext uri="{FF2B5EF4-FFF2-40B4-BE49-F238E27FC236}">
                            <a16:creationId xmlns:a16="http://schemas.microsoft.com/office/drawing/2014/main" id="{53B3BB70-6F33-FAA2-E71E-BE55FAC14364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769963" y="5252515"/>
                        <a:ext cx="192087" cy="3143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Object 14">
            <a:extLst>
              <a:ext uri="{FF2B5EF4-FFF2-40B4-BE49-F238E27FC236}">
                <a16:creationId xmlns:a16="http://schemas.microsoft.com/office/drawing/2014/main" id="{3B59B7F4-E300-E69C-960A-2A462B002EA7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862038" y="3880914"/>
          <a:ext cx="192087" cy="355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139680" imgH="215640" progId="Equation.3">
                  <p:embed/>
                </p:oleObj>
              </mc:Choice>
              <mc:Fallback>
                <p:oleObj name="Equation" r:id="rId6" imgW="139680" imgH="215640" progId="Equation.3">
                  <p:embed/>
                  <p:pic>
                    <p:nvPicPr>
                      <p:cNvPr id="8" name="Object 14">
                        <a:extLst>
                          <a:ext uri="{FF2B5EF4-FFF2-40B4-BE49-F238E27FC236}">
                            <a16:creationId xmlns:a16="http://schemas.microsoft.com/office/drawing/2014/main" id="{5D558B26-26DF-752F-7224-86DCF0E1F9F0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862038" y="3880914"/>
                        <a:ext cx="192087" cy="355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0" name="Group 9">
            <a:extLst>
              <a:ext uri="{FF2B5EF4-FFF2-40B4-BE49-F238E27FC236}">
                <a16:creationId xmlns:a16="http://schemas.microsoft.com/office/drawing/2014/main" id="{26AC5993-DB87-DE50-36B6-C74BF86E8637}"/>
              </a:ext>
            </a:extLst>
          </p:cNvPr>
          <p:cNvGrpSpPr/>
          <p:nvPr/>
        </p:nvGrpSpPr>
        <p:grpSpPr>
          <a:xfrm>
            <a:off x="4176238" y="3606277"/>
            <a:ext cx="1646237" cy="1554163"/>
            <a:chOff x="6354763" y="3886200"/>
            <a:chExt cx="1646237" cy="1554163"/>
          </a:xfrm>
        </p:grpSpPr>
        <p:sp>
          <p:nvSpPr>
            <p:cNvPr id="5" name="Line 11">
              <a:extLst>
                <a:ext uri="{FF2B5EF4-FFF2-40B4-BE49-F238E27FC236}">
                  <a16:creationId xmlns:a16="http://schemas.microsoft.com/office/drawing/2014/main" id="{2EF74ECB-5B17-E05F-A578-9E2586AFC6DA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6354763" y="3886200"/>
              <a:ext cx="1646237" cy="1554163"/>
            </a:xfrm>
            <a:prstGeom prst="line">
              <a:avLst/>
            </a:prstGeom>
            <a:noFill/>
            <a:ln w="38100">
              <a:solidFill>
                <a:srgbClr val="339966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" name="Line 12">
              <a:extLst>
                <a:ext uri="{FF2B5EF4-FFF2-40B4-BE49-F238E27FC236}">
                  <a16:creationId xmlns:a16="http://schemas.microsoft.com/office/drawing/2014/main" id="{2A4DB369-DC67-2168-2725-7FC6C1BBDC51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6354763" y="5440363"/>
              <a:ext cx="1050925" cy="0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" name="Arc 15">
              <a:extLst>
                <a:ext uri="{FF2B5EF4-FFF2-40B4-BE49-F238E27FC236}">
                  <a16:creationId xmlns:a16="http://schemas.microsoft.com/office/drawing/2014/main" id="{8B8CBA7A-185B-FE02-423F-7617D652435B}"/>
                </a:ext>
              </a:extLst>
            </p:cNvPr>
            <p:cNvSpPr>
              <a:spLocks/>
            </p:cNvSpPr>
            <p:nvPr/>
          </p:nvSpPr>
          <p:spPr bwMode="auto">
            <a:xfrm>
              <a:off x="6719888" y="4933950"/>
              <a:ext cx="411162" cy="504825"/>
            </a:xfrm>
            <a:custGeom>
              <a:avLst/>
              <a:gdLst>
                <a:gd name="G0" fmla="+- 0 0 0"/>
                <a:gd name="G1" fmla="+- 19916 0 0"/>
                <a:gd name="G2" fmla="+- 21600 0 0"/>
                <a:gd name="T0" fmla="*/ 8362 w 21600"/>
                <a:gd name="T1" fmla="*/ 0 h 19916"/>
                <a:gd name="T2" fmla="*/ 21600 w 21600"/>
                <a:gd name="T3" fmla="*/ 19916 h 19916"/>
                <a:gd name="T4" fmla="*/ 0 w 21600"/>
                <a:gd name="T5" fmla="*/ 19916 h 199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1600" h="19916" fill="none" extrusionOk="0">
                  <a:moveTo>
                    <a:pt x="8361" y="0"/>
                  </a:moveTo>
                  <a:cubicBezTo>
                    <a:pt x="16382" y="3367"/>
                    <a:pt x="21600" y="11217"/>
                    <a:pt x="21600" y="19916"/>
                  </a:cubicBezTo>
                </a:path>
                <a:path w="21600" h="19916" stroke="0" extrusionOk="0">
                  <a:moveTo>
                    <a:pt x="8361" y="0"/>
                  </a:moveTo>
                  <a:cubicBezTo>
                    <a:pt x="16382" y="3367"/>
                    <a:pt x="21600" y="11217"/>
                    <a:pt x="21600" y="19916"/>
                  </a:cubicBezTo>
                  <a:lnTo>
                    <a:pt x="0" y="19916"/>
                  </a:lnTo>
                  <a:close/>
                </a:path>
              </a:pathLst>
            </a:cu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9276BAEC-56FF-CBA6-52DA-F2EDFA739732}"/>
              </a:ext>
            </a:extLst>
          </p:cNvPr>
          <p:cNvCxnSpPr>
            <a:stCxn id="5" idx="1"/>
          </p:cNvCxnSpPr>
          <p:nvPr/>
        </p:nvCxnSpPr>
        <p:spPr bwMode="auto">
          <a:xfrm>
            <a:off x="5822474" y="3606277"/>
            <a:ext cx="0" cy="1552575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dash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5" name="Oval 14">
            <a:extLst>
              <a:ext uri="{FF2B5EF4-FFF2-40B4-BE49-F238E27FC236}">
                <a16:creationId xmlns:a16="http://schemas.microsoft.com/office/drawing/2014/main" id="{4FCDCF58-F063-1FC4-32EC-B0F5DC1CEF10}"/>
              </a:ext>
            </a:extLst>
          </p:cNvPr>
          <p:cNvSpPr/>
          <p:nvPr/>
        </p:nvSpPr>
        <p:spPr bwMode="auto">
          <a:xfrm>
            <a:off x="4130834" y="5115036"/>
            <a:ext cx="91440" cy="97042"/>
          </a:xfrm>
          <a:prstGeom prst="ellips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C8E6DF2A-50D7-E72D-7808-4D2A1F32FBD8}"/>
              </a:ext>
            </a:extLst>
          </p:cNvPr>
          <p:cNvSpPr/>
          <p:nvPr/>
        </p:nvSpPr>
        <p:spPr bwMode="auto">
          <a:xfrm>
            <a:off x="5182394" y="5115036"/>
            <a:ext cx="91440" cy="97042"/>
          </a:xfrm>
          <a:prstGeom prst="ellips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20F952B8-CF13-65B4-A3D2-0077B1320CF4}"/>
              </a:ext>
            </a:extLst>
          </p:cNvPr>
          <p:cNvSpPr/>
          <p:nvPr/>
        </p:nvSpPr>
        <p:spPr bwMode="auto">
          <a:xfrm>
            <a:off x="5776754" y="3560556"/>
            <a:ext cx="91440" cy="97042"/>
          </a:xfrm>
          <a:prstGeom prst="ellips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AAC065FE-D067-2497-3693-268C44358E29}"/>
              </a:ext>
            </a:extLst>
          </p:cNvPr>
          <p:cNvSpPr/>
          <p:nvPr/>
        </p:nvSpPr>
        <p:spPr bwMode="auto">
          <a:xfrm>
            <a:off x="5776754" y="5115036"/>
            <a:ext cx="91440" cy="97042"/>
          </a:xfrm>
          <a:prstGeom prst="ellips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379E7E48-3738-C704-382D-B4ADAA510DB9}"/>
              </a:ext>
            </a:extLst>
          </p:cNvPr>
          <p:cNvSpPr txBox="1"/>
          <p:nvPr/>
        </p:nvSpPr>
        <p:spPr>
          <a:xfrm>
            <a:off x="3854751" y="4906439"/>
            <a:ext cx="35137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0" dirty="0"/>
              <a:t>p</a:t>
            </a:r>
            <a:r>
              <a:rPr lang="en-US" sz="1400" b="0" baseline="-25000" dirty="0"/>
              <a:t>0</a:t>
            </a:r>
            <a:endParaRPr lang="en-US" b="0" baseline="-25000" dirty="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DEDFA6E1-0A75-B00C-9B61-428A26ADA11D}"/>
              </a:ext>
            </a:extLst>
          </p:cNvPr>
          <p:cNvSpPr txBox="1"/>
          <p:nvPr/>
        </p:nvSpPr>
        <p:spPr>
          <a:xfrm>
            <a:off x="5074333" y="5206160"/>
            <a:ext cx="35137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0" dirty="0"/>
              <a:t>p</a:t>
            </a:r>
            <a:r>
              <a:rPr lang="en-US" sz="1400" b="0" baseline="-25000" dirty="0"/>
              <a:t>1</a:t>
            </a:r>
            <a:endParaRPr lang="en-US" b="0" baseline="-25000" dirty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BDAECA59-D35C-9F1C-CCA1-3168185D7444}"/>
              </a:ext>
            </a:extLst>
          </p:cNvPr>
          <p:cNvSpPr txBox="1"/>
          <p:nvPr/>
        </p:nvSpPr>
        <p:spPr>
          <a:xfrm>
            <a:off x="5861141" y="3370006"/>
            <a:ext cx="35137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0" dirty="0"/>
              <a:t>p</a:t>
            </a:r>
            <a:r>
              <a:rPr lang="en-US" sz="1400" b="0" baseline="-25000" dirty="0"/>
              <a:t>2</a:t>
            </a:r>
            <a:endParaRPr lang="en-US" b="0" baseline="-25000" dirty="0"/>
          </a:p>
        </p:txBody>
      </p:sp>
    </p:spTree>
    <p:extLst>
      <p:ext uri="{BB962C8B-B14F-4D97-AF65-F5344CB8AC3E}">
        <p14:creationId xmlns:p14="http://schemas.microsoft.com/office/powerpoint/2010/main" val="2232706040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5156" name="Picture 4">
            <a:extLst>
              <a:ext uri="{FF2B5EF4-FFF2-40B4-BE49-F238E27FC236}">
                <a16:creationId xmlns:a16="http://schemas.microsoft.com/office/drawing/2014/main" id="{E9348BC9-0447-7EB0-616E-378E51B9A7D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02076" y="2247900"/>
            <a:ext cx="6765925" cy="45989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305154" name="Text Box 2">
            <a:extLst>
              <a:ext uri="{FF2B5EF4-FFF2-40B4-BE49-F238E27FC236}">
                <a16:creationId xmlns:a16="http://schemas.microsoft.com/office/drawing/2014/main" id="{54BC34ED-1D38-E414-C89F-397FF416D66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29640" y="1367631"/>
            <a:ext cx="8548687" cy="92333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en-US" altLang="en-US" b="0" i="1" dirty="0"/>
              <a:t>“how far (</a:t>
            </a:r>
            <a:r>
              <a:rPr lang="en-US" altLang="en-US" b="0" i="1" dirty="0">
                <a:solidFill>
                  <a:srgbClr val="FF0000"/>
                </a:solidFill>
              </a:rPr>
              <a:t>d</a:t>
            </a:r>
            <a:r>
              <a:rPr lang="en-US" altLang="en-US" b="0" i="1" dirty="0"/>
              <a:t>) is point </a:t>
            </a:r>
            <a:r>
              <a:rPr lang="en-US" altLang="en-US" b="0" i="1" dirty="0">
                <a:solidFill>
                  <a:srgbClr val="FF0000"/>
                </a:solidFill>
              </a:rPr>
              <a:t>a</a:t>
            </a:r>
            <a:r>
              <a:rPr lang="en-US" altLang="en-US" b="0" i="1" dirty="0"/>
              <a:t> from the surface of</a:t>
            </a:r>
          </a:p>
          <a:p>
            <a:r>
              <a:rPr lang="en-US" altLang="en-US" b="0" i="1" dirty="0"/>
              <a:t>	a sphere </a:t>
            </a:r>
            <a:r>
              <a:rPr lang="en-US" altLang="en-US" b="0" i="1" dirty="0">
                <a:solidFill>
                  <a:srgbClr val="FF0000"/>
                </a:solidFill>
              </a:rPr>
              <a:t>e </a:t>
            </a:r>
            <a:r>
              <a:rPr lang="en-US" altLang="en-US" b="0" i="1" dirty="0"/>
              <a:t>with center at </a:t>
            </a:r>
            <a:r>
              <a:rPr lang="en-US" altLang="en-US" b="0" i="1" dirty="0">
                <a:solidFill>
                  <a:srgbClr val="FF0000"/>
                </a:solidFill>
              </a:rPr>
              <a:t>c</a:t>
            </a:r>
            <a:r>
              <a:rPr lang="en-US" altLang="en-US" b="0" i="1" dirty="0"/>
              <a:t> and radius </a:t>
            </a:r>
            <a:r>
              <a:rPr lang="en-US" altLang="en-US" b="0" i="1" dirty="0">
                <a:solidFill>
                  <a:srgbClr val="FF0000"/>
                </a:solidFill>
              </a:rPr>
              <a:t>r</a:t>
            </a:r>
            <a:r>
              <a:rPr lang="en-US" altLang="en-US" b="0" i="1" baseline="-25000" dirty="0">
                <a:solidFill>
                  <a:srgbClr val="FF0000"/>
                </a:solidFill>
              </a:rPr>
              <a:t>e</a:t>
            </a:r>
            <a:r>
              <a:rPr lang="en-US" altLang="en-US" b="0" i="1" dirty="0"/>
              <a:t> “</a:t>
            </a:r>
          </a:p>
          <a:p>
            <a:endParaRPr lang="en-US" altLang="en-US" b="0" i="1" dirty="0"/>
          </a:p>
        </p:txBody>
      </p:sp>
      <p:sp>
        <p:nvSpPr>
          <p:cNvPr id="305155" name="Rectangle 3">
            <a:extLst>
              <a:ext uri="{FF2B5EF4-FFF2-40B4-BE49-F238E27FC236}">
                <a16:creationId xmlns:a16="http://schemas.microsoft.com/office/drawing/2014/main" id="{956C6DE0-FBA4-A894-FC56-E89E5D695A0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noFill/>
          <a:ln/>
        </p:spPr>
        <p:txBody>
          <a:bodyPr/>
          <a:lstStyle/>
          <a:p>
            <a:r>
              <a:rPr lang="en-US" altLang="en-US" dirty="0">
                <a:solidFill>
                  <a:schemeClr val="tx1"/>
                </a:solidFill>
              </a:rPr>
              <a:t>inner product / dot product</a:t>
            </a:r>
          </a:p>
        </p:txBody>
      </p:sp>
      <p:sp>
        <p:nvSpPr>
          <p:cNvPr id="305157" name="Rectangle 5">
            <a:extLst>
              <a:ext uri="{FF2B5EF4-FFF2-40B4-BE49-F238E27FC236}">
                <a16:creationId xmlns:a16="http://schemas.microsoft.com/office/drawing/2014/main" id="{4058AD95-D7D7-180F-ACB1-EE1F519515CA}"/>
              </a:ext>
            </a:extLst>
          </p:cNvPr>
          <p:cNvSpPr>
            <a:spLocks noChangeArrowheads="1"/>
          </p:cNvSpPr>
          <p:nvPr/>
        </p:nvSpPr>
        <p:spPr bwMode="auto">
          <a:xfrm>
            <a:off x="7331076" y="3657600"/>
            <a:ext cx="365125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en-US" altLang="en-US" sz="1400" b="0" i="1">
                <a:solidFill>
                  <a:srgbClr val="FF0000"/>
                </a:solidFill>
              </a:rPr>
              <a:t>r</a:t>
            </a:r>
            <a:r>
              <a:rPr lang="en-US" altLang="en-US" sz="1400" b="0" i="1" baseline="-25000">
                <a:solidFill>
                  <a:srgbClr val="FF0000"/>
                </a:solidFill>
              </a:rPr>
              <a:t>e</a:t>
            </a:r>
          </a:p>
        </p:txBody>
      </p:sp>
      <p:sp>
        <p:nvSpPr>
          <p:cNvPr id="305158" name="Line 6">
            <a:extLst>
              <a:ext uri="{FF2B5EF4-FFF2-40B4-BE49-F238E27FC236}">
                <a16:creationId xmlns:a16="http://schemas.microsoft.com/office/drawing/2014/main" id="{EB087E3A-D216-E912-47D2-B9C893E85611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6781801" y="3382963"/>
            <a:ext cx="1235075" cy="595312"/>
          </a:xfrm>
          <a:prstGeom prst="line">
            <a:avLst/>
          </a:prstGeom>
          <a:noFill/>
          <a:ln w="9525">
            <a:solidFill>
              <a:srgbClr val="FF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05159" name="Rectangle 7">
            <a:extLst>
              <a:ext uri="{FF2B5EF4-FFF2-40B4-BE49-F238E27FC236}">
                <a16:creationId xmlns:a16="http://schemas.microsoft.com/office/drawing/2014/main" id="{A86940C5-467B-F4FC-8DD4-20AFCFF4FDC5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70639" y="4664075"/>
            <a:ext cx="282575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 sz="1400" i="1">
                <a:solidFill>
                  <a:srgbClr val="FF0000"/>
                </a:solidFill>
              </a:rPr>
              <a:t>e</a:t>
            </a:r>
          </a:p>
        </p:txBody>
      </p:sp>
      <p:sp>
        <p:nvSpPr>
          <p:cNvPr id="305165" name="Line 13">
            <a:extLst>
              <a:ext uri="{FF2B5EF4-FFF2-40B4-BE49-F238E27FC236}">
                <a16:creationId xmlns:a16="http://schemas.microsoft.com/office/drawing/2014/main" id="{609921AC-9B32-507A-EAB8-F4B5F9840D8A}"/>
              </a:ext>
            </a:extLst>
          </p:cNvPr>
          <p:cNvSpPr>
            <a:spLocks noChangeShapeType="1"/>
          </p:cNvSpPr>
          <p:nvPr/>
        </p:nvSpPr>
        <p:spPr bwMode="auto">
          <a:xfrm>
            <a:off x="8016876" y="4252913"/>
            <a:ext cx="2011363" cy="273050"/>
          </a:xfrm>
          <a:prstGeom prst="line">
            <a:avLst/>
          </a:prstGeom>
          <a:noFill/>
          <a:ln w="9525">
            <a:solidFill>
              <a:srgbClr val="FF0000"/>
            </a:solidFill>
            <a:prstDash val="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05166" name="Rectangle 14">
            <a:extLst>
              <a:ext uri="{FF2B5EF4-FFF2-40B4-BE49-F238E27FC236}">
                <a16:creationId xmlns:a16="http://schemas.microsoft.com/office/drawing/2014/main" id="{CF120D9A-9CE8-82B7-F338-DBED9492D25E}"/>
              </a:ext>
            </a:extLst>
          </p:cNvPr>
          <p:cNvSpPr>
            <a:spLocks noChangeArrowheads="1"/>
          </p:cNvSpPr>
          <p:nvPr/>
        </p:nvSpPr>
        <p:spPr bwMode="auto">
          <a:xfrm>
            <a:off x="8793163" y="4389438"/>
            <a:ext cx="400050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 sz="1400" i="1">
                <a:solidFill>
                  <a:srgbClr val="FF0000"/>
                </a:solidFill>
              </a:rPr>
              <a:t>d?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179" name="Rectangle 3">
            <a:extLst>
              <a:ext uri="{FF2B5EF4-FFF2-40B4-BE49-F238E27FC236}">
                <a16:creationId xmlns:a16="http://schemas.microsoft.com/office/drawing/2014/main" id="{A3A898D1-3D8F-D425-0501-CE9B2527F78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noFill/>
          <a:ln/>
        </p:spPr>
        <p:txBody>
          <a:bodyPr/>
          <a:lstStyle/>
          <a:p>
            <a:r>
              <a:rPr lang="en-US" altLang="en-US">
                <a:solidFill>
                  <a:schemeClr val="tx1"/>
                </a:solidFill>
              </a:rPr>
              <a:t>inner product / dot product</a:t>
            </a:r>
          </a:p>
        </p:txBody>
      </p:sp>
      <p:graphicFrame>
        <p:nvGraphicFramePr>
          <p:cNvPr id="306184" name="Object 8">
            <a:extLst>
              <a:ext uri="{FF2B5EF4-FFF2-40B4-BE49-F238E27FC236}">
                <a16:creationId xmlns:a16="http://schemas.microsoft.com/office/drawing/2014/main" id="{28C8D310-1B27-619C-3484-5DA8C5721EA3}"/>
              </a:ext>
            </a:extLst>
          </p:cNvPr>
          <p:cNvGraphicFramePr>
            <a:graphicFrameLocks noGrp="1" noChangeAspect="1"/>
          </p:cNvGraphicFramePr>
          <p:nvPr>
            <p:ph idx="1"/>
            <p:extLst>
              <p:ext uri="{D42A27DB-BD31-4B8C-83A1-F6EECF244321}">
                <p14:modId xmlns:p14="http://schemas.microsoft.com/office/powerpoint/2010/main" val="489078289"/>
              </p:ext>
            </p:extLst>
          </p:nvPr>
        </p:nvGraphicFramePr>
        <p:xfrm>
          <a:off x="1112520" y="2397919"/>
          <a:ext cx="1008063" cy="5905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736560" imgH="431640" progId="Equation.3">
                  <p:embed/>
                </p:oleObj>
              </mc:Choice>
              <mc:Fallback>
                <p:oleObj name="Equation" r:id="rId2" imgW="736560" imgH="431640" progId="Equation.3">
                  <p:embed/>
                  <p:pic>
                    <p:nvPicPr>
                      <p:cNvPr id="306184" name="Object 8">
                        <a:extLst>
                          <a:ext uri="{FF2B5EF4-FFF2-40B4-BE49-F238E27FC236}">
                            <a16:creationId xmlns:a16="http://schemas.microsoft.com/office/drawing/2014/main" id="{28C8D310-1B27-619C-3484-5DA8C5721EA3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12520" y="2397919"/>
                        <a:ext cx="1008063" cy="5905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306180" name="Picture 4">
            <a:extLst>
              <a:ext uri="{FF2B5EF4-FFF2-40B4-BE49-F238E27FC236}">
                <a16:creationId xmlns:a16="http://schemas.microsoft.com/office/drawing/2014/main" id="{997C0061-4EDE-E909-C39F-8D55B780CFB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02076" y="2247900"/>
            <a:ext cx="6765925" cy="45989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306181" name="Rectangle 5">
            <a:extLst>
              <a:ext uri="{FF2B5EF4-FFF2-40B4-BE49-F238E27FC236}">
                <a16:creationId xmlns:a16="http://schemas.microsoft.com/office/drawing/2014/main" id="{75A16E68-5E24-C19D-696E-A93D71B32F17}"/>
              </a:ext>
            </a:extLst>
          </p:cNvPr>
          <p:cNvSpPr>
            <a:spLocks noChangeArrowheads="1"/>
          </p:cNvSpPr>
          <p:nvPr/>
        </p:nvSpPr>
        <p:spPr bwMode="auto">
          <a:xfrm>
            <a:off x="7331076" y="3657600"/>
            <a:ext cx="365125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en-US" altLang="en-US" sz="1400" b="0" i="1">
                <a:solidFill>
                  <a:srgbClr val="FF0000"/>
                </a:solidFill>
              </a:rPr>
              <a:t>r</a:t>
            </a:r>
            <a:r>
              <a:rPr lang="en-US" altLang="en-US" sz="1400" b="0" i="1" baseline="-25000">
                <a:solidFill>
                  <a:srgbClr val="FF0000"/>
                </a:solidFill>
              </a:rPr>
              <a:t>e</a:t>
            </a:r>
          </a:p>
        </p:txBody>
      </p:sp>
      <p:sp>
        <p:nvSpPr>
          <p:cNvPr id="306182" name="Line 6">
            <a:extLst>
              <a:ext uri="{FF2B5EF4-FFF2-40B4-BE49-F238E27FC236}">
                <a16:creationId xmlns:a16="http://schemas.microsoft.com/office/drawing/2014/main" id="{58D0C4D3-1D87-A54D-CE1B-D2832E5B2AF8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6781801" y="3382963"/>
            <a:ext cx="1235075" cy="595312"/>
          </a:xfrm>
          <a:prstGeom prst="line">
            <a:avLst/>
          </a:prstGeom>
          <a:noFill/>
          <a:ln w="9525">
            <a:solidFill>
              <a:srgbClr val="FF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06183" name="Rectangle 7">
            <a:extLst>
              <a:ext uri="{FF2B5EF4-FFF2-40B4-BE49-F238E27FC236}">
                <a16:creationId xmlns:a16="http://schemas.microsoft.com/office/drawing/2014/main" id="{CE8F8E4F-3FB5-FA8D-49FB-47242998B417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70639" y="4664075"/>
            <a:ext cx="282575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 sz="1400" i="1">
                <a:solidFill>
                  <a:srgbClr val="FF0000"/>
                </a:solidFill>
              </a:rPr>
              <a:t>e</a:t>
            </a:r>
          </a:p>
        </p:txBody>
      </p:sp>
      <p:sp>
        <p:nvSpPr>
          <p:cNvPr id="306185" name="Line 9">
            <a:extLst>
              <a:ext uri="{FF2B5EF4-FFF2-40B4-BE49-F238E27FC236}">
                <a16:creationId xmlns:a16="http://schemas.microsoft.com/office/drawing/2014/main" id="{84AB08B5-5776-1CD4-329B-93BA2F27F641}"/>
              </a:ext>
            </a:extLst>
          </p:cNvPr>
          <p:cNvSpPr>
            <a:spLocks noChangeShapeType="1"/>
          </p:cNvSpPr>
          <p:nvPr/>
        </p:nvSpPr>
        <p:spPr bwMode="auto">
          <a:xfrm>
            <a:off x="8016876" y="4252913"/>
            <a:ext cx="2011363" cy="273050"/>
          </a:xfrm>
          <a:prstGeom prst="line">
            <a:avLst/>
          </a:prstGeom>
          <a:noFill/>
          <a:ln w="9525">
            <a:solidFill>
              <a:srgbClr val="FF0000"/>
            </a:solidFill>
            <a:prstDash val="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06186" name="Rectangle 10">
            <a:extLst>
              <a:ext uri="{FF2B5EF4-FFF2-40B4-BE49-F238E27FC236}">
                <a16:creationId xmlns:a16="http://schemas.microsoft.com/office/drawing/2014/main" id="{5658FE2D-8A43-6433-F502-0C2FA7749C79}"/>
              </a:ext>
            </a:extLst>
          </p:cNvPr>
          <p:cNvSpPr>
            <a:spLocks noChangeArrowheads="1"/>
          </p:cNvSpPr>
          <p:nvPr/>
        </p:nvSpPr>
        <p:spPr bwMode="auto">
          <a:xfrm>
            <a:off x="8793163" y="4389438"/>
            <a:ext cx="292100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 sz="1400" i="1">
                <a:solidFill>
                  <a:srgbClr val="FF0000"/>
                </a:solidFill>
              </a:rPr>
              <a:t>d</a:t>
            </a:r>
          </a:p>
        </p:txBody>
      </p:sp>
      <p:sp>
        <p:nvSpPr>
          <p:cNvPr id="306187" name="Line 11">
            <a:extLst>
              <a:ext uri="{FF2B5EF4-FFF2-40B4-BE49-F238E27FC236}">
                <a16:creationId xmlns:a16="http://schemas.microsoft.com/office/drawing/2014/main" id="{6CCF2001-4E8E-C06F-4BCB-679ABEF6D936}"/>
              </a:ext>
            </a:extLst>
          </p:cNvPr>
          <p:cNvSpPr>
            <a:spLocks noChangeShapeType="1"/>
          </p:cNvSpPr>
          <p:nvPr/>
        </p:nvSpPr>
        <p:spPr bwMode="auto">
          <a:xfrm>
            <a:off x="6781801" y="4024313"/>
            <a:ext cx="3292475" cy="455612"/>
          </a:xfrm>
          <a:prstGeom prst="line">
            <a:avLst/>
          </a:prstGeom>
          <a:noFill/>
          <a:ln w="38100">
            <a:solidFill>
              <a:srgbClr val="00FF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graphicFrame>
        <p:nvGraphicFramePr>
          <p:cNvPr id="306188" name="Object 12">
            <a:extLst>
              <a:ext uri="{FF2B5EF4-FFF2-40B4-BE49-F238E27FC236}">
                <a16:creationId xmlns:a16="http://schemas.microsoft.com/office/drawing/2014/main" id="{44CDBB21-02B9-F1AD-0ED5-02CA925C9A6E}"/>
              </a:ext>
            </a:extLst>
          </p:cNvPr>
          <p:cNvGraphicFramePr>
            <a:graphicFrameLocks noChangeAspect="1"/>
          </p:cNvGraphicFramePr>
          <p:nvPr/>
        </p:nvGraphicFramePr>
        <p:xfrm>
          <a:off x="8245476" y="3840164"/>
          <a:ext cx="277813" cy="382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203040" imgH="279360" progId="Equation.3">
                  <p:embed/>
                </p:oleObj>
              </mc:Choice>
              <mc:Fallback>
                <p:oleObj name="Equation" r:id="rId5" imgW="203040" imgH="279360" progId="Equation.3">
                  <p:embed/>
                  <p:pic>
                    <p:nvPicPr>
                      <p:cNvPr id="306188" name="Object 12">
                        <a:extLst>
                          <a:ext uri="{FF2B5EF4-FFF2-40B4-BE49-F238E27FC236}">
                            <a16:creationId xmlns:a16="http://schemas.microsoft.com/office/drawing/2014/main" id="{44CDBB21-02B9-F1AD-0ED5-02CA925C9A6E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245476" y="3840164"/>
                        <a:ext cx="277813" cy="3825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ext Box 2">
            <a:extLst>
              <a:ext uri="{FF2B5EF4-FFF2-40B4-BE49-F238E27FC236}">
                <a16:creationId xmlns:a16="http://schemas.microsoft.com/office/drawing/2014/main" id="{E44976B6-6AFF-748E-D239-C83F287A53E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29640" y="1367631"/>
            <a:ext cx="8548687" cy="92333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en-US" altLang="en-US" b="0" i="1" dirty="0"/>
              <a:t>“how far (</a:t>
            </a:r>
            <a:r>
              <a:rPr lang="en-US" altLang="en-US" b="0" i="1" dirty="0">
                <a:solidFill>
                  <a:srgbClr val="FF0000"/>
                </a:solidFill>
              </a:rPr>
              <a:t>d</a:t>
            </a:r>
            <a:r>
              <a:rPr lang="en-US" altLang="en-US" b="0" i="1" dirty="0"/>
              <a:t>) is point </a:t>
            </a:r>
            <a:r>
              <a:rPr lang="en-US" altLang="en-US" b="0" i="1" dirty="0">
                <a:solidFill>
                  <a:srgbClr val="FF0000"/>
                </a:solidFill>
              </a:rPr>
              <a:t>a</a:t>
            </a:r>
            <a:r>
              <a:rPr lang="en-US" altLang="en-US" b="0" i="1" dirty="0"/>
              <a:t> from the surface of</a:t>
            </a:r>
          </a:p>
          <a:p>
            <a:r>
              <a:rPr lang="en-US" altLang="en-US" b="0" i="1" dirty="0"/>
              <a:t>	a sphere </a:t>
            </a:r>
            <a:r>
              <a:rPr lang="en-US" altLang="en-US" b="0" i="1" dirty="0">
                <a:solidFill>
                  <a:srgbClr val="FF0000"/>
                </a:solidFill>
              </a:rPr>
              <a:t>e </a:t>
            </a:r>
            <a:r>
              <a:rPr lang="en-US" altLang="en-US" b="0" i="1" dirty="0"/>
              <a:t>with center at </a:t>
            </a:r>
            <a:r>
              <a:rPr lang="en-US" altLang="en-US" b="0" i="1" dirty="0">
                <a:solidFill>
                  <a:srgbClr val="FF0000"/>
                </a:solidFill>
              </a:rPr>
              <a:t>c</a:t>
            </a:r>
            <a:r>
              <a:rPr lang="en-US" altLang="en-US" b="0" i="1" dirty="0"/>
              <a:t> and radius </a:t>
            </a:r>
            <a:r>
              <a:rPr lang="en-US" altLang="en-US" b="0" i="1" dirty="0">
                <a:solidFill>
                  <a:srgbClr val="FF0000"/>
                </a:solidFill>
              </a:rPr>
              <a:t>r</a:t>
            </a:r>
            <a:r>
              <a:rPr lang="en-US" altLang="en-US" b="0" i="1" baseline="-25000" dirty="0">
                <a:solidFill>
                  <a:srgbClr val="FF0000"/>
                </a:solidFill>
              </a:rPr>
              <a:t>e</a:t>
            </a:r>
            <a:r>
              <a:rPr lang="en-US" altLang="en-US" b="0" i="1" dirty="0"/>
              <a:t> “</a:t>
            </a:r>
          </a:p>
          <a:p>
            <a:endParaRPr lang="en-US" altLang="en-US" b="0" i="1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9517" name="Rectangle 29">
            <a:extLst>
              <a:ext uri="{FF2B5EF4-FFF2-40B4-BE49-F238E27FC236}">
                <a16:creationId xmlns:a16="http://schemas.microsoft.com/office/drawing/2014/main" id="{03B5F094-B036-FBCE-8897-033D64B2856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838200" y="365125"/>
            <a:ext cx="10515600" cy="686435"/>
          </a:xfrm>
          <a:noFill/>
          <a:ln/>
        </p:spPr>
        <p:txBody>
          <a:bodyPr>
            <a:normAutofit fontScale="90000"/>
          </a:bodyPr>
          <a:lstStyle/>
          <a:p>
            <a:r>
              <a:rPr lang="en-US" altLang="en-US" dirty="0">
                <a:solidFill>
                  <a:schemeClr val="tx1"/>
                </a:solidFill>
              </a:rPr>
              <a:t>Cross product</a:t>
            </a:r>
          </a:p>
        </p:txBody>
      </p:sp>
      <p:graphicFrame>
        <p:nvGraphicFramePr>
          <p:cNvPr id="319518" name="Object 30">
            <a:extLst>
              <a:ext uri="{FF2B5EF4-FFF2-40B4-BE49-F238E27FC236}">
                <a16:creationId xmlns:a16="http://schemas.microsoft.com/office/drawing/2014/main" id="{3592960D-4A14-25CA-F8A3-9473ADC28632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892657"/>
              </p:ext>
            </p:extLst>
          </p:nvPr>
        </p:nvGraphicFramePr>
        <p:xfrm>
          <a:off x="1341120" y="6035040"/>
          <a:ext cx="1852613" cy="6873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698400" imgH="215640" progId="Equation.3">
                  <p:embed/>
                </p:oleObj>
              </mc:Choice>
              <mc:Fallback>
                <p:oleObj name="Equation" r:id="rId2" imgW="698400" imgH="215640" progId="Equation.3">
                  <p:embed/>
                  <p:pic>
                    <p:nvPicPr>
                      <p:cNvPr id="319518" name="Object 30">
                        <a:extLst>
                          <a:ext uri="{FF2B5EF4-FFF2-40B4-BE49-F238E27FC236}">
                            <a16:creationId xmlns:a16="http://schemas.microsoft.com/office/drawing/2014/main" id="{3592960D-4A14-25CA-F8A3-9473ADC28632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41120" y="6035040"/>
                        <a:ext cx="1852613" cy="6873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1026" name="Picture 2" descr="Cross products (article) | Khan Academy">
            <a:extLst>
              <a:ext uri="{FF2B5EF4-FFF2-40B4-BE49-F238E27FC236}">
                <a16:creationId xmlns:a16="http://schemas.microsoft.com/office/drawing/2014/main" id="{B703E107-B5AD-9A35-0325-728B4668AC0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5360" y="3429000"/>
            <a:ext cx="3154680" cy="24591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5F5BFE21-B9A0-CAE0-0A39-1334D035EEFD}"/>
              </a:ext>
            </a:extLst>
          </p:cNvPr>
          <p:cNvSpPr txBox="1"/>
          <p:nvPr/>
        </p:nvSpPr>
        <p:spPr>
          <a:xfrm>
            <a:off x="1044787" y="1280160"/>
            <a:ext cx="8852616" cy="286232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The cross product of 2 vectors is another way of computing a multiplication of 2 vectors.</a:t>
            </a:r>
          </a:p>
          <a:p>
            <a:r>
              <a:rPr lang="en-US" b="1" dirty="0"/>
              <a:t>a x b </a:t>
            </a:r>
            <a:r>
              <a:rPr lang="en-US" dirty="0"/>
              <a:t>produces a new vector </a:t>
            </a:r>
            <a:r>
              <a:rPr lang="en-US" b="1" dirty="0"/>
              <a:t>c</a:t>
            </a:r>
            <a:r>
              <a:rPr lang="en-US" dirty="0"/>
              <a:t>,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perpendicular to the plane defined by a and b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With the magnitude </a:t>
            </a:r>
            <a:r>
              <a:rPr lang="en-US" b="1" dirty="0"/>
              <a:t>|a| |b| sin(</a:t>
            </a:r>
            <a:r>
              <a:rPr lang="en-US" b="1" dirty="0" err="1">
                <a:latin typeface="Symbol" panose="05050102010706020507" pitchFamily="18" charset="2"/>
              </a:rPr>
              <a:t>Ð</a:t>
            </a:r>
            <a:r>
              <a:rPr lang="en-US" b="1" dirty="0" err="1"/>
              <a:t>ab</a:t>
            </a:r>
            <a:r>
              <a:rPr lang="en-US" b="1" dirty="0"/>
              <a:t>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In the direction defined by the </a:t>
            </a:r>
            <a:r>
              <a:rPr lang="en-US" b="1" dirty="0"/>
              <a:t>right hand rule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This magnitude is equal to the area defined by the quadrilateral defined by </a:t>
            </a:r>
            <a:r>
              <a:rPr lang="en-US" b="1" dirty="0"/>
              <a:t>a </a:t>
            </a:r>
            <a:r>
              <a:rPr lang="en-US" dirty="0"/>
              <a:t>and </a:t>
            </a:r>
            <a:r>
              <a:rPr lang="en-US" b="1" dirty="0"/>
              <a:t>b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If a and b are unitized, |</a:t>
            </a:r>
            <a:r>
              <a:rPr lang="en-US" dirty="0" err="1"/>
              <a:t>axb</a:t>
            </a:r>
            <a:r>
              <a:rPr lang="en-US" dirty="0"/>
              <a:t>| = sin (</a:t>
            </a:r>
            <a:r>
              <a:rPr lang="en-US" dirty="0">
                <a:latin typeface="Symbol" panose="05050102010706020507" pitchFamily="18" charset="2"/>
              </a:rPr>
              <a:t>ÐQ</a:t>
            </a:r>
            <a:r>
              <a:rPr lang="en-US" dirty="0"/>
              <a:t>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Cross product is a great way to determine facts about perpendicularity,</a:t>
            </a:r>
            <a:br>
              <a:rPr lang="en-US" dirty="0"/>
            </a:br>
            <a:r>
              <a:rPr lang="en-US" dirty="0"/>
              <a:t>where dot product is a great way to determine facts about parallelism.</a:t>
            </a:r>
          </a:p>
          <a:p>
            <a:endParaRPr lang="en-US" dirty="0">
              <a:latin typeface="Symbol" panose="05050102010706020507" pitchFamily="18" charset="2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41675D-04B0-41A6-0EC5-AE2625C9D0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9517" name="Rectangle 29">
            <a:extLst>
              <a:ext uri="{FF2B5EF4-FFF2-40B4-BE49-F238E27FC236}">
                <a16:creationId xmlns:a16="http://schemas.microsoft.com/office/drawing/2014/main" id="{BE99A785-FC3E-D993-C66A-D04C546F670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838200" y="365125"/>
            <a:ext cx="10515600" cy="686435"/>
          </a:xfrm>
          <a:noFill/>
          <a:ln/>
        </p:spPr>
        <p:txBody>
          <a:bodyPr>
            <a:normAutofit fontScale="90000"/>
          </a:bodyPr>
          <a:lstStyle/>
          <a:p>
            <a:r>
              <a:rPr lang="en-US" altLang="en-US" dirty="0"/>
              <a:t>Computing the c</a:t>
            </a:r>
            <a:r>
              <a:rPr lang="en-US" altLang="en-US" dirty="0">
                <a:solidFill>
                  <a:schemeClr val="tx1"/>
                </a:solidFill>
              </a:rPr>
              <a:t>ross product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7E6CAC79-2BB2-9611-721F-FA188B71521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6800" y="1417320"/>
            <a:ext cx="8954750" cy="2734057"/>
          </a:xfrm>
          <a:prstGeom prst="rect">
            <a:avLst/>
          </a:prstGeom>
        </p:spPr>
      </p:pic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E8A435FE-452D-6E27-224B-61A90D0AECC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61180280"/>
              </p:ext>
            </p:extLst>
          </p:nvPr>
        </p:nvGraphicFramePr>
        <p:xfrm>
          <a:off x="1112520" y="2240280"/>
          <a:ext cx="2045547" cy="191109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81849">
                  <a:extLst>
                    <a:ext uri="{9D8B030D-6E8A-4147-A177-3AD203B41FA5}">
                      <a16:colId xmlns:a16="http://schemas.microsoft.com/office/drawing/2014/main" val="3758880993"/>
                    </a:ext>
                  </a:extLst>
                </a:gridCol>
                <a:gridCol w="681849">
                  <a:extLst>
                    <a:ext uri="{9D8B030D-6E8A-4147-A177-3AD203B41FA5}">
                      <a16:colId xmlns:a16="http://schemas.microsoft.com/office/drawing/2014/main" val="3844293932"/>
                    </a:ext>
                  </a:extLst>
                </a:gridCol>
                <a:gridCol w="681849">
                  <a:extLst>
                    <a:ext uri="{9D8B030D-6E8A-4147-A177-3AD203B41FA5}">
                      <a16:colId xmlns:a16="http://schemas.microsoft.com/office/drawing/2014/main" val="4181108786"/>
                    </a:ext>
                  </a:extLst>
                </a:gridCol>
              </a:tblGrid>
              <a:tr h="630998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37620923"/>
                  </a:ext>
                </a:extLst>
              </a:tr>
              <a:tr h="649101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09921845"/>
                  </a:ext>
                </a:extLst>
              </a:tr>
              <a:tr h="630998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9637326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198057295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C25CD2-26DB-9F73-54CC-FFE45BC4F2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890" name="Text Box 2">
            <a:extLst>
              <a:ext uri="{FF2B5EF4-FFF2-40B4-BE49-F238E27FC236}">
                <a16:creationId xmlns:a16="http://schemas.microsoft.com/office/drawing/2014/main" id="{DC828BAD-97CB-A07A-013E-3E438FAD51C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38544" y="1397869"/>
            <a:ext cx="9720896" cy="230832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r>
              <a:rPr lang="en-US" altLang="en-US" b="0" i="1" dirty="0"/>
              <a:t>Ask the user for three points, representing the start point of 2 vectors and the 2 end points. Using only vector functions and scalar algebra </a:t>
            </a:r>
            <a:r>
              <a:rPr lang="en-US" altLang="en-US" b="0" dirty="0"/>
              <a:t>(+,-,*,/,</a:t>
            </a:r>
            <a:r>
              <a:rPr lang="en-US" dirty="0"/>
              <a:t> ·, </a:t>
            </a:r>
            <a:r>
              <a:rPr lang="en-US" b="0" dirty="0" err="1"/>
              <a:t>acos</a:t>
            </a:r>
            <a:r>
              <a:rPr lang="en-US" altLang="en-US" b="0" dirty="0"/>
              <a:t>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en-US" b="0" i="1" dirty="0"/>
              <a:t>Determine the lengths of each vector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en-US" b="0" i="1" dirty="0"/>
              <a:t>Determine the angle &lt;ab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en-US" b="0" i="1" dirty="0"/>
              <a:t>Determine the projection of the end point of b on a</a:t>
            </a:r>
          </a:p>
          <a:p>
            <a:endParaRPr lang="en-US" altLang="en-US" i="1" dirty="0"/>
          </a:p>
          <a:p>
            <a:r>
              <a:rPr lang="en-US" altLang="en-US" b="0" i="1" dirty="0"/>
              <a:t>Ask the user for a 4</a:t>
            </a:r>
            <a:r>
              <a:rPr lang="en-US" altLang="en-US" b="0" i="1" baseline="30000" dirty="0"/>
              <a:t>th</a:t>
            </a:r>
            <a:r>
              <a:rPr lang="en-US" altLang="en-US" b="0" i="1" dirty="0"/>
              <a:t> point </a:t>
            </a:r>
            <a:r>
              <a:rPr lang="en-US" altLang="en-US" b="1" i="1" dirty="0"/>
              <a:t>p</a:t>
            </a:r>
            <a:r>
              <a:rPr lang="en-US" altLang="en-US" b="1" i="1" baseline="-25000" dirty="0"/>
              <a:t>3</a:t>
            </a:r>
            <a:r>
              <a:rPr lang="en-US" altLang="en-US" b="0" i="1" dirty="0"/>
              <a:t>, and determine the distance from the plane </a:t>
            </a:r>
            <a:r>
              <a:rPr lang="en-US" altLang="en-US" b="1" i="1" dirty="0"/>
              <a:t>p</a:t>
            </a:r>
            <a:r>
              <a:rPr lang="en-US" altLang="en-US" b="1" i="1" baseline="-25000" dirty="0"/>
              <a:t>0</a:t>
            </a:r>
            <a:r>
              <a:rPr lang="en-US" altLang="en-US" b="1" i="1" dirty="0"/>
              <a:t>p</a:t>
            </a:r>
            <a:r>
              <a:rPr lang="en-US" altLang="en-US" b="1" i="1" baseline="-25000" dirty="0"/>
              <a:t>1</a:t>
            </a:r>
            <a:r>
              <a:rPr lang="en-US" altLang="en-US" b="1" i="1" dirty="0"/>
              <a:t>p</a:t>
            </a:r>
            <a:r>
              <a:rPr lang="en-US" altLang="en-US" b="1" i="1" baseline="-25000" dirty="0"/>
              <a:t>2</a:t>
            </a:r>
            <a:r>
              <a:rPr lang="en-US" altLang="en-US" b="0" i="1" baseline="-25000" dirty="0"/>
              <a:t> </a:t>
            </a:r>
            <a:r>
              <a:rPr lang="en-US" altLang="en-US" b="0" i="1" dirty="0"/>
              <a:t>+ to </a:t>
            </a:r>
            <a:r>
              <a:rPr lang="en-US" altLang="en-US" b="1" i="1" dirty="0"/>
              <a:t>p</a:t>
            </a:r>
            <a:r>
              <a:rPr lang="en-US" altLang="en-US" b="1" i="1" baseline="-25000" dirty="0"/>
              <a:t>3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en-US" b="0" i="1" dirty="0"/>
          </a:p>
        </p:txBody>
      </p:sp>
      <p:sp>
        <p:nvSpPr>
          <p:cNvPr id="293891" name="Rectangle 3">
            <a:extLst>
              <a:ext uri="{FF2B5EF4-FFF2-40B4-BE49-F238E27FC236}">
                <a16:creationId xmlns:a16="http://schemas.microsoft.com/office/drawing/2014/main" id="{0B7CD9DB-421D-E099-C355-80BF5FA7D46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noFill/>
          <a:ln/>
        </p:spPr>
        <p:txBody>
          <a:bodyPr/>
          <a:lstStyle/>
          <a:p>
            <a:r>
              <a:rPr lang="en-US" altLang="en-US" dirty="0">
                <a:solidFill>
                  <a:schemeClr val="tx1"/>
                </a:solidFill>
              </a:rPr>
              <a:t>In class exercise</a:t>
            </a:r>
          </a:p>
        </p:txBody>
      </p:sp>
      <p:graphicFrame>
        <p:nvGraphicFramePr>
          <p:cNvPr id="7" name="Object 13">
            <a:extLst>
              <a:ext uri="{FF2B5EF4-FFF2-40B4-BE49-F238E27FC236}">
                <a16:creationId xmlns:a16="http://schemas.microsoft.com/office/drawing/2014/main" id="{0124359D-0D8E-434E-4616-23CBA19C64F3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502515342"/>
              </p:ext>
            </p:extLst>
          </p:nvPr>
        </p:nvGraphicFramePr>
        <p:xfrm>
          <a:off x="7001193" y="5492115"/>
          <a:ext cx="192087" cy="3143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39680" imgH="190440" progId="Equation.3">
                  <p:embed/>
                </p:oleObj>
              </mc:Choice>
              <mc:Fallback>
                <p:oleObj name="Equation" r:id="rId2" imgW="139680" imgH="190440" progId="Equation.3">
                  <p:embed/>
                  <p:pic>
                    <p:nvPicPr>
                      <p:cNvPr id="7" name="Object 13">
                        <a:extLst>
                          <a:ext uri="{FF2B5EF4-FFF2-40B4-BE49-F238E27FC236}">
                            <a16:creationId xmlns:a16="http://schemas.microsoft.com/office/drawing/2014/main" id="{EEBECE59-576F-E371-F594-496C7FE99883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001193" y="5492115"/>
                        <a:ext cx="192087" cy="3143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Object 14">
            <a:extLst>
              <a:ext uri="{FF2B5EF4-FFF2-40B4-BE49-F238E27FC236}">
                <a16:creationId xmlns:a16="http://schemas.microsoft.com/office/drawing/2014/main" id="{397C2C52-300B-EAA3-2953-C0B9496C43EF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559323005"/>
              </p:ext>
            </p:extLst>
          </p:nvPr>
        </p:nvGraphicFramePr>
        <p:xfrm>
          <a:off x="8281353" y="4572000"/>
          <a:ext cx="192087" cy="355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139680" imgH="215640" progId="Equation.3">
                  <p:embed/>
                </p:oleObj>
              </mc:Choice>
              <mc:Fallback>
                <p:oleObj name="Equation" r:id="rId4" imgW="139680" imgH="215640" progId="Equation.3">
                  <p:embed/>
                  <p:pic>
                    <p:nvPicPr>
                      <p:cNvPr id="8" name="Object 14">
                        <a:extLst>
                          <a:ext uri="{FF2B5EF4-FFF2-40B4-BE49-F238E27FC236}">
                            <a16:creationId xmlns:a16="http://schemas.microsoft.com/office/drawing/2014/main" id="{3B59B7F4-E300-E69C-960A-2A462B002EA7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281353" y="4572000"/>
                        <a:ext cx="192087" cy="355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0" name="Group 9">
            <a:extLst>
              <a:ext uri="{FF2B5EF4-FFF2-40B4-BE49-F238E27FC236}">
                <a16:creationId xmlns:a16="http://schemas.microsoft.com/office/drawing/2014/main" id="{19EBA02C-CDBA-741D-8E81-C6F6141A24D1}"/>
              </a:ext>
            </a:extLst>
          </p:cNvPr>
          <p:cNvGrpSpPr/>
          <p:nvPr/>
        </p:nvGrpSpPr>
        <p:grpSpPr>
          <a:xfrm rot="2133268">
            <a:off x="7236039" y="4280837"/>
            <a:ext cx="1646237" cy="1554163"/>
            <a:chOff x="6354763" y="3886200"/>
            <a:chExt cx="1646237" cy="1554163"/>
          </a:xfrm>
        </p:grpSpPr>
        <p:sp>
          <p:nvSpPr>
            <p:cNvPr id="5" name="Line 11">
              <a:extLst>
                <a:ext uri="{FF2B5EF4-FFF2-40B4-BE49-F238E27FC236}">
                  <a16:creationId xmlns:a16="http://schemas.microsoft.com/office/drawing/2014/main" id="{5AFC8342-4CF7-97DA-5DF8-30141FCEE3FF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6354763" y="3886200"/>
              <a:ext cx="1646237" cy="1554163"/>
            </a:xfrm>
            <a:prstGeom prst="line">
              <a:avLst/>
            </a:prstGeom>
            <a:noFill/>
            <a:ln w="38100">
              <a:solidFill>
                <a:srgbClr val="339966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" name="Line 12">
              <a:extLst>
                <a:ext uri="{FF2B5EF4-FFF2-40B4-BE49-F238E27FC236}">
                  <a16:creationId xmlns:a16="http://schemas.microsoft.com/office/drawing/2014/main" id="{ED9DA245-977F-ED59-13BB-28582E3149F8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6354763" y="5440363"/>
              <a:ext cx="1050925" cy="0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" name="Arc 15">
              <a:extLst>
                <a:ext uri="{FF2B5EF4-FFF2-40B4-BE49-F238E27FC236}">
                  <a16:creationId xmlns:a16="http://schemas.microsoft.com/office/drawing/2014/main" id="{1E5861FC-2169-6C99-26B5-3A7D4917BEB2}"/>
                </a:ext>
              </a:extLst>
            </p:cNvPr>
            <p:cNvSpPr>
              <a:spLocks/>
            </p:cNvSpPr>
            <p:nvPr/>
          </p:nvSpPr>
          <p:spPr bwMode="auto">
            <a:xfrm>
              <a:off x="6719888" y="4933950"/>
              <a:ext cx="411162" cy="504825"/>
            </a:xfrm>
            <a:custGeom>
              <a:avLst/>
              <a:gdLst>
                <a:gd name="G0" fmla="+- 0 0 0"/>
                <a:gd name="G1" fmla="+- 19916 0 0"/>
                <a:gd name="G2" fmla="+- 21600 0 0"/>
                <a:gd name="T0" fmla="*/ 8362 w 21600"/>
                <a:gd name="T1" fmla="*/ 0 h 19916"/>
                <a:gd name="T2" fmla="*/ 21600 w 21600"/>
                <a:gd name="T3" fmla="*/ 19916 h 19916"/>
                <a:gd name="T4" fmla="*/ 0 w 21600"/>
                <a:gd name="T5" fmla="*/ 19916 h 199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1600" h="19916" fill="none" extrusionOk="0">
                  <a:moveTo>
                    <a:pt x="8361" y="0"/>
                  </a:moveTo>
                  <a:cubicBezTo>
                    <a:pt x="16382" y="3367"/>
                    <a:pt x="21600" y="11217"/>
                    <a:pt x="21600" y="19916"/>
                  </a:cubicBezTo>
                </a:path>
                <a:path w="21600" h="19916" stroke="0" extrusionOk="0">
                  <a:moveTo>
                    <a:pt x="8361" y="0"/>
                  </a:moveTo>
                  <a:cubicBezTo>
                    <a:pt x="16382" y="3367"/>
                    <a:pt x="21600" y="11217"/>
                    <a:pt x="21600" y="19916"/>
                  </a:cubicBezTo>
                  <a:lnTo>
                    <a:pt x="0" y="19916"/>
                  </a:lnTo>
                  <a:close/>
                </a:path>
              </a:pathLst>
            </a:cu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sp>
        <p:nvSpPr>
          <p:cNvPr id="16" name="Oval 15">
            <a:extLst>
              <a:ext uri="{FF2B5EF4-FFF2-40B4-BE49-F238E27FC236}">
                <a16:creationId xmlns:a16="http://schemas.microsoft.com/office/drawing/2014/main" id="{B0607474-204E-4DC4-E925-DEF3146F5765}"/>
              </a:ext>
            </a:extLst>
          </p:cNvPr>
          <p:cNvSpPr/>
          <p:nvPr/>
        </p:nvSpPr>
        <p:spPr bwMode="auto">
          <a:xfrm>
            <a:off x="7718315" y="5760102"/>
            <a:ext cx="91440" cy="97042"/>
          </a:xfrm>
          <a:prstGeom prst="ellips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46048B65-34E0-CD6E-96B3-C21E44C95687}"/>
              </a:ext>
            </a:extLst>
          </p:cNvPr>
          <p:cNvSpPr/>
          <p:nvPr/>
        </p:nvSpPr>
        <p:spPr bwMode="auto">
          <a:xfrm>
            <a:off x="9096285" y="4847751"/>
            <a:ext cx="91440" cy="97042"/>
          </a:xfrm>
          <a:prstGeom prst="ellips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21AF0FE3-4B6F-89D3-DE5F-A396742E2DBB}"/>
              </a:ext>
            </a:extLst>
          </p:cNvPr>
          <p:cNvSpPr/>
          <p:nvPr/>
        </p:nvSpPr>
        <p:spPr bwMode="auto">
          <a:xfrm>
            <a:off x="6918960" y="4017758"/>
            <a:ext cx="91440" cy="97042"/>
          </a:xfrm>
          <a:prstGeom prst="ellips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4F7788AF-E245-649F-3101-A5EA38FC756E}"/>
              </a:ext>
            </a:extLst>
          </p:cNvPr>
          <p:cNvSpPr txBox="1"/>
          <p:nvPr/>
        </p:nvSpPr>
        <p:spPr>
          <a:xfrm>
            <a:off x="7610254" y="5851226"/>
            <a:ext cx="35137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0" dirty="0"/>
              <a:t>p</a:t>
            </a:r>
            <a:r>
              <a:rPr lang="en-US" sz="1400" b="0" baseline="-25000" dirty="0"/>
              <a:t>1</a:t>
            </a:r>
            <a:endParaRPr lang="en-US" b="0" baseline="-25000" dirty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467AF88B-42D5-48BB-7DF6-5533959656AF}"/>
              </a:ext>
            </a:extLst>
          </p:cNvPr>
          <p:cNvSpPr txBox="1"/>
          <p:nvPr/>
        </p:nvSpPr>
        <p:spPr>
          <a:xfrm>
            <a:off x="9180672" y="4657201"/>
            <a:ext cx="35137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0" dirty="0"/>
              <a:t>p</a:t>
            </a:r>
            <a:r>
              <a:rPr lang="en-US" sz="1400" b="0" baseline="-25000" dirty="0"/>
              <a:t>2</a:t>
            </a:r>
            <a:endParaRPr lang="en-US" b="0" baseline="-25000" dirty="0"/>
          </a:p>
        </p:txBody>
      </p:sp>
      <p:sp>
        <p:nvSpPr>
          <p:cNvPr id="13" name="Line 11">
            <a:extLst>
              <a:ext uri="{FF2B5EF4-FFF2-40B4-BE49-F238E27FC236}">
                <a16:creationId xmlns:a16="http://schemas.microsoft.com/office/drawing/2014/main" id="{F47953C9-9495-EB66-55D9-15349790A3D3}"/>
              </a:ext>
            </a:extLst>
          </p:cNvPr>
          <p:cNvSpPr>
            <a:spLocks noChangeShapeType="1"/>
          </p:cNvSpPr>
          <p:nvPr/>
        </p:nvSpPr>
        <p:spPr bwMode="auto">
          <a:xfrm rot="2133268" flipH="1" flipV="1">
            <a:off x="6612557" y="4174634"/>
            <a:ext cx="700163" cy="978720"/>
          </a:xfrm>
          <a:prstGeom prst="line">
            <a:avLst/>
          </a:prstGeom>
          <a:noFill/>
          <a:ln w="38100">
            <a:solidFill>
              <a:schemeClr val="accent4">
                <a:lumMod val="40000"/>
                <a:lumOff val="60000"/>
              </a:schemeClr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C930D852-40BC-5484-4F62-A7FA194EF012}"/>
              </a:ext>
            </a:extLst>
          </p:cNvPr>
          <p:cNvSpPr txBox="1"/>
          <p:nvPr/>
        </p:nvSpPr>
        <p:spPr>
          <a:xfrm>
            <a:off x="6782369" y="3706193"/>
            <a:ext cx="34977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0" dirty="0"/>
              <a:t>p</a:t>
            </a:r>
            <a:r>
              <a:rPr lang="en-US" sz="1400" baseline="-25000" dirty="0"/>
              <a:t>3</a:t>
            </a:r>
            <a:endParaRPr lang="en-US" b="0" baseline="-25000" dirty="0"/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7B509947-E93C-D3B6-C9B0-B008E232D82F}"/>
              </a:ext>
            </a:extLst>
          </p:cNvPr>
          <p:cNvSpPr/>
          <p:nvPr/>
        </p:nvSpPr>
        <p:spPr bwMode="auto">
          <a:xfrm>
            <a:off x="6912338" y="5145759"/>
            <a:ext cx="91440" cy="97042"/>
          </a:xfrm>
          <a:prstGeom prst="ellips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10FBB43A-8EA5-34E9-D270-025B9CCDAD7C}"/>
              </a:ext>
            </a:extLst>
          </p:cNvPr>
          <p:cNvSpPr txBox="1"/>
          <p:nvPr/>
        </p:nvSpPr>
        <p:spPr>
          <a:xfrm>
            <a:off x="6636255" y="4937162"/>
            <a:ext cx="35137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0" dirty="0"/>
              <a:t>p</a:t>
            </a:r>
            <a:r>
              <a:rPr lang="en-US" sz="1400" b="0" baseline="-25000" dirty="0"/>
              <a:t>0</a:t>
            </a:r>
            <a:endParaRPr lang="en-US" b="0" baseline="-25000" dirty="0"/>
          </a:p>
        </p:txBody>
      </p:sp>
    </p:spTree>
    <p:extLst>
      <p:ext uri="{BB962C8B-B14F-4D97-AF65-F5344CB8AC3E}">
        <p14:creationId xmlns:p14="http://schemas.microsoft.com/office/powerpoint/2010/main" val="1330497866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538" name="Rectangle 2">
            <a:extLst>
              <a:ext uri="{FF2B5EF4-FFF2-40B4-BE49-F238E27FC236}">
                <a16:creationId xmlns:a16="http://schemas.microsoft.com/office/drawing/2014/main" id="{645A1284-2D9A-0790-F2B8-BCB416D3E56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838200" y="365125"/>
            <a:ext cx="10515600" cy="594995"/>
          </a:xfrm>
        </p:spPr>
        <p:txBody>
          <a:bodyPr>
            <a:normAutofit fontScale="90000"/>
          </a:bodyPr>
          <a:lstStyle/>
          <a:p>
            <a:r>
              <a:rPr lang="en-US" altLang="en-US" dirty="0"/>
              <a:t>Transformation matrices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7D570AB8-FE5E-0249-40D9-921C3CFA0FA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960120"/>
            <a:ext cx="10515600" cy="5216843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dirty="0"/>
              <a:t>Matrices are used to do all the basic (“Euclidean” or “linear”)</a:t>
            </a:r>
            <a:br>
              <a:rPr lang="en-US" dirty="0"/>
            </a:br>
            <a:r>
              <a:rPr lang="en-US" dirty="0"/>
              <a:t>object modification in software like Rhino:</a:t>
            </a:r>
          </a:p>
          <a:p>
            <a:r>
              <a:rPr lang="en-US" dirty="0"/>
              <a:t>Translation</a:t>
            </a:r>
          </a:p>
          <a:p>
            <a:r>
              <a:rPr lang="en-US" dirty="0"/>
              <a:t>Rotation</a:t>
            </a:r>
          </a:p>
          <a:p>
            <a:r>
              <a:rPr lang="en-US" dirty="0"/>
              <a:t>Mirror</a:t>
            </a:r>
          </a:p>
          <a:p>
            <a:r>
              <a:rPr lang="en-US" dirty="0"/>
              <a:t>Shear</a:t>
            </a:r>
          </a:p>
          <a:p>
            <a:pPr marL="0" indent="0">
              <a:buNone/>
            </a:pPr>
            <a:r>
              <a:rPr lang="en-US" dirty="0"/>
              <a:t>We do these transformations on each critical point and then connect the shapes together.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The are also used for viewing of objects:</a:t>
            </a:r>
          </a:p>
          <a:p>
            <a:r>
              <a:rPr lang="en-US" dirty="0"/>
              <a:t>Parallel projection</a:t>
            </a:r>
          </a:p>
          <a:p>
            <a:r>
              <a:rPr lang="en-US" dirty="0"/>
              <a:t>Perspective projection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8BAABFB-FEFB-282F-80B9-8141D87C1F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538" name="Rectangle 2">
            <a:extLst>
              <a:ext uri="{FF2B5EF4-FFF2-40B4-BE49-F238E27FC236}">
                <a16:creationId xmlns:a16="http://schemas.microsoft.com/office/drawing/2014/main" id="{DD3E20D6-428C-E883-3BD0-1496E9A1E72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838200" y="395183"/>
            <a:ext cx="10515600" cy="594995"/>
          </a:xfrm>
        </p:spPr>
        <p:txBody>
          <a:bodyPr>
            <a:normAutofit fontScale="90000"/>
          </a:bodyPr>
          <a:lstStyle/>
          <a:p>
            <a:r>
              <a:rPr lang="en-US" altLang="en-US" dirty="0"/>
              <a:t>Transformation matrices - basics</a:t>
            </a:r>
          </a:p>
        </p:txBody>
      </p:sp>
      <p:graphicFrame>
        <p:nvGraphicFramePr>
          <p:cNvPr id="2" name="Group 16">
            <a:extLst>
              <a:ext uri="{FF2B5EF4-FFF2-40B4-BE49-F238E27FC236}">
                <a16:creationId xmlns:a16="http://schemas.microsoft.com/office/drawing/2014/main" id="{F90A4A10-7301-471D-FEE3-C7D5576B1EC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9849396"/>
              </p:ext>
            </p:extLst>
          </p:nvPr>
        </p:nvGraphicFramePr>
        <p:xfrm>
          <a:off x="2712720" y="3403402"/>
          <a:ext cx="1371600" cy="1371600"/>
        </p:xfrm>
        <a:graphic>
          <a:graphicData uri="http://schemas.openxmlformats.org/drawingml/2006/table">
            <a:tbl>
              <a:tblPr/>
              <a:tblGrid>
                <a:gridCol w="457200">
                  <a:extLst>
                    <a:ext uri="{9D8B030D-6E8A-4147-A177-3AD203B41FA5}">
                      <a16:colId xmlns:a16="http://schemas.microsoft.com/office/drawing/2014/main" val="513833293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3094146695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4172825067"/>
                    </a:ext>
                  </a:extLst>
                </a:gridCol>
              </a:tblGrid>
              <a:tr h="45720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2</a:t>
                      </a:r>
                    </a:p>
                  </a:txBody>
                  <a:tcPr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7D7D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0</a:t>
                      </a:r>
                    </a:p>
                  </a:txBody>
                  <a:tcPr anchor="ctr" anchorCtr="1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0</a:t>
                      </a:r>
                    </a:p>
                  </a:txBody>
                  <a:tcPr anchor="ctr" anchorCtr="1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75389585"/>
                  </a:ext>
                </a:extLst>
              </a:tr>
              <a:tr h="45720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0</a:t>
                      </a:r>
                    </a:p>
                  </a:txBody>
                  <a:tcPr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7D7D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2</a:t>
                      </a:r>
                    </a:p>
                  </a:txBody>
                  <a:tcPr anchor="ctr" anchorCtr="1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0</a:t>
                      </a:r>
                    </a:p>
                  </a:txBody>
                  <a:tcPr anchor="ctr" anchorCtr="1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5128215"/>
                  </a:ext>
                </a:extLst>
              </a:tr>
              <a:tr h="45720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0</a:t>
                      </a:r>
                    </a:p>
                  </a:txBody>
                  <a:tcPr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7D7D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0</a:t>
                      </a:r>
                    </a:p>
                  </a:txBody>
                  <a:tcPr anchor="ctr" anchorCtr="1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2</a:t>
                      </a:r>
                    </a:p>
                  </a:txBody>
                  <a:tcPr anchor="ctr" anchorCtr="1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85717563"/>
                  </a:ext>
                </a:extLst>
              </a:tr>
            </a:tbl>
          </a:graphicData>
        </a:graphic>
      </p:graphicFrame>
      <p:graphicFrame>
        <p:nvGraphicFramePr>
          <p:cNvPr id="5" name="Group 6">
            <a:extLst>
              <a:ext uri="{FF2B5EF4-FFF2-40B4-BE49-F238E27FC236}">
                <a16:creationId xmlns:a16="http://schemas.microsoft.com/office/drawing/2014/main" id="{AF2044D4-3FE2-A3AE-9D8D-9332DC6E939E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4062864784"/>
              </p:ext>
            </p:extLst>
          </p:nvPr>
        </p:nvGraphicFramePr>
        <p:xfrm>
          <a:off x="4849734" y="3413542"/>
          <a:ext cx="509588" cy="1371600"/>
        </p:xfrm>
        <a:graphic>
          <a:graphicData uri="http://schemas.openxmlformats.org/drawingml/2006/table">
            <a:tbl>
              <a:tblPr/>
              <a:tblGrid>
                <a:gridCol w="509588">
                  <a:extLst>
                    <a:ext uri="{9D8B030D-6E8A-4147-A177-3AD203B41FA5}">
                      <a16:colId xmlns:a16="http://schemas.microsoft.com/office/drawing/2014/main" val="1718322747"/>
                    </a:ext>
                  </a:extLst>
                </a:gridCol>
              </a:tblGrid>
              <a:tr h="45720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1</a:t>
                      </a:r>
                    </a:p>
                  </a:txBody>
                  <a:tcPr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7D7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06586071"/>
                  </a:ext>
                </a:extLst>
              </a:tr>
              <a:tr h="45720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1</a:t>
                      </a:r>
                    </a:p>
                  </a:txBody>
                  <a:tcPr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81308325"/>
                  </a:ext>
                </a:extLst>
              </a:tr>
              <a:tr h="45720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0</a:t>
                      </a:r>
                    </a:p>
                  </a:txBody>
                  <a:tcPr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66943235"/>
                  </a:ext>
                </a:extLst>
              </a:tr>
            </a:tbl>
          </a:graphicData>
        </a:graphic>
      </p:graphicFrame>
      <p:graphicFrame>
        <p:nvGraphicFramePr>
          <p:cNvPr id="14" name="Group 6">
            <a:extLst>
              <a:ext uri="{FF2B5EF4-FFF2-40B4-BE49-F238E27FC236}">
                <a16:creationId xmlns:a16="http://schemas.microsoft.com/office/drawing/2014/main" id="{AD480256-0AC3-8178-E2D6-96ACABE072DB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086083060"/>
              </p:ext>
            </p:extLst>
          </p:nvPr>
        </p:nvGraphicFramePr>
        <p:xfrm>
          <a:off x="1005840" y="3402201"/>
          <a:ext cx="716297" cy="1371600"/>
        </p:xfrm>
        <a:graphic>
          <a:graphicData uri="http://schemas.openxmlformats.org/drawingml/2006/table">
            <a:tbl>
              <a:tblPr/>
              <a:tblGrid>
                <a:gridCol w="716297">
                  <a:extLst>
                    <a:ext uri="{9D8B030D-6E8A-4147-A177-3AD203B41FA5}">
                      <a16:colId xmlns:a16="http://schemas.microsoft.com/office/drawing/2014/main" val="1718322747"/>
                    </a:ext>
                  </a:extLst>
                </a:gridCol>
              </a:tblGrid>
              <a:tr h="45720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2</a:t>
                      </a:r>
                    </a:p>
                  </a:txBody>
                  <a:tcPr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7D7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06586071"/>
                  </a:ext>
                </a:extLst>
              </a:tr>
              <a:tr h="45720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2</a:t>
                      </a:r>
                    </a:p>
                  </a:txBody>
                  <a:tcPr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81308325"/>
                  </a:ext>
                </a:extLst>
              </a:tr>
              <a:tr h="45720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0</a:t>
                      </a:r>
                    </a:p>
                  </a:txBody>
                  <a:tcPr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66943235"/>
                  </a:ext>
                </a:extLst>
              </a:tr>
            </a:tbl>
          </a:graphicData>
        </a:graphic>
      </p:graphicFrame>
      <p:sp>
        <p:nvSpPr>
          <p:cNvPr id="28" name="TextBox 27">
            <a:extLst>
              <a:ext uri="{FF2B5EF4-FFF2-40B4-BE49-F238E27FC236}">
                <a16:creationId xmlns:a16="http://schemas.microsoft.com/office/drawing/2014/main" id="{B6BC7C90-9A00-1AD5-62AD-D74DF14B6E78}"/>
              </a:ext>
            </a:extLst>
          </p:cNvPr>
          <p:cNvSpPr txBox="1"/>
          <p:nvPr/>
        </p:nvSpPr>
        <p:spPr>
          <a:xfrm>
            <a:off x="1947306" y="3705424"/>
            <a:ext cx="43152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b="1" dirty="0"/>
              <a:t>=</a:t>
            </a:r>
            <a:endParaRPr lang="en-US" sz="2400" b="1" dirty="0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E6FC02D0-AC1D-B8F7-D4D3-D3AAF93D8E31}"/>
              </a:ext>
            </a:extLst>
          </p:cNvPr>
          <p:cNvSpPr txBox="1"/>
          <p:nvPr/>
        </p:nvSpPr>
        <p:spPr>
          <a:xfrm>
            <a:off x="4251263" y="3705424"/>
            <a:ext cx="41389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b="1" dirty="0"/>
              <a:t>x</a:t>
            </a:r>
            <a:endParaRPr lang="en-US" sz="2400" b="1" dirty="0"/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A8BDCDA3-0F12-CB5B-9258-004F04676D20}"/>
              </a:ext>
            </a:extLst>
          </p:cNvPr>
          <p:cNvSpPr txBox="1"/>
          <p:nvPr/>
        </p:nvSpPr>
        <p:spPr>
          <a:xfrm>
            <a:off x="4812482" y="4934540"/>
            <a:ext cx="156645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Original point </a:t>
            </a:r>
          </a:p>
          <a:p>
            <a:r>
              <a:rPr lang="en-US" dirty="0"/>
              <a:t>location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07FADE2F-06F8-A951-9300-B42417B70205}"/>
              </a:ext>
            </a:extLst>
          </p:cNvPr>
          <p:cNvSpPr txBox="1"/>
          <p:nvPr/>
        </p:nvSpPr>
        <p:spPr>
          <a:xfrm>
            <a:off x="2686713" y="4934540"/>
            <a:ext cx="168847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Transformation</a:t>
            </a:r>
          </a:p>
          <a:p>
            <a:r>
              <a:rPr lang="en-US" dirty="0"/>
              <a:t>matrix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344733F1-6078-BBAB-3C1C-587C3341B140}"/>
              </a:ext>
            </a:extLst>
          </p:cNvPr>
          <p:cNvSpPr txBox="1"/>
          <p:nvPr/>
        </p:nvSpPr>
        <p:spPr>
          <a:xfrm>
            <a:off x="751401" y="4907835"/>
            <a:ext cx="119590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New point</a:t>
            </a:r>
          </a:p>
          <a:p>
            <a:r>
              <a:rPr lang="en-US" dirty="0"/>
              <a:t>location</a:t>
            </a:r>
          </a:p>
        </p:txBody>
      </p:sp>
      <p:pic>
        <p:nvPicPr>
          <p:cNvPr id="41" name="Picture 40">
            <a:extLst>
              <a:ext uri="{FF2B5EF4-FFF2-40B4-BE49-F238E27FC236}">
                <a16:creationId xmlns:a16="http://schemas.microsoft.com/office/drawing/2014/main" id="{D9A99FE8-74DA-0295-B1DB-9C4C6EEAC1D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21880" y="3013132"/>
            <a:ext cx="3486637" cy="2905530"/>
          </a:xfrm>
          <a:prstGeom prst="rect">
            <a:avLst/>
          </a:prstGeom>
        </p:spPr>
      </p:pic>
      <p:sp>
        <p:nvSpPr>
          <p:cNvPr id="42" name="Content Placeholder 6">
            <a:extLst>
              <a:ext uri="{FF2B5EF4-FFF2-40B4-BE49-F238E27FC236}">
                <a16:creationId xmlns:a16="http://schemas.microsoft.com/office/drawing/2014/main" id="{47A1D628-041D-9A70-4CE5-864212C1209D}"/>
              </a:ext>
            </a:extLst>
          </p:cNvPr>
          <p:cNvSpPr txBox="1">
            <a:spLocks/>
          </p:cNvSpPr>
          <p:nvPr/>
        </p:nvSpPr>
        <p:spPr>
          <a:xfrm>
            <a:off x="838200" y="960120"/>
            <a:ext cx="10515600" cy="50202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dirty="0"/>
              <a:t>Example: scaling a rectangle</a:t>
            </a:r>
          </a:p>
        </p:txBody>
      </p:sp>
    </p:spTree>
    <p:extLst>
      <p:ext uri="{BB962C8B-B14F-4D97-AF65-F5344CB8AC3E}">
        <p14:creationId xmlns:p14="http://schemas.microsoft.com/office/powerpoint/2010/main" val="380131069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A44105-67DF-6F26-ACF9-802FDEEC25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538" name="Rectangle 2">
            <a:extLst>
              <a:ext uri="{FF2B5EF4-FFF2-40B4-BE49-F238E27FC236}">
                <a16:creationId xmlns:a16="http://schemas.microsoft.com/office/drawing/2014/main" id="{09AA4471-559D-B280-24F9-55EB5552766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838200" y="395183"/>
            <a:ext cx="10515600" cy="594995"/>
          </a:xfrm>
        </p:spPr>
        <p:txBody>
          <a:bodyPr>
            <a:normAutofit fontScale="90000"/>
          </a:bodyPr>
          <a:lstStyle/>
          <a:p>
            <a:r>
              <a:rPr lang="en-US" altLang="en-US" dirty="0"/>
              <a:t>Transformation matrices - basics</a:t>
            </a:r>
          </a:p>
        </p:txBody>
      </p:sp>
      <p:graphicFrame>
        <p:nvGraphicFramePr>
          <p:cNvPr id="2" name="Group 16">
            <a:extLst>
              <a:ext uri="{FF2B5EF4-FFF2-40B4-BE49-F238E27FC236}">
                <a16:creationId xmlns:a16="http://schemas.microsoft.com/office/drawing/2014/main" id="{24DB68B7-A23E-90E4-8400-8DCEDF6FD01D}"/>
              </a:ext>
            </a:extLst>
          </p:cNvPr>
          <p:cNvGraphicFramePr>
            <a:graphicFrameLocks noGrp="1"/>
          </p:cNvGraphicFramePr>
          <p:nvPr/>
        </p:nvGraphicFramePr>
        <p:xfrm>
          <a:off x="2712720" y="3403402"/>
          <a:ext cx="1371600" cy="1371600"/>
        </p:xfrm>
        <a:graphic>
          <a:graphicData uri="http://schemas.openxmlformats.org/drawingml/2006/table">
            <a:tbl>
              <a:tblPr/>
              <a:tblGrid>
                <a:gridCol w="457200">
                  <a:extLst>
                    <a:ext uri="{9D8B030D-6E8A-4147-A177-3AD203B41FA5}">
                      <a16:colId xmlns:a16="http://schemas.microsoft.com/office/drawing/2014/main" val="513833293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3094146695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4172825067"/>
                    </a:ext>
                  </a:extLst>
                </a:gridCol>
              </a:tblGrid>
              <a:tr h="45720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2</a:t>
                      </a:r>
                    </a:p>
                  </a:txBody>
                  <a:tcPr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7D7D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0</a:t>
                      </a:r>
                    </a:p>
                  </a:txBody>
                  <a:tcPr anchor="ctr" anchorCtr="1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0</a:t>
                      </a:r>
                    </a:p>
                  </a:txBody>
                  <a:tcPr anchor="ctr" anchorCtr="1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75389585"/>
                  </a:ext>
                </a:extLst>
              </a:tr>
              <a:tr h="45720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0</a:t>
                      </a:r>
                    </a:p>
                  </a:txBody>
                  <a:tcPr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7D7D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2</a:t>
                      </a:r>
                    </a:p>
                  </a:txBody>
                  <a:tcPr anchor="ctr" anchorCtr="1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0</a:t>
                      </a:r>
                    </a:p>
                  </a:txBody>
                  <a:tcPr anchor="ctr" anchorCtr="1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5128215"/>
                  </a:ext>
                </a:extLst>
              </a:tr>
              <a:tr h="45720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0</a:t>
                      </a:r>
                    </a:p>
                  </a:txBody>
                  <a:tcPr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7D7D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0</a:t>
                      </a:r>
                    </a:p>
                  </a:txBody>
                  <a:tcPr anchor="ctr" anchorCtr="1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2</a:t>
                      </a:r>
                    </a:p>
                  </a:txBody>
                  <a:tcPr anchor="ctr" anchorCtr="1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85717563"/>
                  </a:ext>
                </a:extLst>
              </a:tr>
            </a:tbl>
          </a:graphicData>
        </a:graphic>
      </p:graphicFrame>
      <p:graphicFrame>
        <p:nvGraphicFramePr>
          <p:cNvPr id="5" name="Group 6">
            <a:extLst>
              <a:ext uri="{FF2B5EF4-FFF2-40B4-BE49-F238E27FC236}">
                <a16:creationId xmlns:a16="http://schemas.microsoft.com/office/drawing/2014/main" id="{B7A955B5-EBF3-98F5-AA19-E3AA164B5E17}"/>
              </a:ext>
            </a:extLst>
          </p:cNvPr>
          <p:cNvGraphicFramePr>
            <a:graphicFrameLocks/>
          </p:cNvGraphicFramePr>
          <p:nvPr/>
        </p:nvGraphicFramePr>
        <p:xfrm>
          <a:off x="4849734" y="3413542"/>
          <a:ext cx="509588" cy="1371600"/>
        </p:xfrm>
        <a:graphic>
          <a:graphicData uri="http://schemas.openxmlformats.org/drawingml/2006/table">
            <a:tbl>
              <a:tblPr/>
              <a:tblGrid>
                <a:gridCol w="509588">
                  <a:extLst>
                    <a:ext uri="{9D8B030D-6E8A-4147-A177-3AD203B41FA5}">
                      <a16:colId xmlns:a16="http://schemas.microsoft.com/office/drawing/2014/main" val="1718322747"/>
                    </a:ext>
                  </a:extLst>
                </a:gridCol>
              </a:tblGrid>
              <a:tr h="45720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1</a:t>
                      </a:r>
                    </a:p>
                  </a:txBody>
                  <a:tcPr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7D7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06586071"/>
                  </a:ext>
                </a:extLst>
              </a:tr>
              <a:tr h="45720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1</a:t>
                      </a:r>
                    </a:p>
                  </a:txBody>
                  <a:tcPr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81308325"/>
                  </a:ext>
                </a:extLst>
              </a:tr>
              <a:tr h="45720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0</a:t>
                      </a:r>
                    </a:p>
                  </a:txBody>
                  <a:tcPr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66943235"/>
                  </a:ext>
                </a:extLst>
              </a:tr>
            </a:tbl>
          </a:graphicData>
        </a:graphic>
      </p:graphicFrame>
      <p:graphicFrame>
        <p:nvGraphicFramePr>
          <p:cNvPr id="14" name="Group 6">
            <a:extLst>
              <a:ext uri="{FF2B5EF4-FFF2-40B4-BE49-F238E27FC236}">
                <a16:creationId xmlns:a16="http://schemas.microsoft.com/office/drawing/2014/main" id="{85C3B49A-4D55-94D4-EEC4-992EA289C4A0}"/>
              </a:ext>
            </a:extLst>
          </p:cNvPr>
          <p:cNvGraphicFramePr>
            <a:graphicFrameLocks/>
          </p:cNvGraphicFramePr>
          <p:nvPr/>
        </p:nvGraphicFramePr>
        <p:xfrm>
          <a:off x="1005840" y="3402201"/>
          <a:ext cx="716297" cy="1371600"/>
        </p:xfrm>
        <a:graphic>
          <a:graphicData uri="http://schemas.openxmlformats.org/drawingml/2006/table">
            <a:tbl>
              <a:tblPr/>
              <a:tblGrid>
                <a:gridCol w="716297">
                  <a:extLst>
                    <a:ext uri="{9D8B030D-6E8A-4147-A177-3AD203B41FA5}">
                      <a16:colId xmlns:a16="http://schemas.microsoft.com/office/drawing/2014/main" val="1718322747"/>
                    </a:ext>
                  </a:extLst>
                </a:gridCol>
              </a:tblGrid>
              <a:tr h="45720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2</a:t>
                      </a:r>
                    </a:p>
                  </a:txBody>
                  <a:tcPr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7D7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06586071"/>
                  </a:ext>
                </a:extLst>
              </a:tr>
              <a:tr h="45720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2</a:t>
                      </a:r>
                    </a:p>
                  </a:txBody>
                  <a:tcPr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81308325"/>
                  </a:ext>
                </a:extLst>
              </a:tr>
              <a:tr h="45720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0</a:t>
                      </a:r>
                    </a:p>
                  </a:txBody>
                  <a:tcPr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66943235"/>
                  </a:ext>
                </a:extLst>
              </a:tr>
            </a:tbl>
          </a:graphicData>
        </a:graphic>
      </p:graphicFrame>
      <p:sp>
        <p:nvSpPr>
          <p:cNvPr id="28" name="TextBox 27">
            <a:extLst>
              <a:ext uri="{FF2B5EF4-FFF2-40B4-BE49-F238E27FC236}">
                <a16:creationId xmlns:a16="http://schemas.microsoft.com/office/drawing/2014/main" id="{A67709CD-EE5F-C1AD-B9CB-ED42B2B992D1}"/>
              </a:ext>
            </a:extLst>
          </p:cNvPr>
          <p:cNvSpPr txBox="1"/>
          <p:nvPr/>
        </p:nvSpPr>
        <p:spPr>
          <a:xfrm>
            <a:off x="1947306" y="3705424"/>
            <a:ext cx="43152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b="1" dirty="0"/>
              <a:t>=</a:t>
            </a:r>
            <a:endParaRPr lang="en-US" sz="2400" b="1" dirty="0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56C30D86-B428-FBF2-BBA6-8298CB927A37}"/>
              </a:ext>
            </a:extLst>
          </p:cNvPr>
          <p:cNvSpPr txBox="1"/>
          <p:nvPr/>
        </p:nvSpPr>
        <p:spPr>
          <a:xfrm>
            <a:off x="4251263" y="3705424"/>
            <a:ext cx="41389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b="1" dirty="0"/>
              <a:t>x</a:t>
            </a:r>
            <a:endParaRPr lang="en-US" sz="2400" b="1" dirty="0"/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C095850E-F6AC-B6E7-C699-2F3F9631D630}"/>
              </a:ext>
            </a:extLst>
          </p:cNvPr>
          <p:cNvSpPr txBox="1"/>
          <p:nvPr/>
        </p:nvSpPr>
        <p:spPr>
          <a:xfrm>
            <a:off x="4812482" y="4934540"/>
            <a:ext cx="156645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Original point </a:t>
            </a:r>
          </a:p>
          <a:p>
            <a:r>
              <a:rPr lang="en-US" dirty="0"/>
              <a:t>location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AA10E668-A0E8-4AD0-3B89-CEA00FACB14C}"/>
              </a:ext>
            </a:extLst>
          </p:cNvPr>
          <p:cNvSpPr txBox="1"/>
          <p:nvPr/>
        </p:nvSpPr>
        <p:spPr>
          <a:xfrm>
            <a:off x="2686713" y="4934540"/>
            <a:ext cx="168847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Transformation</a:t>
            </a:r>
          </a:p>
          <a:p>
            <a:r>
              <a:rPr lang="en-US" dirty="0"/>
              <a:t>matrix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150F76AA-F4AC-52FD-3D68-A2FE0CA3D584}"/>
              </a:ext>
            </a:extLst>
          </p:cNvPr>
          <p:cNvSpPr txBox="1"/>
          <p:nvPr/>
        </p:nvSpPr>
        <p:spPr>
          <a:xfrm>
            <a:off x="751401" y="4907835"/>
            <a:ext cx="119590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New point</a:t>
            </a:r>
          </a:p>
          <a:p>
            <a:r>
              <a:rPr lang="en-US" dirty="0"/>
              <a:t>location</a:t>
            </a:r>
          </a:p>
        </p:txBody>
      </p:sp>
      <p:pic>
        <p:nvPicPr>
          <p:cNvPr id="41" name="Picture 40">
            <a:extLst>
              <a:ext uri="{FF2B5EF4-FFF2-40B4-BE49-F238E27FC236}">
                <a16:creationId xmlns:a16="http://schemas.microsoft.com/office/drawing/2014/main" id="{B61718D7-202D-B65E-B82A-17773DDD6CA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21880" y="3013132"/>
            <a:ext cx="3486637" cy="2905530"/>
          </a:xfrm>
          <a:prstGeom prst="rect">
            <a:avLst/>
          </a:prstGeom>
        </p:spPr>
      </p:pic>
      <p:sp>
        <p:nvSpPr>
          <p:cNvPr id="42" name="Content Placeholder 6">
            <a:extLst>
              <a:ext uri="{FF2B5EF4-FFF2-40B4-BE49-F238E27FC236}">
                <a16:creationId xmlns:a16="http://schemas.microsoft.com/office/drawing/2014/main" id="{DBDE4EF9-578E-B50F-7083-04871E6C5292}"/>
              </a:ext>
            </a:extLst>
          </p:cNvPr>
          <p:cNvSpPr txBox="1">
            <a:spLocks/>
          </p:cNvSpPr>
          <p:nvPr/>
        </p:nvSpPr>
        <p:spPr>
          <a:xfrm>
            <a:off x="838200" y="960120"/>
            <a:ext cx="10515600" cy="50202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dirty="0"/>
              <a:t>Example: scaling a rectangle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4899F43A-6093-4FCA-139A-BC37CAB79A91}"/>
              </a:ext>
            </a:extLst>
          </p:cNvPr>
          <p:cNvSpPr txBox="1"/>
          <p:nvPr/>
        </p:nvSpPr>
        <p:spPr>
          <a:xfrm>
            <a:off x="2623459" y="1871056"/>
            <a:ext cx="3503460" cy="646331"/>
          </a:xfrm>
          <a:prstGeom prst="wedgeRectCallout">
            <a:avLst>
              <a:gd name="adj1" fmla="val -40764"/>
              <a:gd name="adj2" fmla="val 180825"/>
            </a:avLst>
          </a:prstGeom>
          <a:solidFill>
            <a:srgbClr val="FFFF99"/>
          </a:solidFill>
          <a:ln>
            <a:solidFill>
              <a:srgbClr val="0070C0"/>
            </a:solidFill>
          </a:ln>
        </p:spPr>
        <p:txBody>
          <a:bodyPr wrap="none" rtlCol="0">
            <a:spAutoFit/>
          </a:bodyPr>
          <a:lstStyle/>
          <a:p>
            <a:r>
              <a:rPr lang="en-US" dirty="0"/>
              <a:t>The factor for the old point’s</a:t>
            </a:r>
          </a:p>
          <a:p>
            <a:r>
              <a:rPr lang="en-US" b="1" dirty="0"/>
              <a:t>x </a:t>
            </a:r>
            <a:r>
              <a:rPr lang="en-US" dirty="0"/>
              <a:t>contribution to the new point’s </a:t>
            </a:r>
            <a:r>
              <a:rPr lang="en-US" b="1" dirty="0"/>
              <a:t>x</a:t>
            </a:r>
          </a:p>
        </p:txBody>
      </p:sp>
    </p:spTree>
    <p:extLst>
      <p:ext uri="{BB962C8B-B14F-4D97-AF65-F5344CB8AC3E}">
        <p14:creationId xmlns:p14="http://schemas.microsoft.com/office/powerpoint/2010/main" val="17139555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6BBCB3-D695-8003-77A0-CFDD57E945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538" name="Rectangle 2">
            <a:extLst>
              <a:ext uri="{FF2B5EF4-FFF2-40B4-BE49-F238E27FC236}">
                <a16:creationId xmlns:a16="http://schemas.microsoft.com/office/drawing/2014/main" id="{D9995C1B-AE7B-2F6B-FDCF-4589DFCF57D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838200" y="395183"/>
            <a:ext cx="10515600" cy="594995"/>
          </a:xfrm>
        </p:spPr>
        <p:txBody>
          <a:bodyPr>
            <a:normAutofit fontScale="90000"/>
          </a:bodyPr>
          <a:lstStyle/>
          <a:p>
            <a:r>
              <a:rPr lang="en-US" altLang="en-US" dirty="0"/>
              <a:t>Transformation matrices - basics</a:t>
            </a:r>
          </a:p>
        </p:txBody>
      </p:sp>
      <p:graphicFrame>
        <p:nvGraphicFramePr>
          <p:cNvPr id="2" name="Group 16">
            <a:extLst>
              <a:ext uri="{FF2B5EF4-FFF2-40B4-BE49-F238E27FC236}">
                <a16:creationId xmlns:a16="http://schemas.microsoft.com/office/drawing/2014/main" id="{475097D8-0B63-3F1C-7229-0FD4C394B93D}"/>
              </a:ext>
            </a:extLst>
          </p:cNvPr>
          <p:cNvGraphicFramePr>
            <a:graphicFrameLocks noGrp="1"/>
          </p:cNvGraphicFramePr>
          <p:nvPr/>
        </p:nvGraphicFramePr>
        <p:xfrm>
          <a:off x="2712720" y="3403402"/>
          <a:ext cx="1371600" cy="1371600"/>
        </p:xfrm>
        <a:graphic>
          <a:graphicData uri="http://schemas.openxmlformats.org/drawingml/2006/table">
            <a:tbl>
              <a:tblPr/>
              <a:tblGrid>
                <a:gridCol w="457200">
                  <a:extLst>
                    <a:ext uri="{9D8B030D-6E8A-4147-A177-3AD203B41FA5}">
                      <a16:colId xmlns:a16="http://schemas.microsoft.com/office/drawing/2014/main" val="513833293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3094146695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4172825067"/>
                    </a:ext>
                  </a:extLst>
                </a:gridCol>
              </a:tblGrid>
              <a:tr h="45720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2</a:t>
                      </a:r>
                    </a:p>
                  </a:txBody>
                  <a:tcPr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7D7D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0</a:t>
                      </a:r>
                    </a:p>
                  </a:txBody>
                  <a:tcPr anchor="ctr" anchorCtr="1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0</a:t>
                      </a:r>
                    </a:p>
                  </a:txBody>
                  <a:tcPr anchor="ctr" anchorCtr="1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75389585"/>
                  </a:ext>
                </a:extLst>
              </a:tr>
              <a:tr h="45720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0</a:t>
                      </a:r>
                    </a:p>
                  </a:txBody>
                  <a:tcPr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7D7D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2</a:t>
                      </a:r>
                    </a:p>
                  </a:txBody>
                  <a:tcPr anchor="ctr" anchorCtr="1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0</a:t>
                      </a:r>
                    </a:p>
                  </a:txBody>
                  <a:tcPr anchor="ctr" anchorCtr="1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5128215"/>
                  </a:ext>
                </a:extLst>
              </a:tr>
              <a:tr h="45720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0</a:t>
                      </a:r>
                    </a:p>
                  </a:txBody>
                  <a:tcPr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7D7D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0</a:t>
                      </a:r>
                    </a:p>
                  </a:txBody>
                  <a:tcPr anchor="ctr" anchorCtr="1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2</a:t>
                      </a:r>
                    </a:p>
                  </a:txBody>
                  <a:tcPr anchor="ctr" anchorCtr="1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85717563"/>
                  </a:ext>
                </a:extLst>
              </a:tr>
            </a:tbl>
          </a:graphicData>
        </a:graphic>
      </p:graphicFrame>
      <p:graphicFrame>
        <p:nvGraphicFramePr>
          <p:cNvPr id="5" name="Group 6">
            <a:extLst>
              <a:ext uri="{FF2B5EF4-FFF2-40B4-BE49-F238E27FC236}">
                <a16:creationId xmlns:a16="http://schemas.microsoft.com/office/drawing/2014/main" id="{C81F9B57-2CC9-E353-1AB8-50EDCB259230}"/>
              </a:ext>
            </a:extLst>
          </p:cNvPr>
          <p:cNvGraphicFramePr>
            <a:graphicFrameLocks/>
          </p:cNvGraphicFramePr>
          <p:nvPr/>
        </p:nvGraphicFramePr>
        <p:xfrm>
          <a:off x="4849734" y="3413542"/>
          <a:ext cx="509588" cy="1371600"/>
        </p:xfrm>
        <a:graphic>
          <a:graphicData uri="http://schemas.openxmlformats.org/drawingml/2006/table">
            <a:tbl>
              <a:tblPr/>
              <a:tblGrid>
                <a:gridCol w="509588">
                  <a:extLst>
                    <a:ext uri="{9D8B030D-6E8A-4147-A177-3AD203B41FA5}">
                      <a16:colId xmlns:a16="http://schemas.microsoft.com/office/drawing/2014/main" val="1718322747"/>
                    </a:ext>
                  </a:extLst>
                </a:gridCol>
              </a:tblGrid>
              <a:tr h="45720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1</a:t>
                      </a:r>
                    </a:p>
                  </a:txBody>
                  <a:tcPr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7D7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06586071"/>
                  </a:ext>
                </a:extLst>
              </a:tr>
              <a:tr h="45720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1</a:t>
                      </a:r>
                    </a:p>
                  </a:txBody>
                  <a:tcPr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81308325"/>
                  </a:ext>
                </a:extLst>
              </a:tr>
              <a:tr h="45720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0</a:t>
                      </a:r>
                    </a:p>
                  </a:txBody>
                  <a:tcPr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66943235"/>
                  </a:ext>
                </a:extLst>
              </a:tr>
            </a:tbl>
          </a:graphicData>
        </a:graphic>
      </p:graphicFrame>
      <p:graphicFrame>
        <p:nvGraphicFramePr>
          <p:cNvPr id="14" name="Group 6">
            <a:extLst>
              <a:ext uri="{FF2B5EF4-FFF2-40B4-BE49-F238E27FC236}">
                <a16:creationId xmlns:a16="http://schemas.microsoft.com/office/drawing/2014/main" id="{70E2EB50-985D-7EA9-53BF-EF270DE4BD77}"/>
              </a:ext>
            </a:extLst>
          </p:cNvPr>
          <p:cNvGraphicFramePr>
            <a:graphicFrameLocks/>
          </p:cNvGraphicFramePr>
          <p:nvPr/>
        </p:nvGraphicFramePr>
        <p:xfrm>
          <a:off x="1005840" y="3402201"/>
          <a:ext cx="716297" cy="1371600"/>
        </p:xfrm>
        <a:graphic>
          <a:graphicData uri="http://schemas.openxmlformats.org/drawingml/2006/table">
            <a:tbl>
              <a:tblPr/>
              <a:tblGrid>
                <a:gridCol w="716297">
                  <a:extLst>
                    <a:ext uri="{9D8B030D-6E8A-4147-A177-3AD203B41FA5}">
                      <a16:colId xmlns:a16="http://schemas.microsoft.com/office/drawing/2014/main" val="1718322747"/>
                    </a:ext>
                  </a:extLst>
                </a:gridCol>
              </a:tblGrid>
              <a:tr h="45720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2</a:t>
                      </a:r>
                    </a:p>
                  </a:txBody>
                  <a:tcPr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7D7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06586071"/>
                  </a:ext>
                </a:extLst>
              </a:tr>
              <a:tr h="45720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2</a:t>
                      </a:r>
                    </a:p>
                  </a:txBody>
                  <a:tcPr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81308325"/>
                  </a:ext>
                </a:extLst>
              </a:tr>
              <a:tr h="45720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0</a:t>
                      </a:r>
                    </a:p>
                  </a:txBody>
                  <a:tcPr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66943235"/>
                  </a:ext>
                </a:extLst>
              </a:tr>
            </a:tbl>
          </a:graphicData>
        </a:graphic>
      </p:graphicFrame>
      <p:sp>
        <p:nvSpPr>
          <p:cNvPr id="28" name="TextBox 27">
            <a:extLst>
              <a:ext uri="{FF2B5EF4-FFF2-40B4-BE49-F238E27FC236}">
                <a16:creationId xmlns:a16="http://schemas.microsoft.com/office/drawing/2014/main" id="{63F71E37-6920-C17A-C0C7-D47D85B903E2}"/>
              </a:ext>
            </a:extLst>
          </p:cNvPr>
          <p:cNvSpPr txBox="1"/>
          <p:nvPr/>
        </p:nvSpPr>
        <p:spPr>
          <a:xfrm>
            <a:off x="1947306" y="3705424"/>
            <a:ext cx="43152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b="1" dirty="0"/>
              <a:t>=</a:t>
            </a:r>
            <a:endParaRPr lang="en-US" sz="2400" b="1" dirty="0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18905604-920D-9322-16EB-AB15A1A1DA4B}"/>
              </a:ext>
            </a:extLst>
          </p:cNvPr>
          <p:cNvSpPr txBox="1"/>
          <p:nvPr/>
        </p:nvSpPr>
        <p:spPr>
          <a:xfrm>
            <a:off x="4251263" y="3705424"/>
            <a:ext cx="41389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b="1" dirty="0"/>
              <a:t>x</a:t>
            </a:r>
            <a:endParaRPr lang="en-US" sz="2400" b="1" dirty="0"/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463318ED-3A86-54E6-7090-2C418E5C8E64}"/>
              </a:ext>
            </a:extLst>
          </p:cNvPr>
          <p:cNvSpPr txBox="1"/>
          <p:nvPr/>
        </p:nvSpPr>
        <p:spPr>
          <a:xfrm>
            <a:off x="4812482" y="4934540"/>
            <a:ext cx="156645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Original point </a:t>
            </a:r>
          </a:p>
          <a:p>
            <a:r>
              <a:rPr lang="en-US" dirty="0"/>
              <a:t>location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BA6B4B1D-5C66-3228-5108-4C9AD5673117}"/>
              </a:ext>
            </a:extLst>
          </p:cNvPr>
          <p:cNvSpPr txBox="1"/>
          <p:nvPr/>
        </p:nvSpPr>
        <p:spPr>
          <a:xfrm>
            <a:off x="2686713" y="4934540"/>
            <a:ext cx="168847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Transformation</a:t>
            </a:r>
          </a:p>
          <a:p>
            <a:r>
              <a:rPr lang="en-US" dirty="0"/>
              <a:t>matrix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4A26C8C1-9653-8627-95D5-D92BB5BE7158}"/>
              </a:ext>
            </a:extLst>
          </p:cNvPr>
          <p:cNvSpPr txBox="1"/>
          <p:nvPr/>
        </p:nvSpPr>
        <p:spPr>
          <a:xfrm>
            <a:off x="751401" y="4907835"/>
            <a:ext cx="119590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New point</a:t>
            </a:r>
          </a:p>
          <a:p>
            <a:r>
              <a:rPr lang="en-US" dirty="0"/>
              <a:t>location</a:t>
            </a:r>
          </a:p>
        </p:txBody>
      </p:sp>
      <p:pic>
        <p:nvPicPr>
          <p:cNvPr id="41" name="Picture 40">
            <a:extLst>
              <a:ext uri="{FF2B5EF4-FFF2-40B4-BE49-F238E27FC236}">
                <a16:creationId xmlns:a16="http://schemas.microsoft.com/office/drawing/2014/main" id="{27DB8470-0DB9-36AE-B59F-464087F3B5F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21880" y="3013132"/>
            <a:ext cx="3486637" cy="2905530"/>
          </a:xfrm>
          <a:prstGeom prst="rect">
            <a:avLst/>
          </a:prstGeom>
        </p:spPr>
      </p:pic>
      <p:sp>
        <p:nvSpPr>
          <p:cNvPr id="42" name="Content Placeholder 6">
            <a:extLst>
              <a:ext uri="{FF2B5EF4-FFF2-40B4-BE49-F238E27FC236}">
                <a16:creationId xmlns:a16="http://schemas.microsoft.com/office/drawing/2014/main" id="{817EDBBA-6CD4-CB26-2ADB-0C6AE44F376B}"/>
              </a:ext>
            </a:extLst>
          </p:cNvPr>
          <p:cNvSpPr txBox="1">
            <a:spLocks/>
          </p:cNvSpPr>
          <p:nvPr/>
        </p:nvSpPr>
        <p:spPr>
          <a:xfrm>
            <a:off x="838200" y="960120"/>
            <a:ext cx="10515600" cy="50202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dirty="0"/>
              <a:t>Example: scaling a rectangle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AFDAD4DD-FF76-F84D-9637-2FB402FA8829}"/>
              </a:ext>
            </a:extLst>
          </p:cNvPr>
          <p:cNvSpPr txBox="1"/>
          <p:nvPr/>
        </p:nvSpPr>
        <p:spPr>
          <a:xfrm>
            <a:off x="2623459" y="1871056"/>
            <a:ext cx="3503460" cy="646331"/>
          </a:xfrm>
          <a:prstGeom prst="wedgeRectCallout">
            <a:avLst>
              <a:gd name="adj1" fmla="val -27951"/>
              <a:gd name="adj2" fmla="val 178253"/>
            </a:avLst>
          </a:prstGeom>
          <a:solidFill>
            <a:srgbClr val="FFFF99"/>
          </a:solidFill>
          <a:ln>
            <a:solidFill>
              <a:srgbClr val="0070C0"/>
            </a:solidFill>
          </a:ln>
        </p:spPr>
        <p:txBody>
          <a:bodyPr wrap="none" rtlCol="0">
            <a:spAutoFit/>
          </a:bodyPr>
          <a:lstStyle/>
          <a:p>
            <a:r>
              <a:rPr lang="en-US" dirty="0"/>
              <a:t>The factor for the old point’s</a:t>
            </a:r>
          </a:p>
          <a:p>
            <a:r>
              <a:rPr lang="en-US" b="1" dirty="0">
                <a:solidFill>
                  <a:srgbClr val="FF0000"/>
                </a:solidFill>
              </a:rPr>
              <a:t>y</a:t>
            </a:r>
            <a:r>
              <a:rPr lang="en-US" b="1" dirty="0"/>
              <a:t> </a:t>
            </a:r>
            <a:r>
              <a:rPr lang="en-US" dirty="0"/>
              <a:t>contribution to the new point’s </a:t>
            </a:r>
            <a:r>
              <a:rPr lang="en-US" b="1" dirty="0"/>
              <a:t>x</a:t>
            </a:r>
          </a:p>
        </p:txBody>
      </p:sp>
    </p:spTree>
    <p:extLst>
      <p:ext uri="{BB962C8B-B14F-4D97-AF65-F5344CB8AC3E}">
        <p14:creationId xmlns:p14="http://schemas.microsoft.com/office/powerpoint/2010/main" val="38342215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B8B295-96D6-E80E-8250-E811518DB9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538" name="Rectangle 2">
            <a:extLst>
              <a:ext uri="{FF2B5EF4-FFF2-40B4-BE49-F238E27FC236}">
                <a16:creationId xmlns:a16="http://schemas.microsoft.com/office/drawing/2014/main" id="{53753995-CD8E-F675-9AA5-99274BC2520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838200" y="395183"/>
            <a:ext cx="10515600" cy="594995"/>
          </a:xfrm>
        </p:spPr>
        <p:txBody>
          <a:bodyPr>
            <a:normAutofit fontScale="90000"/>
          </a:bodyPr>
          <a:lstStyle/>
          <a:p>
            <a:r>
              <a:rPr lang="en-US" altLang="en-US" dirty="0"/>
              <a:t>Transformation matrices - basics</a:t>
            </a:r>
          </a:p>
        </p:txBody>
      </p:sp>
      <p:graphicFrame>
        <p:nvGraphicFramePr>
          <p:cNvPr id="2" name="Group 16">
            <a:extLst>
              <a:ext uri="{FF2B5EF4-FFF2-40B4-BE49-F238E27FC236}">
                <a16:creationId xmlns:a16="http://schemas.microsoft.com/office/drawing/2014/main" id="{CC696450-5276-0193-C9CC-EA4D9AC93CEF}"/>
              </a:ext>
            </a:extLst>
          </p:cNvPr>
          <p:cNvGraphicFramePr>
            <a:graphicFrameLocks noGrp="1"/>
          </p:cNvGraphicFramePr>
          <p:nvPr/>
        </p:nvGraphicFramePr>
        <p:xfrm>
          <a:off x="2712720" y="3403402"/>
          <a:ext cx="1371600" cy="1371600"/>
        </p:xfrm>
        <a:graphic>
          <a:graphicData uri="http://schemas.openxmlformats.org/drawingml/2006/table">
            <a:tbl>
              <a:tblPr/>
              <a:tblGrid>
                <a:gridCol w="457200">
                  <a:extLst>
                    <a:ext uri="{9D8B030D-6E8A-4147-A177-3AD203B41FA5}">
                      <a16:colId xmlns:a16="http://schemas.microsoft.com/office/drawing/2014/main" val="513833293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3094146695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4172825067"/>
                    </a:ext>
                  </a:extLst>
                </a:gridCol>
              </a:tblGrid>
              <a:tr h="45720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2</a:t>
                      </a:r>
                    </a:p>
                  </a:txBody>
                  <a:tcPr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7D7D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0</a:t>
                      </a:r>
                    </a:p>
                  </a:txBody>
                  <a:tcPr anchor="ctr" anchorCtr="1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0</a:t>
                      </a:r>
                    </a:p>
                  </a:txBody>
                  <a:tcPr anchor="ctr" anchorCtr="1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75389585"/>
                  </a:ext>
                </a:extLst>
              </a:tr>
              <a:tr h="45720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0</a:t>
                      </a:r>
                    </a:p>
                  </a:txBody>
                  <a:tcPr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7D7D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2</a:t>
                      </a:r>
                    </a:p>
                  </a:txBody>
                  <a:tcPr anchor="ctr" anchorCtr="1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0</a:t>
                      </a:r>
                    </a:p>
                  </a:txBody>
                  <a:tcPr anchor="ctr" anchorCtr="1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5128215"/>
                  </a:ext>
                </a:extLst>
              </a:tr>
              <a:tr h="45720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0</a:t>
                      </a:r>
                    </a:p>
                  </a:txBody>
                  <a:tcPr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7D7D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0</a:t>
                      </a:r>
                    </a:p>
                  </a:txBody>
                  <a:tcPr anchor="ctr" anchorCtr="1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2</a:t>
                      </a:r>
                    </a:p>
                  </a:txBody>
                  <a:tcPr anchor="ctr" anchorCtr="1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85717563"/>
                  </a:ext>
                </a:extLst>
              </a:tr>
            </a:tbl>
          </a:graphicData>
        </a:graphic>
      </p:graphicFrame>
      <p:graphicFrame>
        <p:nvGraphicFramePr>
          <p:cNvPr id="5" name="Group 6">
            <a:extLst>
              <a:ext uri="{FF2B5EF4-FFF2-40B4-BE49-F238E27FC236}">
                <a16:creationId xmlns:a16="http://schemas.microsoft.com/office/drawing/2014/main" id="{C0A04D97-CC51-BD86-92B0-221B30C38C88}"/>
              </a:ext>
            </a:extLst>
          </p:cNvPr>
          <p:cNvGraphicFramePr>
            <a:graphicFrameLocks/>
          </p:cNvGraphicFramePr>
          <p:nvPr/>
        </p:nvGraphicFramePr>
        <p:xfrm>
          <a:off x="4849734" y="3413542"/>
          <a:ext cx="509588" cy="1371600"/>
        </p:xfrm>
        <a:graphic>
          <a:graphicData uri="http://schemas.openxmlformats.org/drawingml/2006/table">
            <a:tbl>
              <a:tblPr/>
              <a:tblGrid>
                <a:gridCol w="509588">
                  <a:extLst>
                    <a:ext uri="{9D8B030D-6E8A-4147-A177-3AD203B41FA5}">
                      <a16:colId xmlns:a16="http://schemas.microsoft.com/office/drawing/2014/main" val="1718322747"/>
                    </a:ext>
                  </a:extLst>
                </a:gridCol>
              </a:tblGrid>
              <a:tr h="45720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1</a:t>
                      </a:r>
                    </a:p>
                  </a:txBody>
                  <a:tcPr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7D7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06586071"/>
                  </a:ext>
                </a:extLst>
              </a:tr>
              <a:tr h="45720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1</a:t>
                      </a:r>
                    </a:p>
                  </a:txBody>
                  <a:tcPr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81308325"/>
                  </a:ext>
                </a:extLst>
              </a:tr>
              <a:tr h="45720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0</a:t>
                      </a:r>
                    </a:p>
                  </a:txBody>
                  <a:tcPr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66943235"/>
                  </a:ext>
                </a:extLst>
              </a:tr>
            </a:tbl>
          </a:graphicData>
        </a:graphic>
      </p:graphicFrame>
      <p:graphicFrame>
        <p:nvGraphicFramePr>
          <p:cNvPr id="14" name="Group 6">
            <a:extLst>
              <a:ext uri="{FF2B5EF4-FFF2-40B4-BE49-F238E27FC236}">
                <a16:creationId xmlns:a16="http://schemas.microsoft.com/office/drawing/2014/main" id="{463D4CBD-EFD5-BBA3-B1D4-57E9994B7E73}"/>
              </a:ext>
            </a:extLst>
          </p:cNvPr>
          <p:cNvGraphicFramePr>
            <a:graphicFrameLocks/>
          </p:cNvGraphicFramePr>
          <p:nvPr/>
        </p:nvGraphicFramePr>
        <p:xfrm>
          <a:off x="1005840" y="3402201"/>
          <a:ext cx="716297" cy="1371600"/>
        </p:xfrm>
        <a:graphic>
          <a:graphicData uri="http://schemas.openxmlformats.org/drawingml/2006/table">
            <a:tbl>
              <a:tblPr/>
              <a:tblGrid>
                <a:gridCol w="716297">
                  <a:extLst>
                    <a:ext uri="{9D8B030D-6E8A-4147-A177-3AD203B41FA5}">
                      <a16:colId xmlns:a16="http://schemas.microsoft.com/office/drawing/2014/main" val="1718322747"/>
                    </a:ext>
                  </a:extLst>
                </a:gridCol>
              </a:tblGrid>
              <a:tr h="45720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2</a:t>
                      </a:r>
                    </a:p>
                  </a:txBody>
                  <a:tcPr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7D7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06586071"/>
                  </a:ext>
                </a:extLst>
              </a:tr>
              <a:tr h="45720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2</a:t>
                      </a:r>
                    </a:p>
                  </a:txBody>
                  <a:tcPr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81308325"/>
                  </a:ext>
                </a:extLst>
              </a:tr>
              <a:tr h="45720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0</a:t>
                      </a:r>
                    </a:p>
                  </a:txBody>
                  <a:tcPr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66943235"/>
                  </a:ext>
                </a:extLst>
              </a:tr>
            </a:tbl>
          </a:graphicData>
        </a:graphic>
      </p:graphicFrame>
      <p:sp>
        <p:nvSpPr>
          <p:cNvPr id="28" name="TextBox 27">
            <a:extLst>
              <a:ext uri="{FF2B5EF4-FFF2-40B4-BE49-F238E27FC236}">
                <a16:creationId xmlns:a16="http://schemas.microsoft.com/office/drawing/2014/main" id="{47FECE0D-6CB8-D128-7822-FA220B3AEC6E}"/>
              </a:ext>
            </a:extLst>
          </p:cNvPr>
          <p:cNvSpPr txBox="1"/>
          <p:nvPr/>
        </p:nvSpPr>
        <p:spPr>
          <a:xfrm>
            <a:off x="1947306" y="3705424"/>
            <a:ext cx="43152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b="1" dirty="0"/>
              <a:t>=</a:t>
            </a:r>
            <a:endParaRPr lang="en-US" sz="2400" b="1" dirty="0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2AD7527A-96AD-05E2-6D61-1957456D8C59}"/>
              </a:ext>
            </a:extLst>
          </p:cNvPr>
          <p:cNvSpPr txBox="1"/>
          <p:nvPr/>
        </p:nvSpPr>
        <p:spPr>
          <a:xfrm>
            <a:off x="4251263" y="3705424"/>
            <a:ext cx="41389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b="1" dirty="0"/>
              <a:t>x</a:t>
            </a:r>
            <a:endParaRPr lang="en-US" sz="2400" b="1" dirty="0"/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1BA03D63-713C-BA78-0A94-3AF25C25DE60}"/>
              </a:ext>
            </a:extLst>
          </p:cNvPr>
          <p:cNvSpPr txBox="1"/>
          <p:nvPr/>
        </p:nvSpPr>
        <p:spPr>
          <a:xfrm>
            <a:off x="4812482" y="4934540"/>
            <a:ext cx="156645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Original point </a:t>
            </a:r>
          </a:p>
          <a:p>
            <a:r>
              <a:rPr lang="en-US" dirty="0"/>
              <a:t>location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751EE8E4-21CF-5F4C-BF57-6E862428BB55}"/>
              </a:ext>
            </a:extLst>
          </p:cNvPr>
          <p:cNvSpPr txBox="1"/>
          <p:nvPr/>
        </p:nvSpPr>
        <p:spPr>
          <a:xfrm>
            <a:off x="2686713" y="4934540"/>
            <a:ext cx="168847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Transformation</a:t>
            </a:r>
          </a:p>
          <a:p>
            <a:r>
              <a:rPr lang="en-US" dirty="0"/>
              <a:t>matrix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340E5547-B22F-62CC-AD0C-D4E505E89FD9}"/>
              </a:ext>
            </a:extLst>
          </p:cNvPr>
          <p:cNvSpPr txBox="1"/>
          <p:nvPr/>
        </p:nvSpPr>
        <p:spPr>
          <a:xfrm>
            <a:off x="751401" y="4907835"/>
            <a:ext cx="119590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New point</a:t>
            </a:r>
          </a:p>
          <a:p>
            <a:r>
              <a:rPr lang="en-US" dirty="0"/>
              <a:t>location</a:t>
            </a:r>
          </a:p>
        </p:txBody>
      </p:sp>
      <p:pic>
        <p:nvPicPr>
          <p:cNvPr id="41" name="Picture 40">
            <a:extLst>
              <a:ext uri="{FF2B5EF4-FFF2-40B4-BE49-F238E27FC236}">
                <a16:creationId xmlns:a16="http://schemas.microsoft.com/office/drawing/2014/main" id="{59FBEC2D-CCB7-2988-A325-9946AFB1C56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21880" y="3013132"/>
            <a:ext cx="3486637" cy="2905530"/>
          </a:xfrm>
          <a:prstGeom prst="rect">
            <a:avLst/>
          </a:prstGeom>
        </p:spPr>
      </p:pic>
      <p:sp>
        <p:nvSpPr>
          <p:cNvPr id="42" name="Content Placeholder 6">
            <a:extLst>
              <a:ext uri="{FF2B5EF4-FFF2-40B4-BE49-F238E27FC236}">
                <a16:creationId xmlns:a16="http://schemas.microsoft.com/office/drawing/2014/main" id="{13404FF0-EEE5-3A60-8687-6869D5D686D5}"/>
              </a:ext>
            </a:extLst>
          </p:cNvPr>
          <p:cNvSpPr txBox="1">
            <a:spLocks/>
          </p:cNvSpPr>
          <p:nvPr/>
        </p:nvSpPr>
        <p:spPr>
          <a:xfrm>
            <a:off x="838200" y="960120"/>
            <a:ext cx="10515600" cy="50202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dirty="0"/>
              <a:t>Example: scaling a rectangle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F736059D-FBF2-0BF6-369E-BF4A6104EAF7}"/>
              </a:ext>
            </a:extLst>
          </p:cNvPr>
          <p:cNvSpPr txBox="1"/>
          <p:nvPr/>
        </p:nvSpPr>
        <p:spPr>
          <a:xfrm>
            <a:off x="2623459" y="1871056"/>
            <a:ext cx="3503460" cy="646331"/>
          </a:xfrm>
          <a:prstGeom prst="wedgeRectCallout">
            <a:avLst>
              <a:gd name="adj1" fmla="val -14190"/>
              <a:gd name="adj2" fmla="val 188542"/>
            </a:avLst>
          </a:prstGeom>
          <a:solidFill>
            <a:srgbClr val="FFFF99"/>
          </a:solidFill>
          <a:ln>
            <a:solidFill>
              <a:srgbClr val="0070C0"/>
            </a:solidFill>
          </a:ln>
        </p:spPr>
        <p:txBody>
          <a:bodyPr wrap="none" rtlCol="0">
            <a:spAutoFit/>
          </a:bodyPr>
          <a:lstStyle/>
          <a:p>
            <a:r>
              <a:rPr lang="en-US" dirty="0"/>
              <a:t>The factor for the old point’s</a:t>
            </a:r>
          </a:p>
          <a:p>
            <a:r>
              <a:rPr lang="en-US" b="1" dirty="0">
                <a:solidFill>
                  <a:srgbClr val="FF0000"/>
                </a:solidFill>
              </a:rPr>
              <a:t>z</a:t>
            </a:r>
            <a:r>
              <a:rPr lang="en-US" b="1" dirty="0"/>
              <a:t> </a:t>
            </a:r>
            <a:r>
              <a:rPr lang="en-US" dirty="0"/>
              <a:t>contribution to the new point’s </a:t>
            </a:r>
            <a:r>
              <a:rPr lang="en-US" b="1" dirty="0"/>
              <a:t>x</a:t>
            </a:r>
          </a:p>
        </p:txBody>
      </p:sp>
    </p:spTree>
    <p:extLst>
      <p:ext uri="{BB962C8B-B14F-4D97-AF65-F5344CB8AC3E}">
        <p14:creationId xmlns:p14="http://schemas.microsoft.com/office/powerpoint/2010/main" val="42139556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49452C-EEE9-B229-2253-6596976033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538" name="Rectangle 2">
            <a:extLst>
              <a:ext uri="{FF2B5EF4-FFF2-40B4-BE49-F238E27FC236}">
                <a16:creationId xmlns:a16="http://schemas.microsoft.com/office/drawing/2014/main" id="{13932F22-D38F-776B-A063-B672E107997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838200" y="395183"/>
            <a:ext cx="10515600" cy="594995"/>
          </a:xfrm>
        </p:spPr>
        <p:txBody>
          <a:bodyPr>
            <a:normAutofit fontScale="90000"/>
          </a:bodyPr>
          <a:lstStyle/>
          <a:p>
            <a:r>
              <a:rPr lang="en-US" altLang="en-US" dirty="0"/>
              <a:t>Transformation matrices - basics</a:t>
            </a:r>
          </a:p>
        </p:txBody>
      </p:sp>
      <p:graphicFrame>
        <p:nvGraphicFramePr>
          <p:cNvPr id="2" name="Group 16">
            <a:extLst>
              <a:ext uri="{FF2B5EF4-FFF2-40B4-BE49-F238E27FC236}">
                <a16:creationId xmlns:a16="http://schemas.microsoft.com/office/drawing/2014/main" id="{7F2E9EE6-19CC-1BDC-2867-D44B0BFEF068}"/>
              </a:ext>
            </a:extLst>
          </p:cNvPr>
          <p:cNvGraphicFramePr>
            <a:graphicFrameLocks noGrp="1"/>
          </p:cNvGraphicFramePr>
          <p:nvPr/>
        </p:nvGraphicFramePr>
        <p:xfrm>
          <a:off x="2712720" y="3403402"/>
          <a:ext cx="1371600" cy="1371600"/>
        </p:xfrm>
        <a:graphic>
          <a:graphicData uri="http://schemas.openxmlformats.org/drawingml/2006/table">
            <a:tbl>
              <a:tblPr/>
              <a:tblGrid>
                <a:gridCol w="457200">
                  <a:extLst>
                    <a:ext uri="{9D8B030D-6E8A-4147-A177-3AD203B41FA5}">
                      <a16:colId xmlns:a16="http://schemas.microsoft.com/office/drawing/2014/main" val="513833293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3094146695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4172825067"/>
                    </a:ext>
                  </a:extLst>
                </a:gridCol>
              </a:tblGrid>
              <a:tr h="45720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2</a:t>
                      </a:r>
                    </a:p>
                  </a:txBody>
                  <a:tcPr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7D7D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0</a:t>
                      </a:r>
                    </a:p>
                  </a:txBody>
                  <a:tcPr anchor="ctr" anchorCtr="1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0</a:t>
                      </a:r>
                    </a:p>
                  </a:txBody>
                  <a:tcPr anchor="ctr" anchorCtr="1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75389585"/>
                  </a:ext>
                </a:extLst>
              </a:tr>
              <a:tr h="45720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0</a:t>
                      </a:r>
                    </a:p>
                  </a:txBody>
                  <a:tcPr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7D7D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2</a:t>
                      </a:r>
                    </a:p>
                  </a:txBody>
                  <a:tcPr anchor="ctr" anchorCtr="1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0</a:t>
                      </a:r>
                    </a:p>
                  </a:txBody>
                  <a:tcPr anchor="ctr" anchorCtr="1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5128215"/>
                  </a:ext>
                </a:extLst>
              </a:tr>
              <a:tr h="45720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0</a:t>
                      </a:r>
                    </a:p>
                  </a:txBody>
                  <a:tcPr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7D7D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0</a:t>
                      </a:r>
                    </a:p>
                  </a:txBody>
                  <a:tcPr anchor="ctr" anchorCtr="1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2</a:t>
                      </a:r>
                    </a:p>
                  </a:txBody>
                  <a:tcPr anchor="ctr" anchorCtr="1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85717563"/>
                  </a:ext>
                </a:extLst>
              </a:tr>
            </a:tbl>
          </a:graphicData>
        </a:graphic>
      </p:graphicFrame>
      <p:graphicFrame>
        <p:nvGraphicFramePr>
          <p:cNvPr id="5" name="Group 6">
            <a:extLst>
              <a:ext uri="{FF2B5EF4-FFF2-40B4-BE49-F238E27FC236}">
                <a16:creationId xmlns:a16="http://schemas.microsoft.com/office/drawing/2014/main" id="{AD155C94-719A-F7F6-701F-A6E85A7D3E7F}"/>
              </a:ext>
            </a:extLst>
          </p:cNvPr>
          <p:cNvGraphicFramePr>
            <a:graphicFrameLocks/>
          </p:cNvGraphicFramePr>
          <p:nvPr/>
        </p:nvGraphicFramePr>
        <p:xfrm>
          <a:off x="4849734" y="3413542"/>
          <a:ext cx="509588" cy="1371600"/>
        </p:xfrm>
        <a:graphic>
          <a:graphicData uri="http://schemas.openxmlformats.org/drawingml/2006/table">
            <a:tbl>
              <a:tblPr/>
              <a:tblGrid>
                <a:gridCol w="509588">
                  <a:extLst>
                    <a:ext uri="{9D8B030D-6E8A-4147-A177-3AD203B41FA5}">
                      <a16:colId xmlns:a16="http://schemas.microsoft.com/office/drawing/2014/main" val="1718322747"/>
                    </a:ext>
                  </a:extLst>
                </a:gridCol>
              </a:tblGrid>
              <a:tr h="45720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1</a:t>
                      </a:r>
                    </a:p>
                  </a:txBody>
                  <a:tcPr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7D7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06586071"/>
                  </a:ext>
                </a:extLst>
              </a:tr>
              <a:tr h="45720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1</a:t>
                      </a:r>
                    </a:p>
                  </a:txBody>
                  <a:tcPr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81308325"/>
                  </a:ext>
                </a:extLst>
              </a:tr>
              <a:tr h="45720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0</a:t>
                      </a:r>
                    </a:p>
                  </a:txBody>
                  <a:tcPr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66943235"/>
                  </a:ext>
                </a:extLst>
              </a:tr>
            </a:tbl>
          </a:graphicData>
        </a:graphic>
      </p:graphicFrame>
      <p:graphicFrame>
        <p:nvGraphicFramePr>
          <p:cNvPr id="14" name="Group 6">
            <a:extLst>
              <a:ext uri="{FF2B5EF4-FFF2-40B4-BE49-F238E27FC236}">
                <a16:creationId xmlns:a16="http://schemas.microsoft.com/office/drawing/2014/main" id="{1F0FAAED-4052-4448-E613-B0C1BD52ECDE}"/>
              </a:ext>
            </a:extLst>
          </p:cNvPr>
          <p:cNvGraphicFramePr>
            <a:graphicFrameLocks/>
          </p:cNvGraphicFramePr>
          <p:nvPr/>
        </p:nvGraphicFramePr>
        <p:xfrm>
          <a:off x="1005840" y="3402201"/>
          <a:ext cx="716297" cy="1371600"/>
        </p:xfrm>
        <a:graphic>
          <a:graphicData uri="http://schemas.openxmlformats.org/drawingml/2006/table">
            <a:tbl>
              <a:tblPr/>
              <a:tblGrid>
                <a:gridCol w="716297">
                  <a:extLst>
                    <a:ext uri="{9D8B030D-6E8A-4147-A177-3AD203B41FA5}">
                      <a16:colId xmlns:a16="http://schemas.microsoft.com/office/drawing/2014/main" val="1718322747"/>
                    </a:ext>
                  </a:extLst>
                </a:gridCol>
              </a:tblGrid>
              <a:tr h="45720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2</a:t>
                      </a:r>
                    </a:p>
                  </a:txBody>
                  <a:tcPr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7D7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06586071"/>
                  </a:ext>
                </a:extLst>
              </a:tr>
              <a:tr h="45720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2</a:t>
                      </a:r>
                    </a:p>
                  </a:txBody>
                  <a:tcPr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81308325"/>
                  </a:ext>
                </a:extLst>
              </a:tr>
              <a:tr h="45720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0</a:t>
                      </a:r>
                    </a:p>
                  </a:txBody>
                  <a:tcPr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66943235"/>
                  </a:ext>
                </a:extLst>
              </a:tr>
            </a:tbl>
          </a:graphicData>
        </a:graphic>
      </p:graphicFrame>
      <p:sp>
        <p:nvSpPr>
          <p:cNvPr id="28" name="TextBox 27">
            <a:extLst>
              <a:ext uri="{FF2B5EF4-FFF2-40B4-BE49-F238E27FC236}">
                <a16:creationId xmlns:a16="http://schemas.microsoft.com/office/drawing/2014/main" id="{784588F7-1236-9C38-1EA9-964934DA08EE}"/>
              </a:ext>
            </a:extLst>
          </p:cNvPr>
          <p:cNvSpPr txBox="1"/>
          <p:nvPr/>
        </p:nvSpPr>
        <p:spPr>
          <a:xfrm>
            <a:off x="1947306" y="3705424"/>
            <a:ext cx="43152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b="1" dirty="0"/>
              <a:t>=</a:t>
            </a:r>
            <a:endParaRPr lang="en-US" sz="2400" b="1" dirty="0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FB266C37-5DDD-FD2A-7048-69E4F1B5E81A}"/>
              </a:ext>
            </a:extLst>
          </p:cNvPr>
          <p:cNvSpPr txBox="1"/>
          <p:nvPr/>
        </p:nvSpPr>
        <p:spPr>
          <a:xfrm>
            <a:off x="4251263" y="3705424"/>
            <a:ext cx="41389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b="1" dirty="0"/>
              <a:t>x</a:t>
            </a:r>
            <a:endParaRPr lang="en-US" sz="2400" b="1" dirty="0"/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D7EBA063-AB4E-D0E4-6C2D-CD530EB5E1EA}"/>
              </a:ext>
            </a:extLst>
          </p:cNvPr>
          <p:cNvSpPr txBox="1"/>
          <p:nvPr/>
        </p:nvSpPr>
        <p:spPr>
          <a:xfrm>
            <a:off x="4812482" y="4934540"/>
            <a:ext cx="156645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Original point </a:t>
            </a:r>
          </a:p>
          <a:p>
            <a:r>
              <a:rPr lang="en-US" dirty="0"/>
              <a:t>location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2D11BA8C-603B-0251-07DE-F8A80C75FE45}"/>
              </a:ext>
            </a:extLst>
          </p:cNvPr>
          <p:cNvSpPr txBox="1"/>
          <p:nvPr/>
        </p:nvSpPr>
        <p:spPr>
          <a:xfrm>
            <a:off x="2686713" y="4934540"/>
            <a:ext cx="168847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Transformation</a:t>
            </a:r>
          </a:p>
          <a:p>
            <a:r>
              <a:rPr lang="en-US" dirty="0"/>
              <a:t>matrix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7B6D0992-A36E-8035-2D38-96FB528353A0}"/>
              </a:ext>
            </a:extLst>
          </p:cNvPr>
          <p:cNvSpPr txBox="1"/>
          <p:nvPr/>
        </p:nvSpPr>
        <p:spPr>
          <a:xfrm>
            <a:off x="751401" y="4907835"/>
            <a:ext cx="119590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New point</a:t>
            </a:r>
          </a:p>
          <a:p>
            <a:r>
              <a:rPr lang="en-US" dirty="0"/>
              <a:t>location</a:t>
            </a:r>
          </a:p>
        </p:txBody>
      </p:sp>
      <p:pic>
        <p:nvPicPr>
          <p:cNvPr id="41" name="Picture 40">
            <a:extLst>
              <a:ext uri="{FF2B5EF4-FFF2-40B4-BE49-F238E27FC236}">
                <a16:creationId xmlns:a16="http://schemas.microsoft.com/office/drawing/2014/main" id="{BC9A8DDB-A819-387E-3C76-39E04F16108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21880" y="3013132"/>
            <a:ext cx="3486637" cy="2905530"/>
          </a:xfrm>
          <a:prstGeom prst="rect">
            <a:avLst/>
          </a:prstGeom>
        </p:spPr>
      </p:pic>
      <p:sp>
        <p:nvSpPr>
          <p:cNvPr id="42" name="Content Placeholder 6">
            <a:extLst>
              <a:ext uri="{FF2B5EF4-FFF2-40B4-BE49-F238E27FC236}">
                <a16:creationId xmlns:a16="http://schemas.microsoft.com/office/drawing/2014/main" id="{6B828073-3AEB-197F-FD29-D52909381FEB}"/>
              </a:ext>
            </a:extLst>
          </p:cNvPr>
          <p:cNvSpPr txBox="1">
            <a:spLocks/>
          </p:cNvSpPr>
          <p:nvPr/>
        </p:nvSpPr>
        <p:spPr>
          <a:xfrm>
            <a:off x="838200" y="960120"/>
            <a:ext cx="10515600" cy="50202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dirty="0"/>
              <a:t>Example: scaling a rectangle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1A66A076-EECE-4FAB-3F5E-843B77BD3AB4}"/>
              </a:ext>
            </a:extLst>
          </p:cNvPr>
          <p:cNvSpPr txBox="1"/>
          <p:nvPr/>
        </p:nvSpPr>
        <p:spPr>
          <a:xfrm>
            <a:off x="2623459" y="1871056"/>
            <a:ext cx="3503460" cy="646331"/>
          </a:xfrm>
          <a:prstGeom prst="wedgeRectCallout">
            <a:avLst>
              <a:gd name="adj1" fmla="val -40289"/>
              <a:gd name="adj2" fmla="val 269569"/>
            </a:avLst>
          </a:prstGeom>
          <a:solidFill>
            <a:srgbClr val="FFFF99"/>
          </a:solidFill>
          <a:ln>
            <a:solidFill>
              <a:srgbClr val="0070C0"/>
            </a:solidFill>
          </a:ln>
        </p:spPr>
        <p:txBody>
          <a:bodyPr wrap="none" rtlCol="0">
            <a:spAutoFit/>
          </a:bodyPr>
          <a:lstStyle/>
          <a:p>
            <a:r>
              <a:rPr lang="en-US" dirty="0"/>
              <a:t>The factor for the old point’s</a:t>
            </a:r>
          </a:p>
          <a:p>
            <a:r>
              <a:rPr lang="en-US" b="1" dirty="0">
                <a:solidFill>
                  <a:srgbClr val="FF0000"/>
                </a:solidFill>
              </a:rPr>
              <a:t>x</a:t>
            </a:r>
            <a:r>
              <a:rPr lang="en-US" b="1" dirty="0"/>
              <a:t> </a:t>
            </a:r>
            <a:r>
              <a:rPr lang="en-US" dirty="0"/>
              <a:t>contribution to the new point’s </a:t>
            </a:r>
            <a:r>
              <a:rPr lang="en-US" b="1" dirty="0">
                <a:solidFill>
                  <a:srgbClr val="FF0000"/>
                </a:solidFill>
              </a:rPr>
              <a:t>y</a:t>
            </a:r>
          </a:p>
        </p:txBody>
      </p:sp>
    </p:spTree>
    <p:extLst>
      <p:ext uri="{BB962C8B-B14F-4D97-AF65-F5344CB8AC3E}">
        <p14:creationId xmlns:p14="http://schemas.microsoft.com/office/powerpoint/2010/main" val="42747932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89EC63-017E-0112-827F-689DEA6EC1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538" name="Rectangle 2">
            <a:extLst>
              <a:ext uri="{FF2B5EF4-FFF2-40B4-BE49-F238E27FC236}">
                <a16:creationId xmlns:a16="http://schemas.microsoft.com/office/drawing/2014/main" id="{88541967-3B8B-9239-81DD-8CB07D4F27B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838200" y="395183"/>
            <a:ext cx="10515600" cy="594995"/>
          </a:xfrm>
        </p:spPr>
        <p:txBody>
          <a:bodyPr>
            <a:normAutofit fontScale="90000"/>
          </a:bodyPr>
          <a:lstStyle/>
          <a:p>
            <a:r>
              <a:rPr lang="en-US" altLang="en-US" dirty="0"/>
              <a:t>Transformation matrices - basics</a:t>
            </a:r>
          </a:p>
        </p:txBody>
      </p:sp>
      <p:graphicFrame>
        <p:nvGraphicFramePr>
          <p:cNvPr id="2" name="Group 16">
            <a:extLst>
              <a:ext uri="{FF2B5EF4-FFF2-40B4-BE49-F238E27FC236}">
                <a16:creationId xmlns:a16="http://schemas.microsoft.com/office/drawing/2014/main" id="{9B1F4296-E228-9BD3-012C-195ADC9E4ACF}"/>
              </a:ext>
            </a:extLst>
          </p:cNvPr>
          <p:cNvGraphicFramePr>
            <a:graphicFrameLocks noGrp="1"/>
          </p:cNvGraphicFramePr>
          <p:nvPr/>
        </p:nvGraphicFramePr>
        <p:xfrm>
          <a:off x="2712720" y="3403402"/>
          <a:ext cx="1371600" cy="1371600"/>
        </p:xfrm>
        <a:graphic>
          <a:graphicData uri="http://schemas.openxmlformats.org/drawingml/2006/table">
            <a:tbl>
              <a:tblPr/>
              <a:tblGrid>
                <a:gridCol w="457200">
                  <a:extLst>
                    <a:ext uri="{9D8B030D-6E8A-4147-A177-3AD203B41FA5}">
                      <a16:colId xmlns:a16="http://schemas.microsoft.com/office/drawing/2014/main" val="513833293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3094146695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4172825067"/>
                    </a:ext>
                  </a:extLst>
                </a:gridCol>
              </a:tblGrid>
              <a:tr h="45720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2</a:t>
                      </a:r>
                    </a:p>
                  </a:txBody>
                  <a:tcPr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7D7D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0</a:t>
                      </a:r>
                    </a:p>
                  </a:txBody>
                  <a:tcPr anchor="ctr" anchorCtr="1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0</a:t>
                      </a:r>
                    </a:p>
                  </a:txBody>
                  <a:tcPr anchor="ctr" anchorCtr="1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75389585"/>
                  </a:ext>
                </a:extLst>
              </a:tr>
              <a:tr h="45720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0</a:t>
                      </a:r>
                    </a:p>
                  </a:txBody>
                  <a:tcPr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7D7D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2</a:t>
                      </a:r>
                    </a:p>
                  </a:txBody>
                  <a:tcPr anchor="ctr" anchorCtr="1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0</a:t>
                      </a:r>
                    </a:p>
                  </a:txBody>
                  <a:tcPr anchor="ctr" anchorCtr="1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5128215"/>
                  </a:ext>
                </a:extLst>
              </a:tr>
              <a:tr h="45720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0</a:t>
                      </a:r>
                    </a:p>
                  </a:txBody>
                  <a:tcPr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7D7D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0</a:t>
                      </a:r>
                    </a:p>
                  </a:txBody>
                  <a:tcPr anchor="ctr" anchorCtr="1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2</a:t>
                      </a:r>
                    </a:p>
                  </a:txBody>
                  <a:tcPr anchor="ctr" anchorCtr="1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85717563"/>
                  </a:ext>
                </a:extLst>
              </a:tr>
            </a:tbl>
          </a:graphicData>
        </a:graphic>
      </p:graphicFrame>
      <p:graphicFrame>
        <p:nvGraphicFramePr>
          <p:cNvPr id="5" name="Group 6">
            <a:extLst>
              <a:ext uri="{FF2B5EF4-FFF2-40B4-BE49-F238E27FC236}">
                <a16:creationId xmlns:a16="http://schemas.microsoft.com/office/drawing/2014/main" id="{2C377289-AF35-E946-5DD4-DB38988F1E20}"/>
              </a:ext>
            </a:extLst>
          </p:cNvPr>
          <p:cNvGraphicFramePr>
            <a:graphicFrameLocks/>
          </p:cNvGraphicFramePr>
          <p:nvPr/>
        </p:nvGraphicFramePr>
        <p:xfrm>
          <a:off x="4849734" y="3413542"/>
          <a:ext cx="509588" cy="1371600"/>
        </p:xfrm>
        <a:graphic>
          <a:graphicData uri="http://schemas.openxmlformats.org/drawingml/2006/table">
            <a:tbl>
              <a:tblPr/>
              <a:tblGrid>
                <a:gridCol w="509588">
                  <a:extLst>
                    <a:ext uri="{9D8B030D-6E8A-4147-A177-3AD203B41FA5}">
                      <a16:colId xmlns:a16="http://schemas.microsoft.com/office/drawing/2014/main" val="1718322747"/>
                    </a:ext>
                  </a:extLst>
                </a:gridCol>
              </a:tblGrid>
              <a:tr h="45720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1</a:t>
                      </a:r>
                    </a:p>
                  </a:txBody>
                  <a:tcPr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7D7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06586071"/>
                  </a:ext>
                </a:extLst>
              </a:tr>
              <a:tr h="45720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1</a:t>
                      </a:r>
                    </a:p>
                  </a:txBody>
                  <a:tcPr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81308325"/>
                  </a:ext>
                </a:extLst>
              </a:tr>
              <a:tr h="45720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0</a:t>
                      </a:r>
                    </a:p>
                  </a:txBody>
                  <a:tcPr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66943235"/>
                  </a:ext>
                </a:extLst>
              </a:tr>
            </a:tbl>
          </a:graphicData>
        </a:graphic>
      </p:graphicFrame>
      <p:graphicFrame>
        <p:nvGraphicFramePr>
          <p:cNvPr id="14" name="Group 6">
            <a:extLst>
              <a:ext uri="{FF2B5EF4-FFF2-40B4-BE49-F238E27FC236}">
                <a16:creationId xmlns:a16="http://schemas.microsoft.com/office/drawing/2014/main" id="{BD5AE4D9-21F8-DC8A-375D-6235473E0438}"/>
              </a:ext>
            </a:extLst>
          </p:cNvPr>
          <p:cNvGraphicFramePr>
            <a:graphicFrameLocks/>
          </p:cNvGraphicFramePr>
          <p:nvPr/>
        </p:nvGraphicFramePr>
        <p:xfrm>
          <a:off x="1005840" y="3402201"/>
          <a:ext cx="716297" cy="1371600"/>
        </p:xfrm>
        <a:graphic>
          <a:graphicData uri="http://schemas.openxmlformats.org/drawingml/2006/table">
            <a:tbl>
              <a:tblPr/>
              <a:tblGrid>
                <a:gridCol w="716297">
                  <a:extLst>
                    <a:ext uri="{9D8B030D-6E8A-4147-A177-3AD203B41FA5}">
                      <a16:colId xmlns:a16="http://schemas.microsoft.com/office/drawing/2014/main" val="1718322747"/>
                    </a:ext>
                  </a:extLst>
                </a:gridCol>
              </a:tblGrid>
              <a:tr h="45720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2</a:t>
                      </a:r>
                    </a:p>
                  </a:txBody>
                  <a:tcPr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7D7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06586071"/>
                  </a:ext>
                </a:extLst>
              </a:tr>
              <a:tr h="45720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2</a:t>
                      </a:r>
                    </a:p>
                  </a:txBody>
                  <a:tcPr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81308325"/>
                  </a:ext>
                </a:extLst>
              </a:tr>
              <a:tr h="45720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0</a:t>
                      </a:r>
                    </a:p>
                  </a:txBody>
                  <a:tcPr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66943235"/>
                  </a:ext>
                </a:extLst>
              </a:tr>
            </a:tbl>
          </a:graphicData>
        </a:graphic>
      </p:graphicFrame>
      <p:sp>
        <p:nvSpPr>
          <p:cNvPr id="28" name="TextBox 27">
            <a:extLst>
              <a:ext uri="{FF2B5EF4-FFF2-40B4-BE49-F238E27FC236}">
                <a16:creationId xmlns:a16="http://schemas.microsoft.com/office/drawing/2014/main" id="{BD508585-A9A6-F433-453C-2620387F9745}"/>
              </a:ext>
            </a:extLst>
          </p:cNvPr>
          <p:cNvSpPr txBox="1"/>
          <p:nvPr/>
        </p:nvSpPr>
        <p:spPr>
          <a:xfrm>
            <a:off x="1947306" y="3705424"/>
            <a:ext cx="43152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b="1" dirty="0"/>
              <a:t>=</a:t>
            </a:r>
            <a:endParaRPr lang="en-US" sz="2400" b="1" dirty="0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B6BFFEE0-7A14-E95D-B447-3258F48A239C}"/>
              </a:ext>
            </a:extLst>
          </p:cNvPr>
          <p:cNvSpPr txBox="1"/>
          <p:nvPr/>
        </p:nvSpPr>
        <p:spPr>
          <a:xfrm>
            <a:off x="4251263" y="3705424"/>
            <a:ext cx="41389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b="1" dirty="0"/>
              <a:t>x</a:t>
            </a:r>
            <a:endParaRPr lang="en-US" sz="2400" b="1" dirty="0"/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5494F079-4EDD-019A-D9DD-E2A041B77B67}"/>
              </a:ext>
            </a:extLst>
          </p:cNvPr>
          <p:cNvSpPr txBox="1"/>
          <p:nvPr/>
        </p:nvSpPr>
        <p:spPr>
          <a:xfrm>
            <a:off x="4812482" y="4934540"/>
            <a:ext cx="156645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Original point </a:t>
            </a:r>
          </a:p>
          <a:p>
            <a:r>
              <a:rPr lang="en-US" dirty="0"/>
              <a:t>location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87A1ADBE-DBDE-EEC9-AF7F-73564042E5CC}"/>
              </a:ext>
            </a:extLst>
          </p:cNvPr>
          <p:cNvSpPr txBox="1"/>
          <p:nvPr/>
        </p:nvSpPr>
        <p:spPr>
          <a:xfrm>
            <a:off x="2686713" y="4934540"/>
            <a:ext cx="168847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Transformation</a:t>
            </a:r>
          </a:p>
          <a:p>
            <a:r>
              <a:rPr lang="en-US" dirty="0"/>
              <a:t>matrix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FF27D7C1-DC06-3485-46E5-0C69CD17C8FB}"/>
              </a:ext>
            </a:extLst>
          </p:cNvPr>
          <p:cNvSpPr txBox="1"/>
          <p:nvPr/>
        </p:nvSpPr>
        <p:spPr>
          <a:xfrm>
            <a:off x="751401" y="4907835"/>
            <a:ext cx="119590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New point</a:t>
            </a:r>
          </a:p>
          <a:p>
            <a:r>
              <a:rPr lang="en-US" dirty="0"/>
              <a:t>location</a:t>
            </a:r>
          </a:p>
        </p:txBody>
      </p:sp>
      <p:pic>
        <p:nvPicPr>
          <p:cNvPr id="41" name="Picture 40">
            <a:extLst>
              <a:ext uri="{FF2B5EF4-FFF2-40B4-BE49-F238E27FC236}">
                <a16:creationId xmlns:a16="http://schemas.microsoft.com/office/drawing/2014/main" id="{C1ABE100-E3CF-42B6-BFAD-351D4D5250F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21880" y="3013132"/>
            <a:ext cx="3486637" cy="2905530"/>
          </a:xfrm>
          <a:prstGeom prst="rect">
            <a:avLst/>
          </a:prstGeom>
        </p:spPr>
      </p:pic>
      <p:sp>
        <p:nvSpPr>
          <p:cNvPr id="42" name="Content Placeholder 6">
            <a:extLst>
              <a:ext uri="{FF2B5EF4-FFF2-40B4-BE49-F238E27FC236}">
                <a16:creationId xmlns:a16="http://schemas.microsoft.com/office/drawing/2014/main" id="{FB11E453-E69D-624A-2606-C40E7AAFE5D6}"/>
              </a:ext>
            </a:extLst>
          </p:cNvPr>
          <p:cNvSpPr txBox="1">
            <a:spLocks/>
          </p:cNvSpPr>
          <p:nvPr/>
        </p:nvSpPr>
        <p:spPr>
          <a:xfrm>
            <a:off x="838200" y="960120"/>
            <a:ext cx="10515600" cy="50202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dirty="0"/>
              <a:t>Example: scaling a rectangle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68DD4139-4791-5F05-5AE7-73299A5927AD}"/>
              </a:ext>
            </a:extLst>
          </p:cNvPr>
          <p:cNvSpPr txBox="1"/>
          <p:nvPr/>
        </p:nvSpPr>
        <p:spPr>
          <a:xfrm>
            <a:off x="2623459" y="1871056"/>
            <a:ext cx="3503460" cy="646331"/>
          </a:xfrm>
          <a:prstGeom prst="wedgeRectCallout">
            <a:avLst>
              <a:gd name="adj1" fmla="val -27239"/>
              <a:gd name="adj2" fmla="val 268283"/>
            </a:avLst>
          </a:prstGeom>
          <a:solidFill>
            <a:srgbClr val="FFFF99"/>
          </a:solidFill>
          <a:ln>
            <a:solidFill>
              <a:srgbClr val="0070C0"/>
            </a:solidFill>
          </a:ln>
        </p:spPr>
        <p:txBody>
          <a:bodyPr wrap="none" rtlCol="0">
            <a:spAutoFit/>
          </a:bodyPr>
          <a:lstStyle/>
          <a:p>
            <a:r>
              <a:rPr lang="en-US" dirty="0"/>
              <a:t>The factor for the old point’s</a:t>
            </a:r>
          </a:p>
          <a:p>
            <a:r>
              <a:rPr lang="en-US" b="1" dirty="0">
                <a:solidFill>
                  <a:srgbClr val="FF0000"/>
                </a:solidFill>
              </a:rPr>
              <a:t>y</a:t>
            </a:r>
            <a:r>
              <a:rPr lang="en-US" b="1" dirty="0"/>
              <a:t> </a:t>
            </a:r>
            <a:r>
              <a:rPr lang="en-US" dirty="0"/>
              <a:t>contribution to the new point’s </a:t>
            </a:r>
            <a:r>
              <a:rPr lang="en-US" b="1" dirty="0">
                <a:solidFill>
                  <a:srgbClr val="FF0000"/>
                </a:solidFill>
              </a:rPr>
              <a:t>y</a:t>
            </a: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26040666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66ED3B-D7CC-C350-FEA0-65BAB81EE7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538" name="Rectangle 2">
            <a:extLst>
              <a:ext uri="{FF2B5EF4-FFF2-40B4-BE49-F238E27FC236}">
                <a16:creationId xmlns:a16="http://schemas.microsoft.com/office/drawing/2014/main" id="{80A83200-8C9A-A0AA-9CBE-4E16D08E18C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838200" y="395183"/>
            <a:ext cx="10515600" cy="594995"/>
          </a:xfrm>
        </p:spPr>
        <p:txBody>
          <a:bodyPr>
            <a:normAutofit fontScale="90000"/>
          </a:bodyPr>
          <a:lstStyle/>
          <a:p>
            <a:r>
              <a:rPr lang="en-US" altLang="en-US" dirty="0"/>
              <a:t>Transformation matrices - basics</a:t>
            </a:r>
          </a:p>
        </p:txBody>
      </p:sp>
      <p:graphicFrame>
        <p:nvGraphicFramePr>
          <p:cNvPr id="2" name="Group 16">
            <a:extLst>
              <a:ext uri="{FF2B5EF4-FFF2-40B4-BE49-F238E27FC236}">
                <a16:creationId xmlns:a16="http://schemas.microsoft.com/office/drawing/2014/main" id="{8A184DB1-BEBD-E30B-E59F-348AB0BBCF6E}"/>
              </a:ext>
            </a:extLst>
          </p:cNvPr>
          <p:cNvGraphicFramePr>
            <a:graphicFrameLocks noGrp="1"/>
          </p:cNvGraphicFramePr>
          <p:nvPr/>
        </p:nvGraphicFramePr>
        <p:xfrm>
          <a:off x="2712720" y="3403402"/>
          <a:ext cx="1371600" cy="1371600"/>
        </p:xfrm>
        <a:graphic>
          <a:graphicData uri="http://schemas.openxmlformats.org/drawingml/2006/table">
            <a:tbl>
              <a:tblPr/>
              <a:tblGrid>
                <a:gridCol w="457200">
                  <a:extLst>
                    <a:ext uri="{9D8B030D-6E8A-4147-A177-3AD203B41FA5}">
                      <a16:colId xmlns:a16="http://schemas.microsoft.com/office/drawing/2014/main" val="513833293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3094146695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4172825067"/>
                    </a:ext>
                  </a:extLst>
                </a:gridCol>
              </a:tblGrid>
              <a:tr h="45720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2</a:t>
                      </a:r>
                    </a:p>
                  </a:txBody>
                  <a:tcPr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7D7D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0</a:t>
                      </a:r>
                    </a:p>
                  </a:txBody>
                  <a:tcPr anchor="ctr" anchorCtr="1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0</a:t>
                      </a:r>
                    </a:p>
                  </a:txBody>
                  <a:tcPr anchor="ctr" anchorCtr="1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75389585"/>
                  </a:ext>
                </a:extLst>
              </a:tr>
              <a:tr h="45720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0</a:t>
                      </a:r>
                    </a:p>
                  </a:txBody>
                  <a:tcPr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7D7D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2</a:t>
                      </a:r>
                    </a:p>
                  </a:txBody>
                  <a:tcPr anchor="ctr" anchorCtr="1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0</a:t>
                      </a:r>
                    </a:p>
                  </a:txBody>
                  <a:tcPr anchor="ctr" anchorCtr="1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5128215"/>
                  </a:ext>
                </a:extLst>
              </a:tr>
              <a:tr h="45720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0</a:t>
                      </a:r>
                    </a:p>
                  </a:txBody>
                  <a:tcPr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7D7D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0</a:t>
                      </a:r>
                    </a:p>
                  </a:txBody>
                  <a:tcPr anchor="ctr" anchorCtr="1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2</a:t>
                      </a:r>
                    </a:p>
                  </a:txBody>
                  <a:tcPr anchor="ctr" anchorCtr="1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85717563"/>
                  </a:ext>
                </a:extLst>
              </a:tr>
            </a:tbl>
          </a:graphicData>
        </a:graphic>
      </p:graphicFrame>
      <p:graphicFrame>
        <p:nvGraphicFramePr>
          <p:cNvPr id="5" name="Group 6">
            <a:extLst>
              <a:ext uri="{FF2B5EF4-FFF2-40B4-BE49-F238E27FC236}">
                <a16:creationId xmlns:a16="http://schemas.microsoft.com/office/drawing/2014/main" id="{EBFEACED-EE51-381C-A2D6-A21B840DBA37}"/>
              </a:ext>
            </a:extLst>
          </p:cNvPr>
          <p:cNvGraphicFramePr>
            <a:graphicFrameLocks/>
          </p:cNvGraphicFramePr>
          <p:nvPr/>
        </p:nvGraphicFramePr>
        <p:xfrm>
          <a:off x="4849734" y="3413542"/>
          <a:ext cx="509588" cy="1371600"/>
        </p:xfrm>
        <a:graphic>
          <a:graphicData uri="http://schemas.openxmlformats.org/drawingml/2006/table">
            <a:tbl>
              <a:tblPr/>
              <a:tblGrid>
                <a:gridCol w="509588">
                  <a:extLst>
                    <a:ext uri="{9D8B030D-6E8A-4147-A177-3AD203B41FA5}">
                      <a16:colId xmlns:a16="http://schemas.microsoft.com/office/drawing/2014/main" val="1718322747"/>
                    </a:ext>
                  </a:extLst>
                </a:gridCol>
              </a:tblGrid>
              <a:tr h="45720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1</a:t>
                      </a:r>
                    </a:p>
                  </a:txBody>
                  <a:tcPr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7D7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06586071"/>
                  </a:ext>
                </a:extLst>
              </a:tr>
              <a:tr h="45720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1</a:t>
                      </a:r>
                    </a:p>
                  </a:txBody>
                  <a:tcPr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81308325"/>
                  </a:ext>
                </a:extLst>
              </a:tr>
              <a:tr h="45720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0</a:t>
                      </a:r>
                    </a:p>
                  </a:txBody>
                  <a:tcPr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66943235"/>
                  </a:ext>
                </a:extLst>
              </a:tr>
            </a:tbl>
          </a:graphicData>
        </a:graphic>
      </p:graphicFrame>
      <p:graphicFrame>
        <p:nvGraphicFramePr>
          <p:cNvPr id="14" name="Group 6">
            <a:extLst>
              <a:ext uri="{FF2B5EF4-FFF2-40B4-BE49-F238E27FC236}">
                <a16:creationId xmlns:a16="http://schemas.microsoft.com/office/drawing/2014/main" id="{72168963-E1B8-D171-DF0A-787F4DC1FCB2}"/>
              </a:ext>
            </a:extLst>
          </p:cNvPr>
          <p:cNvGraphicFramePr>
            <a:graphicFrameLocks/>
          </p:cNvGraphicFramePr>
          <p:nvPr/>
        </p:nvGraphicFramePr>
        <p:xfrm>
          <a:off x="1005840" y="3402201"/>
          <a:ext cx="716297" cy="1371600"/>
        </p:xfrm>
        <a:graphic>
          <a:graphicData uri="http://schemas.openxmlformats.org/drawingml/2006/table">
            <a:tbl>
              <a:tblPr/>
              <a:tblGrid>
                <a:gridCol w="716297">
                  <a:extLst>
                    <a:ext uri="{9D8B030D-6E8A-4147-A177-3AD203B41FA5}">
                      <a16:colId xmlns:a16="http://schemas.microsoft.com/office/drawing/2014/main" val="1718322747"/>
                    </a:ext>
                  </a:extLst>
                </a:gridCol>
              </a:tblGrid>
              <a:tr h="45720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2</a:t>
                      </a:r>
                    </a:p>
                  </a:txBody>
                  <a:tcPr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7D7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06586071"/>
                  </a:ext>
                </a:extLst>
              </a:tr>
              <a:tr h="45720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2</a:t>
                      </a:r>
                    </a:p>
                  </a:txBody>
                  <a:tcPr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81308325"/>
                  </a:ext>
                </a:extLst>
              </a:tr>
              <a:tr h="45720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0</a:t>
                      </a:r>
                    </a:p>
                  </a:txBody>
                  <a:tcPr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66943235"/>
                  </a:ext>
                </a:extLst>
              </a:tr>
            </a:tbl>
          </a:graphicData>
        </a:graphic>
      </p:graphicFrame>
      <p:sp>
        <p:nvSpPr>
          <p:cNvPr id="28" name="TextBox 27">
            <a:extLst>
              <a:ext uri="{FF2B5EF4-FFF2-40B4-BE49-F238E27FC236}">
                <a16:creationId xmlns:a16="http://schemas.microsoft.com/office/drawing/2014/main" id="{11FB1B48-1B78-6B8A-4A8E-5BCA7B37641B}"/>
              </a:ext>
            </a:extLst>
          </p:cNvPr>
          <p:cNvSpPr txBox="1"/>
          <p:nvPr/>
        </p:nvSpPr>
        <p:spPr>
          <a:xfrm>
            <a:off x="1947306" y="3705424"/>
            <a:ext cx="43152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b="1" dirty="0"/>
              <a:t>=</a:t>
            </a:r>
            <a:endParaRPr lang="en-US" sz="2400" b="1" dirty="0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5E25805D-16B1-3291-3911-675F36E222FF}"/>
              </a:ext>
            </a:extLst>
          </p:cNvPr>
          <p:cNvSpPr txBox="1"/>
          <p:nvPr/>
        </p:nvSpPr>
        <p:spPr>
          <a:xfrm>
            <a:off x="4251263" y="3705424"/>
            <a:ext cx="41389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b="1" dirty="0"/>
              <a:t>x</a:t>
            </a:r>
            <a:endParaRPr lang="en-US" sz="2400" b="1" dirty="0"/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1A6EEEA2-DEEB-177B-2AFD-98973E4F3DED}"/>
              </a:ext>
            </a:extLst>
          </p:cNvPr>
          <p:cNvSpPr txBox="1"/>
          <p:nvPr/>
        </p:nvSpPr>
        <p:spPr>
          <a:xfrm>
            <a:off x="4812482" y="4934540"/>
            <a:ext cx="156645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Original point </a:t>
            </a:r>
          </a:p>
          <a:p>
            <a:r>
              <a:rPr lang="en-US" dirty="0"/>
              <a:t>location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C98DBF31-2F39-8BAE-23A7-971C5016E01E}"/>
              </a:ext>
            </a:extLst>
          </p:cNvPr>
          <p:cNvSpPr txBox="1"/>
          <p:nvPr/>
        </p:nvSpPr>
        <p:spPr>
          <a:xfrm>
            <a:off x="2686713" y="4934540"/>
            <a:ext cx="168847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Transformation</a:t>
            </a:r>
          </a:p>
          <a:p>
            <a:r>
              <a:rPr lang="en-US" dirty="0"/>
              <a:t>matrix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50B189E1-89F2-FB77-958D-6DEA1F0DC94B}"/>
              </a:ext>
            </a:extLst>
          </p:cNvPr>
          <p:cNvSpPr txBox="1"/>
          <p:nvPr/>
        </p:nvSpPr>
        <p:spPr>
          <a:xfrm>
            <a:off x="751401" y="4907835"/>
            <a:ext cx="119590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New point</a:t>
            </a:r>
          </a:p>
          <a:p>
            <a:r>
              <a:rPr lang="en-US" dirty="0"/>
              <a:t>location</a:t>
            </a:r>
          </a:p>
        </p:txBody>
      </p:sp>
      <p:pic>
        <p:nvPicPr>
          <p:cNvPr id="41" name="Picture 40">
            <a:extLst>
              <a:ext uri="{FF2B5EF4-FFF2-40B4-BE49-F238E27FC236}">
                <a16:creationId xmlns:a16="http://schemas.microsoft.com/office/drawing/2014/main" id="{CE746B99-CD68-EABF-F882-6FE303A4836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21880" y="3013132"/>
            <a:ext cx="3486637" cy="2905530"/>
          </a:xfrm>
          <a:prstGeom prst="rect">
            <a:avLst/>
          </a:prstGeom>
        </p:spPr>
      </p:pic>
      <p:sp>
        <p:nvSpPr>
          <p:cNvPr id="42" name="Content Placeholder 6">
            <a:extLst>
              <a:ext uri="{FF2B5EF4-FFF2-40B4-BE49-F238E27FC236}">
                <a16:creationId xmlns:a16="http://schemas.microsoft.com/office/drawing/2014/main" id="{DCBB9ED0-A1D5-CDC9-E19D-1A57CF7538C2}"/>
              </a:ext>
            </a:extLst>
          </p:cNvPr>
          <p:cNvSpPr txBox="1">
            <a:spLocks/>
          </p:cNvSpPr>
          <p:nvPr/>
        </p:nvSpPr>
        <p:spPr>
          <a:xfrm>
            <a:off x="838200" y="960120"/>
            <a:ext cx="10515600" cy="50202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dirty="0"/>
              <a:t>Example: scaling a rectangle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97D25F66-B214-210D-A996-572E532608EC}"/>
              </a:ext>
            </a:extLst>
          </p:cNvPr>
          <p:cNvSpPr txBox="1"/>
          <p:nvPr/>
        </p:nvSpPr>
        <p:spPr>
          <a:xfrm>
            <a:off x="2623459" y="1871056"/>
            <a:ext cx="3503460" cy="646331"/>
          </a:xfrm>
          <a:prstGeom prst="wedgeRectCallout">
            <a:avLst>
              <a:gd name="adj1" fmla="val -14190"/>
              <a:gd name="adj2" fmla="val 266997"/>
            </a:avLst>
          </a:prstGeom>
          <a:solidFill>
            <a:srgbClr val="FFFF99"/>
          </a:solidFill>
          <a:ln>
            <a:solidFill>
              <a:srgbClr val="0070C0"/>
            </a:solidFill>
          </a:ln>
        </p:spPr>
        <p:txBody>
          <a:bodyPr wrap="none" rtlCol="0">
            <a:spAutoFit/>
          </a:bodyPr>
          <a:lstStyle/>
          <a:p>
            <a:r>
              <a:rPr lang="en-US" dirty="0"/>
              <a:t>The factor for the old point’s</a:t>
            </a:r>
          </a:p>
          <a:p>
            <a:r>
              <a:rPr lang="en-US" b="1" dirty="0">
                <a:solidFill>
                  <a:srgbClr val="FF0000"/>
                </a:solidFill>
              </a:rPr>
              <a:t>z</a:t>
            </a:r>
            <a:r>
              <a:rPr lang="en-US" b="1" dirty="0"/>
              <a:t> </a:t>
            </a:r>
            <a:r>
              <a:rPr lang="en-US" dirty="0"/>
              <a:t>contribution to the new point’s </a:t>
            </a:r>
            <a:r>
              <a:rPr lang="en-US" b="1" dirty="0">
                <a:solidFill>
                  <a:srgbClr val="FF0000"/>
                </a:solidFill>
              </a:rPr>
              <a:t>y</a:t>
            </a:r>
          </a:p>
        </p:txBody>
      </p:sp>
    </p:spTree>
    <p:extLst>
      <p:ext uri="{BB962C8B-B14F-4D97-AF65-F5344CB8AC3E}">
        <p14:creationId xmlns:p14="http://schemas.microsoft.com/office/powerpoint/2010/main" val="23711953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2258" name="Rectangle 2">
            <a:extLst>
              <a:ext uri="{FF2B5EF4-FFF2-40B4-BE49-F238E27FC236}">
                <a16:creationId xmlns:a16="http://schemas.microsoft.com/office/drawing/2014/main" id="{68FCF88C-3E27-6057-CA34-6EDD84B0BDB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2400"/>
              <a:t>Linear Transformations and Matrix Multiplication</a:t>
            </a:r>
          </a:p>
        </p:txBody>
      </p:sp>
      <p:sp>
        <p:nvSpPr>
          <p:cNvPr id="352259" name="Rectangle 3">
            <a:extLst>
              <a:ext uri="{FF2B5EF4-FFF2-40B4-BE49-F238E27FC236}">
                <a16:creationId xmlns:a16="http://schemas.microsoft.com/office/drawing/2014/main" id="{13C369C7-2378-095C-B033-50047FEED461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>
          <a:xfrm>
            <a:off x="1981200" y="914401"/>
            <a:ext cx="5570538" cy="5211763"/>
          </a:xfrm>
        </p:spPr>
        <p:txBody>
          <a:bodyPr/>
          <a:lstStyle/>
          <a:p>
            <a:pPr>
              <a:buFontTx/>
              <a:buNone/>
            </a:pPr>
            <a:r>
              <a:rPr lang="en-US" altLang="en-US" sz="1800" b="1" dirty="0"/>
              <a:t>a</a:t>
            </a:r>
            <a:r>
              <a:rPr lang="en-US" altLang="en-US" sz="1800" i="1" baseline="-25000" dirty="0"/>
              <a:t>l x m </a:t>
            </a:r>
            <a:r>
              <a:rPr lang="en-US" altLang="en-US" sz="1800" dirty="0"/>
              <a:t>x </a:t>
            </a:r>
            <a:r>
              <a:rPr lang="en-US" altLang="en-US" sz="1800" b="1" dirty="0"/>
              <a:t>b</a:t>
            </a:r>
            <a:r>
              <a:rPr lang="en-US" altLang="en-US" sz="1800" i="1" baseline="-25000" dirty="0"/>
              <a:t>m x n </a:t>
            </a:r>
            <a:r>
              <a:rPr lang="en-US" altLang="en-US" sz="1800" dirty="0">
                <a:latin typeface="Symbol" panose="05050102010706020507" pitchFamily="18" charset="2"/>
              </a:rPr>
              <a:t>® </a:t>
            </a:r>
            <a:r>
              <a:rPr lang="en-US" altLang="en-US" sz="1800" b="1" dirty="0"/>
              <a:t>c</a:t>
            </a:r>
            <a:r>
              <a:rPr lang="en-US" altLang="en-US" sz="1800" i="1" baseline="-25000" dirty="0"/>
              <a:t>l x n</a:t>
            </a:r>
          </a:p>
          <a:p>
            <a:pPr>
              <a:buFontTx/>
              <a:buNone/>
            </a:pPr>
            <a:endParaRPr lang="en-US" altLang="en-US" sz="1800" i="1" baseline="-25000" dirty="0"/>
          </a:p>
          <a:p>
            <a:pPr>
              <a:buFontTx/>
              <a:buNone/>
            </a:pPr>
            <a:r>
              <a:rPr lang="en-US" altLang="en-US" sz="1800" b="1" dirty="0"/>
              <a:t>a</a:t>
            </a:r>
            <a:r>
              <a:rPr lang="en-US" altLang="en-US" sz="1800" i="1" baseline="-25000" dirty="0"/>
              <a:t>4 x 3 </a:t>
            </a:r>
            <a:r>
              <a:rPr lang="en-US" altLang="en-US" sz="1800" dirty="0"/>
              <a:t>x </a:t>
            </a:r>
            <a:r>
              <a:rPr lang="en-US" altLang="en-US" sz="1800" b="1" dirty="0"/>
              <a:t>b</a:t>
            </a:r>
            <a:r>
              <a:rPr lang="en-US" altLang="en-US" sz="1800" i="1" baseline="-25000" dirty="0"/>
              <a:t>3 x 2 </a:t>
            </a:r>
            <a:r>
              <a:rPr lang="en-US" altLang="en-US" sz="1800" dirty="0">
                <a:latin typeface="Symbol" panose="05050102010706020507" pitchFamily="18" charset="2"/>
              </a:rPr>
              <a:t>® </a:t>
            </a:r>
            <a:r>
              <a:rPr lang="en-US" altLang="en-US" sz="1800" b="1" dirty="0"/>
              <a:t>c</a:t>
            </a:r>
            <a:r>
              <a:rPr lang="en-US" altLang="en-US" sz="1800" i="1" baseline="-25000" dirty="0"/>
              <a:t>4 x 2</a:t>
            </a:r>
            <a:endParaRPr lang="en-US" altLang="en-US" sz="1800" dirty="0"/>
          </a:p>
          <a:p>
            <a:pPr>
              <a:buFontTx/>
              <a:buNone/>
            </a:pPr>
            <a:endParaRPr lang="en-US" altLang="en-US" sz="1800" dirty="0"/>
          </a:p>
        </p:txBody>
      </p:sp>
      <p:graphicFrame>
        <p:nvGraphicFramePr>
          <p:cNvPr id="352261" name="Object 5">
            <a:extLst>
              <a:ext uri="{FF2B5EF4-FFF2-40B4-BE49-F238E27FC236}">
                <a16:creationId xmlns:a16="http://schemas.microsoft.com/office/drawing/2014/main" id="{6FA4BF9D-FC67-DB7C-9144-967A2F06C310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027238" y="4479925"/>
          <a:ext cx="7251700" cy="19129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Worksheet" r:id="rId2" imgW="3791158" imgH="1000402" progId="Excel.Sheet.8">
                  <p:embed/>
                </p:oleObj>
              </mc:Choice>
              <mc:Fallback>
                <p:oleObj name="Worksheet" r:id="rId2" imgW="3791158" imgH="1000402" progId="Excel.Sheet.8">
                  <p:embed/>
                  <p:pic>
                    <p:nvPicPr>
                      <p:cNvPr id="352261" name="Object 5">
                        <a:extLst>
                          <a:ext uri="{FF2B5EF4-FFF2-40B4-BE49-F238E27FC236}">
                            <a16:creationId xmlns:a16="http://schemas.microsoft.com/office/drawing/2014/main" id="{6FA4BF9D-FC67-DB7C-9144-967A2F06C310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27238" y="4479925"/>
                        <a:ext cx="7251700" cy="19129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378" name="Rectangle 2">
            <a:extLst>
              <a:ext uri="{FF2B5EF4-FFF2-40B4-BE49-F238E27FC236}">
                <a16:creationId xmlns:a16="http://schemas.microsoft.com/office/drawing/2014/main" id="{E9867C87-0099-951E-536B-E9C33FFEB75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981200" y="152401"/>
            <a:ext cx="8229600" cy="563563"/>
          </a:xfrm>
        </p:spPr>
        <p:txBody>
          <a:bodyPr>
            <a:normAutofit fontScale="90000"/>
          </a:bodyPr>
          <a:lstStyle/>
          <a:p>
            <a:r>
              <a:rPr lang="en-US" altLang="en-US"/>
              <a:t>Scaling</a:t>
            </a:r>
          </a:p>
        </p:txBody>
      </p:sp>
      <p:graphicFrame>
        <p:nvGraphicFramePr>
          <p:cNvPr id="229383" name="Object 7">
            <a:extLst>
              <a:ext uri="{FF2B5EF4-FFF2-40B4-BE49-F238E27FC236}">
                <a16:creationId xmlns:a16="http://schemas.microsoft.com/office/drawing/2014/main" id="{B3145787-451B-812A-F0BF-070CE70C110A}"/>
              </a:ext>
            </a:extLst>
          </p:cNvPr>
          <p:cNvGraphicFramePr>
            <a:graphicFrameLocks noGrp="1" noChangeAspect="1"/>
          </p:cNvGraphicFramePr>
          <p:nvPr>
            <p:ph idx="1"/>
          </p:nvPr>
        </p:nvGraphicFramePr>
        <p:xfrm>
          <a:off x="1795463" y="685800"/>
          <a:ext cx="5537200" cy="5448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Worksheet" r:id="rId3" imgW="4753217" imgH="4676867" progId="Excel.Sheet.8">
                  <p:embed/>
                </p:oleObj>
              </mc:Choice>
              <mc:Fallback>
                <p:oleObj name="Worksheet" r:id="rId3" imgW="4753217" imgH="4676867" progId="Excel.Sheet.8">
                  <p:embed/>
                  <p:pic>
                    <p:nvPicPr>
                      <p:cNvPr id="229383" name="Object 7">
                        <a:extLst>
                          <a:ext uri="{FF2B5EF4-FFF2-40B4-BE49-F238E27FC236}">
                            <a16:creationId xmlns:a16="http://schemas.microsoft.com/office/drawing/2014/main" id="{B3145787-451B-812A-F0BF-070CE70C110A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95463" y="685800"/>
                        <a:ext cx="5537200" cy="54483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229379" name="Picture 3">
            <a:extLst>
              <a:ext uri="{FF2B5EF4-FFF2-40B4-BE49-F238E27FC236}">
                <a16:creationId xmlns:a16="http://schemas.microsoft.com/office/drawing/2014/main" id="{A104C692-72AB-01C4-C4E5-9FC49530B2F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91400" y="152401"/>
            <a:ext cx="2971800" cy="15589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29380" name="Picture 4">
            <a:extLst>
              <a:ext uri="{FF2B5EF4-FFF2-40B4-BE49-F238E27FC236}">
                <a16:creationId xmlns:a16="http://schemas.microsoft.com/office/drawing/2014/main" id="{0D7D33AB-BD43-A44C-5CA8-6C3D0208163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91401" y="1828800"/>
            <a:ext cx="2970213" cy="15573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29381" name="Picture 5">
            <a:extLst>
              <a:ext uri="{FF2B5EF4-FFF2-40B4-BE49-F238E27FC236}">
                <a16:creationId xmlns:a16="http://schemas.microsoft.com/office/drawing/2014/main" id="{56094B04-2EDF-1B42-F1E7-1FAF96296FF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91401" y="3581400"/>
            <a:ext cx="2970213" cy="15573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29382" name="Picture 6">
            <a:extLst>
              <a:ext uri="{FF2B5EF4-FFF2-40B4-BE49-F238E27FC236}">
                <a16:creationId xmlns:a16="http://schemas.microsoft.com/office/drawing/2014/main" id="{84049FAE-EB13-9356-8371-D4CEE527F8A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91401" y="5257800"/>
            <a:ext cx="2970213" cy="15573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426" name="Rectangle 2">
            <a:extLst>
              <a:ext uri="{FF2B5EF4-FFF2-40B4-BE49-F238E27FC236}">
                <a16:creationId xmlns:a16="http://schemas.microsoft.com/office/drawing/2014/main" id="{911B596C-75A4-0989-8706-769E9CBE99B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981200" y="152401"/>
            <a:ext cx="8229600" cy="563563"/>
          </a:xfrm>
        </p:spPr>
        <p:txBody>
          <a:bodyPr>
            <a:normAutofit fontScale="90000"/>
          </a:bodyPr>
          <a:lstStyle/>
          <a:p>
            <a:r>
              <a:rPr lang="en-US" altLang="en-US"/>
              <a:t>Rotation</a:t>
            </a:r>
          </a:p>
        </p:txBody>
      </p:sp>
      <p:pic>
        <p:nvPicPr>
          <p:cNvPr id="231427" name="Picture 3">
            <a:extLst>
              <a:ext uri="{FF2B5EF4-FFF2-40B4-BE49-F238E27FC236}">
                <a16:creationId xmlns:a16="http://schemas.microsoft.com/office/drawing/2014/main" id="{EAD4F3B4-29A3-9CEE-0B55-B5B6FB2363E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91401" y="228600"/>
            <a:ext cx="2970213" cy="15319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31428" name="Picture 4">
            <a:extLst>
              <a:ext uri="{FF2B5EF4-FFF2-40B4-BE49-F238E27FC236}">
                <a16:creationId xmlns:a16="http://schemas.microsoft.com/office/drawing/2014/main" id="{D5C213AA-ADFD-6392-5DC9-FC478CB2E81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91401" y="2278064"/>
            <a:ext cx="2970213" cy="15319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31429" name="Picture 5">
            <a:extLst>
              <a:ext uri="{FF2B5EF4-FFF2-40B4-BE49-F238E27FC236}">
                <a16:creationId xmlns:a16="http://schemas.microsoft.com/office/drawing/2014/main" id="{E6EFDB45-728B-433F-8623-EE621FB90D1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91401" y="4335464"/>
            <a:ext cx="2970213" cy="15319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31430" name="Picture 6">
            <a:extLst>
              <a:ext uri="{FF2B5EF4-FFF2-40B4-BE49-F238E27FC236}">
                <a16:creationId xmlns:a16="http://schemas.microsoft.com/office/drawing/2014/main" id="{74D7FCEC-5FC1-D66F-5C6D-46B19990943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76401" y="1371601"/>
            <a:ext cx="5362575" cy="35528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31431" name="Line 7">
            <a:extLst>
              <a:ext uri="{FF2B5EF4-FFF2-40B4-BE49-F238E27FC236}">
                <a16:creationId xmlns:a16="http://schemas.microsoft.com/office/drawing/2014/main" id="{1E840E36-3493-9730-AA13-0FB8D2053009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6934200" y="1219200"/>
            <a:ext cx="533400" cy="8382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31432" name="Line 8">
            <a:extLst>
              <a:ext uri="{FF2B5EF4-FFF2-40B4-BE49-F238E27FC236}">
                <a16:creationId xmlns:a16="http://schemas.microsoft.com/office/drawing/2014/main" id="{71D893E5-9C3F-A8DA-DCAD-6089D7149F5A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6934200" y="3200400"/>
            <a:ext cx="533400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31433" name="Line 9">
            <a:extLst>
              <a:ext uri="{FF2B5EF4-FFF2-40B4-BE49-F238E27FC236}">
                <a16:creationId xmlns:a16="http://schemas.microsoft.com/office/drawing/2014/main" id="{6C00D0AA-B07D-5C8D-FD08-6BA19E284427}"/>
              </a:ext>
            </a:extLst>
          </p:cNvPr>
          <p:cNvSpPr>
            <a:spLocks noChangeShapeType="1"/>
          </p:cNvSpPr>
          <p:nvPr/>
        </p:nvSpPr>
        <p:spPr bwMode="auto">
          <a:xfrm>
            <a:off x="6934200" y="4419600"/>
            <a:ext cx="609600" cy="6858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31434" name="Text Box 10">
            <a:extLst>
              <a:ext uri="{FF2B5EF4-FFF2-40B4-BE49-F238E27FC236}">
                <a16:creationId xmlns:a16="http://schemas.microsoft.com/office/drawing/2014/main" id="{39821A99-E605-6C1E-6945-AE4F6627FDF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59300" y="2254250"/>
            <a:ext cx="69850" cy="152400"/>
          </a:xfrm>
          <a:prstGeom prst="rect">
            <a:avLst/>
          </a:prstGeom>
          <a:solidFill>
            <a:srgbClr val="C0C0C0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>
            <a:spAutoFit/>
          </a:bodyPr>
          <a:lstStyle/>
          <a:p>
            <a:r>
              <a:rPr lang="en-US" altLang="en-US" sz="1000" b="0"/>
              <a:t>1</a:t>
            </a:r>
          </a:p>
        </p:txBody>
      </p:sp>
      <p:sp>
        <p:nvSpPr>
          <p:cNvPr id="231435" name="Text Box 11">
            <a:extLst>
              <a:ext uri="{FF2B5EF4-FFF2-40B4-BE49-F238E27FC236}">
                <a16:creationId xmlns:a16="http://schemas.microsoft.com/office/drawing/2014/main" id="{98F88126-50C5-1B3A-F267-F6F027C9F31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130800" y="2254250"/>
            <a:ext cx="69850" cy="152400"/>
          </a:xfrm>
          <a:prstGeom prst="rect">
            <a:avLst/>
          </a:prstGeom>
          <a:solidFill>
            <a:srgbClr val="C0C0C0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>
            <a:spAutoFit/>
          </a:bodyPr>
          <a:lstStyle/>
          <a:p>
            <a:r>
              <a:rPr lang="en-US" altLang="en-US" sz="1000" b="0"/>
              <a:t>1</a:t>
            </a:r>
          </a:p>
        </p:txBody>
      </p:sp>
      <p:sp>
        <p:nvSpPr>
          <p:cNvPr id="231436" name="Text Box 12">
            <a:extLst>
              <a:ext uri="{FF2B5EF4-FFF2-40B4-BE49-F238E27FC236}">
                <a16:creationId xmlns:a16="http://schemas.microsoft.com/office/drawing/2014/main" id="{F76BD585-597F-728F-AE3C-12A7251C104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59300" y="3397250"/>
            <a:ext cx="69850" cy="152400"/>
          </a:xfrm>
          <a:prstGeom prst="rect">
            <a:avLst/>
          </a:prstGeom>
          <a:solidFill>
            <a:srgbClr val="C0C0C0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>
            <a:spAutoFit/>
          </a:bodyPr>
          <a:lstStyle/>
          <a:p>
            <a:r>
              <a:rPr lang="en-US" altLang="en-US" sz="1000" b="0"/>
              <a:t>1</a:t>
            </a:r>
          </a:p>
        </p:txBody>
      </p:sp>
      <p:sp>
        <p:nvSpPr>
          <p:cNvPr id="231437" name="Text Box 13">
            <a:extLst>
              <a:ext uri="{FF2B5EF4-FFF2-40B4-BE49-F238E27FC236}">
                <a16:creationId xmlns:a16="http://schemas.microsoft.com/office/drawing/2014/main" id="{EDC0BDB5-139B-869B-B793-8C65DBA9EAB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130800" y="3397250"/>
            <a:ext cx="69850" cy="152400"/>
          </a:xfrm>
          <a:prstGeom prst="rect">
            <a:avLst/>
          </a:prstGeom>
          <a:solidFill>
            <a:srgbClr val="C0C0C0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>
            <a:spAutoFit/>
          </a:bodyPr>
          <a:lstStyle/>
          <a:p>
            <a:r>
              <a:rPr lang="en-US" altLang="en-US" sz="1000" b="0"/>
              <a:t>1</a:t>
            </a:r>
          </a:p>
        </p:txBody>
      </p:sp>
      <p:sp>
        <p:nvSpPr>
          <p:cNvPr id="231438" name="Text Box 14">
            <a:extLst>
              <a:ext uri="{FF2B5EF4-FFF2-40B4-BE49-F238E27FC236}">
                <a16:creationId xmlns:a16="http://schemas.microsoft.com/office/drawing/2014/main" id="{CD342BC1-9A02-9A06-B95B-8ABBF7B3F5F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59300" y="4508500"/>
            <a:ext cx="69850" cy="152400"/>
          </a:xfrm>
          <a:prstGeom prst="rect">
            <a:avLst/>
          </a:prstGeom>
          <a:solidFill>
            <a:srgbClr val="C0C0C0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>
            <a:spAutoFit/>
          </a:bodyPr>
          <a:lstStyle/>
          <a:p>
            <a:r>
              <a:rPr lang="en-US" altLang="en-US" sz="1000" b="0"/>
              <a:t>1</a:t>
            </a:r>
          </a:p>
        </p:txBody>
      </p:sp>
      <p:sp>
        <p:nvSpPr>
          <p:cNvPr id="231439" name="Text Box 15">
            <a:extLst>
              <a:ext uri="{FF2B5EF4-FFF2-40B4-BE49-F238E27FC236}">
                <a16:creationId xmlns:a16="http://schemas.microsoft.com/office/drawing/2014/main" id="{B9A486AF-80CB-47EA-AE3B-5F504AC50AB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130800" y="4508500"/>
            <a:ext cx="69850" cy="152400"/>
          </a:xfrm>
          <a:prstGeom prst="rect">
            <a:avLst/>
          </a:prstGeom>
          <a:solidFill>
            <a:srgbClr val="C0C0C0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>
            <a:spAutoFit/>
          </a:bodyPr>
          <a:lstStyle/>
          <a:p>
            <a:r>
              <a:rPr lang="en-US" altLang="en-US" sz="1000" b="0"/>
              <a:t>1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94714A-2BBD-4CD5-9E4E-337B3730D1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0E8C7D84-E011-6179-5864-725B7CDF3EB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96903" y="-157145"/>
            <a:ext cx="4782217" cy="1867161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C6629D31-704F-A39D-AD8F-CB2FC77647A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5473" y="182881"/>
            <a:ext cx="4318922" cy="6557828"/>
          </a:xfrm>
          <a:prstGeom prst="rect">
            <a:avLst/>
          </a:prstGeom>
        </p:spPr>
      </p:pic>
      <p:grpSp>
        <p:nvGrpSpPr>
          <p:cNvPr id="17" name="Group 16">
            <a:extLst>
              <a:ext uri="{FF2B5EF4-FFF2-40B4-BE49-F238E27FC236}">
                <a16:creationId xmlns:a16="http://schemas.microsoft.com/office/drawing/2014/main" id="{D93E87A9-AEE9-94EC-ED6C-7C4CB1DB9A0D}"/>
              </a:ext>
            </a:extLst>
          </p:cNvPr>
          <p:cNvGrpSpPr/>
          <p:nvPr/>
        </p:nvGrpSpPr>
        <p:grpSpPr>
          <a:xfrm>
            <a:off x="4292103" y="1819351"/>
            <a:ext cx="2464789" cy="2423160"/>
            <a:chOff x="5181600" y="2331720"/>
            <a:chExt cx="2464789" cy="2423160"/>
          </a:xfrm>
        </p:grpSpPr>
        <p:sp>
          <p:nvSpPr>
            <p:cNvPr id="11" name="Arc 10">
              <a:extLst>
                <a:ext uri="{FF2B5EF4-FFF2-40B4-BE49-F238E27FC236}">
                  <a16:creationId xmlns:a16="http://schemas.microsoft.com/office/drawing/2014/main" id="{B5CDF400-ABEA-B590-4569-932A812C69F0}"/>
                </a:ext>
              </a:extLst>
            </p:cNvPr>
            <p:cNvSpPr/>
            <p:nvPr/>
          </p:nvSpPr>
          <p:spPr>
            <a:xfrm>
              <a:off x="5181600" y="2651760"/>
              <a:ext cx="2103120" cy="2103120"/>
            </a:xfrm>
            <a:prstGeom prst="arc">
              <a:avLst>
                <a:gd name="adj1" fmla="val 16231650"/>
                <a:gd name="adj2" fmla="val 0"/>
              </a:avLst>
            </a:prstGeom>
            <a:ln>
              <a:solidFill>
                <a:schemeClr val="bg2">
                  <a:lumMod val="75000"/>
                </a:schemeClr>
              </a:solidFill>
              <a:prstDash val="sys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C0C6FFB1-8047-81CF-E97B-FC26E3914F72}"/>
                </a:ext>
              </a:extLst>
            </p:cNvPr>
            <p:cNvSpPr/>
            <p:nvPr/>
          </p:nvSpPr>
          <p:spPr>
            <a:xfrm>
              <a:off x="6233160" y="2651765"/>
              <a:ext cx="1051559" cy="1051555"/>
            </a:xfrm>
            <a:prstGeom prst="rect">
              <a:avLst/>
            </a:prstGeom>
            <a:noFill/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7" name="Straight Arrow Connector 6">
              <a:extLst>
                <a:ext uri="{FF2B5EF4-FFF2-40B4-BE49-F238E27FC236}">
                  <a16:creationId xmlns:a16="http://schemas.microsoft.com/office/drawing/2014/main" id="{B67BCE20-B761-068A-1405-7C6E47223960}"/>
                </a:ext>
              </a:extLst>
            </p:cNvPr>
            <p:cNvCxnSpPr/>
            <p:nvPr/>
          </p:nvCxnSpPr>
          <p:spPr>
            <a:xfrm>
              <a:off x="6233160" y="3703320"/>
              <a:ext cx="1371600" cy="0"/>
            </a:xfrm>
            <a:prstGeom prst="straightConnector1">
              <a:avLst/>
            </a:prstGeom>
            <a:ln>
              <a:solidFill>
                <a:srgbClr val="00B050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Straight Arrow Connector 7">
              <a:extLst>
                <a:ext uri="{FF2B5EF4-FFF2-40B4-BE49-F238E27FC236}">
                  <a16:creationId xmlns:a16="http://schemas.microsoft.com/office/drawing/2014/main" id="{A70A9A69-8B6C-D900-A549-014233990112}"/>
                </a:ext>
              </a:extLst>
            </p:cNvPr>
            <p:cNvCxnSpPr>
              <a:cxnSpLocks/>
            </p:cNvCxnSpPr>
            <p:nvPr/>
          </p:nvCxnSpPr>
          <p:spPr>
            <a:xfrm rot="16200000" flipV="1">
              <a:off x="5547360" y="3017520"/>
              <a:ext cx="1371600" cy="0"/>
            </a:xfrm>
            <a:prstGeom prst="straightConnector1">
              <a:avLst/>
            </a:prstGeom>
            <a:ln>
              <a:solidFill>
                <a:srgbClr val="FF0000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0" name="Oval 9">
              <a:extLst>
                <a:ext uri="{FF2B5EF4-FFF2-40B4-BE49-F238E27FC236}">
                  <a16:creationId xmlns:a16="http://schemas.microsoft.com/office/drawing/2014/main" id="{ECFD4196-5DC3-C1DB-6B06-2DAB047FEAC7}"/>
                </a:ext>
              </a:extLst>
            </p:cNvPr>
            <p:cNvSpPr/>
            <p:nvPr/>
          </p:nvSpPr>
          <p:spPr>
            <a:xfrm>
              <a:off x="7239000" y="3657601"/>
              <a:ext cx="91437" cy="91439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872A05B6-90AB-7C9C-08CA-18364ECEFD27}"/>
                </a:ext>
              </a:extLst>
            </p:cNvPr>
            <p:cNvSpPr txBox="1"/>
            <p:nvPr/>
          </p:nvSpPr>
          <p:spPr>
            <a:xfrm>
              <a:off x="7014485" y="3703320"/>
              <a:ext cx="63190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(1,0)</a:t>
              </a:r>
            </a:p>
          </p:txBody>
        </p:sp>
        <p:sp>
          <p:nvSpPr>
            <p:cNvPr id="13" name="Oval 12">
              <a:extLst>
                <a:ext uri="{FF2B5EF4-FFF2-40B4-BE49-F238E27FC236}">
                  <a16:creationId xmlns:a16="http://schemas.microsoft.com/office/drawing/2014/main" id="{FB8F02C6-5CD9-B0C8-B257-8E8D5567898B}"/>
                </a:ext>
              </a:extLst>
            </p:cNvPr>
            <p:cNvSpPr/>
            <p:nvPr/>
          </p:nvSpPr>
          <p:spPr>
            <a:xfrm>
              <a:off x="6957212" y="2947910"/>
              <a:ext cx="91437" cy="91439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56300FA5-E667-F86E-A931-998D3BCF1C6C}"/>
                </a:ext>
              </a:extLst>
            </p:cNvPr>
            <p:cNvSpPr txBox="1"/>
            <p:nvPr/>
          </p:nvSpPr>
          <p:spPr>
            <a:xfrm>
              <a:off x="6187443" y="3055989"/>
              <a:ext cx="1010213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(.71,.71)</a:t>
              </a:r>
            </a:p>
          </p:txBody>
        </p:sp>
      </p:grpSp>
      <p:sp>
        <p:nvSpPr>
          <p:cNvPr id="19" name="Arc 18">
            <a:extLst>
              <a:ext uri="{FF2B5EF4-FFF2-40B4-BE49-F238E27FC236}">
                <a16:creationId xmlns:a16="http://schemas.microsoft.com/office/drawing/2014/main" id="{F457987F-4495-24D4-8BAC-27B153A23824}"/>
              </a:ext>
            </a:extLst>
          </p:cNvPr>
          <p:cNvSpPr/>
          <p:nvPr/>
        </p:nvSpPr>
        <p:spPr>
          <a:xfrm>
            <a:off x="6835279" y="3997501"/>
            <a:ext cx="2103120" cy="2103120"/>
          </a:xfrm>
          <a:prstGeom prst="arc">
            <a:avLst>
              <a:gd name="adj1" fmla="val 10846296"/>
              <a:gd name="adj2" fmla="val 0"/>
            </a:avLst>
          </a:prstGeom>
          <a:ln>
            <a:solidFill>
              <a:schemeClr val="bg2">
                <a:lumMod val="75000"/>
              </a:schemeClr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68E41833-9E3C-E806-944F-D535024F0FA0}"/>
              </a:ext>
            </a:extLst>
          </p:cNvPr>
          <p:cNvSpPr/>
          <p:nvPr/>
        </p:nvSpPr>
        <p:spPr>
          <a:xfrm>
            <a:off x="7886839" y="3997506"/>
            <a:ext cx="1051559" cy="1051555"/>
          </a:xfrm>
          <a:prstGeom prst="rect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91FA2A87-A8C9-5506-CB17-79941CAE2DB8}"/>
              </a:ext>
            </a:extLst>
          </p:cNvPr>
          <p:cNvCxnSpPr/>
          <p:nvPr/>
        </p:nvCxnSpPr>
        <p:spPr>
          <a:xfrm>
            <a:off x="7886839" y="5049061"/>
            <a:ext cx="1371600" cy="0"/>
          </a:xfrm>
          <a:prstGeom prst="straightConnector1">
            <a:avLst/>
          </a:prstGeom>
          <a:ln>
            <a:solidFill>
              <a:srgbClr val="00B05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92BC3E3C-7BA2-D7C1-057A-CD6F1E7FD528}"/>
              </a:ext>
            </a:extLst>
          </p:cNvPr>
          <p:cNvCxnSpPr>
            <a:cxnSpLocks/>
          </p:cNvCxnSpPr>
          <p:nvPr/>
        </p:nvCxnSpPr>
        <p:spPr>
          <a:xfrm rot="16200000" flipV="1">
            <a:off x="7201039" y="4363261"/>
            <a:ext cx="1371600" cy="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Oval 22">
            <a:extLst>
              <a:ext uri="{FF2B5EF4-FFF2-40B4-BE49-F238E27FC236}">
                <a16:creationId xmlns:a16="http://schemas.microsoft.com/office/drawing/2014/main" id="{6CFBEFF7-DCC8-D818-1688-2C41FC52D6E0}"/>
              </a:ext>
            </a:extLst>
          </p:cNvPr>
          <p:cNvSpPr/>
          <p:nvPr/>
        </p:nvSpPr>
        <p:spPr>
          <a:xfrm>
            <a:off x="7841119" y="3977640"/>
            <a:ext cx="91437" cy="91439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1390AB05-7DD4-A706-741F-07B7E4C13AD6}"/>
              </a:ext>
            </a:extLst>
          </p:cNvPr>
          <p:cNvSpPr txBox="1"/>
          <p:nvPr/>
        </p:nvSpPr>
        <p:spPr>
          <a:xfrm>
            <a:off x="7886837" y="3614796"/>
            <a:ext cx="6319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(0,1)</a:t>
            </a:r>
          </a:p>
        </p:txBody>
      </p:sp>
      <p:sp>
        <p:nvSpPr>
          <p:cNvPr id="25" name="Oval 24">
            <a:extLst>
              <a:ext uri="{FF2B5EF4-FFF2-40B4-BE49-F238E27FC236}">
                <a16:creationId xmlns:a16="http://schemas.microsoft.com/office/drawing/2014/main" id="{0C65B01A-1A52-9AF5-F995-4B585600EC48}"/>
              </a:ext>
            </a:extLst>
          </p:cNvPr>
          <p:cNvSpPr/>
          <p:nvPr/>
        </p:nvSpPr>
        <p:spPr>
          <a:xfrm>
            <a:off x="7088297" y="4293651"/>
            <a:ext cx="91437" cy="91439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90FE788B-B37C-303C-632C-94EE95D11A45}"/>
              </a:ext>
            </a:extLst>
          </p:cNvPr>
          <p:cNvSpPr txBox="1"/>
          <p:nvPr/>
        </p:nvSpPr>
        <p:spPr>
          <a:xfrm>
            <a:off x="6032368" y="4137631"/>
            <a:ext cx="108876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(-.71,.71)</a:t>
            </a:r>
          </a:p>
        </p:txBody>
      </p:sp>
      <p:sp>
        <p:nvSpPr>
          <p:cNvPr id="28" name="Arc 27">
            <a:extLst>
              <a:ext uri="{FF2B5EF4-FFF2-40B4-BE49-F238E27FC236}">
                <a16:creationId xmlns:a16="http://schemas.microsoft.com/office/drawing/2014/main" id="{152ADD1A-68B7-C508-7D49-CCBDB8A76B1A}"/>
              </a:ext>
            </a:extLst>
          </p:cNvPr>
          <p:cNvSpPr/>
          <p:nvPr/>
        </p:nvSpPr>
        <p:spPr>
          <a:xfrm>
            <a:off x="8566509" y="5251807"/>
            <a:ext cx="3220018" cy="2977792"/>
          </a:xfrm>
          <a:prstGeom prst="arc">
            <a:avLst>
              <a:gd name="adj1" fmla="val 16231650"/>
              <a:gd name="adj2" fmla="val 0"/>
            </a:avLst>
          </a:prstGeom>
          <a:ln>
            <a:solidFill>
              <a:schemeClr val="bg2">
                <a:lumMod val="75000"/>
              </a:schemeClr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B0C3FCD5-DD07-CC01-47EA-0869A95A6203}"/>
              </a:ext>
            </a:extLst>
          </p:cNvPr>
          <p:cNvSpPr/>
          <p:nvPr/>
        </p:nvSpPr>
        <p:spPr>
          <a:xfrm>
            <a:off x="10176518" y="5689148"/>
            <a:ext cx="1051559" cy="1051555"/>
          </a:xfrm>
          <a:prstGeom prst="rect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3B0CF649-576F-25EA-CDFF-12133AB9E0BF}"/>
              </a:ext>
            </a:extLst>
          </p:cNvPr>
          <p:cNvCxnSpPr/>
          <p:nvPr/>
        </p:nvCxnSpPr>
        <p:spPr>
          <a:xfrm>
            <a:off x="10176518" y="6740703"/>
            <a:ext cx="1371600" cy="0"/>
          </a:xfrm>
          <a:prstGeom prst="straightConnector1">
            <a:avLst/>
          </a:prstGeom>
          <a:ln>
            <a:solidFill>
              <a:srgbClr val="00B05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DCB7EACC-A3E5-C58A-1BAB-B5E790E2BBDB}"/>
              </a:ext>
            </a:extLst>
          </p:cNvPr>
          <p:cNvCxnSpPr>
            <a:cxnSpLocks/>
          </p:cNvCxnSpPr>
          <p:nvPr/>
        </p:nvCxnSpPr>
        <p:spPr>
          <a:xfrm rot="16200000" flipV="1">
            <a:off x="9490718" y="6054903"/>
            <a:ext cx="1371600" cy="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Oval 31">
            <a:extLst>
              <a:ext uri="{FF2B5EF4-FFF2-40B4-BE49-F238E27FC236}">
                <a16:creationId xmlns:a16="http://schemas.microsoft.com/office/drawing/2014/main" id="{E6C45FDE-136C-E70B-4B37-77EF1EEA1666}"/>
              </a:ext>
            </a:extLst>
          </p:cNvPr>
          <p:cNvSpPr/>
          <p:nvPr/>
        </p:nvSpPr>
        <p:spPr>
          <a:xfrm>
            <a:off x="11182358" y="5623560"/>
            <a:ext cx="91437" cy="91439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3B039E22-139D-3332-6C63-F283C548B519}"/>
              </a:ext>
            </a:extLst>
          </p:cNvPr>
          <p:cNvSpPr txBox="1"/>
          <p:nvPr/>
        </p:nvSpPr>
        <p:spPr>
          <a:xfrm>
            <a:off x="10981910" y="5345668"/>
            <a:ext cx="6319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(1,1)</a:t>
            </a:r>
          </a:p>
        </p:txBody>
      </p:sp>
      <p:sp>
        <p:nvSpPr>
          <p:cNvPr id="34" name="Oval 33">
            <a:extLst>
              <a:ext uri="{FF2B5EF4-FFF2-40B4-BE49-F238E27FC236}">
                <a16:creationId xmlns:a16="http://schemas.microsoft.com/office/drawing/2014/main" id="{A2DC6403-EFF7-6795-49F0-589DC3117E01}"/>
              </a:ext>
            </a:extLst>
          </p:cNvPr>
          <p:cNvSpPr/>
          <p:nvPr/>
        </p:nvSpPr>
        <p:spPr>
          <a:xfrm>
            <a:off x="10119360" y="5166361"/>
            <a:ext cx="91437" cy="91439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5D169C78-3AAB-96CC-767C-D32F45334632}"/>
              </a:ext>
            </a:extLst>
          </p:cNvPr>
          <p:cNvSpPr txBox="1"/>
          <p:nvPr/>
        </p:nvSpPr>
        <p:spPr>
          <a:xfrm>
            <a:off x="10207998" y="4856566"/>
            <a:ext cx="94448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(0,1.41)</a:t>
            </a: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E6B344B8-EB22-706F-A870-C6A3FE90DAAA}"/>
              </a:ext>
            </a:extLst>
          </p:cNvPr>
          <p:cNvSpPr/>
          <p:nvPr/>
        </p:nvSpPr>
        <p:spPr>
          <a:xfrm rot="2700000">
            <a:off x="9664981" y="5490614"/>
            <a:ext cx="1051559" cy="1051555"/>
          </a:xfrm>
          <a:prstGeom prst="rect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9718874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3474" name="Picture 2">
            <a:extLst>
              <a:ext uri="{FF2B5EF4-FFF2-40B4-BE49-F238E27FC236}">
                <a16:creationId xmlns:a16="http://schemas.microsoft.com/office/drawing/2014/main" id="{EA5A88C0-2E73-3F04-F7E0-B001D40CBFE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4000" y="2101851"/>
            <a:ext cx="5638800" cy="42148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33475" name="Picture 3">
            <a:extLst>
              <a:ext uri="{FF2B5EF4-FFF2-40B4-BE49-F238E27FC236}">
                <a16:creationId xmlns:a16="http://schemas.microsoft.com/office/drawing/2014/main" id="{92A3C3AC-2C70-920F-1D37-6915ED55CC7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91401" y="1516064"/>
            <a:ext cx="2970213" cy="15319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33476" name="Picture 4">
            <a:extLst>
              <a:ext uri="{FF2B5EF4-FFF2-40B4-BE49-F238E27FC236}">
                <a16:creationId xmlns:a16="http://schemas.microsoft.com/office/drawing/2014/main" id="{E9A791EE-230D-8750-F5F3-E1337AAA5C6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91401" y="3268664"/>
            <a:ext cx="2970213" cy="15319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33477" name="Picture 5">
            <a:extLst>
              <a:ext uri="{FF2B5EF4-FFF2-40B4-BE49-F238E27FC236}">
                <a16:creationId xmlns:a16="http://schemas.microsoft.com/office/drawing/2014/main" id="{B510B946-F410-0374-515A-0731292D1B2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91401" y="5097464"/>
            <a:ext cx="2970213" cy="15319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33478" name="Rectangle 6">
            <a:extLst>
              <a:ext uri="{FF2B5EF4-FFF2-40B4-BE49-F238E27FC236}">
                <a16:creationId xmlns:a16="http://schemas.microsoft.com/office/drawing/2014/main" id="{C32B402F-D6D7-4AB8-A378-E911977EB27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981200" y="152401"/>
            <a:ext cx="8229600" cy="563563"/>
          </a:xfrm>
        </p:spPr>
        <p:txBody>
          <a:bodyPr>
            <a:normAutofit fontScale="90000"/>
          </a:bodyPr>
          <a:lstStyle/>
          <a:p>
            <a:r>
              <a:rPr lang="en-US" altLang="en-US"/>
              <a:t>Shear</a:t>
            </a:r>
          </a:p>
        </p:txBody>
      </p:sp>
      <p:sp>
        <p:nvSpPr>
          <p:cNvPr id="233479" name="Line 7">
            <a:extLst>
              <a:ext uri="{FF2B5EF4-FFF2-40B4-BE49-F238E27FC236}">
                <a16:creationId xmlns:a16="http://schemas.microsoft.com/office/drawing/2014/main" id="{B1F3C89F-0165-9FDE-0C33-B97C4E245FA2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6934200" y="2201863"/>
            <a:ext cx="533400" cy="8382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33480" name="Line 8">
            <a:extLst>
              <a:ext uri="{FF2B5EF4-FFF2-40B4-BE49-F238E27FC236}">
                <a16:creationId xmlns:a16="http://schemas.microsoft.com/office/drawing/2014/main" id="{819906A0-727C-A66E-4D1F-0835F5C87546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6934200" y="4183063"/>
            <a:ext cx="533400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33481" name="Line 9">
            <a:extLst>
              <a:ext uri="{FF2B5EF4-FFF2-40B4-BE49-F238E27FC236}">
                <a16:creationId xmlns:a16="http://schemas.microsoft.com/office/drawing/2014/main" id="{5A0E7538-5824-52A9-099F-FEB7BB6C7183}"/>
              </a:ext>
            </a:extLst>
          </p:cNvPr>
          <p:cNvSpPr>
            <a:spLocks noChangeShapeType="1"/>
          </p:cNvSpPr>
          <p:nvPr/>
        </p:nvSpPr>
        <p:spPr bwMode="auto">
          <a:xfrm>
            <a:off x="6934200" y="5402263"/>
            <a:ext cx="609600" cy="6858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514" name="Rectangle 2">
            <a:extLst>
              <a:ext uri="{FF2B5EF4-FFF2-40B4-BE49-F238E27FC236}">
                <a16:creationId xmlns:a16="http://schemas.microsoft.com/office/drawing/2014/main" id="{81CE9A47-E364-D47C-ACB1-97CF632AC76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981200" y="152401"/>
            <a:ext cx="8229600" cy="563563"/>
          </a:xfrm>
        </p:spPr>
        <p:txBody>
          <a:bodyPr>
            <a:normAutofit fontScale="90000"/>
          </a:bodyPr>
          <a:lstStyle/>
          <a:p>
            <a:r>
              <a:rPr lang="en-US" altLang="en-US"/>
              <a:t>Translation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7EBD2C41-00A0-EBCF-3669-29B5F5FAC97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95400" y="1005840"/>
            <a:ext cx="6250269" cy="196596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08CE79EC-3658-270B-72B6-EE297C311DEA}"/>
              </a:ext>
            </a:extLst>
          </p:cNvPr>
          <p:cNvSpPr txBox="1"/>
          <p:nvPr/>
        </p:nvSpPr>
        <p:spPr>
          <a:xfrm>
            <a:off x="7787640" y="1371600"/>
            <a:ext cx="4271939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We can morph, </a:t>
            </a:r>
          </a:p>
          <a:p>
            <a:r>
              <a:rPr lang="en-US" dirty="0"/>
              <a:t>what about simple translations (moving?)</a:t>
            </a:r>
          </a:p>
          <a:p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C916703-0C41-DEC0-0E72-8927FA3A8CB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95400" y="3611880"/>
            <a:ext cx="6616430" cy="242316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5368B667-4706-6AFA-ACBB-C7D2CF3BF17C}"/>
              </a:ext>
            </a:extLst>
          </p:cNvPr>
          <p:cNvSpPr txBox="1"/>
          <p:nvPr/>
        </p:nvSpPr>
        <p:spPr>
          <a:xfrm>
            <a:off x="8074830" y="4101406"/>
            <a:ext cx="357155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Answer: homogenous coordinates</a:t>
            </a:r>
          </a:p>
          <a:p>
            <a:endParaRPr 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5626907-DFDC-8F76-1B20-27EF3B65D95E}"/>
              </a:ext>
            </a:extLst>
          </p:cNvPr>
          <p:cNvSpPr txBox="1"/>
          <p:nvPr/>
        </p:nvSpPr>
        <p:spPr>
          <a:xfrm>
            <a:off x="2392680" y="1587044"/>
            <a:ext cx="458780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0" dirty="0"/>
              <a:t>=</a:t>
            </a:r>
            <a:endParaRPr lang="en-US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6559B30-9ADA-9BAA-AE07-424F613CDD88}"/>
              </a:ext>
            </a:extLst>
          </p:cNvPr>
          <p:cNvSpPr txBox="1"/>
          <p:nvPr/>
        </p:nvSpPr>
        <p:spPr>
          <a:xfrm>
            <a:off x="2392680" y="4206240"/>
            <a:ext cx="458780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0" dirty="0"/>
              <a:t>=</a:t>
            </a:r>
            <a:endParaRPr lang="en-US" dirty="0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43729" name="Group 17">
            <a:extLst>
              <a:ext uri="{FF2B5EF4-FFF2-40B4-BE49-F238E27FC236}">
                <a16:creationId xmlns:a16="http://schemas.microsoft.com/office/drawing/2014/main" id="{927043F2-69B6-6782-2CF4-70C5C931BD78}"/>
              </a:ext>
            </a:extLst>
          </p:cNvPr>
          <p:cNvGrpSpPr>
            <a:grpSpLocks/>
          </p:cNvGrpSpPr>
          <p:nvPr/>
        </p:nvGrpSpPr>
        <p:grpSpPr bwMode="auto">
          <a:xfrm>
            <a:off x="701675" y="4479925"/>
            <a:ext cx="7550151" cy="2070100"/>
            <a:chOff x="317" y="1354"/>
            <a:chExt cx="4756" cy="1304"/>
          </a:xfrm>
        </p:grpSpPr>
        <p:graphicFrame>
          <p:nvGraphicFramePr>
            <p:cNvPr id="243723" name="Object 11">
              <a:extLst>
                <a:ext uri="{FF2B5EF4-FFF2-40B4-BE49-F238E27FC236}">
                  <a16:creationId xmlns:a16="http://schemas.microsoft.com/office/drawing/2014/main" id="{ADCDB903-6830-B456-AC9B-BDBC94034CFC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042257708"/>
                </p:ext>
              </p:extLst>
            </p:nvPr>
          </p:nvGraphicFramePr>
          <p:xfrm>
            <a:off x="317" y="1354"/>
            <a:ext cx="4756" cy="130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Worksheet" r:id="rId2" imgW="3949826" imgH="1085913" progId="Excel.Sheet.8">
                    <p:embed/>
                  </p:oleObj>
                </mc:Choice>
                <mc:Fallback>
                  <p:oleObj name="Worksheet" r:id="rId2" imgW="3949826" imgH="1085913" progId="Excel.Sheet.8">
                    <p:embed/>
                    <p:pic>
                      <p:nvPicPr>
                        <p:cNvPr id="243723" name="Object 11">
                          <a:extLst>
                            <a:ext uri="{FF2B5EF4-FFF2-40B4-BE49-F238E27FC236}">
                              <a16:creationId xmlns:a16="http://schemas.microsoft.com/office/drawing/2014/main" id="{ADCDB903-6830-B456-AC9B-BDBC94034CFC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17" y="1354"/>
                          <a:ext cx="4756" cy="130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43724" name="Text Box 12">
              <a:extLst>
                <a:ext uri="{FF2B5EF4-FFF2-40B4-BE49-F238E27FC236}">
                  <a16:creationId xmlns:a16="http://schemas.microsoft.com/office/drawing/2014/main" id="{24D1476D-A8B1-EEBE-8B82-B3365C76C57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843" y="1526"/>
              <a:ext cx="1057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en-US" sz="1200" b="0"/>
                <a:t>Some complicated</a:t>
              </a:r>
            </a:p>
            <a:p>
              <a:r>
                <a:rPr lang="en-US" altLang="en-US" sz="1200" b="0"/>
                <a:t>function</a:t>
              </a:r>
              <a:r>
                <a:rPr lang="en-US" altLang="en-US" sz="1200" b="0" baseline="-25000"/>
                <a:t>x</a:t>
              </a:r>
              <a:r>
                <a:rPr lang="en-US" altLang="en-US" sz="1200" b="0"/>
                <a:t>(x</a:t>
              </a:r>
              <a:r>
                <a:rPr lang="en-US" altLang="en-US" sz="1200" b="0" baseline="-25000"/>
                <a:t>old</a:t>
              </a:r>
              <a:r>
                <a:rPr lang="en-US" altLang="en-US" sz="1200" b="0"/>
                <a:t>, y</a:t>
              </a:r>
              <a:r>
                <a:rPr lang="en-US" altLang="en-US" sz="1200" b="0" baseline="-25000"/>
                <a:t>old</a:t>
              </a:r>
              <a:r>
                <a:rPr lang="en-US" altLang="en-US" sz="1200" b="0"/>
                <a:t>, z</a:t>
              </a:r>
              <a:r>
                <a:rPr lang="en-US" altLang="en-US" sz="1200" b="0" baseline="-25000"/>
                <a:t>old</a:t>
              </a:r>
              <a:r>
                <a:rPr lang="en-US" altLang="en-US" sz="1200" b="0"/>
                <a:t>)</a:t>
              </a:r>
            </a:p>
          </p:txBody>
        </p:sp>
        <p:sp>
          <p:nvSpPr>
            <p:cNvPr id="243725" name="Text Box 13">
              <a:extLst>
                <a:ext uri="{FF2B5EF4-FFF2-40B4-BE49-F238E27FC236}">
                  <a16:creationId xmlns:a16="http://schemas.microsoft.com/office/drawing/2014/main" id="{58FEC256-04BA-EE9D-A286-20D04B883D9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843" y="1757"/>
              <a:ext cx="1057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en-US" sz="1200" b="0"/>
                <a:t>Some complicated</a:t>
              </a:r>
            </a:p>
            <a:p>
              <a:r>
                <a:rPr lang="en-US" altLang="en-US" sz="1200" b="0"/>
                <a:t>function</a:t>
              </a:r>
              <a:r>
                <a:rPr lang="en-US" altLang="en-US" sz="1200" b="0" baseline="-25000"/>
                <a:t>y</a:t>
              </a:r>
              <a:r>
                <a:rPr lang="en-US" altLang="en-US" sz="1200" b="0"/>
                <a:t>(x</a:t>
              </a:r>
              <a:r>
                <a:rPr lang="en-US" altLang="en-US" sz="1200" b="0" baseline="-25000"/>
                <a:t>old</a:t>
              </a:r>
              <a:r>
                <a:rPr lang="en-US" altLang="en-US" sz="1200" b="0"/>
                <a:t>, y</a:t>
              </a:r>
              <a:r>
                <a:rPr lang="en-US" altLang="en-US" sz="1200" b="0" baseline="-25000"/>
                <a:t>old</a:t>
              </a:r>
              <a:r>
                <a:rPr lang="en-US" altLang="en-US" sz="1200" b="0"/>
                <a:t>, z</a:t>
              </a:r>
              <a:r>
                <a:rPr lang="en-US" altLang="en-US" sz="1200" b="0" baseline="-25000"/>
                <a:t>old</a:t>
              </a:r>
              <a:r>
                <a:rPr lang="en-US" altLang="en-US" sz="1200" b="0"/>
                <a:t>)</a:t>
              </a:r>
            </a:p>
          </p:txBody>
        </p:sp>
        <p:sp>
          <p:nvSpPr>
            <p:cNvPr id="243726" name="Text Box 14">
              <a:extLst>
                <a:ext uri="{FF2B5EF4-FFF2-40B4-BE49-F238E27FC236}">
                  <a16:creationId xmlns:a16="http://schemas.microsoft.com/office/drawing/2014/main" id="{682051F0-BEC4-1BCA-9B67-D680D35F86B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843" y="2016"/>
              <a:ext cx="1057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en-US" sz="1200" b="0"/>
                <a:t>Some complicated</a:t>
              </a:r>
            </a:p>
            <a:p>
              <a:r>
                <a:rPr lang="en-US" altLang="en-US" sz="1200" b="0"/>
                <a:t>function</a:t>
              </a:r>
              <a:r>
                <a:rPr lang="en-US" altLang="en-US" sz="1200" b="0" baseline="-25000"/>
                <a:t>z</a:t>
              </a:r>
              <a:r>
                <a:rPr lang="en-US" altLang="en-US" sz="1200" b="0"/>
                <a:t>(x</a:t>
              </a:r>
              <a:r>
                <a:rPr lang="en-US" altLang="en-US" sz="1200" b="0" baseline="-25000"/>
                <a:t>old</a:t>
              </a:r>
              <a:r>
                <a:rPr lang="en-US" altLang="en-US" sz="1200" b="0"/>
                <a:t>, y</a:t>
              </a:r>
              <a:r>
                <a:rPr lang="en-US" altLang="en-US" sz="1200" b="0" baseline="-25000"/>
                <a:t>old</a:t>
              </a:r>
              <a:r>
                <a:rPr lang="en-US" altLang="en-US" sz="1200" b="0"/>
                <a:t>, z</a:t>
              </a:r>
              <a:r>
                <a:rPr lang="en-US" altLang="en-US" sz="1200" b="0" baseline="-25000"/>
                <a:t>old</a:t>
              </a:r>
              <a:r>
                <a:rPr lang="en-US" altLang="en-US" sz="1200" b="0"/>
                <a:t>)</a:t>
              </a:r>
            </a:p>
          </p:txBody>
        </p:sp>
        <p:sp>
          <p:nvSpPr>
            <p:cNvPr id="243727" name="Line 15">
              <a:extLst>
                <a:ext uri="{FF2B5EF4-FFF2-40B4-BE49-F238E27FC236}">
                  <a16:creationId xmlns:a16="http://schemas.microsoft.com/office/drawing/2014/main" id="{48658F74-719B-DDFE-84E7-0E52458ECE2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786" y="1801"/>
              <a:ext cx="115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3728" name="Line 16">
              <a:extLst>
                <a:ext uri="{FF2B5EF4-FFF2-40B4-BE49-F238E27FC236}">
                  <a16:creationId xmlns:a16="http://schemas.microsoft.com/office/drawing/2014/main" id="{663CC4F4-2164-FF75-7C98-9AF8B122EA5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786" y="2045"/>
              <a:ext cx="115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243714" name="Rectangle 2">
            <a:extLst>
              <a:ext uri="{FF2B5EF4-FFF2-40B4-BE49-F238E27FC236}">
                <a16:creationId xmlns:a16="http://schemas.microsoft.com/office/drawing/2014/main" id="{EF691BC5-4739-1698-903E-C9580CE81EF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en-US"/>
              <a:t>Linear Transformation </a:t>
            </a:r>
          </a:p>
        </p:txBody>
      </p:sp>
      <p:sp>
        <p:nvSpPr>
          <p:cNvPr id="243715" name="Rectangle 3">
            <a:extLst>
              <a:ext uri="{FF2B5EF4-FFF2-40B4-BE49-F238E27FC236}">
                <a16:creationId xmlns:a16="http://schemas.microsoft.com/office/drawing/2014/main" id="{FC12CFF9-987B-DCFA-03BB-0745A821B6F1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>
          <a:xfrm>
            <a:off x="1981201" y="914401"/>
            <a:ext cx="3978275" cy="5211763"/>
          </a:xfrm>
        </p:spPr>
        <p:txBody>
          <a:bodyPr/>
          <a:lstStyle/>
          <a:p>
            <a:pPr>
              <a:buFontTx/>
              <a:buNone/>
            </a:pPr>
            <a:r>
              <a:rPr lang="en-US" altLang="en-US" sz="1800"/>
              <a:t>This is a particular, highly </a:t>
            </a:r>
            <a:r>
              <a:rPr lang="en-US" altLang="en-US" sz="1800">
                <a:solidFill>
                  <a:srgbClr val="FF0000"/>
                </a:solidFill>
              </a:rPr>
              <a:t>specialized</a:t>
            </a:r>
            <a:r>
              <a:rPr lang="en-US" altLang="en-US" sz="1800"/>
              <a:t> and </a:t>
            </a:r>
            <a:r>
              <a:rPr lang="en-US" altLang="en-US" sz="1800">
                <a:solidFill>
                  <a:srgbClr val="FF0000"/>
                </a:solidFill>
              </a:rPr>
              <a:t>simplified</a:t>
            </a:r>
            <a:r>
              <a:rPr lang="en-US" altLang="en-US" sz="1800"/>
              <a:t>, version of a transformation.</a:t>
            </a:r>
          </a:p>
          <a:p>
            <a:pPr>
              <a:buFontTx/>
              <a:buNone/>
            </a:pPr>
            <a:r>
              <a:rPr lang="en-US" altLang="en-US" sz="1800"/>
              <a:t>The general transformation is:</a:t>
            </a:r>
          </a:p>
          <a:p>
            <a:pPr>
              <a:buFontTx/>
              <a:buNone/>
            </a:pPr>
            <a:endParaRPr lang="en-US" altLang="en-US" sz="1800"/>
          </a:p>
          <a:p>
            <a:pPr>
              <a:buFontTx/>
              <a:buNone/>
            </a:pPr>
            <a:endParaRPr lang="en-US" altLang="en-US" sz="1800"/>
          </a:p>
        </p:txBody>
      </p:sp>
      <p:pic>
        <p:nvPicPr>
          <p:cNvPr id="243730" name="Picture 18">
            <a:extLst>
              <a:ext uri="{FF2B5EF4-FFF2-40B4-BE49-F238E27FC236}">
                <a16:creationId xmlns:a16="http://schemas.microsoft.com/office/drawing/2014/main" id="{5C9E68DD-7610-DB9C-2115-9F106289E99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59475" y="2560638"/>
            <a:ext cx="4389438" cy="1765300"/>
          </a:xfrm>
          <a:prstGeom prst="rect">
            <a:avLst/>
          </a:prstGeom>
          <a:noFill/>
          <a:ln>
            <a:noFill/>
          </a:ln>
          <a:effectLst>
            <a:outerShdw dist="63500" dir="3187806" algn="ctr" rotWithShape="0">
              <a:schemeClr val="bg2">
                <a:alpha val="50000"/>
              </a:scheme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43731" name="Picture 19">
            <a:extLst>
              <a:ext uri="{FF2B5EF4-FFF2-40B4-BE49-F238E27FC236}">
                <a16:creationId xmlns:a16="http://schemas.microsoft.com/office/drawing/2014/main" id="{8AB64FAF-C8F8-ABFC-394C-D7DAF159EF2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59475" y="274638"/>
            <a:ext cx="4584700" cy="1841500"/>
          </a:xfrm>
          <a:prstGeom prst="rect">
            <a:avLst/>
          </a:prstGeom>
          <a:noFill/>
          <a:ln>
            <a:noFill/>
          </a:ln>
          <a:effectLst>
            <a:outerShdw dist="63500" dir="3187806" algn="ctr" rotWithShape="0">
              <a:schemeClr val="bg2">
                <a:alpha val="50000"/>
              </a:scheme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43732" name="Line 20">
            <a:extLst>
              <a:ext uri="{FF2B5EF4-FFF2-40B4-BE49-F238E27FC236}">
                <a16:creationId xmlns:a16="http://schemas.microsoft.com/office/drawing/2014/main" id="{A6075D90-95AE-A12C-C945-FFF34EE33CA5}"/>
              </a:ext>
            </a:extLst>
          </p:cNvPr>
          <p:cNvSpPr>
            <a:spLocks noChangeShapeType="1"/>
          </p:cNvSpPr>
          <p:nvPr/>
        </p:nvSpPr>
        <p:spPr bwMode="auto">
          <a:xfrm>
            <a:off x="8153400" y="1965326"/>
            <a:ext cx="0" cy="823913"/>
          </a:xfrm>
          <a:prstGeom prst="line">
            <a:avLst/>
          </a:prstGeom>
          <a:noFill/>
          <a:ln w="635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77" name="Rectangle 17">
            <a:extLst>
              <a:ext uri="{FF2B5EF4-FFF2-40B4-BE49-F238E27FC236}">
                <a16:creationId xmlns:a16="http://schemas.microsoft.com/office/drawing/2014/main" id="{248A23EA-A4ED-9EDA-2ED2-0AC7488AC9D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noFill/>
          <a:ln/>
        </p:spPr>
        <p:txBody>
          <a:bodyPr>
            <a:normAutofit fontScale="90000"/>
          </a:bodyPr>
          <a:lstStyle/>
          <a:p>
            <a:r>
              <a:rPr lang="en-US" altLang="en-US"/>
              <a:t>Linear Transformation </a:t>
            </a:r>
          </a:p>
        </p:txBody>
      </p:sp>
      <p:sp>
        <p:nvSpPr>
          <p:cNvPr id="245763" name="Rectangle 3">
            <a:extLst>
              <a:ext uri="{FF2B5EF4-FFF2-40B4-BE49-F238E27FC236}">
                <a16:creationId xmlns:a16="http://schemas.microsoft.com/office/drawing/2014/main" id="{76F4F276-2218-1F65-0359-4536601FFF4A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>
          <a:xfrm>
            <a:off x="1981200" y="914401"/>
            <a:ext cx="4572000" cy="5211763"/>
          </a:xfrm>
        </p:spPr>
        <p:txBody>
          <a:bodyPr/>
          <a:lstStyle/>
          <a:p>
            <a:pPr>
              <a:buFontTx/>
              <a:buNone/>
            </a:pPr>
            <a:r>
              <a:rPr lang="en-US" altLang="en-US" sz="1800"/>
              <a:t>Here, we’re talking about </a:t>
            </a:r>
            <a:r>
              <a:rPr lang="en-US" altLang="en-US" sz="1800">
                <a:solidFill>
                  <a:srgbClr val="FF0000"/>
                </a:solidFill>
              </a:rPr>
              <a:t>very simple</a:t>
            </a:r>
            <a:r>
              <a:rPr lang="en-US" altLang="en-US" sz="1800"/>
              <a:t> behavior:</a:t>
            </a:r>
          </a:p>
        </p:txBody>
      </p:sp>
      <p:pic>
        <p:nvPicPr>
          <p:cNvPr id="245766" name="Picture 6">
            <a:extLst>
              <a:ext uri="{FF2B5EF4-FFF2-40B4-BE49-F238E27FC236}">
                <a16:creationId xmlns:a16="http://schemas.microsoft.com/office/drawing/2014/main" id="{265BC3B6-FE08-04F1-B99C-1B5214DDC60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89726" y="144463"/>
            <a:ext cx="3749675" cy="19542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45767" name="Picture 7">
            <a:extLst>
              <a:ext uri="{FF2B5EF4-FFF2-40B4-BE49-F238E27FC236}">
                <a16:creationId xmlns:a16="http://schemas.microsoft.com/office/drawing/2014/main" id="{3E5A8C71-A03D-5C67-C559-08B9376325E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89725" y="2468564"/>
            <a:ext cx="3748088" cy="19383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graphicFrame>
        <p:nvGraphicFramePr>
          <p:cNvPr id="245769" name="Object 9">
            <a:extLst>
              <a:ext uri="{FF2B5EF4-FFF2-40B4-BE49-F238E27FC236}">
                <a16:creationId xmlns:a16="http://schemas.microsoft.com/office/drawing/2014/main" id="{088EC828-B570-7A9F-346F-3D3B4379217A}"/>
              </a:ext>
            </a:extLst>
          </p:cNvPr>
          <p:cNvGraphicFramePr>
            <a:graphicFrameLocks noChangeAspect="1"/>
          </p:cNvGraphicFramePr>
          <p:nvPr/>
        </p:nvGraphicFramePr>
        <p:xfrm>
          <a:off x="701676" y="4479925"/>
          <a:ext cx="9013825" cy="21272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Worksheet" r:id="rId4" imgW="4714979" imgH="1114702" progId="Excel.Sheet.8">
                  <p:embed/>
                </p:oleObj>
              </mc:Choice>
              <mc:Fallback>
                <p:oleObj name="Worksheet" r:id="rId4" imgW="4714979" imgH="1114702" progId="Excel.Sheet.8">
                  <p:embed/>
                  <p:pic>
                    <p:nvPicPr>
                      <p:cNvPr id="245769" name="Object 9">
                        <a:extLst>
                          <a:ext uri="{FF2B5EF4-FFF2-40B4-BE49-F238E27FC236}">
                            <a16:creationId xmlns:a16="http://schemas.microsoft.com/office/drawing/2014/main" id="{088EC828-B570-7A9F-346F-3D3B4379217A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01676" y="4479925"/>
                        <a:ext cx="9013825" cy="21272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45775" name="Line 15">
            <a:extLst>
              <a:ext uri="{FF2B5EF4-FFF2-40B4-BE49-F238E27FC236}">
                <a16:creationId xmlns:a16="http://schemas.microsoft.com/office/drawing/2014/main" id="{E494A1CB-CCC0-87F7-41D1-CB308F8BC6AA}"/>
              </a:ext>
            </a:extLst>
          </p:cNvPr>
          <p:cNvSpPr>
            <a:spLocks noChangeShapeType="1"/>
          </p:cNvSpPr>
          <p:nvPr/>
        </p:nvSpPr>
        <p:spPr bwMode="auto">
          <a:xfrm>
            <a:off x="8564563" y="1965326"/>
            <a:ext cx="0" cy="823913"/>
          </a:xfrm>
          <a:prstGeom prst="line">
            <a:avLst/>
          </a:prstGeom>
          <a:noFill/>
          <a:ln w="635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796" name="Rectangle 12">
            <a:extLst>
              <a:ext uri="{FF2B5EF4-FFF2-40B4-BE49-F238E27FC236}">
                <a16:creationId xmlns:a16="http://schemas.microsoft.com/office/drawing/2014/main" id="{1B071AEA-CB23-E0D3-7238-B05DA5CD750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noFill/>
          <a:ln/>
        </p:spPr>
        <p:txBody>
          <a:bodyPr>
            <a:normAutofit fontScale="90000"/>
          </a:bodyPr>
          <a:lstStyle/>
          <a:p>
            <a:r>
              <a:rPr lang="en-US" altLang="en-US"/>
              <a:t>Linear Transformation </a:t>
            </a:r>
          </a:p>
        </p:txBody>
      </p:sp>
      <p:sp>
        <p:nvSpPr>
          <p:cNvPr id="246787" name="Rectangle 3">
            <a:extLst>
              <a:ext uri="{FF2B5EF4-FFF2-40B4-BE49-F238E27FC236}">
                <a16:creationId xmlns:a16="http://schemas.microsoft.com/office/drawing/2014/main" id="{77CB589D-7A8F-F05E-EDEE-15D5982A2E04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>
          <a:xfrm>
            <a:off x="1981200" y="914401"/>
            <a:ext cx="4572000" cy="5211763"/>
          </a:xfrm>
        </p:spPr>
        <p:txBody>
          <a:bodyPr/>
          <a:lstStyle/>
          <a:p>
            <a:pPr>
              <a:buFontTx/>
              <a:buNone/>
            </a:pPr>
            <a:r>
              <a:rPr lang="en-US" altLang="en-US" sz="1800"/>
              <a:t>Here, we’re talking about </a:t>
            </a:r>
            <a:r>
              <a:rPr lang="en-US" altLang="en-US" sz="1800">
                <a:solidFill>
                  <a:srgbClr val="FF0000"/>
                </a:solidFill>
              </a:rPr>
              <a:t>very simple</a:t>
            </a:r>
            <a:r>
              <a:rPr lang="en-US" altLang="en-US" sz="1800"/>
              <a:t> behavior:</a:t>
            </a:r>
          </a:p>
        </p:txBody>
      </p:sp>
      <p:pic>
        <p:nvPicPr>
          <p:cNvPr id="246788" name="Picture 4">
            <a:extLst>
              <a:ext uri="{FF2B5EF4-FFF2-40B4-BE49-F238E27FC236}">
                <a16:creationId xmlns:a16="http://schemas.microsoft.com/office/drawing/2014/main" id="{9E7CCEBE-0CE5-EC5C-CB47-6C8435C0D1E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89726" y="144463"/>
            <a:ext cx="3749675" cy="19542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46789" name="Picture 5">
            <a:extLst>
              <a:ext uri="{FF2B5EF4-FFF2-40B4-BE49-F238E27FC236}">
                <a16:creationId xmlns:a16="http://schemas.microsoft.com/office/drawing/2014/main" id="{CA54A387-B62B-1887-5E63-F06BA0CB072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89725" y="2468564"/>
            <a:ext cx="3748088" cy="19383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graphicFrame>
        <p:nvGraphicFramePr>
          <p:cNvPr id="246790" name="Object 6">
            <a:extLst>
              <a:ext uri="{FF2B5EF4-FFF2-40B4-BE49-F238E27FC236}">
                <a16:creationId xmlns:a16="http://schemas.microsoft.com/office/drawing/2014/main" id="{F7D0BAC8-FBEE-092A-9288-13256DAF9C34}"/>
              </a:ext>
            </a:extLst>
          </p:cNvPr>
          <p:cNvGraphicFramePr>
            <a:graphicFrameLocks noChangeAspect="1"/>
          </p:cNvGraphicFramePr>
          <p:nvPr/>
        </p:nvGraphicFramePr>
        <p:xfrm>
          <a:off x="701676" y="4479925"/>
          <a:ext cx="9013825" cy="21272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Worksheet" r:id="rId4" imgW="4714979" imgH="1114702" progId="Excel.Sheet.8">
                  <p:embed/>
                </p:oleObj>
              </mc:Choice>
              <mc:Fallback>
                <p:oleObj name="Worksheet" r:id="rId4" imgW="4714979" imgH="1114702" progId="Excel.Sheet.8">
                  <p:embed/>
                  <p:pic>
                    <p:nvPicPr>
                      <p:cNvPr id="246790" name="Object 6">
                        <a:extLst>
                          <a:ext uri="{FF2B5EF4-FFF2-40B4-BE49-F238E27FC236}">
                            <a16:creationId xmlns:a16="http://schemas.microsoft.com/office/drawing/2014/main" id="{F7D0BAC8-FBEE-092A-9288-13256DAF9C34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01676" y="4479925"/>
                        <a:ext cx="9013825" cy="21272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46791" name="Rectangle 7">
            <a:extLst>
              <a:ext uri="{FF2B5EF4-FFF2-40B4-BE49-F238E27FC236}">
                <a16:creationId xmlns:a16="http://schemas.microsoft.com/office/drawing/2014/main" id="{8607A32C-3450-700B-5663-5BCED65EA21E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9451" y="5203825"/>
            <a:ext cx="6537325" cy="1417638"/>
          </a:xfrm>
          <a:prstGeom prst="rect">
            <a:avLst/>
          </a:prstGeom>
          <a:solidFill>
            <a:schemeClr val="bg1">
              <a:alpha val="89999"/>
            </a:scheme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46792" name="AutoShape 8">
            <a:extLst>
              <a:ext uri="{FF2B5EF4-FFF2-40B4-BE49-F238E27FC236}">
                <a16:creationId xmlns:a16="http://schemas.microsoft.com/office/drawing/2014/main" id="{671DAC10-E82A-F88A-0D61-2BECA1030CEA}"/>
              </a:ext>
            </a:extLst>
          </p:cNvPr>
          <p:cNvSpPr>
            <a:spLocks noChangeArrowheads="1"/>
          </p:cNvSpPr>
          <p:nvPr/>
        </p:nvSpPr>
        <p:spPr bwMode="auto">
          <a:xfrm>
            <a:off x="2392364" y="2239964"/>
            <a:ext cx="3932237" cy="1004887"/>
          </a:xfrm>
          <a:prstGeom prst="wedgeRectCallout">
            <a:avLst>
              <a:gd name="adj1" fmla="val -16532"/>
              <a:gd name="adj2" fmla="val 192972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r>
              <a:rPr lang="en-US" altLang="en-US" sz="1600" b="0"/>
              <a:t>The contribution of each “old” parameter on each “new” parameter</a:t>
            </a:r>
          </a:p>
          <a:p>
            <a:r>
              <a:rPr lang="en-US" altLang="en-US" sz="1600" b="0"/>
              <a:t>is a constant, multiplier</a:t>
            </a:r>
          </a:p>
        </p:txBody>
      </p:sp>
      <p:sp>
        <p:nvSpPr>
          <p:cNvPr id="246793" name="Line 9">
            <a:extLst>
              <a:ext uri="{FF2B5EF4-FFF2-40B4-BE49-F238E27FC236}">
                <a16:creationId xmlns:a16="http://schemas.microsoft.com/office/drawing/2014/main" id="{85F33FEF-C2DF-362E-C09B-48A87141A4F7}"/>
              </a:ext>
            </a:extLst>
          </p:cNvPr>
          <p:cNvSpPr>
            <a:spLocks noChangeShapeType="1"/>
          </p:cNvSpPr>
          <p:nvPr/>
        </p:nvSpPr>
        <p:spPr bwMode="auto">
          <a:xfrm>
            <a:off x="8564563" y="1965326"/>
            <a:ext cx="0" cy="823913"/>
          </a:xfrm>
          <a:prstGeom prst="line">
            <a:avLst/>
          </a:prstGeom>
          <a:noFill/>
          <a:ln w="635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821" name="Rectangle 13">
            <a:extLst>
              <a:ext uri="{FF2B5EF4-FFF2-40B4-BE49-F238E27FC236}">
                <a16:creationId xmlns:a16="http://schemas.microsoft.com/office/drawing/2014/main" id="{E558B590-77A2-7048-F60B-B2787554020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noFill/>
          <a:ln/>
        </p:spPr>
        <p:txBody>
          <a:bodyPr>
            <a:normAutofit fontScale="90000"/>
          </a:bodyPr>
          <a:lstStyle/>
          <a:p>
            <a:r>
              <a:rPr lang="en-US" altLang="en-US"/>
              <a:t>Linear Transformation </a:t>
            </a:r>
          </a:p>
        </p:txBody>
      </p:sp>
      <p:sp>
        <p:nvSpPr>
          <p:cNvPr id="247811" name="Rectangle 3">
            <a:extLst>
              <a:ext uri="{FF2B5EF4-FFF2-40B4-BE49-F238E27FC236}">
                <a16:creationId xmlns:a16="http://schemas.microsoft.com/office/drawing/2014/main" id="{069848E4-2801-9F2E-87BD-986AA3DC487C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>
          <a:xfrm>
            <a:off x="1981200" y="914401"/>
            <a:ext cx="4572000" cy="5211763"/>
          </a:xfrm>
        </p:spPr>
        <p:txBody>
          <a:bodyPr/>
          <a:lstStyle/>
          <a:p>
            <a:pPr>
              <a:buFontTx/>
              <a:buNone/>
            </a:pPr>
            <a:r>
              <a:rPr lang="en-US" altLang="en-US" sz="1800"/>
              <a:t>Here, we’re talking about </a:t>
            </a:r>
            <a:r>
              <a:rPr lang="en-US" altLang="en-US" sz="1800">
                <a:solidFill>
                  <a:srgbClr val="FF0000"/>
                </a:solidFill>
              </a:rPr>
              <a:t>very simple</a:t>
            </a:r>
            <a:r>
              <a:rPr lang="en-US" altLang="en-US" sz="1800"/>
              <a:t> behavior:</a:t>
            </a:r>
          </a:p>
        </p:txBody>
      </p:sp>
      <p:pic>
        <p:nvPicPr>
          <p:cNvPr id="247812" name="Picture 4">
            <a:extLst>
              <a:ext uri="{FF2B5EF4-FFF2-40B4-BE49-F238E27FC236}">
                <a16:creationId xmlns:a16="http://schemas.microsoft.com/office/drawing/2014/main" id="{A0271DF2-418E-D19E-7F9C-BB82AE1A8E7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89726" y="144463"/>
            <a:ext cx="3749675" cy="19542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47813" name="Picture 5">
            <a:extLst>
              <a:ext uri="{FF2B5EF4-FFF2-40B4-BE49-F238E27FC236}">
                <a16:creationId xmlns:a16="http://schemas.microsoft.com/office/drawing/2014/main" id="{BC2A96B9-6F05-8A65-4BD9-BBF226D1D1E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89725" y="2468564"/>
            <a:ext cx="3748088" cy="19383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graphicFrame>
        <p:nvGraphicFramePr>
          <p:cNvPr id="247814" name="Object 6">
            <a:extLst>
              <a:ext uri="{FF2B5EF4-FFF2-40B4-BE49-F238E27FC236}">
                <a16:creationId xmlns:a16="http://schemas.microsoft.com/office/drawing/2014/main" id="{F7ABD816-76CE-7735-258B-A34777A3CB8C}"/>
              </a:ext>
            </a:extLst>
          </p:cNvPr>
          <p:cNvGraphicFramePr>
            <a:graphicFrameLocks noChangeAspect="1"/>
          </p:cNvGraphicFramePr>
          <p:nvPr/>
        </p:nvGraphicFramePr>
        <p:xfrm>
          <a:off x="701676" y="4479925"/>
          <a:ext cx="9013825" cy="21272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Worksheet" r:id="rId4" imgW="4714979" imgH="1114702" progId="Excel.Sheet.8">
                  <p:embed/>
                </p:oleObj>
              </mc:Choice>
              <mc:Fallback>
                <p:oleObj name="Worksheet" r:id="rId4" imgW="4714979" imgH="1114702" progId="Excel.Sheet.8">
                  <p:embed/>
                  <p:pic>
                    <p:nvPicPr>
                      <p:cNvPr id="247814" name="Object 6">
                        <a:extLst>
                          <a:ext uri="{FF2B5EF4-FFF2-40B4-BE49-F238E27FC236}">
                            <a16:creationId xmlns:a16="http://schemas.microsoft.com/office/drawing/2014/main" id="{F7ABD816-76CE-7735-258B-A34777A3CB8C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01676" y="4479925"/>
                        <a:ext cx="9013825" cy="21272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47815" name="Rectangle 7">
            <a:extLst>
              <a:ext uri="{FF2B5EF4-FFF2-40B4-BE49-F238E27FC236}">
                <a16:creationId xmlns:a16="http://schemas.microsoft.com/office/drawing/2014/main" id="{874D6635-4EA1-81CA-DFAE-E002DA89ED5C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9451" y="5203825"/>
            <a:ext cx="6537325" cy="1417638"/>
          </a:xfrm>
          <a:prstGeom prst="rect">
            <a:avLst/>
          </a:prstGeom>
          <a:solidFill>
            <a:schemeClr val="bg1">
              <a:alpha val="89999"/>
            </a:scheme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47816" name="AutoShape 8">
            <a:extLst>
              <a:ext uri="{FF2B5EF4-FFF2-40B4-BE49-F238E27FC236}">
                <a16:creationId xmlns:a16="http://schemas.microsoft.com/office/drawing/2014/main" id="{86FA62A2-0A7E-E25A-DD45-D6802C4E5B0D}"/>
              </a:ext>
            </a:extLst>
          </p:cNvPr>
          <p:cNvSpPr>
            <a:spLocks noChangeArrowheads="1"/>
          </p:cNvSpPr>
          <p:nvPr/>
        </p:nvSpPr>
        <p:spPr bwMode="auto">
          <a:xfrm>
            <a:off x="2392364" y="2239964"/>
            <a:ext cx="3932237" cy="1004887"/>
          </a:xfrm>
          <a:prstGeom prst="wedgeRectCallout">
            <a:avLst>
              <a:gd name="adj1" fmla="val -16532"/>
              <a:gd name="adj2" fmla="val 192972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r>
              <a:rPr lang="en-US" altLang="en-US" sz="1600" b="0"/>
              <a:t>The contribution of each “old” parameter on each “new” parameter</a:t>
            </a:r>
          </a:p>
          <a:p>
            <a:r>
              <a:rPr lang="en-US" altLang="en-US" sz="1600" b="0"/>
              <a:t>is a constant, multiplier</a:t>
            </a:r>
          </a:p>
        </p:txBody>
      </p:sp>
      <p:sp>
        <p:nvSpPr>
          <p:cNvPr id="247817" name="AutoShape 9">
            <a:extLst>
              <a:ext uri="{FF2B5EF4-FFF2-40B4-BE49-F238E27FC236}">
                <a16:creationId xmlns:a16="http://schemas.microsoft.com/office/drawing/2014/main" id="{F8A713F8-5A94-7475-CA23-7366623D5DF6}"/>
              </a:ext>
            </a:extLst>
          </p:cNvPr>
          <p:cNvSpPr>
            <a:spLocks noChangeArrowheads="1"/>
          </p:cNvSpPr>
          <p:nvPr/>
        </p:nvSpPr>
        <p:spPr bwMode="auto">
          <a:xfrm>
            <a:off x="2392364" y="2239964"/>
            <a:ext cx="3932237" cy="1004887"/>
          </a:xfrm>
          <a:prstGeom prst="wedgeRectCallout">
            <a:avLst>
              <a:gd name="adj1" fmla="val 10236"/>
              <a:gd name="adj2" fmla="val 191546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r>
              <a:rPr lang="en-US" altLang="en-US" sz="1600" b="0"/>
              <a:t>The contribution of each “old” parameter on each “new” parameter</a:t>
            </a:r>
          </a:p>
          <a:p>
            <a:r>
              <a:rPr lang="en-US" altLang="en-US" sz="1600" b="0"/>
              <a:t>is a constant, multiplier</a:t>
            </a:r>
          </a:p>
        </p:txBody>
      </p:sp>
      <p:sp>
        <p:nvSpPr>
          <p:cNvPr id="247818" name="AutoShape 10">
            <a:extLst>
              <a:ext uri="{FF2B5EF4-FFF2-40B4-BE49-F238E27FC236}">
                <a16:creationId xmlns:a16="http://schemas.microsoft.com/office/drawing/2014/main" id="{7BE75920-5996-5391-022F-1B69C7DC946D}"/>
              </a:ext>
            </a:extLst>
          </p:cNvPr>
          <p:cNvSpPr>
            <a:spLocks noChangeArrowheads="1"/>
          </p:cNvSpPr>
          <p:nvPr/>
        </p:nvSpPr>
        <p:spPr bwMode="auto">
          <a:xfrm>
            <a:off x="2392364" y="2239964"/>
            <a:ext cx="3932237" cy="1004887"/>
          </a:xfrm>
          <a:prstGeom prst="wedgeRectCallout">
            <a:avLst>
              <a:gd name="adj1" fmla="val 41806"/>
              <a:gd name="adj2" fmla="val 193917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r>
              <a:rPr lang="en-US" altLang="en-US" sz="1600" b="0"/>
              <a:t>The net result is a simple addition of </a:t>
            </a:r>
          </a:p>
          <a:p>
            <a:r>
              <a:rPr lang="en-US" altLang="en-US" sz="1600" b="0"/>
              <a:t>each contribution</a:t>
            </a:r>
          </a:p>
        </p:txBody>
      </p:sp>
      <p:sp>
        <p:nvSpPr>
          <p:cNvPr id="247819" name="Line 11">
            <a:extLst>
              <a:ext uri="{FF2B5EF4-FFF2-40B4-BE49-F238E27FC236}">
                <a16:creationId xmlns:a16="http://schemas.microsoft.com/office/drawing/2014/main" id="{DE5368EA-7C2C-64DB-7D46-A6D220BB2B7C}"/>
              </a:ext>
            </a:extLst>
          </p:cNvPr>
          <p:cNvSpPr>
            <a:spLocks noChangeShapeType="1"/>
          </p:cNvSpPr>
          <p:nvPr/>
        </p:nvSpPr>
        <p:spPr bwMode="auto">
          <a:xfrm>
            <a:off x="8564563" y="1965326"/>
            <a:ext cx="0" cy="823913"/>
          </a:xfrm>
          <a:prstGeom prst="line">
            <a:avLst/>
          </a:prstGeom>
          <a:noFill/>
          <a:ln w="635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848" name="Rectangle 16">
            <a:extLst>
              <a:ext uri="{FF2B5EF4-FFF2-40B4-BE49-F238E27FC236}">
                <a16:creationId xmlns:a16="http://schemas.microsoft.com/office/drawing/2014/main" id="{4E7FE2BF-D9C8-1922-E2B7-97841036B5D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noFill/>
          <a:ln/>
        </p:spPr>
        <p:txBody>
          <a:bodyPr>
            <a:normAutofit fontScale="90000"/>
          </a:bodyPr>
          <a:lstStyle/>
          <a:p>
            <a:r>
              <a:rPr lang="en-US" altLang="en-US"/>
              <a:t>Linear Transformation </a:t>
            </a:r>
          </a:p>
        </p:txBody>
      </p:sp>
      <p:sp>
        <p:nvSpPr>
          <p:cNvPr id="248835" name="Rectangle 3">
            <a:extLst>
              <a:ext uri="{FF2B5EF4-FFF2-40B4-BE49-F238E27FC236}">
                <a16:creationId xmlns:a16="http://schemas.microsoft.com/office/drawing/2014/main" id="{268D8DF2-F128-EA3C-C77C-58671D0163CC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>
          <a:xfrm>
            <a:off x="1981200" y="914401"/>
            <a:ext cx="4572000" cy="5211763"/>
          </a:xfrm>
        </p:spPr>
        <p:txBody>
          <a:bodyPr/>
          <a:lstStyle/>
          <a:p>
            <a:pPr>
              <a:buFontTx/>
              <a:buNone/>
            </a:pPr>
            <a:r>
              <a:rPr lang="en-US" altLang="en-US" sz="1800"/>
              <a:t>Here, we’re talking about </a:t>
            </a:r>
            <a:r>
              <a:rPr lang="en-US" altLang="en-US" sz="1800">
                <a:solidFill>
                  <a:srgbClr val="FF0000"/>
                </a:solidFill>
              </a:rPr>
              <a:t>very simple</a:t>
            </a:r>
            <a:r>
              <a:rPr lang="en-US" altLang="en-US" sz="1800"/>
              <a:t> behavior:</a:t>
            </a:r>
          </a:p>
        </p:txBody>
      </p:sp>
      <p:pic>
        <p:nvPicPr>
          <p:cNvPr id="248836" name="Picture 4">
            <a:extLst>
              <a:ext uri="{FF2B5EF4-FFF2-40B4-BE49-F238E27FC236}">
                <a16:creationId xmlns:a16="http://schemas.microsoft.com/office/drawing/2014/main" id="{8150CE8B-F847-D638-3B9D-AFE3F293170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89726" y="144463"/>
            <a:ext cx="3749675" cy="19542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48837" name="Picture 5">
            <a:extLst>
              <a:ext uri="{FF2B5EF4-FFF2-40B4-BE49-F238E27FC236}">
                <a16:creationId xmlns:a16="http://schemas.microsoft.com/office/drawing/2014/main" id="{82E9D841-0C9A-CBFF-2A20-44E3B362B3A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89725" y="2468564"/>
            <a:ext cx="3748088" cy="19383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graphicFrame>
        <p:nvGraphicFramePr>
          <p:cNvPr id="248838" name="Object 6">
            <a:extLst>
              <a:ext uri="{FF2B5EF4-FFF2-40B4-BE49-F238E27FC236}">
                <a16:creationId xmlns:a16="http://schemas.microsoft.com/office/drawing/2014/main" id="{FCC1D391-426C-F09C-56C6-00B0D22B95F5}"/>
              </a:ext>
            </a:extLst>
          </p:cNvPr>
          <p:cNvGraphicFramePr>
            <a:graphicFrameLocks noChangeAspect="1"/>
          </p:cNvGraphicFramePr>
          <p:nvPr/>
        </p:nvGraphicFramePr>
        <p:xfrm>
          <a:off x="701676" y="4479925"/>
          <a:ext cx="9013825" cy="21272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Worksheet" r:id="rId4" imgW="4714979" imgH="1114702" progId="Excel.Sheet.8">
                  <p:embed/>
                </p:oleObj>
              </mc:Choice>
              <mc:Fallback>
                <p:oleObj name="Worksheet" r:id="rId4" imgW="4714979" imgH="1114702" progId="Excel.Sheet.8">
                  <p:embed/>
                  <p:pic>
                    <p:nvPicPr>
                      <p:cNvPr id="248838" name="Object 6">
                        <a:extLst>
                          <a:ext uri="{FF2B5EF4-FFF2-40B4-BE49-F238E27FC236}">
                            <a16:creationId xmlns:a16="http://schemas.microsoft.com/office/drawing/2014/main" id="{FCC1D391-426C-F09C-56C6-00B0D22B95F5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01676" y="4479925"/>
                        <a:ext cx="9013825" cy="21272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48840" name="AutoShape 8">
            <a:extLst>
              <a:ext uri="{FF2B5EF4-FFF2-40B4-BE49-F238E27FC236}">
                <a16:creationId xmlns:a16="http://schemas.microsoft.com/office/drawing/2014/main" id="{BD3F328B-19C9-CDB0-53B7-B16F07CAB8B6}"/>
              </a:ext>
            </a:extLst>
          </p:cNvPr>
          <p:cNvSpPr>
            <a:spLocks noChangeArrowheads="1"/>
          </p:cNvSpPr>
          <p:nvPr/>
        </p:nvSpPr>
        <p:spPr bwMode="auto">
          <a:xfrm>
            <a:off x="2392364" y="2239964"/>
            <a:ext cx="3932237" cy="1004887"/>
          </a:xfrm>
          <a:prstGeom prst="wedgeRectCallout">
            <a:avLst>
              <a:gd name="adj1" fmla="val -16532"/>
              <a:gd name="adj2" fmla="val 192972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r>
              <a:rPr lang="en-US" altLang="en-US" sz="1600" b="0"/>
              <a:t>The 3 functions are completely independent</a:t>
            </a:r>
          </a:p>
        </p:txBody>
      </p:sp>
      <p:sp>
        <p:nvSpPr>
          <p:cNvPr id="248843" name="Rectangle 11">
            <a:extLst>
              <a:ext uri="{FF2B5EF4-FFF2-40B4-BE49-F238E27FC236}">
                <a16:creationId xmlns:a16="http://schemas.microsoft.com/office/drawing/2014/main" id="{A23087DE-8C7F-5424-5A1A-02586A9FC7C5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24200" y="4846639"/>
            <a:ext cx="3475038" cy="319087"/>
          </a:xfrm>
          <a:prstGeom prst="rect">
            <a:avLst/>
          </a:prstGeom>
          <a:solidFill>
            <a:schemeClr val="accent1">
              <a:alpha val="59000"/>
            </a:schemeClr>
          </a:solidFill>
          <a:ln w="9525">
            <a:solidFill>
              <a:schemeClr val="tx1"/>
            </a:solidFill>
            <a:prstDash val="sysDot"/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48844" name="Rectangle 12">
            <a:extLst>
              <a:ext uri="{FF2B5EF4-FFF2-40B4-BE49-F238E27FC236}">
                <a16:creationId xmlns:a16="http://schemas.microsoft.com/office/drawing/2014/main" id="{5A5A3153-92CC-49E8-7387-21789A650088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24200" y="5211764"/>
            <a:ext cx="3475038" cy="319087"/>
          </a:xfrm>
          <a:prstGeom prst="rect">
            <a:avLst/>
          </a:prstGeom>
          <a:solidFill>
            <a:schemeClr val="accent1">
              <a:alpha val="59000"/>
            </a:schemeClr>
          </a:solidFill>
          <a:ln w="9525">
            <a:solidFill>
              <a:schemeClr val="tx1"/>
            </a:solidFill>
            <a:prstDash val="sysDot"/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48845" name="Rectangle 13">
            <a:extLst>
              <a:ext uri="{FF2B5EF4-FFF2-40B4-BE49-F238E27FC236}">
                <a16:creationId xmlns:a16="http://schemas.microsoft.com/office/drawing/2014/main" id="{FD69AF1A-1AFF-6D40-7C61-5758B31BDC3E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24200" y="5622925"/>
            <a:ext cx="3475038" cy="319088"/>
          </a:xfrm>
          <a:prstGeom prst="rect">
            <a:avLst/>
          </a:prstGeom>
          <a:solidFill>
            <a:schemeClr val="accent1">
              <a:alpha val="59000"/>
            </a:schemeClr>
          </a:solidFill>
          <a:ln w="9525">
            <a:solidFill>
              <a:schemeClr val="tx1"/>
            </a:solidFill>
            <a:prstDash val="sysDot"/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48846" name="Line 14">
            <a:extLst>
              <a:ext uri="{FF2B5EF4-FFF2-40B4-BE49-F238E27FC236}">
                <a16:creationId xmlns:a16="http://schemas.microsoft.com/office/drawing/2014/main" id="{3EC36C53-3883-C56D-2700-9D29049B946B}"/>
              </a:ext>
            </a:extLst>
          </p:cNvPr>
          <p:cNvSpPr>
            <a:spLocks noChangeShapeType="1"/>
          </p:cNvSpPr>
          <p:nvPr/>
        </p:nvSpPr>
        <p:spPr bwMode="auto">
          <a:xfrm>
            <a:off x="8564563" y="1965326"/>
            <a:ext cx="0" cy="823913"/>
          </a:xfrm>
          <a:prstGeom prst="line">
            <a:avLst/>
          </a:prstGeom>
          <a:noFill/>
          <a:ln w="635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Default Design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5143</TotalTime>
  <Words>2166</Words>
  <Application>Microsoft Office PowerPoint</Application>
  <PresentationFormat>Widescreen</PresentationFormat>
  <Paragraphs>700</Paragraphs>
  <Slides>51</Slides>
  <Notes>10</Notes>
  <HiddenSlides>0</HiddenSlides>
  <MMClips>0</MMClips>
  <ScaleCrop>false</ScaleCrop>
  <HeadingPairs>
    <vt:vector size="8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3</vt:i4>
      </vt:variant>
      <vt:variant>
        <vt:lpstr>Slide Titles</vt:lpstr>
      </vt:variant>
      <vt:variant>
        <vt:i4>51</vt:i4>
      </vt:variant>
    </vt:vector>
  </HeadingPairs>
  <TitlesOfParts>
    <vt:vector size="63" baseType="lpstr">
      <vt:lpstr>Aptos</vt:lpstr>
      <vt:lpstr>Aptos Display</vt:lpstr>
      <vt:lpstr>Arial</vt:lpstr>
      <vt:lpstr>Cambria Math</vt:lpstr>
      <vt:lpstr>MS Shell Dlg</vt:lpstr>
      <vt:lpstr>Symath</vt:lpstr>
      <vt:lpstr>Symbol</vt:lpstr>
      <vt:lpstr>SymbolProp BT</vt:lpstr>
      <vt:lpstr>Default Design</vt:lpstr>
      <vt:lpstr>Equation</vt:lpstr>
      <vt:lpstr>Worksheet</vt:lpstr>
      <vt:lpstr>Microsoft Excel 97-2003 Worksheet</vt:lpstr>
      <vt:lpstr>Computational Geometry  for Spatial and Design Reasoning  Lecture 4: Vector Math &amp; Transformation Matrices</vt:lpstr>
      <vt:lpstr>Notes </vt:lpstr>
      <vt:lpstr>Points and Vectors </vt:lpstr>
      <vt:lpstr>Vectors </vt:lpstr>
      <vt:lpstr>Notation on Matrices </vt:lpstr>
      <vt:lpstr>Matrix multiplication - refresher</vt:lpstr>
      <vt:lpstr>Algebras </vt:lpstr>
      <vt:lpstr>Algebras </vt:lpstr>
      <vt:lpstr>Algebras </vt:lpstr>
      <vt:lpstr>Algebras </vt:lpstr>
      <vt:lpstr>Normalized vector </vt:lpstr>
      <vt:lpstr>Multiplication</vt:lpstr>
      <vt:lpstr>Multiplication</vt:lpstr>
      <vt:lpstr>inner product / dot product</vt:lpstr>
      <vt:lpstr>inner product / dot product</vt:lpstr>
      <vt:lpstr>inner product / dot product</vt:lpstr>
      <vt:lpstr>inner product / dot product</vt:lpstr>
      <vt:lpstr>Multiplication </vt:lpstr>
      <vt:lpstr>inner product / dot product </vt:lpstr>
      <vt:lpstr>inner product / dot product </vt:lpstr>
      <vt:lpstr>inner product / dot product </vt:lpstr>
      <vt:lpstr>inner product / dot product</vt:lpstr>
      <vt:lpstr>inner product / dot product</vt:lpstr>
      <vt:lpstr>Point3f and Vector3f in Rhino.Common</vt:lpstr>
      <vt:lpstr>Point3f and Vector3f in Rhino.Common</vt:lpstr>
      <vt:lpstr>Point3f and Vector3f in Rhino.Common</vt:lpstr>
      <vt:lpstr>In class exercise</vt:lpstr>
      <vt:lpstr>inner product / dot product</vt:lpstr>
      <vt:lpstr>inner product / dot product</vt:lpstr>
      <vt:lpstr>Cross product</vt:lpstr>
      <vt:lpstr>Computing the cross product</vt:lpstr>
      <vt:lpstr>In class exercise</vt:lpstr>
      <vt:lpstr>Transformation matrices</vt:lpstr>
      <vt:lpstr>Transformation matrices - basics</vt:lpstr>
      <vt:lpstr>Transformation matrices - basics</vt:lpstr>
      <vt:lpstr>Transformation matrices - basics</vt:lpstr>
      <vt:lpstr>Transformation matrices - basics</vt:lpstr>
      <vt:lpstr>Transformation matrices - basics</vt:lpstr>
      <vt:lpstr>Transformation matrices - basics</vt:lpstr>
      <vt:lpstr>Transformation matrices - basics</vt:lpstr>
      <vt:lpstr>Linear Transformations and Matrix Multiplication</vt:lpstr>
      <vt:lpstr>Scaling</vt:lpstr>
      <vt:lpstr>Rotation</vt:lpstr>
      <vt:lpstr>PowerPoint Presentation</vt:lpstr>
      <vt:lpstr>Shear</vt:lpstr>
      <vt:lpstr>Translation</vt:lpstr>
      <vt:lpstr>Linear Transformation </vt:lpstr>
      <vt:lpstr>Linear Transformation </vt:lpstr>
      <vt:lpstr>Linear Transformation </vt:lpstr>
      <vt:lpstr>Linear Transformation </vt:lpstr>
      <vt:lpstr>Linear Transformation </vt:lpstr>
    </vt:vector>
  </TitlesOfParts>
  <Company>Gehry Technologies,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System Administrator</dc:creator>
  <cp:lastModifiedBy>Shelden, Dennis Robert</cp:lastModifiedBy>
  <cp:revision>72</cp:revision>
  <dcterms:created xsi:type="dcterms:W3CDTF">2005-12-03T23:42:03Z</dcterms:created>
  <dcterms:modified xsi:type="dcterms:W3CDTF">2026-02-10T16:45:41Z</dcterms:modified>
</cp:coreProperties>
</file>